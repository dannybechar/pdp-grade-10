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01b661f884573" /><Relationship Type="http://schemas.openxmlformats.org/officeDocument/2006/relationships/extended-properties" Target="/docProps/app.xml" Id="R724ea958e2ab4b29" /><Relationship Type="http://schemas.openxmlformats.org/officeDocument/2006/relationships/officeDocument" Target="/ppt/presentation.xml" Id="R07cc2a9a9ab94b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37ab8bdc0e4dbb"/>
  </p:sldMasterIdLst>
  <p:notesMasterIdLst>
    <p:notesMasterId xmlns:r="http://schemas.openxmlformats.org/officeDocument/2006/relationships" r:id="R094294f15e5d4304"/>
  </p:notesMasterIdLst>
  <p:sldIdLst>
    <p:sldId xmlns:r="http://schemas.openxmlformats.org/officeDocument/2006/relationships" id="256" r:id="R49ee5dad9ff44fd2"/>
    <p:sldId xmlns:r="http://schemas.openxmlformats.org/officeDocument/2006/relationships" id="257" r:id="Rbc3a95f0717246cf"/>
    <p:sldId xmlns:r="http://schemas.openxmlformats.org/officeDocument/2006/relationships" id="258" r:id="Rc92001e1cfb245c6"/>
    <p:sldId xmlns:r="http://schemas.openxmlformats.org/officeDocument/2006/relationships" id="259" r:id="R3ef1d1a4784c4b0d"/>
    <p:sldId xmlns:r="http://schemas.openxmlformats.org/officeDocument/2006/relationships" id="260" r:id="R9daa59ecdf654b51"/>
    <p:sldId xmlns:r="http://schemas.openxmlformats.org/officeDocument/2006/relationships" id="261" r:id="Rf66a15f7302d4a21"/>
    <p:sldId xmlns:r="http://schemas.openxmlformats.org/officeDocument/2006/relationships" id="262" r:id="Rc4ed7361ecf54c28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ad8c74cd8461c" /><Relationship Type="http://schemas.openxmlformats.org/officeDocument/2006/relationships/slideMaster" Target="/ppt/slideMasters/slideMaster1.xml" Id="R1437ab8bdc0e4dbb" /><Relationship Type="http://schemas.openxmlformats.org/officeDocument/2006/relationships/notesMaster" Target="/ppt/notesMasters/notesMaster1.xml" Id="R094294f15e5d4304" /><Relationship Type="http://schemas.openxmlformats.org/officeDocument/2006/relationships/presProps" Target="/ppt/presProps.xml" Id="R23ff88be297c4875" /><Relationship Type="http://schemas.openxmlformats.org/officeDocument/2006/relationships/tableStyles" Target="/ppt/tableStyles.xml" Id="R90bb57bfa1ec4557" /><Relationship Type="http://schemas.openxmlformats.org/officeDocument/2006/relationships/slide" Target="/ppt/slides/slide1.xml" Id="R49ee5dad9ff44fd2" /><Relationship Type="http://schemas.openxmlformats.org/officeDocument/2006/relationships/slide" Target="/ppt/slides/slide2.xml" Id="Rbc3a95f0717246cf" /><Relationship Type="http://schemas.openxmlformats.org/officeDocument/2006/relationships/slide" Target="/ppt/slides/slide3.xml" Id="Rc92001e1cfb245c6" /><Relationship Type="http://schemas.openxmlformats.org/officeDocument/2006/relationships/slide" Target="/ppt/slides/slide4.xml" Id="R3ef1d1a4784c4b0d" /><Relationship Type="http://schemas.openxmlformats.org/officeDocument/2006/relationships/slide" Target="/ppt/slides/slide5.xml" Id="R9daa59ecdf654b51" /><Relationship Type="http://schemas.openxmlformats.org/officeDocument/2006/relationships/slide" Target="/ppt/slides/slide6.xml" Id="Rf66a15f7302d4a21" /><Relationship Type="http://schemas.openxmlformats.org/officeDocument/2006/relationships/slide" Target="/ppt/slides/slide7.xml" Id="Rc4ed7361ecf5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c90b2732a740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4c1f849f945c4" /><Relationship Type="http://schemas.openxmlformats.org/officeDocument/2006/relationships/notesMaster" Target="/ppt/notesMasters/notesMaster1.xml" Id="R0e3ee4607b33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e19d3602254744" /><Relationship Type="http://schemas.openxmlformats.org/officeDocument/2006/relationships/notesMaster" Target="/ppt/notesMasters/notesMaster1.xml" Id="Red68efc90966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cb56c20b624c97" /><Relationship Type="http://schemas.openxmlformats.org/officeDocument/2006/relationships/notesMaster" Target="/ppt/notesMasters/notesMaster1.xml" Id="Rd4d942b54366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7761fcdcd24eea" /><Relationship Type="http://schemas.openxmlformats.org/officeDocument/2006/relationships/notesMaster" Target="/ppt/notesMasters/notesMaster1.xml" Id="R903c86a7cf4948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17151bfed14d52" /><Relationship Type="http://schemas.openxmlformats.org/officeDocument/2006/relationships/notesMaster" Target="/ppt/notesMasters/notesMaster1.xml" Id="R0b2569e37c85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dd01dab9924e4c" /><Relationship Type="http://schemas.openxmlformats.org/officeDocument/2006/relationships/notesMaster" Target="/ppt/notesMasters/notesMaster1.xml" Id="R74693cd1942b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3d913ca6e44b65" /><Relationship Type="http://schemas.openxmlformats.org/officeDocument/2006/relationships/notesMaster" Target="/ppt/notesMasters/notesMaster1.xml" Id="R682850f7c7a44d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a button as two coordinated ideas: a visible region and event logic that tests whether the pointer is inside 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stepped keyboard control and identify the numeric field that persists.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Model a parameter that tracks mouseX continuously in draw(). No event callback is needed when the value should follow the pointer every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Contrast continuous tracking with a discrete click. Use mousePressed() for one action per press and test the pointer coordinates there.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Build the region test with the same left, right, top, and bottom values used to draw the rectangle. Treat edges consistently with &gt;= and &lt;=.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create a visible button, hover feedback, and a click action. Test inside, outside, and all four edges.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Final unit exit check: separate region detection, event timing, state update, and rendering.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a297ef2e94bb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ea31a8b605413b" /><Relationship Type="http://schemas.openxmlformats.org/officeDocument/2006/relationships/slideLayout" Target="/ppt/slideLayouts/slideLayout1.xml" Id="R06bafb401fe649f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bafb401fe649f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5b1523ed843ee" /><Relationship Type="http://schemas.openxmlformats.org/officeDocument/2006/relationships/notesSlide" Target="/ppt/notesSlides/notesSlide1.xml" Id="R41b8121b86f2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4b21d79bd4cba" /><Relationship Type="http://schemas.openxmlformats.org/officeDocument/2006/relationships/notesSlide" Target="/ppt/notesSlides/notesSlide2.xml" Id="Rfc19f2d58b92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e7055477c4b28" /><Relationship Type="http://schemas.openxmlformats.org/officeDocument/2006/relationships/notesSlide" Target="/ppt/notesSlides/notesSlide3.xml" Id="R99e3d708f08d4c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a78a06ac94ed9" /><Relationship Type="http://schemas.openxmlformats.org/officeDocument/2006/relationships/notesSlide" Target="/ppt/notesSlides/notesSlide4.xml" Id="R55ee495f584648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cb3a2bc8647f0" /><Relationship Type="http://schemas.openxmlformats.org/officeDocument/2006/relationships/notesSlide" Target="/ppt/notesSlides/notesSlide5.xml" Id="Rc162eee1f1664d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25207dadd4c15" /><Relationship Type="http://schemas.openxmlformats.org/officeDocument/2006/relationships/notesSlide" Target="/ppt/notesSlides/notesSlide6.xml" Id="Rf076f48ac0ea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3a4a1063547e3" /><Relationship Type="http://schemas.openxmlformats.org/officeDocument/2006/relationships/notesSlide" Target="/ppt/notesSlides/notesSlide7.xml" Id="Reef621b9b74041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13B4ED3D-92DD-4F96-BD73-802DFC5F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 · INTERACTIVITY &amp; STATE · B3.4 PART 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2846DC9-355F-4BBD-880D-DF76E520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Mouse Regions and an On-Screen Button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689B2B2-60FD-4756-8E25-29206A2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Continuous control, and a button built from scratch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58864A6-56C4-4B8F-830C-89A2078C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EC84420-9163-4BB8-8584-67BCA5C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9505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E78A1C5-F112-4055-A44A-0B88BFF2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Stepped Control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B8E8726C-BC02-4F8F-85D0-0F3423D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 — keys nudge a bounded parameter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D827C86A-DF56-455D-914A-B7B0885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EFA6EC28-3116-4367-AB96-4EF92AC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96663AE-3AF4-430E-B8A6-F271137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FAF05E3-1E90-4A68-B296-1C50CC4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97E9E486-A319-49F9-8CE4-C7047AE0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circleSize is a controlled program parameter — a persistent variable whose number matters. Key presses change it by a fixed step, guarded within a sensible range.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9D233134-D4CB-4E5B-B3A0-AC84B2F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965DB7E6-6C9A-41FE-B65B-E553FDA6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FROM B3.1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4225042C-C57B-48B4-BE84-9E29313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mouseX and mouseY are continuously live values — no event handler needed to read them. They update automatically as the mouse moves, and can be read directly inside draw() at any time.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65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651EF0F1-200E-4A69-91DA-D6FB83BD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Parameter That Tracks the Mouse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4F71D29-02B8-4E3C-93B8-F1E826D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No event handler needed — draw() reads mouseX every frame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9E6D8BF0-A234-43F0-B1A4-5D424133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9391CBE-BE78-4050-9D60-A48D44D9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7005B71-D61D-47A5-AEC0-20CE5AB4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67512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82517D6-757F-43B3-8E84-FA4E9D7F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612648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circleSize = 60;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circleSize = mouseX;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200, circleSize, circleSize);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AB9EF2E6-2880-4F7B-978B-9D849044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667512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30A4134D-A1FF-4AB5-94D6-07301C74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6217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DISCRETE VS. CONTINUOUS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E855894D-76D9-4DD9-BEF1-ACF9F23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621792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Part 1's keys were a discrete control — one press, one fixed step. This is a continuous control — circleSize directly tracks wherever the mouse currently is, read fresh every single frame, with no stepping at all.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C21876-DA16-45FC-8991-D9F5908A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54480"/>
            <a:ext cx="4160520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BCC23725-A9C8-41C6-A0DC-C5AD677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503" y="2698623"/>
            <a:ext cx="1872234" cy="1872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AA1BBC10-3CBC-405B-96DC-FD296874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852160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circleSize follows mouseX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82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CF6D837C-9A25-45DA-8627-B5A880F6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No Event Handler Here?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705755AA-1704-4B42-A628-7425F48B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mouseX doesn't need to be caught — it's just read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36631FE7-516C-4651-8EE6-E5EA09A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CE2B5EA-765F-4EE5-9F02-652C19F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A90A55BC-74E8-4D80-88DE-31BF6B2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AB3FAB5A-8874-4040-9F54-F78B8380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Part 1: keyPressed() is an event handler.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It runs when a key-press event occurs — that's the only moment circleSize changes (remember: holding a key can generate repeated events, which is exactly why Part 1's bounds mattered).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Between those events, circleSize just sits at whatever it was last set to.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7BD1FE22-C59E-4DF8-947A-DEF58DB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55CCEE7F-C56E-4639-A4D6-E5E88F6E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Part 2: mouseX is a live value, not an event.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draw() runs many times per second, and every single time it runs, mouseX already holds the mouse's current position.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Reading it directly inside draw() is enough — there's no press to catch.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9880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B001ABAC-EAAE-4CD4-8315-CFD60C00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Building a Button from Scratch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770E72DE-4BD3-4C09-BBF3-AEE5AA0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drawn rectangle, and a nested-if region check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2F1D64BA-5628-495B-B253-A344B0F2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B626A34B-C59E-4B20-A267-0D7D224D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5B063D4C-D2FC-464E-B419-C9EB3C0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507492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98A3BBC1-7FC8-40F9-A280-5FC619CD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67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200, circleSize, circleSize);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fill(150);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rect(20, 20, 100, 40);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mousePressed()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(mouseX &gt;= 20)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(mouseX &lt;= 120)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(mouseY &gt;= 20)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(mouseY &lt;= 60)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  circleSize = 60;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00838FD7-2273-413F-BE9A-4784408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50749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AE38A4DF-C512-4D75-A580-B94DD74B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FOUR CHECKS, ONE CLICK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5DADA1F5-5830-45B7-BB9C-8641C90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button spans x = 20 to 120 and y = 20 to 60. A click only counts as “inside” when all four boundary checks pass — nesting each if inside the last means the innermost line only runs once every outer condition is already true.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is the same nested-if pattern from B3.3, now extended to four boundary checks instead of two. &gt;= and &lt;= are used so a click on the button's visible edge still counts.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50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867A1BBF-B62D-4912-BCBB-ED1678E7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AB816A3C-C8DE-43B7-97FD-97479A87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0474E68E-3B27-412C-8FE4-314B2E91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4C4D3B73-0256-4FF8-9BF9-B7137204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23DAD331-9F4E-40FB-B6B0-1FF9FEE2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C82BA952-F5F8-4BEA-8D4C-6208A387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F6B2EE2E-B337-4BF5-932B-04DE43C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the button's position and size — move rect(20, 20, 100, 40) somewhere else on the canvas, and update all four boundary checks in mousePressed() to match.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071D3C3B-C122-46F9-AC13-FB2C0680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6BC7D940-CC24-48C4-93FA-4AE981B1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D66242BF-4FC3-403B-8978-B87EEDE2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Pick one control from this lesson — a key, mouse position, or a button — and drive a parameter of your own choice: size, grayscale intensity, or even a loop count from B2.2 controlling how many shapes are drawn.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405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9">
            <a:extLst xmlns:a="http://schemas.openxmlformats.org/drawingml/2006/main">
              <a:ext uri="{FF2B5EF4-FFF2-40B4-BE49-F238E27FC236}">
                <a16:creationId xmlns:a16="http://schemas.microsoft.com/office/drawing/2014/main" id="{7CAE737C-B249-488A-AFF2-8937794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9">
            <a:extLst xmlns:a="http://schemas.openxmlformats.org/drawingml/2006/main">
              <a:ext uri="{FF2B5EF4-FFF2-40B4-BE49-F238E27FC236}">
                <a16:creationId xmlns:a16="http://schemas.microsoft.com/office/drawing/2014/main" id="{DCD68733-4F79-44D9-9873-A21DEE13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idea, and the end of B3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9">
            <a:extLst xmlns:a="http://schemas.openxmlformats.org/drawingml/2006/main">
              <a:ext uri="{FF2B5EF4-FFF2-40B4-BE49-F238E27FC236}">
                <a16:creationId xmlns:a16="http://schemas.microsoft.com/office/drawing/2014/main" id="{DA5940EC-5034-47E2-AEEA-193781A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9">
            <a:extLst xmlns:a="http://schemas.openxmlformats.org/drawingml/2006/main">
              <a:ext uri="{FF2B5EF4-FFF2-40B4-BE49-F238E27FC236}">
                <a16:creationId xmlns:a16="http://schemas.microsoft.com/office/drawing/2014/main" id="{0D6D096A-124C-4B53-B150-4BDC3762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>
            <a:extLst xmlns:a="http://schemas.openxmlformats.org/drawingml/2006/main">
              <a:ext uri="{FF2B5EF4-FFF2-40B4-BE49-F238E27FC236}">
                <a16:creationId xmlns:a16="http://schemas.microsoft.com/office/drawing/2014/main" id="{32BCAE73-D7AF-413F-98D7-E759A1F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AEEACE30-3B0E-4F0C-B2B0-5A22904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335D99F7-36AA-4850-8CAE-202BB688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control doesn't draw anything by itself — it changes a parameter, and draw() reads that parameter's current value every single frame. This closes out B3: Interactivity &amp; State.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F710C962-147D-48F1-B21C-FDA407E2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36AA0239-2F13-4369-8C8D-3135A926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05AE6D22-7BDA-4AE8-8F33-162B9B34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B4 moves from controlling one thing at a time to managing many visual elements at once, stored together in collections.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96303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2026-08-29T13:20:27.5920000Z</dcterms:created>
  <dcterms:modified xsi:type="dcterms:W3CDTF">2026-08-29T13:20:27.5920000Z</dcterms:modified>
</coreProperties>
</file>