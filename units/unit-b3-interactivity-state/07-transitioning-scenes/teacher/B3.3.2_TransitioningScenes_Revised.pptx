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ce68d321a94fce" /><Relationship Type="http://schemas.openxmlformats.org/officeDocument/2006/relationships/extended-properties" Target="/docProps/app.xml" Id="R325effb735794c4c" /><Relationship Type="http://schemas.openxmlformats.org/officeDocument/2006/relationships/officeDocument" Target="/ppt/presentation.xml" Id="R3c16a35e903e4f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777189f23b46d9"/>
  </p:sldMasterIdLst>
  <p:notesMasterIdLst>
    <p:notesMasterId xmlns:r="http://schemas.openxmlformats.org/officeDocument/2006/relationships" r:id="R4301b3914fc94770"/>
  </p:notesMasterIdLst>
  <p:sldIdLst>
    <p:sldId xmlns:r="http://schemas.openxmlformats.org/officeDocument/2006/relationships" id="256" r:id="R474ccf45255e41b8"/>
    <p:sldId xmlns:r="http://schemas.openxmlformats.org/officeDocument/2006/relationships" id="257" r:id="R8362d103fb5e4c23"/>
    <p:sldId xmlns:r="http://schemas.openxmlformats.org/officeDocument/2006/relationships" id="258" r:id="R14cc6ec98d0548aa"/>
    <p:sldId xmlns:r="http://schemas.openxmlformats.org/officeDocument/2006/relationships" id="259" r:id="R62071caac0e8464f"/>
    <p:sldId xmlns:r="http://schemas.openxmlformats.org/officeDocument/2006/relationships" id="260" r:id="R8d6680a469f74724"/>
    <p:sldId xmlns:r="http://schemas.openxmlformats.org/officeDocument/2006/relationships" id="261" r:id="R8be2b4a6b7f24891"/>
    <p:sldId xmlns:r="http://schemas.openxmlformats.org/officeDocument/2006/relationships" id="262" r:id="Rdf1b7eb584da499c"/>
  </p:sldIdLst>
  <p:sldSz cx="1219167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5b71e8f53e4782" /><Relationship Type="http://schemas.openxmlformats.org/officeDocument/2006/relationships/slideMaster" Target="/ppt/slideMasters/slideMaster1.xml" Id="R8a777189f23b46d9" /><Relationship Type="http://schemas.openxmlformats.org/officeDocument/2006/relationships/notesMaster" Target="/ppt/notesMasters/notesMaster1.xml" Id="R4301b3914fc94770" /><Relationship Type="http://schemas.openxmlformats.org/officeDocument/2006/relationships/presProps" Target="/ppt/presProps.xml" Id="R1e3ffb32ae1e40a7" /><Relationship Type="http://schemas.openxmlformats.org/officeDocument/2006/relationships/tableStyles" Target="/ppt/tableStyles.xml" Id="R05bec19f41c14151" /><Relationship Type="http://schemas.openxmlformats.org/officeDocument/2006/relationships/slide" Target="/ppt/slides/slide1.xml" Id="R474ccf45255e41b8" /><Relationship Type="http://schemas.openxmlformats.org/officeDocument/2006/relationships/slide" Target="/ppt/slides/slide2.xml" Id="R8362d103fb5e4c23" /><Relationship Type="http://schemas.openxmlformats.org/officeDocument/2006/relationships/slide" Target="/ppt/slides/slide3.xml" Id="R14cc6ec98d0548aa" /><Relationship Type="http://schemas.openxmlformats.org/officeDocument/2006/relationships/slide" Target="/ppt/slides/slide4.xml" Id="R62071caac0e8464f" /><Relationship Type="http://schemas.openxmlformats.org/officeDocument/2006/relationships/slide" Target="/ppt/slides/slide5.xml" Id="R8d6680a469f74724" /><Relationship Type="http://schemas.openxmlformats.org/officeDocument/2006/relationships/slide" Target="/ppt/slides/slide6.xml" Id="R8be2b4a6b7f24891" /><Relationship Type="http://schemas.openxmlformats.org/officeDocument/2006/relationships/slide" Target="/ppt/slides/slide7.xml" Id="Rdf1b7eb584da49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f30d11437643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cfad20e2c44021" /><Relationship Type="http://schemas.openxmlformats.org/officeDocument/2006/relationships/notesMaster" Target="/ppt/notesMasters/notesMaster1.xml" Id="R2e21a0dd9a794f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1c7b6fa42144ce" /><Relationship Type="http://schemas.openxmlformats.org/officeDocument/2006/relationships/notesMaster" Target="/ppt/notesMasters/notesMaster1.xml" Id="R1714c381299346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38f046b60747af" /><Relationship Type="http://schemas.openxmlformats.org/officeDocument/2006/relationships/notesMaster" Target="/ppt/notesMasters/notesMaster1.xml" Id="Ra48d5d2028854c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421ac9b1894753" /><Relationship Type="http://schemas.openxmlformats.org/officeDocument/2006/relationships/notesMaster" Target="/ppt/notesMasters/notesMaster1.xml" Id="R25bcfd6f19184f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7015a1aa204437" /><Relationship Type="http://schemas.openxmlformats.org/officeDocument/2006/relationships/notesMaster" Target="/ppt/notesMasters/notesMaster1.xml" Id="Re92afebbf2cc45d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e89306cb874605" /><Relationship Type="http://schemas.openxmlformats.org/officeDocument/2006/relationships/notesMaster" Target="/ppt/notesMasters/notesMaster1.xml" Id="Re3f2c5db139b4e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10672b03074665" /><Relationship Type="http://schemas.openxmlformats.org/officeDocument/2006/relationships/notesMaster" Target="/ppt/notesMasters/notesMaster1.xml" Id="R73c68ecd67484a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 minutes. Frame a transition as a deliberate state assignment triggered by an event.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5 minutes. Retrieval: draw() displays the current scene; it should not automatically advance the scene each frame.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9 minutes. Model mousePressed() changing scene from TITLE to PLAY. The callback updates state; draw() shows the new state on the next frame.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7 minutes. Revisit mousePressed versus mousePressed(). Use the callback for one transition per press and the boolean field only for continuous held behaviour.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6 minutes. Add a keyboard transition and a reset route. Gate each transition by the current scene so the same input has a predictable meaning.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13 minutes. Students implement two forward transitions and one reset, then test valid and invalid event sequences.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 minutes. Exit check: narrate event → assignment → next rendered scene.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86129d05204fc1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77e596b4af4f93" /><Relationship Type="http://schemas.openxmlformats.org/officeDocument/2006/relationships/slideLayout" Target="/ppt/slideLayouts/slideLayout1.xml" Id="Reddd598bf1d246cb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dd598bf1d246cb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59277c16994e79" /><Relationship Type="http://schemas.openxmlformats.org/officeDocument/2006/relationships/notesSlide" Target="/ppt/notesSlides/notesSlide1.xml" Id="Rd1bfd3d891b24b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58c7dc8afb40bd" /><Relationship Type="http://schemas.openxmlformats.org/officeDocument/2006/relationships/notesSlide" Target="/ppt/notesSlides/notesSlide2.xml" Id="R5576e326bd644f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a63959643e4f9b" /><Relationship Type="http://schemas.openxmlformats.org/officeDocument/2006/relationships/notesSlide" Target="/ppt/notesSlides/notesSlide3.xml" Id="Rdd49afd398f246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a837727ba4a95" /><Relationship Type="http://schemas.openxmlformats.org/officeDocument/2006/relationships/notesSlide" Target="/ppt/notesSlides/notesSlide4.xml" Id="Re5a2e05d81884b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9aec3639a04f1f" /><Relationship Type="http://schemas.openxmlformats.org/officeDocument/2006/relationships/notesSlide" Target="/ppt/notesSlides/notesSlide5.xml" Id="Re5a963c9c68c4a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90d5a5d224933" /><Relationship Type="http://schemas.openxmlformats.org/officeDocument/2006/relationships/notesSlide" Target="/ppt/notesSlides/notesSlide6.xml" Id="R02c59cd6ddd546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3520351254525" /><Relationship Type="http://schemas.openxmlformats.org/officeDocument/2006/relationships/notesSlide" Target="/ppt/notesSlides/notesSlide7.xml" Id="R583d366fd7de44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D670DFB2-962E-498F-8646-02825E20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91440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B3 · INTERACTIVITY &amp; STATE · B3.3 PART 2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3081C825-FB87-482A-807C-30E5469B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14600"/>
            <a:ext cx="10332720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sz="40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Transitioning Between Scenes</a:t>
            </a:r>
            <a:endParaRPr sz="4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28D78163-C6B1-4DBF-BBCE-231E5B9C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94760"/>
            <a:ext cx="960120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sz="1800" b="0" i="0" u="none" cap="none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Letting events change scene while the program runs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244A79EF-9A55-48D4-8870-E054F8DE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DCF088A9-5C9D-499B-9CF7-D08B47BF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B3.3 · Part 2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684673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4CCEF72D-E2B8-44EE-8DB4-5AC300AF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Quick Recap: Display Driven by State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B6E48614-6133-4EEF-99B8-A3823C60C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From Part 1 — one variable, one active block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971777B0-5EC4-4D16-B175-D621E6AE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85647481-1E4B-4E7B-89C3-F0DC512A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B3.3 · Part 2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B9427C3D-D1D1-4206-86A4-2D193A6A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5394960" cy="420624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3175C4C9-14EC-4246-A140-6A26FAB6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5623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FROM PART 1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E58139AA-901A-4CFA-BC67-7318CD1F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94560"/>
            <a:ext cx="4937760" cy="3520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scene is a named-constant int. draw() checks it with separate if statements, and only one block's shape appears at a time. So far we've only changed scene by editing the source code and rerunning.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F14675AC-086D-49B5-B84F-73B063CF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91640"/>
            <a:ext cx="5394960" cy="420624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8A50E1D8-74B5-4A7F-8931-7AAC1EB4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85623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FROM B3.1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" name="Google Shape;35;p4">
            <a:extLst xmlns:a="http://schemas.openxmlformats.org/drawingml/2006/main">
              <a:ext uri="{FF2B5EF4-FFF2-40B4-BE49-F238E27FC236}">
                <a16:creationId xmlns:a16="http://schemas.microsoft.com/office/drawing/2014/main" id="{30B4BA13-B206-4F9E-80E2-3C9E58E9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194560"/>
            <a:ext cx="4937760" cy="3520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mousePressed() and keyPressed() are event functions we've used before to change variables — today we use them to change which scene is active. mousePressed() runs once per click; keyPressed() can fire more than once while a key is held, due to OS key-repeat, so today's transitions are built to handle that safely.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339839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9C593F9B-BF2F-4B27-8083-57CD589D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An Event Handler That Changes scene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91C5FF3E-7D5B-43B9-B7D4-FA701155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A real transition, triggered while the program is running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00EBB82F-46C2-45CB-827F-389BBDE6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F6E94385-51C8-47F7-A4A2-C7DBCF23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B3.3 · Part 2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899D28C0-6FD7-4F57-AFDA-8E1A4BA9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6675120" cy="219456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>
            <a:extLst xmlns:a="http://schemas.openxmlformats.org/drawingml/2006/main">
              <a:ext uri="{FF2B5EF4-FFF2-40B4-BE49-F238E27FC236}">
                <a16:creationId xmlns:a16="http://schemas.microsoft.com/office/drawing/2014/main" id="{8D0169C8-8225-40AF-9023-D8E59B59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55648"/>
            <a:ext cx="6126480" cy="17922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400"/>
              <a:buFont typeface="Courier New"/>
              <a:buNone/>
            </a:pPr>
            <a:r>
              <a:rPr sz="14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</a:t>
            </a: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4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void</a:t>
            </a: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mousePressed() {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4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if</a:t>
            </a: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(scene == SCENE_INTRO) {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scene = SCENE_MAIN;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}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" name="Google Shape;47;p5">
            <a:extLst xmlns:a="http://schemas.openxmlformats.org/drawingml/2006/main">
              <a:ext uri="{FF2B5EF4-FFF2-40B4-BE49-F238E27FC236}">
                <a16:creationId xmlns:a16="http://schemas.microsoft.com/office/drawing/2014/main" id="{8C996EE9-14E1-4A5F-9512-B2ED3DFB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931920"/>
            <a:ext cx="6675120" cy="2286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>
            <a:extLst xmlns:a="http://schemas.openxmlformats.org/drawingml/2006/main">
              <a:ext uri="{FF2B5EF4-FFF2-40B4-BE49-F238E27FC236}">
                <a16:creationId xmlns:a16="http://schemas.microsoft.com/office/drawing/2014/main" id="{E95E0A22-8AD9-401C-80EE-DE68699C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96512"/>
            <a:ext cx="62179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WHAT'S NEW HERE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" name="Google Shape;49;p5">
            <a:extLst xmlns:a="http://schemas.openxmlformats.org/drawingml/2006/main">
              <a:ext uri="{FF2B5EF4-FFF2-40B4-BE49-F238E27FC236}">
                <a16:creationId xmlns:a16="http://schemas.microsoft.com/office/drawing/2014/main" id="{94860D43-756B-48FA-A5B4-930FA635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34840"/>
            <a:ext cx="621792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This is the same scene variable and the same draw() branching from Part 1 — the only addition is an event handler that assigns a new value to scene. The click doesn't draw anything itself; it just updates which block draw() will run next frame.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" name="Google Shape;50;p5">
            <a:extLst xmlns:a="http://schemas.openxmlformats.org/drawingml/2006/main">
              <a:ext uri="{FF2B5EF4-FFF2-40B4-BE49-F238E27FC236}">
                <a16:creationId xmlns:a16="http://schemas.microsoft.com/office/drawing/2014/main" id="{500D2E88-61ED-4D6C-9A83-7EB2BEA0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554480"/>
            <a:ext cx="1082040" cy="4663440"/>
          </a:xfrm>
          <a:prstGeom xmlns:a="http://schemas.openxmlformats.org/drawingml/2006/main" prst="roundRect">
            <a:avLst>
              <a:gd name="adj" fmla="val 507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>
            <a:extLst xmlns:a="http://schemas.openxmlformats.org/drawingml/2006/main">
              <a:ext uri="{FF2B5EF4-FFF2-40B4-BE49-F238E27FC236}">
                <a16:creationId xmlns:a16="http://schemas.microsoft.com/office/drawing/2014/main" id="{5989F226-7128-4D05-AB05-4CAE9D7E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64208"/>
            <a:ext cx="8991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Before click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2" name="Google Shape;52;p5">
            <a:extLst xmlns:a="http://schemas.openxmlformats.org/drawingml/2006/main">
              <a:ext uri="{FF2B5EF4-FFF2-40B4-BE49-F238E27FC236}">
                <a16:creationId xmlns:a16="http://schemas.microsoft.com/office/drawing/2014/main" id="{DEE8F3BA-E582-4514-ABD5-3758B2A0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29968"/>
            <a:ext cx="899160" cy="406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scene = SCENE_INTRO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3" name="Google Shape;53;p5">
            <a:extLst xmlns:a="http://schemas.openxmlformats.org/drawingml/2006/main">
              <a:ext uri="{FF2B5EF4-FFF2-40B4-BE49-F238E27FC236}">
                <a16:creationId xmlns:a16="http://schemas.microsoft.com/office/drawing/2014/main" id="{90174D6F-4ABF-41C4-90AD-925B6AD5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03320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2000"/>
              <a:buFont typeface="Calibri"/>
              <a:buNone/>
            </a:pPr>
            <a:r>
              <a:rPr sz="2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→</a:t>
            </a:r>
            <a:endParaRPr sz="2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4" name="Google Shape;54;p5">
            <a:extLst xmlns:a="http://schemas.openxmlformats.org/drawingml/2006/main">
              <a:ext uri="{FF2B5EF4-FFF2-40B4-BE49-F238E27FC236}">
                <a16:creationId xmlns:a16="http://schemas.microsoft.com/office/drawing/2014/main" id="{AE20B49E-0C50-4861-B51F-2916DFF1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554480"/>
            <a:ext cx="1082040" cy="4663440"/>
          </a:xfrm>
          <a:prstGeom xmlns:a="http://schemas.openxmlformats.org/drawingml/2006/main" prst="roundRect">
            <a:avLst>
              <a:gd name="adj" fmla="val 5070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>
            <a:extLst xmlns:a="http://schemas.openxmlformats.org/drawingml/2006/main">
              <a:ext uri="{FF2B5EF4-FFF2-40B4-BE49-F238E27FC236}">
                <a16:creationId xmlns:a16="http://schemas.microsoft.com/office/drawing/2014/main" id="{85DF89B9-157B-445E-9735-6F9E9897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3040" y="1664208"/>
            <a:ext cx="8991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Click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6" name="Google Shape;56;p5">
            <a:extLst xmlns:a="http://schemas.openxmlformats.org/drawingml/2006/main">
              <a:ext uri="{FF2B5EF4-FFF2-40B4-BE49-F238E27FC236}">
                <a16:creationId xmlns:a16="http://schemas.microsoft.com/office/drawing/2014/main" id="{BAF399E9-5326-4C94-B441-59BDC7FE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3040" y="2029968"/>
            <a:ext cx="899160" cy="406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event fires once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7" name="Google Shape;57;p5">
            <a:extLst xmlns:a="http://schemas.openxmlformats.org/drawingml/2006/main">
              <a:ext uri="{FF2B5EF4-FFF2-40B4-BE49-F238E27FC236}">
                <a16:creationId xmlns:a16="http://schemas.microsoft.com/office/drawing/2014/main" id="{1B8C0FA1-2F27-411C-BBCD-F20A5EA8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3640" y="3703320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2000"/>
              <a:buFont typeface="Calibri"/>
              <a:buNone/>
            </a:pPr>
            <a:r>
              <a:rPr sz="2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→</a:t>
            </a:r>
            <a:endParaRPr sz="2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8" name="Google Shape;58;p5">
            <a:extLst xmlns:a="http://schemas.openxmlformats.org/drawingml/2006/main">
              <a:ext uri="{FF2B5EF4-FFF2-40B4-BE49-F238E27FC236}">
                <a16:creationId xmlns:a16="http://schemas.microsoft.com/office/drawing/2014/main" id="{C391DD3E-3974-486F-B395-BFA3E7F7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840" y="1554480"/>
            <a:ext cx="1082040" cy="4663440"/>
          </a:xfrm>
          <a:prstGeom xmlns:a="http://schemas.openxmlformats.org/drawingml/2006/main" prst="roundRect">
            <a:avLst>
              <a:gd name="adj" fmla="val 507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>
            <a:extLst xmlns:a="http://schemas.openxmlformats.org/drawingml/2006/main">
              <a:ext uri="{FF2B5EF4-FFF2-40B4-BE49-F238E27FC236}">
                <a16:creationId xmlns:a16="http://schemas.microsoft.com/office/drawing/2014/main" id="{A9DEB955-CE04-4918-BBCE-FF3CF2C8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280" y="1664208"/>
            <a:ext cx="8991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After click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" name="Google Shape;60;p5">
            <a:extLst xmlns:a="http://schemas.openxmlformats.org/drawingml/2006/main">
              <a:ext uri="{FF2B5EF4-FFF2-40B4-BE49-F238E27FC236}">
                <a16:creationId xmlns:a16="http://schemas.microsoft.com/office/drawing/2014/main" id="{6DEC4792-3E07-4817-8597-A7BF35A9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2280" y="2029968"/>
            <a:ext cx="899160" cy="406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scene = SCENE_MAIN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581321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Google Shape;66;p6">
            <a:extLst xmlns:a="http://schemas.openxmlformats.org/drawingml/2006/main">
              <a:ext uri="{FF2B5EF4-FFF2-40B4-BE49-F238E27FC236}">
                <a16:creationId xmlns:a16="http://schemas.microsoft.com/office/drawing/2014/main" id="{5996F72C-6A6B-4A65-88C5-C4404DB2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mousePressed vs. mousePressed()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7" name="Google Shape;67;p6">
            <a:extLst xmlns:a="http://schemas.openxmlformats.org/drawingml/2006/main">
              <a:ext uri="{FF2B5EF4-FFF2-40B4-BE49-F238E27FC236}">
                <a16:creationId xmlns:a16="http://schemas.microsoft.com/office/drawing/2014/main" id="{2E2457A1-B287-4A97-877E-4F4CCE15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Same name, two very different things — worth re-checking here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8" name="Google Shape;68;p6">
            <a:extLst xmlns:a="http://schemas.openxmlformats.org/drawingml/2006/main">
              <a:ext uri="{FF2B5EF4-FFF2-40B4-BE49-F238E27FC236}">
                <a16:creationId xmlns:a16="http://schemas.microsoft.com/office/drawing/2014/main" id="{93A96710-97B8-495C-A850-C75D7F5C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9" name="Google Shape;69;p6">
            <a:extLst xmlns:a="http://schemas.openxmlformats.org/drawingml/2006/main">
              <a:ext uri="{FF2B5EF4-FFF2-40B4-BE49-F238E27FC236}">
                <a16:creationId xmlns:a16="http://schemas.microsoft.com/office/drawing/2014/main" id="{BB521293-1544-4B49-8356-2820D131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B3.3 · Part 2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0" name="Google Shape;70;p6">
            <a:extLst xmlns:a="http://schemas.openxmlformats.org/drawingml/2006/main">
              <a:ext uri="{FF2B5EF4-FFF2-40B4-BE49-F238E27FC236}">
                <a16:creationId xmlns:a16="http://schemas.microsoft.com/office/drawing/2014/main" id="{A966405D-F133-44BF-96B0-80AE69A6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5394960" cy="4206240"/>
          </a:xfrm>
          <a:prstGeom xmlns:a="http://schemas.openxmlformats.org/drawingml/2006/main" prst="roundRect">
            <a:avLst>
              <a:gd name="adj" fmla="val 1304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>
            <a:extLst xmlns:a="http://schemas.openxmlformats.org/drawingml/2006/main">
              <a:ext uri="{FF2B5EF4-FFF2-40B4-BE49-F238E27FC236}">
                <a16:creationId xmlns:a16="http://schemas.microsoft.com/office/drawing/2014/main" id="{472380DD-B9D9-4C07-8BDC-2DD30053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20240"/>
            <a:ext cx="4846320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342900" marR="0" lvl="0" indent="-34290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mousePressed (variable, no parentheses)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Continuously true for as long as the mouse button is held down.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Checking it inside draw() would try to fire the transition on every single frame the button stays held — not what we want for a one-time scene change.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" name="Google Shape;72;p6">
            <a:extLst xmlns:a="http://schemas.openxmlformats.org/drawingml/2006/main">
              <a:ext uri="{FF2B5EF4-FFF2-40B4-BE49-F238E27FC236}">
                <a16:creationId xmlns:a16="http://schemas.microsoft.com/office/drawing/2014/main" id="{2BA85E3C-9A57-44EF-B1F1-67BD852B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91640"/>
            <a:ext cx="5394960" cy="4206240"/>
          </a:xfrm>
          <a:prstGeom xmlns:a="http://schemas.openxmlformats.org/drawingml/2006/main" prst="roundRect">
            <a:avLst>
              <a:gd name="adj" fmla="val 13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>
            <a:extLst xmlns:a="http://schemas.openxmlformats.org/drawingml/2006/main">
              <a:ext uri="{FF2B5EF4-FFF2-40B4-BE49-F238E27FC236}">
                <a16:creationId xmlns:a16="http://schemas.microsoft.com/office/drawing/2014/main" id="{6FD64AE0-72F1-4C42-8E17-8D1E8E58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920240"/>
            <a:ext cx="4846320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342900" marR="0" lvl="0" indent="-34290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mousePressed() (function, with parentheses)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Runs exactly once, at the instant of the press.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This is what a scene transition needs: one event, one change to scene — which is why it's the one we use here.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536993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Google Shape;79;p7">
            <a:extLst xmlns:a="http://schemas.openxmlformats.org/drawingml/2006/main">
              <a:ext uri="{FF2B5EF4-FFF2-40B4-BE49-F238E27FC236}">
                <a16:creationId xmlns:a16="http://schemas.microsoft.com/office/drawing/2014/main" id="{EFBA7BDC-C933-467B-8CD7-328C13BA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A Different Event, Same Mechanism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0" name="Google Shape;80;p7">
            <a:extLst xmlns:a="http://schemas.openxmlformats.org/drawingml/2006/main">
              <a:ext uri="{FF2B5EF4-FFF2-40B4-BE49-F238E27FC236}">
                <a16:creationId xmlns:a16="http://schemas.microsoft.com/office/drawing/2014/main" id="{277D2960-B668-4023-BC8B-092B43BD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Adding a third scene, triggered by a key press instead of a click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1" name="Google Shape;81;p7">
            <a:extLst xmlns:a="http://schemas.openxmlformats.org/drawingml/2006/main">
              <a:ext uri="{FF2B5EF4-FFF2-40B4-BE49-F238E27FC236}">
                <a16:creationId xmlns:a16="http://schemas.microsoft.com/office/drawing/2014/main" id="{D0CF82E0-FF3F-4D86-8EA0-E12D9EC5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2" name="Google Shape;82;p7">
            <a:extLst xmlns:a="http://schemas.openxmlformats.org/drawingml/2006/main">
              <a:ext uri="{FF2B5EF4-FFF2-40B4-BE49-F238E27FC236}">
                <a16:creationId xmlns:a16="http://schemas.microsoft.com/office/drawing/2014/main" id="{502725BB-D6AC-4B25-92A8-8FFA6A77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B3.3 · Part 2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3" name="Google Shape;83;p7">
            <a:extLst xmlns:a="http://schemas.openxmlformats.org/drawingml/2006/main">
              <a:ext uri="{FF2B5EF4-FFF2-40B4-BE49-F238E27FC236}">
                <a16:creationId xmlns:a16="http://schemas.microsoft.com/office/drawing/2014/main" id="{7B2544EC-101A-47DF-AF25-700667CF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6675120" cy="27432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7">
            <a:extLst xmlns:a="http://schemas.openxmlformats.org/drawingml/2006/main">
              <a:ext uri="{FF2B5EF4-FFF2-40B4-BE49-F238E27FC236}">
                <a16:creationId xmlns:a16="http://schemas.microsoft.com/office/drawing/2014/main" id="{C417F85D-7D10-439A-B667-C86E23D4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55648"/>
            <a:ext cx="6126480" cy="23408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400"/>
              <a:buFont typeface="Courier New"/>
              <a:buNone/>
            </a:pPr>
            <a:r>
              <a:rPr sz="14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</a:t>
            </a: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4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void</a:t>
            </a: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keyPressed() {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4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if</a:t>
            </a: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(scene == SCENE_MAIN) {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4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if</a:t>
            </a: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(key == 'e') {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  scene = SCENE_END;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}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}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ourier New"/>
              <a:buNone/>
            </a:pPr>
            <a:r>
              <a:rPr sz="14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5" name="Google Shape;85;p7">
            <a:extLst xmlns:a="http://schemas.openxmlformats.org/drawingml/2006/main">
              <a:ext uri="{FF2B5EF4-FFF2-40B4-BE49-F238E27FC236}">
                <a16:creationId xmlns:a16="http://schemas.microsoft.com/office/drawing/2014/main" id="{A5B02C47-87C8-4643-B943-B73D4DFF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554480"/>
            <a:ext cx="4160520" cy="4663440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7">
            <a:extLst xmlns:a="http://schemas.openxmlformats.org/drawingml/2006/main">
              <a:ext uri="{FF2B5EF4-FFF2-40B4-BE49-F238E27FC236}">
                <a16:creationId xmlns:a16="http://schemas.microsoft.com/office/drawing/2014/main" id="{78291C19-CDF0-4B46-983B-17BC48FC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719072"/>
            <a:ext cx="37033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SAME PATTERN, NEW SOURCE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7" name="Google Shape;87;p7">
            <a:extLst xmlns:a="http://schemas.openxmlformats.org/drawingml/2006/main">
              <a:ext uri="{FF2B5EF4-FFF2-40B4-BE49-F238E27FC236}">
                <a16:creationId xmlns:a16="http://schemas.microsoft.com/office/drawing/2014/main" id="{94EE94BC-2D47-4021-9CF9-2F317887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057400"/>
            <a:ext cx="3703320" cy="397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It's still just an event handler assigning a new value to scene.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The outer if checks the current scene first, so pressing 'e' only does something while we're actually in SCENE_MAIN — the transition only makes sense from one particular scene.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971243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Google Shape;93;p8">
            <a:extLst xmlns:a="http://schemas.openxmlformats.org/drawingml/2006/main">
              <a:ext uri="{FF2B5EF4-FFF2-40B4-BE49-F238E27FC236}">
                <a16:creationId xmlns:a16="http://schemas.microsoft.com/office/drawing/2014/main" id="{EF1F728B-7E28-44CE-9BA3-F1CB2FE9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Your Turn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" name="Google Shape;94;p8">
            <a:extLst xmlns:a="http://schemas.openxmlformats.org/drawingml/2006/main">
              <a:ext uri="{FF2B5EF4-FFF2-40B4-BE49-F238E27FC236}">
                <a16:creationId xmlns:a16="http://schemas.microsoft.com/office/drawing/2014/main" id="{689B2BCC-0110-4EBF-AE80-0D0C7268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Step 1: Guided · Step 2: Construct Yourself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" name="Google Shape;95;p8">
            <a:extLst xmlns:a="http://schemas.openxmlformats.org/drawingml/2006/main">
              <a:ext uri="{FF2B5EF4-FFF2-40B4-BE49-F238E27FC236}">
                <a16:creationId xmlns:a16="http://schemas.microsoft.com/office/drawing/2014/main" id="{C8668715-02CA-47DC-8F4D-A68EF8F1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" name="Google Shape;96;p8">
            <a:extLst xmlns:a="http://schemas.openxmlformats.org/drawingml/2006/main">
              <a:ext uri="{FF2B5EF4-FFF2-40B4-BE49-F238E27FC236}">
                <a16:creationId xmlns:a16="http://schemas.microsoft.com/office/drawing/2014/main" id="{9DDE8D92-E8FE-48C7-A69D-22A2A607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B3.3 · Part 2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7" name="Google Shape;97;p8">
            <a:extLst xmlns:a="http://schemas.openxmlformats.org/drawingml/2006/main">
              <a:ext uri="{FF2B5EF4-FFF2-40B4-BE49-F238E27FC236}">
                <a16:creationId xmlns:a16="http://schemas.microsoft.com/office/drawing/2014/main" id="{862CF21D-A9CF-4F8F-8EFC-FBC84024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5394960" cy="420624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8">
            <a:extLst xmlns:a="http://schemas.openxmlformats.org/drawingml/2006/main">
              <a:ext uri="{FF2B5EF4-FFF2-40B4-BE49-F238E27FC236}">
                <a16:creationId xmlns:a16="http://schemas.microsoft.com/office/drawing/2014/main" id="{447A000F-5FBC-4097-8020-164C4A7A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5623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STEP 1 · GUIDED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9" name="Google Shape;99;p8">
            <a:extLst xmlns:a="http://schemas.openxmlformats.org/drawingml/2006/main">
              <a:ext uri="{FF2B5EF4-FFF2-40B4-BE49-F238E27FC236}">
                <a16:creationId xmlns:a16="http://schemas.microsoft.com/office/drawing/2014/main" id="{DB40BD96-F28C-4B35-9DD7-CB922B6A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94560"/>
            <a:ext cx="4937760" cy="3520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Take the mousePressed() transition from this lesson and change its triggering event to a key press instead — SCENE_INTRO to SCENE_MAIN when a chosen key is pressed. Test that clicking no longer does anything.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0" name="Google Shape;100;p8">
            <a:extLst xmlns:a="http://schemas.openxmlformats.org/drawingml/2006/main">
              <a:ext uri="{FF2B5EF4-FFF2-40B4-BE49-F238E27FC236}">
                <a16:creationId xmlns:a16="http://schemas.microsoft.com/office/drawing/2014/main" id="{72614494-E347-41A6-A351-0C1A1A29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91640"/>
            <a:ext cx="5394960" cy="420624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8">
            <a:extLst xmlns:a="http://schemas.openxmlformats.org/drawingml/2006/main">
              <a:ext uri="{FF2B5EF4-FFF2-40B4-BE49-F238E27FC236}">
                <a16:creationId xmlns:a16="http://schemas.microsoft.com/office/drawing/2014/main" id="{6662E2DD-3027-441A-8E76-C3BFE568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85623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STEP 2 · CONSTRUCT YOURSELF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2" name="Google Shape;102;p8">
            <a:extLst xmlns:a="http://schemas.openxmlformats.org/drawingml/2006/main">
              <a:ext uri="{FF2B5EF4-FFF2-40B4-BE49-F238E27FC236}">
                <a16:creationId xmlns:a16="http://schemas.microsoft.com/office/drawing/2014/main" id="{6269C16C-2DB1-485A-A287-05773563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194560"/>
            <a:ext cx="4937760" cy="3520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Add a real transition into the third scene you built in Part 1's Your Turn — pick either a mouse or keyboard event, and make sure it only fires from the correct starting scene.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312114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8" name="Google Shape;108;p9">
            <a:extLst xmlns:a="http://schemas.openxmlformats.org/drawingml/2006/main">
              <a:ext uri="{FF2B5EF4-FFF2-40B4-BE49-F238E27FC236}">
                <a16:creationId xmlns:a16="http://schemas.microsoft.com/office/drawing/2014/main" id="{E119A66E-DF9B-46AC-B148-89151F98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Recap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9" name="Google Shape;109;p9">
            <a:extLst xmlns:a="http://schemas.openxmlformats.org/drawingml/2006/main">
              <a:ext uri="{FF2B5EF4-FFF2-40B4-BE49-F238E27FC236}">
                <a16:creationId xmlns:a16="http://schemas.microsoft.com/office/drawing/2014/main" id="{2463188D-D792-4AAC-AEDD-C6B165D7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Key idea and what's next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0" name="Google Shape;110;p9">
            <a:extLst xmlns:a="http://schemas.openxmlformats.org/drawingml/2006/main">
              <a:ext uri="{FF2B5EF4-FFF2-40B4-BE49-F238E27FC236}">
                <a16:creationId xmlns:a16="http://schemas.microsoft.com/office/drawing/2014/main" id="{6E362082-64C7-4076-8B76-AF8305FB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" name="Google Shape;111;p9">
            <a:extLst xmlns:a="http://schemas.openxmlformats.org/drawingml/2006/main">
              <a:ext uri="{FF2B5EF4-FFF2-40B4-BE49-F238E27FC236}">
                <a16:creationId xmlns:a16="http://schemas.microsoft.com/office/drawing/2014/main" id="{F2E5E4EC-4372-4BC5-BFE9-15932E52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B3.3 · Part 2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" name="Google Shape;112;p9">
            <a:extLst xmlns:a="http://schemas.openxmlformats.org/drawingml/2006/main">
              <a:ext uri="{FF2B5EF4-FFF2-40B4-BE49-F238E27FC236}">
                <a16:creationId xmlns:a16="http://schemas.microsoft.com/office/drawing/2014/main" id="{CDA85D8B-2FD6-4723-A8E7-83E7DC46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10607040" cy="201168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9">
            <a:extLst xmlns:a="http://schemas.openxmlformats.org/drawingml/2006/main">
              <a:ext uri="{FF2B5EF4-FFF2-40B4-BE49-F238E27FC236}">
                <a16:creationId xmlns:a16="http://schemas.microsoft.com/office/drawing/2014/main" id="{C119F0F2-3ECF-4840-A19F-4C6EC53C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56232"/>
            <a:ext cx="101498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KEY IDEA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4" name="Google Shape;114;p9">
            <a:extLst xmlns:a="http://schemas.openxmlformats.org/drawingml/2006/main">
              <a:ext uri="{FF2B5EF4-FFF2-40B4-BE49-F238E27FC236}">
                <a16:creationId xmlns:a16="http://schemas.microsoft.com/office/drawing/2014/main" id="{5530CF0C-25C6-4FBE-A2A4-70BA4CE0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94560"/>
            <a:ext cx="1014984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transition is just an event handler assigning a new value to a state variable — the display logic in draw() doesn't need to know or care where the change came from.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5" name="Google Shape;115;p9">
            <a:extLst xmlns:a="http://schemas.openxmlformats.org/drawingml/2006/main">
              <a:ext uri="{FF2B5EF4-FFF2-40B4-BE49-F238E27FC236}">
                <a16:creationId xmlns:a16="http://schemas.microsoft.com/office/drawing/2014/main" id="{5AFC7A4E-52E1-4A09-B3A4-595E5C1C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86200"/>
            <a:ext cx="10607040" cy="201168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9">
            <a:extLst xmlns:a="http://schemas.openxmlformats.org/drawingml/2006/main">
              <a:ext uri="{FF2B5EF4-FFF2-40B4-BE49-F238E27FC236}">
                <a16:creationId xmlns:a16="http://schemas.microsoft.com/office/drawing/2014/main" id="{616CE41C-E341-45FD-BF1B-7A8CFF3D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50792"/>
            <a:ext cx="101498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NEXT: B3.3 PART 3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7" name="Google Shape;117;p9">
            <a:extLst xmlns:a="http://schemas.openxmlformats.org/drawingml/2006/main">
              <a:ext uri="{FF2B5EF4-FFF2-40B4-BE49-F238E27FC236}">
                <a16:creationId xmlns:a16="http://schemas.microsoft.com/office/drawing/2014/main" id="{D752D94A-9416-4666-9343-299E9D1A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389120"/>
            <a:ext cx="1014984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Next we bring everything together into one complete flow with three scenes and transitions in both directions — including one careful bug to watch for.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3219847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2026-08-29T13:20:20.9110000Z</dcterms:created>
  <dcterms:modified xsi:type="dcterms:W3CDTF">2026-08-29T13:20:20.9110000Z</dcterms:modified>
</coreProperties>
</file>