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5b1c55cc784962" /><Relationship Type="http://schemas.openxmlformats.org/officeDocument/2006/relationships/extended-properties" Target="/docProps/app.xml" Id="R5679af95a559481b" /><Relationship Type="http://schemas.openxmlformats.org/officeDocument/2006/relationships/officeDocument" Target="/ppt/presentation.xml" Id="R17b71fcd466944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4673c726c0491f"/>
  </p:sldMasterIdLst>
  <p:notesMasterIdLst>
    <p:notesMasterId xmlns:r="http://schemas.openxmlformats.org/officeDocument/2006/relationships" r:id="R344afbe4b542463b"/>
  </p:notesMasterIdLst>
  <p:sldIdLst>
    <p:sldId xmlns:r="http://schemas.openxmlformats.org/officeDocument/2006/relationships" id="256" r:id="Rffc734492eae4698"/>
    <p:sldId xmlns:r="http://schemas.openxmlformats.org/officeDocument/2006/relationships" id="257" r:id="Ra1e022c45f3849e2"/>
    <p:sldId xmlns:r="http://schemas.openxmlformats.org/officeDocument/2006/relationships" id="258" r:id="Rea048e8d13424baf"/>
    <p:sldId xmlns:r="http://schemas.openxmlformats.org/officeDocument/2006/relationships" id="259" r:id="R7887f478f32a4acf"/>
    <p:sldId xmlns:r="http://schemas.openxmlformats.org/officeDocument/2006/relationships" id="260" r:id="R35e58879cf8d4bb9"/>
    <p:sldId xmlns:r="http://schemas.openxmlformats.org/officeDocument/2006/relationships" id="261" r:id="R452e1b8464534855"/>
    <p:sldId xmlns:r="http://schemas.openxmlformats.org/officeDocument/2006/relationships" id="262" r:id="Rf9c85c0b67594140"/>
  </p:sldIdLst>
  <p:sldSz cx="1219167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e9ed42e5654a23" /><Relationship Type="http://schemas.openxmlformats.org/officeDocument/2006/relationships/slideMaster" Target="/ppt/slideMasters/slideMaster1.xml" Id="R1c4673c726c0491f" /><Relationship Type="http://schemas.openxmlformats.org/officeDocument/2006/relationships/notesMaster" Target="/ppt/notesMasters/notesMaster1.xml" Id="R344afbe4b542463b" /><Relationship Type="http://schemas.openxmlformats.org/officeDocument/2006/relationships/presProps" Target="/ppt/presProps.xml" Id="R4e62f1500656476c" /><Relationship Type="http://schemas.openxmlformats.org/officeDocument/2006/relationships/tableStyles" Target="/ppt/tableStyles.xml" Id="R0589739b253046b9" /><Relationship Type="http://schemas.openxmlformats.org/officeDocument/2006/relationships/slide" Target="/ppt/slides/slide1.xml" Id="Rffc734492eae4698" /><Relationship Type="http://schemas.openxmlformats.org/officeDocument/2006/relationships/slide" Target="/ppt/slides/slide2.xml" Id="Ra1e022c45f3849e2" /><Relationship Type="http://schemas.openxmlformats.org/officeDocument/2006/relationships/slide" Target="/ppt/slides/slide3.xml" Id="Rea048e8d13424baf" /><Relationship Type="http://schemas.openxmlformats.org/officeDocument/2006/relationships/slide" Target="/ppt/slides/slide4.xml" Id="R7887f478f32a4acf" /><Relationship Type="http://schemas.openxmlformats.org/officeDocument/2006/relationships/slide" Target="/ppt/slides/slide5.xml" Id="R35e58879cf8d4bb9" /><Relationship Type="http://schemas.openxmlformats.org/officeDocument/2006/relationships/slide" Target="/ppt/slides/slide6.xml" Id="R452e1b8464534855" /><Relationship Type="http://schemas.openxmlformats.org/officeDocument/2006/relationships/slide" Target="/ppt/slides/slide7.xml" Id="Rf9c85c0b675941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36ef5081c94f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36071ce3674f23" /><Relationship Type="http://schemas.openxmlformats.org/officeDocument/2006/relationships/notesMaster" Target="/ppt/notesMasters/notesMaster1.xml" Id="R40c07dfa65244b8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9fd0289d794ff4" /><Relationship Type="http://schemas.openxmlformats.org/officeDocument/2006/relationships/notesMaster" Target="/ppt/notesMasters/notesMaster1.xml" Id="R63f7469367b542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bde1985446441bf" /><Relationship Type="http://schemas.openxmlformats.org/officeDocument/2006/relationships/notesMaster" Target="/ppt/notesMasters/notesMaster1.xml" Id="R5648e91d53974a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91ea9086f97492c" /><Relationship Type="http://schemas.openxmlformats.org/officeDocument/2006/relationships/notesMaster" Target="/ppt/notesMasters/notesMaster1.xml" Id="R4985620c9a6042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6a334205ef4214" /><Relationship Type="http://schemas.openxmlformats.org/officeDocument/2006/relationships/notesMaster" Target="/ppt/notesMasters/notesMaster1.xml" Id="R34ad851504574c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e806023341496b" /><Relationship Type="http://schemas.openxmlformats.org/officeDocument/2006/relationships/notesMaster" Target="/ppt/notesMasters/notesMaster1.xml" Id="R815d4064fdb34c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0b445ed2974cb2" /><Relationship Type="http://schemas.openxmlformats.org/officeDocument/2006/relationships/notesMaster" Target="/ppt/notesMasters/notesMaster1.xml" Id="R0e893d25fba348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minutes. Introduce scenes as named program states that select one complete screen or mode.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5 minutes. Retrieve the state-render relationship: changing scene does nothing visible until draw() branches on its value.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9 minutes. Replace unexplained numbers with named int constants such as TITLE, PLAY, and END. Keep the current scene in a separate mutable field.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7 minutes. Model display driven by state with one if / else-if chain. Exactly one scene should render per frame.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6 minutes. Explain why names improve tracing and reduce mistakes without changing the underlying int values.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13 minutes. Students name three scenes, render a distinct screen for each, and temporarily set the initial scene to verify every branch.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https://processing.org/reference/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minutes. Exit check: distinguish a scene constant from the scene field.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d8a131265a4324" /></Relationships>
</file>

<file path=ppt/slideLayouts/slideLayout1.xml><?xml version="1.0" encoding="utf-8"?>
<p:sldLayout xmlns:p="http://schemas.openxmlformats.org/presentationml/2006/main" matchingName="DEFAULT">
  <p:cSld name="DEFAULT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1ec53e8da544d5" /><Relationship Type="http://schemas.openxmlformats.org/officeDocument/2006/relationships/slideLayout" Target="/ppt/slideLayouts/slideLayout1.xml" Id="Raac464b32137448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c464b32137448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59aa3c6ea94d33" /><Relationship Type="http://schemas.openxmlformats.org/officeDocument/2006/relationships/notesSlide" Target="/ppt/notesSlides/notesSlide1.xml" Id="R4616f16c7586470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6c483b60643cd" /><Relationship Type="http://schemas.openxmlformats.org/officeDocument/2006/relationships/notesSlide" Target="/ppt/notesSlides/notesSlide2.xml" Id="R72734040fd9549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0fc2c998d4764" /><Relationship Type="http://schemas.openxmlformats.org/officeDocument/2006/relationships/notesSlide" Target="/ppt/notesSlides/notesSlide3.xml" Id="R4c1d7512c97140f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0c18d51c54d2e" /><Relationship Type="http://schemas.openxmlformats.org/officeDocument/2006/relationships/notesSlide" Target="/ppt/notesSlides/notesSlide4.xml" Id="R647a33aa1d9b4b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23d7f21e5345b7" /><Relationship Type="http://schemas.openxmlformats.org/officeDocument/2006/relationships/notesSlide" Target="/ppt/notesSlides/notesSlide5.xml" Id="R1cdc4d58b96842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bb6736f1294cc5" /><Relationship Type="http://schemas.openxmlformats.org/officeDocument/2006/relationships/notesSlide" Target="/ppt/notesSlides/notesSlide6.xml" Id="Rbf63cb02aa154e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a9923aa9340e1" /><Relationship Type="http://schemas.openxmlformats.org/officeDocument/2006/relationships/notesSlide" Target="/ppt/notesSlides/notesSlide7.xml" Id="R0ceb0fa58cef44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27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3938D252-937E-460D-9163-27859D66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4884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B3 · INTERACTIVITY &amp; STATE · B3.3 PART 1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92C3E80C-233B-49EC-A5D8-ED6FB89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14600"/>
            <a:ext cx="10332720" cy="146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sz="4000" b="1" i="0" u="none" cap="none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Naming and Displaying Scenes</a:t>
            </a:r>
            <a:endParaRPr sz="4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8D608B39-A5E4-4FDA-85CD-29A60B22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96012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sz="1800" b="0" i="0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Using a state variable to control what's currently on screen</a:t>
            </a:r>
            <a:endParaRPr sz="1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7859A8D0-9700-46BB-8049-A1049845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6A35132C-A6EE-407F-8157-07CE3624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B3.3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27498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704F8285-A67A-47FB-89AB-2BE1A8EAA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Quick Recap: State Variables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Google Shape;27;p4">
            <a:extLst xmlns:a="http://schemas.openxmlformats.org/drawingml/2006/main">
              <a:ext uri="{FF2B5EF4-FFF2-40B4-BE49-F238E27FC236}">
                <a16:creationId xmlns:a16="http://schemas.microsoft.com/office/drawing/2014/main" id="{4B7E2679-04C5-4AAC-91BA-D2101A11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From B3.2 — information the program remembers between frames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8" name="Google Shape;28;p4">
            <a:extLst xmlns:a="http://schemas.openxmlformats.org/drawingml/2006/main">
              <a:ext uri="{FF2B5EF4-FFF2-40B4-BE49-F238E27FC236}">
                <a16:creationId xmlns:a16="http://schemas.microsoft.com/office/drawing/2014/main" id="{1F8D913E-CC77-48FD-BE68-1B6EB71B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82927E2D-4033-4719-9632-70B0A1F8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B3.3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AFBDEAB2-5EFF-4F46-BAE4-771CA3E6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7A6575C4-0FCD-492D-AB31-F4D1BC650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WHAT WE ALREADY KNOW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CFA61F65-F158-4288-9913-909172DB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 state variable is information the program remembers that can change over time and affect what the program does.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alibri"/>
              <a:buNone/>
            </a:pPr>
            <a:r>
              <a:t/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It's declared at the class level — outside setup() and draw() — so it both persists between frames and stays accessible to every function that needs it, including draw() and any event functions.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51650FF4-46CF-412C-9A38-AF8728B7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255AEE1D-E4CC-4A08-A443-ACEDA2B8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TODAY'S QUESTION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195E45CC-3506-4CAB-ABF7-400E69EC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if a state variable's whole job is deciding which scene, screen, or mode the program is currently in — not just tracking a number, but selecting between entirely different things drawn on screen?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073569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5">
            <a:extLst xmlns:a="http://schemas.openxmlformats.org/drawingml/2006/main">
              <a:ext uri="{FF2B5EF4-FFF2-40B4-BE49-F238E27FC236}">
                <a16:creationId xmlns:a16="http://schemas.microsoft.com/office/drawing/2014/main" id="{820A5FF3-7F61-4190-8BEE-C8FF9DF6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Naming States with Constants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2" name="Google Shape;42;p5">
            <a:extLst xmlns:a="http://schemas.openxmlformats.org/drawingml/2006/main">
              <a:ext uri="{FF2B5EF4-FFF2-40B4-BE49-F238E27FC236}">
                <a16:creationId xmlns:a16="http://schemas.microsoft.com/office/drawing/2014/main" id="{6DB2FF3A-1D53-49A7-83DA-92B46392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A single state variable, compared against named values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3" name="Google Shape;43;p5">
            <a:extLst xmlns:a="http://schemas.openxmlformats.org/drawingml/2006/main">
              <a:ext uri="{FF2B5EF4-FFF2-40B4-BE49-F238E27FC236}">
                <a16:creationId xmlns:a16="http://schemas.microsoft.com/office/drawing/2014/main" id="{23735A47-ED2B-4299-A7FB-0FED6B565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4" name="Google Shape;44;p5">
            <a:extLst xmlns:a="http://schemas.openxmlformats.org/drawingml/2006/main">
              <a:ext uri="{FF2B5EF4-FFF2-40B4-BE49-F238E27FC236}">
                <a16:creationId xmlns:a16="http://schemas.microsoft.com/office/drawing/2014/main" id="{A8EE3B24-A832-4C46-8BAD-099DF9BF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B3.3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" name="Google Shape;45;p5">
            <a:extLst xmlns:a="http://schemas.openxmlformats.org/drawingml/2006/main">
              <a:ext uri="{FF2B5EF4-FFF2-40B4-BE49-F238E27FC236}">
                <a16:creationId xmlns:a16="http://schemas.microsoft.com/office/drawing/2014/main" id="{EC91E9AA-ECE8-46EF-AED3-F91DA677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17320"/>
            <a:ext cx="6675120" cy="4892040"/>
          </a:xfrm>
          <a:prstGeom xmlns:a="http://schemas.openxmlformats.org/drawingml/2006/main" prst="roundRect">
            <a:avLst>
              <a:gd name="adj" fmla="val 1121"/>
            </a:avLst>
          </a:prstGeom>
          <a:solidFill xmlns:a="http://schemas.openxmlformats.org/drawingml/2006/main">
            <a:srgbClr val="1B1F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>
            <a:extLst xmlns:a="http://schemas.openxmlformats.org/drawingml/2006/main">
              <a:ext uri="{FF2B5EF4-FFF2-40B4-BE49-F238E27FC236}">
                <a16:creationId xmlns:a16="http://schemas.microsoft.com/office/drawing/2014/main" id="{919AF9C9-06F4-4A11-A3DD-3BD3AD98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618488"/>
            <a:ext cx="6126480" cy="44897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final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SCENE_INTRO = 0;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final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SCENE_MAIN   = 1;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int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scene = SCENE_INTRO;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settings() {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size(400, 400);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8FD0FF"/>
              </a:buClr>
              <a:buSzPts val="1150"/>
              <a:buFont typeface="Courier New"/>
              <a:buNone/>
            </a:pP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public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void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draw() {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background(255);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(scene == SCENE_INTRO) {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fill(0);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ellipse(200, 200, 120, 120);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</a:t>
            </a:r>
            <a:r>
              <a:rPr sz="1150" b="1" i="0" u="none" cap="none">
                <a:solidFill>
                  <a:srgbClr val="8FD0FF"/>
                </a:solidFill>
                <a:latin typeface="Courier New"/>
                <a:ea typeface="Courier New"/>
                <a:cs typeface="Courier New"/>
              </a:rPr>
              <a:t>if</a:t>
            </a: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(scene == SCENE_MAIN) {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fill(150);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  rect(100, 100, 200, 200);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  }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ourier New"/>
              <a:buNone/>
            </a:pPr>
            <a:r>
              <a:rPr sz="1150" b="0" i="0" u="none" cap="none">
                <a:solidFill>
                  <a:srgbClr val="CADCFC"/>
                </a:solidFill>
                <a:latin typeface="Courier New"/>
                <a:ea typeface="Courier New"/>
                <a:cs typeface="Courier New"/>
              </a:rPr>
              <a:t>}</a:t>
            </a:r>
            <a:endParaRPr sz="11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7" name="Google Shape;47;p5">
            <a:extLst xmlns:a="http://schemas.openxmlformats.org/drawingml/2006/main">
              <a:ext uri="{FF2B5EF4-FFF2-40B4-BE49-F238E27FC236}">
                <a16:creationId xmlns:a16="http://schemas.microsoft.com/office/drawing/2014/main" id="{E926A877-EA74-450C-A877-470D01C7D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417320"/>
            <a:ext cx="4160520" cy="21945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7454253C-2234-435E-BFCF-870C90E4C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581912"/>
            <a:ext cx="37033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WHY final int?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14FC691D-C90C-46D1-94C5-D2BA003F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1920240"/>
            <a:ext cx="370332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final means the value can never be reassigned. SCENE_INTRO always means 0 — a readable name standing in for a number that never changes.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6BBB9715-ED06-4926-ACFC-69EBF140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840480"/>
            <a:ext cx="2194560" cy="2194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43C7C47F-79AC-4C53-92F4-E9846BFF3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4608576"/>
            <a:ext cx="658368" cy="6583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>
            <a:extLst xmlns:a="http://schemas.openxmlformats.org/drawingml/2006/main">
              <a:ext uri="{FF2B5EF4-FFF2-40B4-BE49-F238E27FC236}">
                <a16:creationId xmlns:a16="http://schemas.microsoft.com/office/drawing/2014/main" id="{C1B7A8F8-21C3-4E2E-9FD8-2F6F43DC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6126480"/>
            <a:ext cx="416052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00"/>
              <a:buFont typeface="Calibri"/>
              <a:buNone/>
            </a:pPr>
            <a:r>
              <a:rPr sz="1100" b="0" i="1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scene == SCENE_INTRO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66351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6">
            <a:extLst xmlns:a="http://schemas.openxmlformats.org/drawingml/2006/main">
              <a:ext uri="{FF2B5EF4-FFF2-40B4-BE49-F238E27FC236}">
                <a16:creationId xmlns:a16="http://schemas.microsoft.com/office/drawing/2014/main" id="{33FAA354-C7AE-4A78-87E9-72366484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Why Bother With State Here?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9" name="Google Shape;59;p6">
            <a:extLst xmlns:a="http://schemas.openxmlformats.org/drawingml/2006/main">
              <a:ext uri="{FF2B5EF4-FFF2-40B4-BE49-F238E27FC236}">
                <a16:creationId xmlns:a16="http://schemas.microsoft.com/office/drawing/2014/main" id="{DB0DC78B-26C6-4A16-897C-06A70F04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Compare the same two shapes, with and without a controlling variable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0" name="Google Shape;60;p6">
            <a:extLst xmlns:a="http://schemas.openxmlformats.org/drawingml/2006/main">
              <a:ext uri="{FF2B5EF4-FFF2-40B4-BE49-F238E27FC236}">
                <a16:creationId xmlns:a16="http://schemas.microsoft.com/office/drawing/2014/main" id="{81F26113-3718-47CF-B6A4-0784F314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1" name="Google Shape;61;p6">
            <a:extLst xmlns:a="http://schemas.openxmlformats.org/drawingml/2006/main">
              <a:ext uri="{FF2B5EF4-FFF2-40B4-BE49-F238E27FC236}">
                <a16:creationId xmlns:a16="http://schemas.microsoft.com/office/drawing/2014/main" id="{D34F2FA1-0785-45CE-81AF-9194B623E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B3.3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2" name="Google Shape;62;p6">
            <a:extLst xmlns:a="http://schemas.openxmlformats.org/drawingml/2006/main">
              <a:ext uri="{FF2B5EF4-FFF2-40B4-BE49-F238E27FC236}">
                <a16:creationId xmlns:a16="http://schemas.microsoft.com/office/drawing/2014/main" id="{9E128FF5-1591-42DC-9558-CD6BF35A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>
            <a:extLst xmlns:a="http://schemas.openxmlformats.org/drawingml/2006/main">
              <a:ext uri="{FF2B5EF4-FFF2-40B4-BE49-F238E27FC236}">
                <a16:creationId xmlns:a16="http://schemas.microsoft.com/office/drawing/2014/main" id="{9F170A74-3B61-4D7A-9E97-F959FEB0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20240"/>
            <a:ext cx="484632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No state variable: both shapes are drawn unconditionally.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In this version, both shapes are always drawn — nothing selects between them.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There is nothing here for the program to “decide.”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4" name="Google Shape;64;p6">
            <a:extLst xmlns:a="http://schemas.openxmlformats.org/drawingml/2006/main">
              <a:ext uri="{FF2B5EF4-FFF2-40B4-BE49-F238E27FC236}">
                <a16:creationId xmlns:a16="http://schemas.microsoft.com/office/drawing/2014/main" id="{D24CC355-99E9-4E9C-8E11-9B6A37C3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">
            <a:extLst xmlns:a="http://schemas.openxmlformats.org/drawingml/2006/main">
              <a:ext uri="{FF2B5EF4-FFF2-40B4-BE49-F238E27FC236}">
                <a16:creationId xmlns:a16="http://schemas.microsoft.com/office/drawing/2014/main" id="{507AF43E-06AA-48E0-8BA7-E0FEDA49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20240"/>
            <a:ext cx="4846320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342900" marR="0" lvl="0" indent="-342900" algn="l"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With scene controlling the branches, only one condition is ever true at a time.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scene holds exactly one value, so exactly one block's shape appears.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marR="0" lvl="0" indent="-342900" algn="l">
              <a:spcBef>
                <a:spcPts val="600"/>
              </a:spcBef>
              <a:spcAft>
                <a:spcPts val="0"/>
              </a:spcAft>
              <a:buClr>
                <a:srgbClr val="1B1F2E"/>
              </a:buClr>
              <a:buSzPts val="1300"/>
              <a:buFont typeface="Calibri"/>
              <a:buChar char="•"/>
            </a:pPr>
            <a:r>
              <a:rPr sz="130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The program is now choosing which output to show, based on what scene currently is.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627558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7">
            <a:extLst xmlns:a="http://schemas.openxmlformats.org/drawingml/2006/main">
              <a:ext uri="{FF2B5EF4-FFF2-40B4-BE49-F238E27FC236}">
                <a16:creationId xmlns:a16="http://schemas.microsoft.com/office/drawing/2014/main" id="{1D0805FC-C166-48E9-A9B8-F5C56BC6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One Value, One Active Block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2" name="Google Shape;72;p7">
            <a:extLst xmlns:a="http://schemas.openxmlformats.org/drawingml/2006/main">
              <a:ext uri="{FF2B5EF4-FFF2-40B4-BE49-F238E27FC236}">
                <a16:creationId xmlns:a16="http://schemas.microsoft.com/office/drawing/2014/main" id="{81D1C814-0825-4235-8AA1-F46ADBBAC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scene can only ever equal one thing at a time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3" name="Google Shape;73;p7">
            <a:extLst xmlns:a="http://schemas.openxmlformats.org/drawingml/2006/main">
              <a:ext uri="{FF2B5EF4-FFF2-40B4-BE49-F238E27FC236}">
                <a16:creationId xmlns:a16="http://schemas.microsoft.com/office/drawing/2014/main" id="{DF8A7923-E106-4910-BF02-005B3601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4" name="Google Shape;74;p7">
            <a:extLst xmlns:a="http://schemas.openxmlformats.org/drawingml/2006/main">
              <a:ext uri="{FF2B5EF4-FFF2-40B4-BE49-F238E27FC236}">
                <a16:creationId xmlns:a16="http://schemas.microsoft.com/office/drawing/2014/main" id="{A3EF6E0D-E8E4-489A-BD3C-F6D73237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B3.3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5" name="Google Shape;75;p7">
            <a:extLst xmlns:a="http://schemas.openxmlformats.org/drawingml/2006/main">
              <a:ext uri="{FF2B5EF4-FFF2-40B4-BE49-F238E27FC236}">
                <a16:creationId xmlns:a16="http://schemas.microsoft.com/office/drawing/2014/main" id="{43D7BB62-2565-4D71-8F83-57DDD8B7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920240"/>
            <a:ext cx="5029200" cy="146304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">
            <a:extLst xmlns:a="http://schemas.openxmlformats.org/drawingml/2006/main">
              <a:ext uri="{FF2B5EF4-FFF2-40B4-BE49-F238E27FC236}">
                <a16:creationId xmlns:a16="http://schemas.microsoft.com/office/drawing/2014/main" id="{93B0B60A-B218-4F64-8385-8F79848D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29968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scene = SCENE_INTRO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7" name="Google Shape;77;p7">
            <a:extLst xmlns:a="http://schemas.openxmlformats.org/drawingml/2006/main">
              <a:ext uri="{FF2B5EF4-FFF2-40B4-BE49-F238E27FC236}">
                <a16:creationId xmlns:a16="http://schemas.microsoft.com/office/drawing/2014/main" id="{301410CE-7D0F-4D43-A091-614857FD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95728"/>
            <a:ext cx="484632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circle block runs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8" name="Google Shape;78;p7">
            <a:extLst xmlns:a="http://schemas.openxmlformats.org/drawingml/2006/main">
              <a:ext uri="{FF2B5EF4-FFF2-40B4-BE49-F238E27FC236}">
                <a16:creationId xmlns:a16="http://schemas.microsoft.com/office/drawing/2014/main" id="{AD8059F1-275F-4114-9541-D9E17A0B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2468880"/>
            <a:ext cx="457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2000"/>
              <a:buFont typeface="Calibri"/>
              <a:buNone/>
            </a:pPr>
            <a:r>
              <a:rPr sz="2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→</a:t>
            </a:r>
            <a:endParaRPr sz="2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9" name="Google Shape;79;p7">
            <a:extLst xmlns:a="http://schemas.openxmlformats.org/drawingml/2006/main">
              <a:ext uri="{FF2B5EF4-FFF2-40B4-BE49-F238E27FC236}">
                <a16:creationId xmlns:a16="http://schemas.microsoft.com/office/drawing/2014/main" id="{F6414634-1527-4B6D-8293-8E65DBFA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20240"/>
            <a:ext cx="5029200" cy="146304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 cmpd="sng">
            <a:solidFill>
              <a:srgbClr val="E8ECFB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7">
            <a:extLst xmlns:a="http://schemas.openxmlformats.org/drawingml/2006/main">
              <a:ext uri="{FF2B5EF4-FFF2-40B4-BE49-F238E27FC236}">
                <a16:creationId xmlns:a16="http://schemas.microsoft.com/office/drawing/2014/main" id="{08D98508-C7EB-4749-96A5-C0D998DA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029968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sz="1400" b="1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scene = SCENE_MAIN</a:t>
            </a:r>
            <a:endParaRPr sz="14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1" name="Google Shape;81;p7">
            <a:extLst xmlns:a="http://schemas.openxmlformats.org/drawingml/2006/main">
              <a:ext uri="{FF2B5EF4-FFF2-40B4-BE49-F238E27FC236}">
                <a16:creationId xmlns:a16="http://schemas.microsoft.com/office/drawing/2014/main" id="{0532AC13-A572-4788-BCA0-C74686F3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395728"/>
            <a:ext cx="4846320" cy="868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sz="1100" b="0" i="0" u="none" cap="none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rectangle block runs</a:t>
            </a:r>
            <a:endParaRPr sz="11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2" name="Google Shape;82;p7">
            <a:extLst xmlns:a="http://schemas.openxmlformats.org/drawingml/2006/main">
              <a:ext uri="{FF2B5EF4-FFF2-40B4-BE49-F238E27FC236}">
                <a16:creationId xmlns:a16="http://schemas.microsoft.com/office/drawing/2014/main" id="{FBFAF392-9A02-4571-8A01-1F797872B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749040"/>
            <a:ext cx="10607040" cy="219456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">
            <a:extLst xmlns:a="http://schemas.openxmlformats.org/drawingml/2006/main">
              <a:ext uri="{FF2B5EF4-FFF2-40B4-BE49-F238E27FC236}">
                <a16:creationId xmlns:a16="http://schemas.microsoft.com/office/drawing/2014/main" id="{1F832311-86E6-46A7-9F80-413EC4C8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1363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4" name="Google Shape;84;p7">
            <a:extLst xmlns:a="http://schemas.openxmlformats.org/drawingml/2006/main">
              <a:ext uri="{FF2B5EF4-FFF2-40B4-BE49-F238E27FC236}">
                <a16:creationId xmlns:a16="http://schemas.microsoft.com/office/drawing/2014/main" id="{D58369F9-627B-4A0F-805E-29541E4D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51960"/>
            <a:ext cx="10149840" cy="150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Each if checks the same variable against a different named value. Because scene only ever holds one of those values at a time, only one block's shape is ever drawn on a given frame — the other block's condition is simply false.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819049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8">
            <a:extLst xmlns:a="http://schemas.openxmlformats.org/drawingml/2006/main">
              <a:ext uri="{FF2B5EF4-FFF2-40B4-BE49-F238E27FC236}">
                <a16:creationId xmlns:a16="http://schemas.microsoft.com/office/drawing/2014/main" id="{8CEFD3F2-E52E-4844-9A38-ED79F1CA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Your Turn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1" name="Google Shape;91;p8">
            <a:extLst xmlns:a="http://schemas.openxmlformats.org/drawingml/2006/main">
              <a:ext uri="{FF2B5EF4-FFF2-40B4-BE49-F238E27FC236}">
                <a16:creationId xmlns:a16="http://schemas.microsoft.com/office/drawing/2014/main" id="{54B0EE27-97A1-4A10-8D4A-E10D7413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Step 1: Guided · Step 2: Construct Yourself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2" name="Google Shape;92;p8">
            <a:extLst xmlns:a="http://schemas.openxmlformats.org/drawingml/2006/main">
              <a:ext uri="{FF2B5EF4-FFF2-40B4-BE49-F238E27FC236}">
                <a16:creationId xmlns:a16="http://schemas.microsoft.com/office/drawing/2014/main" id="{CD8852B0-0791-49E0-9AB6-65AB1AF2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3" name="Google Shape;93;p8">
            <a:extLst xmlns:a="http://schemas.openxmlformats.org/drawingml/2006/main">
              <a:ext uri="{FF2B5EF4-FFF2-40B4-BE49-F238E27FC236}">
                <a16:creationId xmlns:a16="http://schemas.microsoft.com/office/drawing/2014/main" id="{E1B4CEC3-1683-42AC-8C06-9670B9F0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B3.3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4" name="Google Shape;94;p8">
            <a:extLst xmlns:a="http://schemas.openxmlformats.org/drawingml/2006/main">
              <a:ext uri="{FF2B5EF4-FFF2-40B4-BE49-F238E27FC236}">
                <a16:creationId xmlns:a16="http://schemas.microsoft.com/office/drawing/2014/main" id="{0217CDB5-EF97-481B-84E7-9616EB19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8">
            <a:extLst xmlns:a="http://schemas.openxmlformats.org/drawingml/2006/main">
              <a:ext uri="{FF2B5EF4-FFF2-40B4-BE49-F238E27FC236}">
                <a16:creationId xmlns:a16="http://schemas.microsoft.com/office/drawing/2014/main" id="{01BBF14A-5CF4-4717-9693-77FEE8C8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STEP 1 · GUIDED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6" name="Google Shape;96;p8">
            <a:extLst xmlns:a="http://schemas.openxmlformats.org/drawingml/2006/main">
              <a:ext uri="{FF2B5EF4-FFF2-40B4-BE49-F238E27FC236}">
                <a16:creationId xmlns:a16="http://schemas.microsoft.com/office/drawing/2014/main" id="{918CE7E6-C5E0-4337-A215-0E17D3A6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 the source code, change the initial value assigned to scene from SCENE_INTRO to SCENE_MAIN. Rerun the program. Predict what will appear on screen before you run it — then check.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7" name="Google Shape;97;p8">
            <a:extLst xmlns:a="http://schemas.openxmlformats.org/drawingml/2006/main">
              <a:ext uri="{FF2B5EF4-FFF2-40B4-BE49-F238E27FC236}">
                <a16:creationId xmlns:a16="http://schemas.microsoft.com/office/drawing/2014/main" id="{6E934577-1BCC-4363-8F09-8F540CF0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91640"/>
            <a:ext cx="5394960" cy="4206240"/>
          </a:xfrm>
          <a:prstGeom xmlns:a="http://schemas.openxmlformats.org/drawingml/2006/main" prst="roundRect">
            <a:avLst>
              <a:gd name="adj" fmla="val 173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8">
            <a:extLst xmlns:a="http://schemas.openxmlformats.org/drawingml/2006/main">
              <a:ext uri="{FF2B5EF4-FFF2-40B4-BE49-F238E27FC236}">
                <a16:creationId xmlns:a16="http://schemas.microsoft.com/office/drawing/2014/main" id="{1887B666-3074-4FD7-9CA8-60319F91A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856232"/>
            <a:ext cx="493776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STEP 2 · CONSTRUCT YOURSELF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9" name="Google Shape;99;p8">
            <a:extLst xmlns:a="http://schemas.openxmlformats.org/drawingml/2006/main">
              <a:ext uri="{FF2B5EF4-FFF2-40B4-BE49-F238E27FC236}">
                <a16:creationId xmlns:a16="http://schemas.microsoft.com/office/drawing/2014/main" id="{35805B09-DF9B-4408-8049-43F9815F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194560"/>
            <a:ext cx="4937760" cy="3520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Add a third named constant (e.g. SCENE_END) and a matching if block in draw() that draws a shape of your own design. Test it the same way — by editing the initial value and rerunning, not with a transition yet.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604660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Google Shape;105;p9">
            <a:extLst xmlns:a="http://schemas.openxmlformats.org/drawingml/2006/main">
              <a:ext uri="{FF2B5EF4-FFF2-40B4-BE49-F238E27FC236}">
                <a16:creationId xmlns:a16="http://schemas.microsoft.com/office/drawing/2014/main" id="{28DFD818-2985-4295-87CE-99D1350A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11064240" cy="640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800"/>
              <a:buFont typeface="Cambria"/>
              <a:buNone/>
            </a:pPr>
            <a:r>
              <a:rPr sz="2800" b="1" i="0" u="none" cap="none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Recap</a:t>
            </a:r>
            <a:endParaRPr sz="28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6" name="Google Shape;106;p9">
            <a:extLst xmlns:a="http://schemas.openxmlformats.org/drawingml/2006/main">
              <a:ext uri="{FF2B5EF4-FFF2-40B4-BE49-F238E27FC236}">
                <a16:creationId xmlns:a16="http://schemas.microsoft.com/office/drawing/2014/main" id="{4619632D-58F2-4DCE-BB4A-4CE20E49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60120"/>
            <a:ext cx="1106424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500"/>
              <a:buFont typeface="Calibri"/>
              <a:buNone/>
            </a:pPr>
            <a:r>
              <a:rPr sz="1500" b="0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Key idea and what's next</a:t>
            </a:r>
            <a:endParaRPr sz="15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7" name="Google Shape;107;p9">
            <a:extLst xmlns:a="http://schemas.openxmlformats.org/drawingml/2006/main">
              <a:ext uri="{FF2B5EF4-FFF2-40B4-BE49-F238E27FC236}">
                <a16:creationId xmlns:a16="http://schemas.microsoft.com/office/drawing/2014/main" id="{2C258E44-CB4D-4F36-A977-01C0A4AA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PDP Computer Science · 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Unit B</a:t>
            </a: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: Creative Programming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8" name="Google Shape;108;p9">
            <a:extLst xmlns:a="http://schemas.openxmlformats.org/drawingml/2006/main">
              <a:ext uri="{FF2B5EF4-FFF2-40B4-BE49-F238E27FC236}">
                <a16:creationId xmlns:a16="http://schemas.microsoft.com/office/drawing/2014/main" id="{4C1BADC1-E11D-4C01-8E64-28C0BFDB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095" y="644652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92B0"/>
              </a:buClr>
              <a:buSzPts val="1000"/>
              <a:buFont typeface="Calibri"/>
              <a:buNone/>
            </a:pPr>
            <a:r>
              <a:rPr sz="1000" b="0" i="0" u="none" cap="none">
                <a:solidFill>
                  <a:srgbClr val="8892B0"/>
                </a:solidFill>
                <a:latin typeface="Calibri"/>
                <a:ea typeface="Calibri"/>
                <a:cs typeface="Calibri"/>
              </a:rPr>
              <a:t>B3.3 · Part 1 of 3</a:t>
            </a:r>
            <a:endParaRPr sz="10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9" name="Google Shape;109;p9">
            <a:extLst xmlns:a="http://schemas.openxmlformats.org/drawingml/2006/main">
              <a:ext uri="{FF2B5EF4-FFF2-40B4-BE49-F238E27FC236}">
                <a16:creationId xmlns:a16="http://schemas.microsoft.com/office/drawing/2014/main" id="{E6CD2FC1-1868-46EB-8EC0-2B12B2BE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691640"/>
            <a:ext cx="10607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9">
            <a:extLst xmlns:a="http://schemas.openxmlformats.org/drawingml/2006/main">
              <a:ext uri="{FF2B5EF4-FFF2-40B4-BE49-F238E27FC236}">
                <a16:creationId xmlns:a16="http://schemas.microsoft.com/office/drawing/2014/main" id="{78483B38-F31B-4846-B132-3DA37050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5623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E8A33D"/>
                </a:solidFill>
                <a:latin typeface="Calibri"/>
                <a:ea typeface="Calibri"/>
                <a:cs typeface="Calibri"/>
              </a:rPr>
              <a:t>KEY IDEA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1" name="Google Shape;111;p9">
            <a:extLst xmlns:a="http://schemas.openxmlformats.org/drawingml/2006/main">
              <a:ext uri="{FF2B5EF4-FFF2-40B4-BE49-F238E27FC236}">
                <a16:creationId xmlns:a16="http://schemas.microsoft.com/office/drawing/2014/main" id="{C4177140-01E1-4C96-8D74-764535EB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10149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state variable used to control branching in draw() doesn't just get displayed — it selects which entire block of drawing is active.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2" name="Google Shape;112;p9">
            <a:extLst xmlns:a="http://schemas.openxmlformats.org/drawingml/2006/main">
              <a:ext uri="{FF2B5EF4-FFF2-40B4-BE49-F238E27FC236}">
                <a16:creationId xmlns:a16="http://schemas.microsoft.com/office/drawing/2014/main" id="{CEA984E5-A2A9-43CC-9F59-D570E342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10607040" cy="201168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9">
            <a:extLst xmlns:a="http://schemas.openxmlformats.org/drawingml/2006/main">
              <a:ext uri="{FF2B5EF4-FFF2-40B4-BE49-F238E27FC236}">
                <a16:creationId xmlns:a16="http://schemas.microsoft.com/office/drawing/2014/main" id="{44E44186-5544-41CB-8A9A-0541C5A2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50792"/>
            <a:ext cx="10149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3B4A78"/>
              </a:buClr>
              <a:buSzPts val="1300"/>
              <a:buFont typeface="Calibri"/>
              <a:buNone/>
            </a:pPr>
            <a:r>
              <a:rPr sz="1300" b="1" i="0" u="none" cap="none">
                <a:solidFill>
                  <a:srgbClr val="3B4A78"/>
                </a:solidFill>
                <a:latin typeface="Calibri"/>
                <a:ea typeface="Calibri"/>
                <a:cs typeface="Calibri"/>
              </a:rPr>
              <a:t>NEXT: B3.3 PART 2</a:t>
            </a:r>
            <a:endParaRPr sz="130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4" name="Google Shape;114;p9">
            <a:extLst xmlns:a="http://schemas.openxmlformats.org/drawingml/2006/main">
              <a:ext uri="{FF2B5EF4-FFF2-40B4-BE49-F238E27FC236}">
                <a16:creationId xmlns:a16="http://schemas.microsoft.com/office/drawing/2014/main" id="{150230E1-2B1F-4E34-88F3-C43A5B38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89120"/>
            <a:ext cx="10149840" cy="132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1F2E"/>
              </a:buClr>
              <a:buSzPts val="1350"/>
              <a:buFont typeface="Calibri"/>
              <a:buNone/>
            </a:pPr>
            <a:r>
              <a:rPr sz="1350" b="0" i="0" u="none" cap="none">
                <a:solidFill>
                  <a:srgbClr val="1B1F2E"/>
                </a:solidFill>
                <a:latin typeface="Calibri"/>
                <a:ea typeface="Calibri"/>
                <a:cs typeface="Calibri"/>
              </a:rPr>
              <a:t>So far, scene only ever changes when we edit the source code ourselves. Next, we'll make it change while the program is running — triggered by mouse and keyboard events.</a:t>
            </a:r>
            <a:endParaRPr sz="1350" b="0" i="0" u="non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53470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2026-08-29T13:20:19.3080000Z</dcterms:created>
  <dcterms:modified xsi:type="dcterms:W3CDTF">2026-08-29T13:20:19.3080000Z</dcterms:modified>
</coreProperties>
</file>