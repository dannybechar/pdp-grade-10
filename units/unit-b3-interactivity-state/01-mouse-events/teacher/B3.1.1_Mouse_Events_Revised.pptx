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c35fd746be55424a" /><Relationship Type="http://schemas.openxmlformats.org/officeDocument/2006/relationships/extended-properties" Target="/docProps/app.xml" Id="Refba313103e04e3b" /><Relationship Type="http://schemas.openxmlformats.org/officeDocument/2006/relationships/officeDocument" Target="/ppt/presentation.xml" Id="R252fcfc08e0a4d14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d5fc2f4c098745ff"/>
  </p:sldMasterIdLst>
  <p:notesMasterIdLst>
    <p:notesMasterId xmlns:r="http://schemas.openxmlformats.org/officeDocument/2006/relationships" r:id="R9741586d095e4b1b"/>
  </p:notesMasterIdLst>
  <p:sldIdLst>
    <p:sldId xmlns:r="http://schemas.openxmlformats.org/officeDocument/2006/relationships" id="256" r:id="R7d60921635f9409b"/>
    <p:sldId xmlns:r="http://schemas.openxmlformats.org/officeDocument/2006/relationships" id="257" r:id="R87863420d5924ee4"/>
    <p:sldId xmlns:r="http://schemas.openxmlformats.org/officeDocument/2006/relationships" id="258" r:id="R96544c88576b4c56"/>
    <p:sldId xmlns:r="http://schemas.openxmlformats.org/officeDocument/2006/relationships" id="259" r:id="R2b8b34355fb84e61"/>
    <p:sldId xmlns:r="http://schemas.openxmlformats.org/officeDocument/2006/relationships" id="260" r:id="Rd897dab8603c4947"/>
    <p:sldId xmlns:r="http://schemas.openxmlformats.org/officeDocument/2006/relationships" id="261" r:id="R7c5de70e2ae54497"/>
    <p:sldId xmlns:r="http://schemas.openxmlformats.org/officeDocument/2006/relationships" id="262" r:id="R896160d9881c4c43"/>
  </p:sldIdLst>
  <p:sldSz cx="12191675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b9f539cf10fc4f3c" /><Relationship Type="http://schemas.openxmlformats.org/officeDocument/2006/relationships/slideMaster" Target="/ppt/slideMasters/slideMaster1.xml" Id="Rd5fc2f4c098745ff" /><Relationship Type="http://schemas.openxmlformats.org/officeDocument/2006/relationships/notesMaster" Target="/ppt/notesMasters/notesMaster1.xml" Id="R9741586d095e4b1b" /><Relationship Type="http://schemas.openxmlformats.org/officeDocument/2006/relationships/presProps" Target="/ppt/presProps.xml" Id="R7caf89a6ef8f459c" /><Relationship Type="http://schemas.openxmlformats.org/officeDocument/2006/relationships/tableStyles" Target="/ppt/tableStyles.xml" Id="Rdf7c93c835694240" /><Relationship Type="http://schemas.openxmlformats.org/officeDocument/2006/relationships/slide" Target="/ppt/slides/slide1.xml" Id="R7d60921635f9409b" /><Relationship Type="http://schemas.openxmlformats.org/officeDocument/2006/relationships/slide" Target="/ppt/slides/slide2.xml" Id="R87863420d5924ee4" /><Relationship Type="http://schemas.openxmlformats.org/officeDocument/2006/relationships/slide" Target="/ppt/slides/slide3.xml" Id="R96544c88576b4c56" /><Relationship Type="http://schemas.openxmlformats.org/officeDocument/2006/relationships/slide" Target="/ppt/slides/slide4.xml" Id="R2b8b34355fb84e61" /><Relationship Type="http://schemas.openxmlformats.org/officeDocument/2006/relationships/slide" Target="/ppt/slides/slide5.xml" Id="Rd897dab8603c4947" /><Relationship Type="http://schemas.openxmlformats.org/officeDocument/2006/relationships/slide" Target="/ppt/slides/slide6.xml" Id="R7c5de70e2ae54497" /><Relationship Type="http://schemas.openxmlformats.org/officeDocument/2006/relationships/slide" Target="/ppt/slides/slide7.xml" Id="R896160d9881c4c43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67df299f3eb5490d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990101037b154c6d" /><Relationship Type="http://schemas.openxmlformats.org/officeDocument/2006/relationships/notesMaster" Target="/ppt/notesMasters/notesMaster1.xml" Id="R70781c43c50449ba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8d2288c6233f451d" /><Relationship Type="http://schemas.openxmlformats.org/officeDocument/2006/relationships/notesMaster" Target="/ppt/notesMasters/notesMaster1.xml" Id="Rc703c0e18b5c4c60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c6200eace0a441cf" /><Relationship Type="http://schemas.openxmlformats.org/officeDocument/2006/relationships/notesMaster" Target="/ppt/notesMasters/notesMaster1.xml" Id="R5392dd14b3524581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eb7555d29ee440b4" /><Relationship Type="http://schemas.openxmlformats.org/officeDocument/2006/relationships/notesMaster" Target="/ppt/notesMasters/notesMaster1.xml" Id="Rda35ca01164440bf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90245c318a204a19" /><Relationship Type="http://schemas.openxmlformats.org/officeDocument/2006/relationships/notesMaster" Target="/ppt/notesMasters/notesMaster1.xml" Id="Rd0fc8a08fbf24c3d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44141843969f4ec5" /><Relationship Type="http://schemas.openxmlformats.org/officeDocument/2006/relationships/notesMaster" Target="/ppt/notesMasters/notesMaster1.xml" Id="R9dd23133001847a2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58b65d86e4f14c9d" /><Relationship Type="http://schemas.openxmlformats.org/officeDocument/2006/relationships/notesMaster" Target="/ppt/notesMasters/notesMaster1.xml" Id="R0f46577116f746bd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2 minutes. Frame the shift from a program that only runs to one that responds. Ask students to name one continuous input and one discrete mouse event.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5 minutes. Contrast draw(), which repeats, with event methods, which Processing calls when an input event occurs. Keep the language causal: an event triggers the method.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[Sources]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- https://processing.org/reference/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9 minutes. Live-code a circle that follows mouseX and mouseY. Explain that Processing updates these inherited fields before draw() renders each frame; background(255) prevents trails.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[Sources]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- https://processing.org/reference/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7 minutes. Distinguish the boolean field mousePressed from the callback mousePressed(). The field answers whether a button is currently held; the method runs once per press event.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[Sources]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- https://processing.org/reference/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6 minutes. Complete the mouse trio: mousePressed(), mouseReleased(), and mouseClicked(). Note that a click normally combines a press and release without dragging.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[Sources]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- https://processing.org/reference/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13 minutes. Students add press, release, and click feedback to the starter. Require visible state changes and a prediction before each run.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[Sources]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- https://processing.org/reference/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3 minutes. Exit check: students explain when to read mouseX/mouseY, when to test mousePressed, and when to define mousePressed().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4dbaa6be7524c5e" /></Relationships>
</file>

<file path=ppt/slideLayouts/slideLayout1.xml><?xml version="1.0" encoding="utf-8"?>
<p:sldLayout xmlns:p="http://schemas.openxmlformats.org/presentationml/2006/main" matchingName="DEFAULT">
  <p:cSld name="DEFAULT">
    <p:bg>
      <p:bgPr>
        <a:solidFill xmlns:a="http://schemas.openxmlformats.org/drawingml/2006/main">
          <a:schemeClr val="lt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c6343a015c694163" /><Relationship Type="http://schemas.openxmlformats.org/officeDocument/2006/relationships/slideLayout" Target="/ppt/slideLayouts/slideLayout1.xml" Id="R3ea2e43212ae41e3" /></Relationships>
</file>

<file path=ppt/slideMasters/slideMaster1.xml><?xml version="1.0" encoding="utf-8"?>
<p:sldMaster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3ea2e43212ae41e3"/>
  </p:sldLayoutIdLst>
  <p:hf sldNum="0" hdr="0" ftr="0" dt="0"/>
  <p:txStyles>
    <p:titleStyle>
      <a:lvl1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1pPr>
      <a:lvl2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2pPr>
      <a:lvl3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3pPr>
      <a:lvl4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4pPr>
      <a:lvl5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5pPr>
      <a:lvl6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6pPr>
      <a:lvl7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7pPr>
      <a:lvl8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8pPr>
      <a:lvl9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9pPr>
    </p:titleStyle>
    <p:bodyStyle>
      <a:lvl1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1pPr>
      <a:lvl2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2pPr>
      <a:lvl3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3pPr>
      <a:lvl4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4pPr>
      <a:lvl5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5pPr>
      <a:lvl6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6pPr>
      <a:lvl7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7pPr>
      <a:lvl8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8pPr>
      <a:lvl9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9pPr>
    </p:bodyStyle>
    <p:otherStyle>
      <a:lvl1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1pPr>
      <a:lvl2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2pPr>
      <a:lvl3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3pPr>
      <a:lvl4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4pPr>
      <a:lvl5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5pPr>
      <a:lvl6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6pPr>
      <a:lvl7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7pPr>
      <a:lvl8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8pPr>
      <a:lvl9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9pPr>
    </p:otherStyle>
  </p:txStyles>
</p:sldMaster>
</file>

<file path=ppt/slideMasters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9fe552e37d542a3" /><Relationship Type="http://schemas.openxmlformats.org/officeDocument/2006/relationships/notesSlide" Target="/ppt/notesSlides/notesSlide1.xml" Id="R04bac638d4924d30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71df5854bc44994" /><Relationship Type="http://schemas.openxmlformats.org/officeDocument/2006/relationships/notesSlide" Target="/ppt/notesSlides/notesSlide2.xml" Id="R3f784827c8b34371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07c4bd1be3f434f" /><Relationship Type="http://schemas.openxmlformats.org/officeDocument/2006/relationships/notesSlide" Target="/ppt/notesSlides/notesSlide3.xml" Id="R07eab79f93c642a4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9932780a4df4cda" /><Relationship Type="http://schemas.openxmlformats.org/officeDocument/2006/relationships/notesSlide" Target="/ppt/notesSlides/notesSlide4.xml" Id="Rec199efbed4e446d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376a247306c44d3" /><Relationship Type="http://schemas.openxmlformats.org/officeDocument/2006/relationships/notesSlide" Target="/ppt/notesSlides/notesSlide5.xml" Id="R7ef2338eb1f84bc7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291447661f14f63" /><Relationship Type="http://schemas.openxmlformats.org/officeDocument/2006/relationships/notesSlide" Target="/ppt/notesSlides/notesSlide6.xml" Id="R73ad70abda824ed8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f45e0be5e10415b" /><Relationship Type="http://schemas.openxmlformats.org/officeDocument/2006/relationships/notesSlide" Target="/ppt/notesSlides/notesSlide7.xml" Id="R942a4669768142d9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1E276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Google Shape;16;p3">
            <a:extLst xmlns:a="http://schemas.openxmlformats.org/drawingml/2006/main">
              <a:ext uri="{FF2B5EF4-FFF2-40B4-BE49-F238E27FC236}">
                <a16:creationId xmlns:a16="http://schemas.microsoft.com/office/drawing/2014/main" id="{447C1E4C-87F0-4FB0-9644-CBFEFC5929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2148840"/>
            <a:ext cx="105156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E8A33D"/>
              </a:buClr>
              <a:buSzPts val="1600"/>
              <a:buFont typeface="Calibri"/>
              <a:buNone/>
            </a:pPr>
            <a:r>
              <a:rPr sz="1600" b="1" i="0" u="none" cap="none">
                <a:solidFill>
                  <a:srgbClr val="E8A33D"/>
                </a:solidFill>
                <a:latin typeface="Calibri"/>
                <a:ea typeface="Calibri"/>
                <a:cs typeface="Calibri"/>
              </a:rPr>
              <a:t>B3.1  ·  Interactivity &amp; State</a:t>
            </a:r>
            <a:endParaRPr sz="16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7" name="Google Shape;17;p3">
            <a:extLst xmlns:a="http://schemas.openxmlformats.org/drawingml/2006/main">
              <a:ext uri="{FF2B5EF4-FFF2-40B4-BE49-F238E27FC236}">
                <a16:creationId xmlns:a16="http://schemas.microsoft.com/office/drawing/2014/main" id="{72438121-8523-42DD-85D1-AB1522DF81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2606040"/>
            <a:ext cx="10515600" cy="14630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000"/>
              <a:buFont typeface="Cambria"/>
              <a:buNone/>
            </a:pPr>
            <a:r>
              <a:rPr sz="4000" b="1" i="0" u="none" cap="none">
                <a:solidFill>
                  <a:srgbClr val="FFFFFF"/>
                </a:solidFill>
                <a:latin typeface="Cambria"/>
                <a:ea typeface="Cambria"/>
                <a:cs typeface="Cambria"/>
              </a:rPr>
              <a:t>Mouse Events</a:t>
            </a:r>
            <a:endParaRPr sz="40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8" name="Google Shape;18;p3">
            <a:extLst xmlns:a="http://schemas.openxmlformats.org/drawingml/2006/main">
              <a:ext uri="{FF2B5EF4-FFF2-40B4-BE49-F238E27FC236}">
                <a16:creationId xmlns:a16="http://schemas.microsoft.com/office/drawing/2014/main" id="{67409F3C-C6E3-49A8-BA3A-9C0170D562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3977640"/>
            <a:ext cx="987552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1800"/>
              <a:buFont typeface="Calibri"/>
              <a:buNone/>
            </a:pPr>
            <a:r>
              <a:rPr sz="1800" b="0" i="1" u="none" cap="none">
                <a:solidFill>
                  <a:srgbClr val="CADCFC"/>
                </a:solidFill>
                <a:latin typeface="Calibri"/>
                <a:ea typeface="Calibri"/>
                <a:cs typeface="Calibri"/>
              </a:rPr>
              <a:t>From drawing on its own to responding to the mouse — position, press, and release.</a:t>
            </a:r>
            <a:endParaRPr sz="18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9" name="Google Shape;19;p3">
            <a:extLst xmlns:a="http://schemas.openxmlformats.org/drawingml/2006/main">
              <a:ext uri="{FF2B5EF4-FFF2-40B4-BE49-F238E27FC236}">
                <a16:creationId xmlns:a16="http://schemas.microsoft.com/office/drawing/2014/main" id="{725BAB40-D467-41C1-826B-5F337264BF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6446520"/>
            <a:ext cx="6400800" cy="2743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8892B0"/>
              </a:buClr>
              <a:buSzPts val="1000"/>
              <a:buFont typeface="Calibri"/>
              <a:buNone/>
            </a:pPr>
            <a:r>
              <a:rPr sz="1000" b="0" i="1" u="none" cap="none">
                <a:solidFill>
                  <a:srgbClr val="8892B0"/>
                </a:solidFill>
                <a:latin typeface="Calibri"/>
                <a:ea typeface="Calibri"/>
                <a:cs typeface="Calibri"/>
              </a:rPr>
              <a:t>Interactivity &amp; State • </a:t>
            </a:r>
            <a:r>
              <a:rPr sz="1000" b="0" i="1" u="none" cap="none">
                <a:solidFill>
                  <a:srgbClr val="8892B0"/>
                </a:solidFill>
                <a:latin typeface="Calibri"/>
                <a:ea typeface="Calibri"/>
                <a:cs typeface="Calibri"/>
              </a:rPr>
              <a:t>Unit B</a:t>
            </a:r>
            <a:r>
              <a:rPr sz="1000" b="0" i="1" u="none" cap="none">
                <a:solidFill>
                  <a:srgbClr val="8892B0"/>
                </a:solidFill>
                <a:latin typeface="Calibri"/>
                <a:ea typeface="Calibri"/>
                <a:cs typeface="Calibri"/>
              </a:rPr>
              <a:t> • B3.1</a:t>
            </a:r>
            <a:endParaRPr sz="10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20" name="Google Shape;20;p3">
            <a:extLst xmlns:a="http://schemas.openxmlformats.org/drawingml/2006/main">
              <a:ext uri="{FF2B5EF4-FFF2-40B4-BE49-F238E27FC236}">
                <a16:creationId xmlns:a16="http://schemas.microsoft.com/office/drawing/2014/main" id="{E05670E5-969C-4C03-B554-6589CDE442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5455" y="6446520"/>
            <a:ext cx="3657600" cy="2743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r">
              <a:spcBef>
                <a:spcPts val="0"/>
              </a:spcBef>
              <a:spcAft>
                <a:spcPts val="0"/>
              </a:spcAft>
              <a:buClr>
                <a:srgbClr val="8892B0"/>
              </a:buClr>
              <a:buSzPts val="1000"/>
              <a:buFont typeface="Calibri"/>
              <a:buNone/>
            </a:pPr>
            <a:r>
              <a:rPr sz="1000" b="0" i="0" u="none" cap="none">
                <a:solidFill>
                  <a:srgbClr val="8892B0"/>
                </a:solidFill>
                <a:latin typeface="Calibri"/>
                <a:ea typeface="Calibri"/>
                <a:cs typeface="Calibri"/>
              </a:rPr>
              <a:t>Part 1 of 3</a:t>
            </a:r>
            <a:endParaRPr sz="10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966045261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Google Shape;26;p4">
            <a:extLst xmlns:a="http://schemas.openxmlformats.org/drawingml/2006/main">
              <a:ext uri="{FF2B5EF4-FFF2-40B4-BE49-F238E27FC236}">
                <a16:creationId xmlns:a16="http://schemas.microsoft.com/office/drawing/2014/main" id="{EF8CD3AB-23CB-467C-A60B-3314D27540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274320"/>
            <a:ext cx="11064240" cy="5486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2700"/>
              <a:buFont typeface="Cambria"/>
              <a:buNone/>
            </a:pPr>
            <a:r>
              <a:rPr sz="2700" b="1" i="0" u="none" cap="none">
                <a:solidFill>
                  <a:srgbClr val="1E2761"/>
                </a:solidFill>
                <a:latin typeface="Cambria"/>
                <a:ea typeface="Cambria"/>
                <a:cs typeface="Cambria"/>
              </a:rPr>
              <a:t>A Real Shift</a:t>
            </a:r>
            <a:endParaRPr sz="27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27" name="Google Shape;27;p4">
            <a:extLst xmlns:a="http://schemas.openxmlformats.org/drawingml/2006/main">
              <a:ext uri="{FF2B5EF4-FFF2-40B4-BE49-F238E27FC236}">
                <a16:creationId xmlns:a16="http://schemas.microsoft.com/office/drawing/2014/main" id="{FA853088-10CE-4E59-9DA6-6A99F3BABF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841248"/>
            <a:ext cx="11064240" cy="4114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3B4A78"/>
              </a:buClr>
              <a:buSzPts val="1500"/>
              <a:buFont typeface="Calibri"/>
              <a:buNone/>
            </a:pPr>
            <a:r>
              <a:rPr sz="1500" b="0" i="1" u="none" cap="none">
                <a:solidFill>
                  <a:srgbClr val="3B4A78"/>
                </a:solidFill>
                <a:latin typeface="Calibri"/>
                <a:ea typeface="Calibri"/>
                <a:cs typeface="Calibri"/>
              </a:rPr>
              <a:t>Everything before this point drew once, or generated visuals on its own</a:t>
            </a:r>
            <a:endParaRPr sz="15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28" name="Google Shape;28;p4">
            <a:extLst xmlns:a="http://schemas.openxmlformats.org/drawingml/2006/main">
              <a:ext uri="{FF2B5EF4-FFF2-40B4-BE49-F238E27FC236}">
                <a16:creationId xmlns:a16="http://schemas.microsoft.com/office/drawing/2014/main" id="{2E6A9D1B-831E-477E-A378-C8602A20D6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6446520"/>
            <a:ext cx="6400800" cy="2743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8892B0"/>
              </a:buClr>
              <a:buSzPts val="1000"/>
              <a:buFont typeface="Calibri"/>
              <a:buNone/>
            </a:pPr>
            <a:r>
              <a:rPr sz="1000" b="0" i="1" u="none" cap="none">
                <a:solidFill>
                  <a:srgbClr val="8892B0"/>
                </a:solidFill>
                <a:latin typeface="Calibri"/>
                <a:ea typeface="Calibri"/>
                <a:cs typeface="Calibri"/>
              </a:rPr>
              <a:t>Interactivity &amp; State • </a:t>
            </a:r>
            <a:r>
              <a:rPr sz="1000" b="0" i="1" u="none" cap="none">
                <a:solidFill>
                  <a:srgbClr val="8892B0"/>
                </a:solidFill>
                <a:latin typeface="Calibri"/>
                <a:ea typeface="Calibri"/>
                <a:cs typeface="Calibri"/>
              </a:rPr>
              <a:t>Unit B</a:t>
            </a:r>
            <a:r>
              <a:rPr sz="1000" b="0" i="1" u="none" cap="none">
                <a:solidFill>
                  <a:srgbClr val="8892B0"/>
                </a:solidFill>
                <a:latin typeface="Calibri"/>
                <a:ea typeface="Calibri"/>
                <a:cs typeface="Calibri"/>
              </a:rPr>
              <a:t> • B3.1</a:t>
            </a:r>
            <a:endParaRPr sz="10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29" name="Google Shape;29;p4">
            <a:extLst xmlns:a="http://schemas.openxmlformats.org/drawingml/2006/main">
              <a:ext uri="{FF2B5EF4-FFF2-40B4-BE49-F238E27FC236}">
                <a16:creationId xmlns:a16="http://schemas.microsoft.com/office/drawing/2014/main" id="{55130674-5990-4806-ABF5-BEFBAD8A0C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5455" y="6446520"/>
            <a:ext cx="3657600" cy="2743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r">
              <a:spcBef>
                <a:spcPts val="0"/>
              </a:spcBef>
              <a:spcAft>
                <a:spcPts val="0"/>
              </a:spcAft>
              <a:buClr>
                <a:srgbClr val="8892B0"/>
              </a:buClr>
              <a:buSzPts val="1000"/>
              <a:buFont typeface="Calibri"/>
              <a:buNone/>
            </a:pPr>
            <a:r>
              <a:rPr sz="1000" b="0" i="0" u="none" cap="none">
                <a:solidFill>
                  <a:srgbClr val="8892B0"/>
                </a:solidFill>
                <a:latin typeface="Calibri"/>
                <a:ea typeface="Calibri"/>
                <a:cs typeface="Calibri"/>
              </a:rPr>
              <a:t>Part 1 of 3</a:t>
            </a:r>
            <a:endParaRPr sz="10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30" name="Google Shape;30;p4">
            <a:extLst xmlns:a="http://schemas.openxmlformats.org/drawingml/2006/main">
              <a:ext uri="{FF2B5EF4-FFF2-40B4-BE49-F238E27FC236}">
                <a16:creationId xmlns:a16="http://schemas.microsoft.com/office/drawing/2014/main" id="{E9E87D9D-9CE8-4C9B-8316-48E0A2D938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1600200"/>
            <a:ext cx="11064240" cy="1737360"/>
          </a:xfrm>
          <a:prstGeom xmlns:a="http://schemas.openxmlformats.org/drawingml/2006/main" prst="roundRect">
            <a:avLst>
              <a:gd name="adj" fmla="val 3158"/>
            </a:avLst>
          </a:prstGeom>
          <a:solidFill xmlns:a="http://schemas.openxmlformats.org/drawingml/2006/main">
            <a:srgbClr val="F4F6FB"/>
          </a:solidFill>
          <a:ln xmlns:a="http://schemas.openxmlformats.org/drawingml/2006/main" w="12700" cmpd="sng">
            <a:solidFill>
              <a:srgbClr val="E8ECFB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" name="Google Shape;31;p4">
            <a:extLst xmlns:a="http://schemas.openxmlformats.org/drawingml/2006/main">
              <a:ext uri="{FF2B5EF4-FFF2-40B4-BE49-F238E27FC236}">
                <a16:creationId xmlns:a16="http://schemas.microsoft.com/office/drawing/2014/main" id="{4CFDDF94-C9D5-48CA-8FDE-29A1EF393A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1764792"/>
            <a:ext cx="10515600" cy="140817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177800" marR="0" lvl="0" indent="-177800" algn="l">
              <a:spcBef>
                <a:spcPts val="0"/>
              </a:spcBef>
              <a:spcAft>
                <a:spcPts val="0"/>
              </a:spcAft>
              <a:buClr>
                <a:srgbClr val="1B1F2E"/>
              </a:buClr>
              <a:buSzPts val="1300"/>
              <a:buFont typeface="Calibri"/>
              <a:buChar char="•"/>
            </a:pPr>
            <a:r>
              <a:rPr sz="1300" b="0" i="0" u="none" cap="none">
                <a:solidFill>
                  <a:srgbClr val="1B1F2E"/>
                </a:solidFill>
                <a:latin typeface="Calibri"/>
                <a:ea typeface="Calibri"/>
                <a:cs typeface="Calibri"/>
              </a:rPr>
              <a:t>B1/B2: programs drew once, or generated visuals using loops, randomness, and conditions — never responding to anything outside themselves.</a:t>
            </a:r>
            <a:endParaRPr sz="13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  <a:p xmlns:a="http://schemas.openxmlformats.org/drawingml/2006/main">
            <a:pPr marL="177800" marR="0" lvl="0" indent="-177800" algn="l">
              <a:spcBef>
                <a:spcPts val="600"/>
              </a:spcBef>
              <a:spcAft>
                <a:spcPts val="0"/>
              </a:spcAft>
              <a:buClr>
                <a:srgbClr val="1B1F2E"/>
              </a:buClr>
              <a:buSzPts val="1300"/>
              <a:buFont typeface="Calibri"/>
              <a:buChar char="•"/>
            </a:pPr>
            <a:r>
              <a:rPr sz="1300" b="0" i="0" u="none" cap="none">
                <a:solidFill>
                  <a:srgbClr val="1B1F2E"/>
                </a:solidFill>
                <a:latin typeface="Calibri"/>
                <a:ea typeface="Calibri"/>
                <a:cs typeface="Calibri"/>
              </a:rPr>
              <a:t>B3: programs respond to the mouse and keyboard. This is genuinely new — not a variation on a familiar tool.</a:t>
            </a:r>
            <a:endParaRPr sz="13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32" name="Google Shape;32;p4">
            <a:extLst xmlns:a="http://schemas.openxmlformats.org/drawingml/2006/main">
              <a:ext uri="{FF2B5EF4-FFF2-40B4-BE49-F238E27FC236}">
                <a16:creationId xmlns:a16="http://schemas.microsoft.com/office/drawing/2014/main" id="{0351C626-861D-4602-A768-686943BF2E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3566160"/>
            <a:ext cx="11064240" cy="2286000"/>
          </a:xfrm>
          <a:prstGeom xmlns:a="http://schemas.openxmlformats.org/drawingml/2006/main" prst="roundRect">
            <a:avLst>
              <a:gd name="adj" fmla="val 3200"/>
            </a:avLst>
          </a:prstGeom>
          <a:solidFill xmlns:a="http://schemas.openxmlformats.org/drawingml/2006/main">
            <a:srgbClr val="1E2761"/>
          </a:solidFill>
          <a:ln xmlns:a="http://schemas.openxmlformats.org/drawingml/2006/main" w="12700" cmpd="sng">
            <a:solidFill>
              <a:srgbClr val="1E2761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" name="Google Shape;33;p4">
            <a:extLst xmlns:a="http://schemas.openxmlformats.org/drawingml/2006/main">
              <a:ext uri="{FF2B5EF4-FFF2-40B4-BE49-F238E27FC236}">
                <a16:creationId xmlns:a16="http://schemas.microsoft.com/office/drawing/2014/main" id="{F648CD5C-04B0-4762-AA0B-4A2489CDE1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3730752"/>
            <a:ext cx="10607040" cy="3200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E8A33D"/>
              </a:buClr>
              <a:buSzPts val="1300"/>
              <a:buFont typeface="Calibri"/>
              <a:buNone/>
            </a:pPr>
            <a:r>
              <a:rPr sz="1300" b="1" i="0" u="none" cap="none">
                <a:solidFill>
                  <a:srgbClr val="E8A33D"/>
                </a:solidFill>
                <a:latin typeface="Calibri"/>
                <a:ea typeface="Calibri"/>
                <a:cs typeface="Calibri"/>
              </a:rPr>
              <a:t>One new rule, starting now</a:t>
            </a:r>
            <a:endParaRPr sz="13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34" name="Google Shape;34;p4">
            <a:extLst xmlns:a="http://schemas.openxmlformats.org/drawingml/2006/main">
              <a:ext uri="{FF2B5EF4-FFF2-40B4-BE49-F238E27FC236}">
                <a16:creationId xmlns:a16="http://schemas.microsoft.com/office/drawing/2014/main" id="{26A018A6-4E88-46A6-BA8C-927352234E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4096512"/>
            <a:ext cx="10607040" cy="16184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50"/>
              <a:buFont typeface="Calibri"/>
              <a:buNone/>
            </a:pPr>
            <a:r>
              <a:rPr sz="1350" b="0" i="0" u="none" cap="none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Processing's built-in lifecycle and event functions are written with public void in our BlueJ Java setup — public void setup(), public void draw(), and every event function this lesson introduces.</a:t>
            </a:r>
            <a:endParaRPr sz="135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50"/>
              <a:buFont typeface="Calibri"/>
              <a:buNone/>
            </a:pPr>
            <a:r>
              <a:t/>
            </a:r>
            <a:endParaRPr sz="135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50"/>
              <a:buFont typeface="Calibri"/>
              <a:buNone/>
            </a:pPr>
            <a:r>
              <a:rPr sz="1350" b="0" i="0" u="none" cap="none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Custom functions you write yourself (like drawShape) still don't need public — this rule is only for the specific functions Processing itself calls automatically.</a:t>
            </a:r>
            <a:endParaRPr sz="135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35" name="Google Shape;35;p4">
            <a:extLst xmlns:a="http://schemas.openxmlformats.org/drawingml/2006/main">
              <a:ext uri="{FF2B5EF4-FFF2-40B4-BE49-F238E27FC236}">
                <a16:creationId xmlns:a16="http://schemas.microsoft.com/office/drawing/2014/main" id="{130EAC08-4615-4F3D-BCAA-97631EAF1F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6446520"/>
            <a:ext cx="6400800" cy="2743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8892B0"/>
              </a:buClr>
              <a:buSzPts val="1000"/>
              <a:buFont typeface="Calibri"/>
              <a:buNone/>
            </a:pPr>
            <a:r>
              <a:rPr sz="1000" b="0" i="1" u="none" cap="none">
                <a:solidFill>
                  <a:srgbClr val="8892B0"/>
                </a:solidFill>
                <a:latin typeface="Calibri"/>
                <a:ea typeface="Calibri"/>
                <a:cs typeface="Calibri"/>
              </a:rPr>
              <a:t>Interactivity &amp; State • </a:t>
            </a:r>
            <a:r>
              <a:rPr sz="1000" b="0" i="1" u="none" cap="none">
                <a:solidFill>
                  <a:srgbClr val="8892B0"/>
                </a:solidFill>
                <a:latin typeface="Calibri"/>
                <a:ea typeface="Calibri"/>
                <a:cs typeface="Calibri"/>
              </a:rPr>
              <a:t>Unit B</a:t>
            </a:r>
            <a:r>
              <a:rPr sz="1000" b="0" i="1" u="none" cap="none">
                <a:solidFill>
                  <a:srgbClr val="8892B0"/>
                </a:solidFill>
                <a:latin typeface="Calibri"/>
                <a:ea typeface="Calibri"/>
                <a:cs typeface="Calibri"/>
              </a:rPr>
              <a:t> • B3.1</a:t>
            </a:r>
            <a:endParaRPr sz="10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36" name="Google Shape;36;p4">
            <a:extLst xmlns:a="http://schemas.openxmlformats.org/drawingml/2006/main">
              <a:ext uri="{FF2B5EF4-FFF2-40B4-BE49-F238E27FC236}">
                <a16:creationId xmlns:a16="http://schemas.microsoft.com/office/drawing/2014/main" id="{A3AA5566-E9D9-4574-A32A-66450BB295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5455" y="6446520"/>
            <a:ext cx="3657600" cy="2743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r">
              <a:spcBef>
                <a:spcPts val="0"/>
              </a:spcBef>
              <a:spcAft>
                <a:spcPts val="0"/>
              </a:spcAft>
              <a:buClr>
                <a:srgbClr val="8892B0"/>
              </a:buClr>
              <a:buSzPts val="1000"/>
              <a:buFont typeface="Calibri"/>
              <a:buNone/>
            </a:pPr>
            <a:r>
              <a:rPr sz="1000" b="0" i="0" u="none" cap="none">
                <a:solidFill>
                  <a:srgbClr val="8892B0"/>
                </a:solidFill>
                <a:latin typeface="Calibri"/>
                <a:ea typeface="Calibri"/>
                <a:cs typeface="Calibri"/>
              </a:rPr>
              <a:t>Part 1 of 3</a:t>
            </a:r>
            <a:endParaRPr sz="10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967960676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2" name="Google Shape;42;p5">
            <a:extLst xmlns:a="http://schemas.openxmlformats.org/drawingml/2006/main">
              <a:ext uri="{FF2B5EF4-FFF2-40B4-BE49-F238E27FC236}">
                <a16:creationId xmlns:a16="http://schemas.microsoft.com/office/drawing/2014/main" id="{F4C42D63-024E-407F-9047-3397C4904B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274320"/>
            <a:ext cx="11064240" cy="5486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2700"/>
              <a:buFont typeface="Cambria"/>
              <a:buNone/>
            </a:pPr>
            <a:r>
              <a:rPr sz="2700" b="1" i="0" u="none" cap="none">
                <a:solidFill>
                  <a:srgbClr val="1E2761"/>
                </a:solidFill>
                <a:latin typeface="Cambria"/>
                <a:ea typeface="Cambria"/>
                <a:cs typeface="Cambria"/>
              </a:rPr>
              <a:t>Tracking the Mouse</a:t>
            </a:r>
            <a:endParaRPr sz="27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43" name="Google Shape;43;p5">
            <a:extLst xmlns:a="http://schemas.openxmlformats.org/drawingml/2006/main">
              <a:ext uri="{FF2B5EF4-FFF2-40B4-BE49-F238E27FC236}">
                <a16:creationId xmlns:a16="http://schemas.microsoft.com/office/drawing/2014/main" id="{6A559ABD-BF37-443D-A619-9F64186F8F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841248"/>
            <a:ext cx="11064240" cy="4114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3B4A78"/>
              </a:buClr>
              <a:buSzPts val="1500"/>
              <a:buFont typeface="Calibri"/>
              <a:buNone/>
            </a:pPr>
            <a:r>
              <a:rPr sz="1500" b="0" i="1" u="none" cap="none">
                <a:solidFill>
                  <a:srgbClr val="3B4A78"/>
                </a:solidFill>
                <a:latin typeface="Calibri"/>
                <a:ea typeface="Calibri"/>
                <a:cs typeface="Calibri"/>
              </a:rPr>
              <a:t>mouseX and mouseY are live values — updated automatically, every frame</a:t>
            </a:r>
            <a:endParaRPr sz="15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44" name="Google Shape;44;p5">
            <a:extLst xmlns:a="http://schemas.openxmlformats.org/drawingml/2006/main">
              <a:ext uri="{FF2B5EF4-FFF2-40B4-BE49-F238E27FC236}">
                <a16:creationId xmlns:a16="http://schemas.microsoft.com/office/drawing/2014/main" id="{3A5B4FCD-CC1B-43A2-98DE-D5D44A2BFD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6446520"/>
            <a:ext cx="6400800" cy="2743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8892B0"/>
              </a:buClr>
              <a:buSzPts val="1000"/>
              <a:buFont typeface="Calibri"/>
              <a:buNone/>
            </a:pPr>
            <a:r>
              <a:rPr sz="1000" b="0" i="1" u="none" cap="none">
                <a:solidFill>
                  <a:srgbClr val="8892B0"/>
                </a:solidFill>
                <a:latin typeface="Calibri"/>
                <a:ea typeface="Calibri"/>
                <a:cs typeface="Calibri"/>
              </a:rPr>
              <a:t>Interactivity &amp; State • </a:t>
            </a:r>
            <a:r>
              <a:rPr sz="1000" b="0" i="1" u="none" cap="none">
                <a:solidFill>
                  <a:srgbClr val="8892B0"/>
                </a:solidFill>
                <a:latin typeface="Calibri"/>
                <a:ea typeface="Calibri"/>
                <a:cs typeface="Calibri"/>
              </a:rPr>
              <a:t>Unit B</a:t>
            </a:r>
            <a:r>
              <a:rPr sz="1000" b="0" i="1" u="none" cap="none">
                <a:solidFill>
                  <a:srgbClr val="8892B0"/>
                </a:solidFill>
                <a:latin typeface="Calibri"/>
                <a:ea typeface="Calibri"/>
                <a:cs typeface="Calibri"/>
              </a:rPr>
              <a:t> • B3.1</a:t>
            </a:r>
            <a:endParaRPr sz="10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45" name="Google Shape;45;p5">
            <a:extLst xmlns:a="http://schemas.openxmlformats.org/drawingml/2006/main">
              <a:ext uri="{FF2B5EF4-FFF2-40B4-BE49-F238E27FC236}">
                <a16:creationId xmlns:a16="http://schemas.microsoft.com/office/drawing/2014/main" id="{7053C03F-80AB-4B2E-9103-39A30B3A8D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5455" y="6446520"/>
            <a:ext cx="3657600" cy="2743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r">
              <a:spcBef>
                <a:spcPts val="0"/>
              </a:spcBef>
              <a:spcAft>
                <a:spcPts val="0"/>
              </a:spcAft>
              <a:buClr>
                <a:srgbClr val="8892B0"/>
              </a:buClr>
              <a:buSzPts val="1000"/>
              <a:buFont typeface="Calibri"/>
              <a:buNone/>
            </a:pPr>
            <a:r>
              <a:rPr sz="1000" b="0" i="0" u="none" cap="none">
                <a:solidFill>
                  <a:srgbClr val="8892B0"/>
                </a:solidFill>
                <a:latin typeface="Calibri"/>
                <a:ea typeface="Calibri"/>
                <a:cs typeface="Calibri"/>
              </a:rPr>
              <a:t>Part 1 of 3</a:t>
            </a:r>
            <a:endParaRPr sz="10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46" name="Google Shape;46;p5">
            <a:extLst xmlns:a="http://schemas.openxmlformats.org/drawingml/2006/main">
              <a:ext uri="{FF2B5EF4-FFF2-40B4-BE49-F238E27FC236}">
                <a16:creationId xmlns:a16="http://schemas.microsoft.com/office/drawing/2014/main" id="{9C8B20CE-A5DF-4F1B-A3E4-8F49EF054B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1600200"/>
            <a:ext cx="6949440" cy="2377440"/>
          </a:xfrm>
          <a:prstGeom xmlns:a="http://schemas.openxmlformats.org/drawingml/2006/main" prst="roundRect">
            <a:avLst>
              <a:gd name="adj" fmla="val 3077"/>
            </a:avLst>
          </a:prstGeom>
          <a:solidFill xmlns:a="http://schemas.openxmlformats.org/drawingml/2006/main">
            <a:srgbClr val="1B1F2E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" name="Google Shape;47;p5">
            <a:extLst xmlns:a="http://schemas.openxmlformats.org/drawingml/2006/main">
              <a:ext uri="{FF2B5EF4-FFF2-40B4-BE49-F238E27FC236}">
                <a16:creationId xmlns:a16="http://schemas.microsoft.com/office/drawing/2014/main" id="{860104E5-E5B7-4639-BDE8-A1BFDA6759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1764792"/>
            <a:ext cx="6492240" cy="204825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8FD0FF"/>
              </a:buClr>
              <a:buSzPts val="1600"/>
              <a:buFont typeface="Courier New"/>
              <a:buNone/>
            </a:pPr>
            <a:r>
              <a:rPr sz="1600" b="1" i="0" u="none" cap="none">
                <a:solidFill>
                  <a:srgbClr val="8FD0FF"/>
                </a:solidFill>
                <a:latin typeface="Courier New"/>
                <a:ea typeface="Courier New"/>
                <a:cs typeface="Courier New"/>
              </a:rPr>
              <a:t>public</a:t>
            </a:r>
            <a:r>
              <a:rPr sz="1600" b="0" i="0" u="none" cap="none">
                <a:solidFill>
                  <a:srgbClr val="CADCFC"/>
                </a:solidFill>
                <a:latin typeface="Courier New"/>
                <a:ea typeface="Courier New"/>
                <a:cs typeface="Courier New"/>
              </a:rPr>
              <a:t> </a:t>
            </a:r>
            <a:r>
              <a:rPr sz="1600" b="1" i="0" u="none" cap="none">
                <a:solidFill>
                  <a:srgbClr val="8FD0FF"/>
                </a:solidFill>
                <a:latin typeface="Courier New"/>
                <a:ea typeface="Courier New"/>
                <a:cs typeface="Courier New"/>
              </a:rPr>
              <a:t>void</a:t>
            </a:r>
            <a:r>
              <a:rPr sz="1600" b="0" i="0" u="none" cap="none">
                <a:solidFill>
                  <a:srgbClr val="CADCFC"/>
                </a:solidFill>
                <a:latin typeface="Courier New"/>
                <a:ea typeface="Courier New"/>
                <a:cs typeface="Courier New"/>
              </a:rPr>
              <a:t> draw() {</a:t>
            </a:r>
            <a:endParaRPr sz="16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  <a:p xmlns:a="http://schemas.openxmlformats.org/drawingml/2006/main">
            <a:pPr marL="0" marR="0" lvl="0" indent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1600"/>
              <a:buFont typeface="Courier New"/>
              <a:buNone/>
            </a:pPr>
            <a:r>
              <a:rPr sz="1600" b="0" i="0" u="none" cap="none">
                <a:solidFill>
                  <a:srgbClr val="CADCFC"/>
                </a:solidFill>
                <a:latin typeface="Courier New"/>
                <a:ea typeface="Courier New"/>
                <a:cs typeface="Courier New"/>
              </a:rPr>
              <a:t>  background(255);</a:t>
            </a:r>
            <a:endParaRPr sz="16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  <a:p xmlns:a="http://schemas.openxmlformats.org/drawingml/2006/main">
            <a:pPr marL="0" marR="0" lvl="0" indent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1600"/>
              <a:buFont typeface="Courier New"/>
              <a:buNone/>
            </a:pPr>
            <a:r>
              <a:rPr sz="1600" b="0" i="0" u="none" cap="none">
                <a:solidFill>
                  <a:srgbClr val="CADCFC"/>
                </a:solidFill>
                <a:latin typeface="Courier New"/>
                <a:ea typeface="Courier New"/>
                <a:cs typeface="Courier New"/>
              </a:rPr>
              <a:t>  ellipse(mouseX, mouseY, 30, 30);</a:t>
            </a:r>
            <a:endParaRPr sz="16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  <a:p xmlns:a="http://schemas.openxmlformats.org/drawingml/2006/main">
            <a:pPr marL="0" marR="0" lvl="0" indent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1600"/>
              <a:buFont typeface="Courier New"/>
              <a:buNone/>
            </a:pPr>
            <a:r>
              <a:rPr sz="1600" b="0" i="0" u="none" cap="none">
                <a:solidFill>
                  <a:srgbClr val="CADCFC"/>
                </a:solidFill>
                <a:latin typeface="Courier New"/>
                <a:ea typeface="Courier New"/>
                <a:cs typeface="Courier New"/>
              </a:rPr>
              <a:t>}</a:t>
            </a:r>
            <a:endParaRPr sz="16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48" name="Google Shape;48;p5">
            <a:extLst xmlns:a="http://schemas.openxmlformats.org/drawingml/2006/main">
              <a:ext uri="{FF2B5EF4-FFF2-40B4-BE49-F238E27FC236}">
                <a16:creationId xmlns:a16="http://schemas.microsoft.com/office/drawing/2014/main" id="{A1B4FAA1-4236-4DD1-AB73-D37E86F156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80960" y="1600200"/>
            <a:ext cx="3931920" cy="2377440"/>
          </a:xfrm>
          <a:prstGeom xmlns:a="http://schemas.openxmlformats.org/drawingml/2006/main" prst="roundRect">
            <a:avLst>
              <a:gd name="adj" fmla="val 3077"/>
            </a:avLst>
          </a:prstGeom>
          <a:solidFill xmlns:a="http://schemas.openxmlformats.org/drawingml/2006/main">
            <a:srgbClr val="FBF2E3"/>
          </a:solidFill>
          <a:ln xmlns:a="http://schemas.openxmlformats.org/drawingml/2006/main" w="19050" cmpd="sng">
            <a:solidFill>
              <a:srgbClr val="E8A33D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" name="Google Shape;49;p5">
            <a:extLst xmlns:a="http://schemas.openxmlformats.org/drawingml/2006/main">
              <a:ext uri="{FF2B5EF4-FFF2-40B4-BE49-F238E27FC236}">
                <a16:creationId xmlns:a16="http://schemas.microsoft.com/office/drawing/2014/main" id="{D9336325-6EE1-4570-8D0B-655D1605B7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9560" y="1764792"/>
            <a:ext cx="3474720" cy="3200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E8A33D"/>
              </a:buClr>
              <a:buSzPts val="1300"/>
              <a:buFont typeface="Calibri"/>
              <a:buNone/>
            </a:pPr>
            <a:r>
              <a:rPr sz="1300" b="1" i="0" u="none" cap="none">
                <a:solidFill>
                  <a:srgbClr val="E8A33D"/>
                </a:solidFill>
                <a:latin typeface="Calibri"/>
                <a:ea typeface="Calibri"/>
                <a:cs typeface="Calibri"/>
              </a:rPr>
              <a:t>Why background(255)?</a:t>
            </a:r>
            <a:endParaRPr sz="13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50" name="Google Shape;50;p5">
            <a:extLst xmlns:a="http://schemas.openxmlformats.org/drawingml/2006/main">
              <a:ext uri="{FF2B5EF4-FFF2-40B4-BE49-F238E27FC236}">
                <a16:creationId xmlns:a16="http://schemas.microsoft.com/office/drawing/2014/main" id="{0713BD8A-8BB6-41EA-85F8-16F977B3AA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9560" y="2130552"/>
            <a:ext cx="3474720" cy="170992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1B1F2E"/>
              </a:buClr>
              <a:buSzPts val="1350"/>
              <a:buFont typeface="Calibri"/>
              <a:buNone/>
            </a:pPr>
            <a:r>
              <a:rPr sz="1350" b="0" i="0" u="none" cap="none">
                <a:solidFill>
                  <a:srgbClr val="1B1F2E"/>
                </a:solidFill>
                <a:latin typeface="Calibri"/>
                <a:ea typeface="Calibri"/>
                <a:cs typeface="Calibri"/>
              </a:rPr>
              <a:t>Processing doesn't clear the canvas between frames automatically. Without background(255), the shape would leave a trail instead of appearing to move.</a:t>
            </a:r>
            <a:endParaRPr sz="135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51" name="Google Shape;51;p5">
            <a:extLst xmlns:a="http://schemas.openxmlformats.org/drawingml/2006/main">
              <a:ext uri="{FF2B5EF4-FFF2-40B4-BE49-F238E27FC236}">
                <a16:creationId xmlns:a16="http://schemas.microsoft.com/office/drawing/2014/main" id="{24DD4EC6-C844-452A-A514-5C7D0FD766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4206240"/>
            <a:ext cx="11064240" cy="1645920"/>
          </a:xfrm>
          <a:prstGeom xmlns:a="http://schemas.openxmlformats.org/drawingml/2006/main" prst="roundRect">
            <a:avLst>
              <a:gd name="adj" fmla="val 4444"/>
            </a:avLst>
          </a:prstGeom>
          <a:solidFill xmlns:a="http://schemas.openxmlformats.org/drawingml/2006/main">
            <a:srgbClr val="1E2761"/>
          </a:solidFill>
          <a:ln xmlns:a="http://schemas.openxmlformats.org/drawingml/2006/main" w="12700" cmpd="sng">
            <a:solidFill>
              <a:srgbClr val="1E2761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" name="Google Shape;52;p5">
            <a:extLst xmlns:a="http://schemas.openxmlformats.org/drawingml/2006/main">
              <a:ext uri="{FF2B5EF4-FFF2-40B4-BE49-F238E27FC236}">
                <a16:creationId xmlns:a16="http://schemas.microsoft.com/office/drawing/2014/main" id="{C0E2FFDF-172C-42BA-963D-85062DE643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4370832"/>
            <a:ext cx="10607040" cy="134416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50"/>
              <a:buFont typeface="Calibri"/>
              <a:buNone/>
            </a:pPr>
            <a:r>
              <a:rPr sz="1350" b="0" i="0" u="none" cap="none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mouseX and mouseY don't need to be computed by a loop or set by hand — Processing keeps them updated automatically, every single frame, for free.</a:t>
            </a:r>
            <a:endParaRPr sz="135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53" name="Google Shape;53;p5">
            <a:extLst xmlns:a="http://schemas.openxmlformats.org/drawingml/2006/main">
              <a:ext uri="{FF2B5EF4-FFF2-40B4-BE49-F238E27FC236}">
                <a16:creationId xmlns:a16="http://schemas.microsoft.com/office/drawing/2014/main" id="{56AD79C9-3FA4-4C8E-B7A5-798299B58B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6446520"/>
            <a:ext cx="6400800" cy="2743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8892B0"/>
              </a:buClr>
              <a:buSzPts val="1000"/>
              <a:buFont typeface="Calibri"/>
              <a:buNone/>
            </a:pPr>
            <a:r>
              <a:rPr sz="1000" b="0" i="1" u="none" cap="none">
                <a:solidFill>
                  <a:srgbClr val="8892B0"/>
                </a:solidFill>
                <a:latin typeface="Calibri"/>
                <a:ea typeface="Calibri"/>
                <a:cs typeface="Calibri"/>
              </a:rPr>
              <a:t>Interactivity &amp; State • </a:t>
            </a:r>
            <a:r>
              <a:rPr sz="1000" b="0" i="1" u="none" cap="none">
                <a:solidFill>
                  <a:srgbClr val="8892B0"/>
                </a:solidFill>
                <a:latin typeface="Calibri"/>
                <a:ea typeface="Calibri"/>
                <a:cs typeface="Calibri"/>
              </a:rPr>
              <a:t>Unit B</a:t>
            </a:r>
            <a:r>
              <a:rPr sz="1000" b="0" i="1" u="none" cap="none">
                <a:solidFill>
                  <a:srgbClr val="8892B0"/>
                </a:solidFill>
                <a:latin typeface="Calibri"/>
                <a:ea typeface="Calibri"/>
                <a:cs typeface="Calibri"/>
              </a:rPr>
              <a:t> • B3.1</a:t>
            </a:r>
            <a:endParaRPr sz="10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54" name="Google Shape;54;p5">
            <a:extLst xmlns:a="http://schemas.openxmlformats.org/drawingml/2006/main">
              <a:ext uri="{FF2B5EF4-FFF2-40B4-BE49-F238E27FC236}">
                <a16:creationId xmlns:a16="http://schemas.microsoft.com/office/drawing/2014/main" id="{D2588697-B76B-4E0B-94D9-5A6A5CA23D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5455" y="6446520"/>
            <a:ext cx="3657600" cy="2743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r">
              <a:spcBef>
                <a:spcPts val="0"/>
              </a:spcBef>
              <a:spcAft>
                <a:spcPts val="0"/>
              </a:spcAft>
              <a:buClr>
                <a:srgbClr val="8892B0"/>
              </a:buClr>
              <a:buSzPts val="1000"/>
              <a:buFont typeface="Calibri"/>
              <a:buNone/>
            </a:pPr>
            <a:r>
              <a:rPr sz="1000" b="0" i="0" u="none" cap="none">
                <a:solidFill>
                  <a:srgbClr val="8892B0"/>
                </a:solidFill>
                <a:latin typeface="Calibri"/>
                <a:ea typeface="Calibri"/>
                <a:cs typeface="Calibri"/>
              </a:rPr>
              <a:t>Part 1 of 3</a:t>
            </a:r>
            <a:endParaRPr sz="10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052204772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0" name="Google Shape;60;p6">
            <a:extLst xmlns:a="http://schemas.openxmlformats.org/drawingml/2006/main">
              <a:ext uri="{FF2B5EF4-FFF2-40B4-BE49-F238E27FC236}">
                <a16:creationId xmlns:a16="http://schemas.microsoft.com/office/drawing/2014/main" id="{A1AF0DAA-2470-488C-9247-3AC6ECC392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274320"/>
            <a:ext cx="11064240" cy="5486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2700"/>
              <a:buFont typeface="Cambria"/>
              <a:buNone/>
            </a:pPr>
            <a:r>
              <a:rPr sz="2700" b="1" i="0" u="none" cap="none">
                <a:solidFill>
                  <a:srgbClr val="1E2761"/>
                </a:solidFill>
                <a:latin typeface="Cambria"/>
                <a:ea typeface="Cambria"/>
                <a:cs typeface="Cambria"/>
              </a:rPr>
              <a:t>Two Things With the Same Name</a:t>
            </a:r>
            <a:endParaRPr sz="27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61" name="Google Shape;61;p6">
            <a:extLst xmlns:a="http://schemas.openxmlformats.org/drawingml/2006/main">
              <a:ext uri="{FF2B5EF4-FFF2-40B4-BE49-F238E27FC236}">
                <a16:creationId xmlns:a16="http://schemas.microsoft.com/office/drawing/2014/main" id="{E746039C-D5DD-4DD4-9B0F-827456A53B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841248"/>
            <a:ext cx="11064240" cy="4114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3B4A78"/>
              </a:buClr>
              <a:buSzPts val="1500"/>
              <a:buFont typeface="Calibri"/>
              <a:buNone/>
            </a:pPr>
            <a:r>
              <a:rPr sz="1500" b="0" i="1" u="none" cap="none">
                <a:solidFill>
                  <a:srgbClr val="3B4A78"/>
                </a:solidFill>
                <a:latin typeface="Calibri"/>
                <a:ea typeface="Calibri"/>
                <a:cs typeface="Calibri"/>
              </a:rPr>
              <a:t>mousePressed and mousePressed() are genuinely different</a:t>
            </a:r>
            <a:endParaRPr sz="15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62" name="Google Shape;62;p6">
            <a:extLst xmlns:a="http://schemas.openxmlformats.org/drawingml/2006/main">
              <a:ext uri="{FF2B5EF4-FFF2-40B4-BE49-F238E27FC236}">
                <a16:creationId xmlns:a16="http://schemas.microsoft.com/office/drawing/2014/main" id="{A736C7C5-9A82-4E10-957C-3A9435B408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6446520"/>
            <a:ext cx="6400800" cy="2743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8892B0"/>
              </a:buClr>
              <a:buSzPts val="1000"/>
              <a:buFont typeface="Calibri"/>
              <a:buNone/>
            </a:pPr>
            <a:r>
              <a:rPr sz="1000" b="0" i="1" u="none" cap="none">
                <a:solidFill>
                  <a:srgbClr val="8892B0"/>
                </a:solidFill>
                <a:latin typeface="Calibri"/>
                <a:ea typeface="Calibri"/>
                <a:cs typeface="Calibri"/>
              </a:rPr>
              <a:t>Interactivity &amp; State • </a:t>
            </a:r>
            <a:r>
              <a:rPr sz="1000" b="0" i="1" u="none" cap="none">
                <a:solidFill>
                  <a:srgbClr val="8892B0"/>
                </a:solidFill>
                <a:latin typeface="Calibri"/>
                <a:ea typeface="Calibri"/>
                <a:cs typeface="Calibri"/>
              </a:rPr>
              <a:t>Unit B</a:t>
            </a:r>
            <a:r>
              <a:rPr sz="1000" b="0" i="1" u="none" cap="none">
                <a:solidFill>
                  <a:srgbClr val="8892B0"/>
                </a:solidFill>
                <a:latin typeface="Calibri"/>
                <a:ea typeface="Calibri"/>
                <a:cs typeface="Calibri"/>
              </a:rPr>
              <a:t> • B3.1</a:t>
            </a:r>
            <a:endParaRPr sz="10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63" name="Google Shape;63;p6">
            <a:extLst xmlns:a="http://schemas.openxmlformats.org/drawingml/2006/main">
              <a:ext uri="{FF2B5EF4-FFF2-40B4-BE49-F238E27FC236}">
                <a16:creationId xmlns:a16="http://schemas.microsoft.com/office/drawing/2014/main" id="{64E32358-DE60-4C9D-A6B3-1C69CC036C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5455" y="6446520"/>
            <a:ext cx="3657600" cy="2743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r">
              <a:spcBef>
                <a:spcPts val="0"/>
              </a:spcBef>
              <a:spcAft>
                <a:spcPts val="0"/>
              </a:spcAft>
              <a:buClr>
                <a:srgbClr val="8892B0"/>
              </a:buClr>
              <a:buSzPts val="1000"/>
              <a:buFont typeface="Calibri"/>
              <a:buNone/>
            </a:pPr>
            <a:r>
              <a:rPr sz="1000" b="0" i="0" u="none" cap="none">
                <a:solidFill>
                  <a:srgbClr val="8892B0"/>
                </a:solidFill>
                <a:latin typeface="Calibri"/>
                <a:ea typeface="Calibri"/>
                <a:cs typeface="Calibri"/>
              </a:rPr>
              <a:t>Part 1 of 3</a:t>
            </a:r>
            <a:endParaRPr sz="10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64" name="Google Shape;64;p6">
            <a:extLst xmlns:a="http://schemas.openxmlformats.org/drawingml/2006/main">
              <a:ext uri="{FF2B5EF4-FFF2-40B4-BE49-F238E27FC236}">
                <a16:creationId xmlns:a16="http://schemas.microsoft.com/office/drawing/2014/main" id="{A7266589-24DE-45E8-86B8-7BEE22F114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1600200"/>
            <a:ext cx="6949440" cy="3108960"/>
          </a:xfrm>
          <a:prstGeom xmlns:a="http://schemas.openxmlformats.org/drawingml/2006/main" prst="roundRect">
            <a:avLst>
              <a:gd name="adj" fmla="val 2353"/>
            </a:avLst>
          </a:prstGeom>
          <a:solidFill xmlns:a="http://schemas.openxmlformats.org/drawingml/2006/main">
            <a:srgbClr val="1B1F2E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5" name="Google Shape;65;p6">
            <a:extLst xmlns:a="http://schemas.openxmlformats.org/drawingml/2006/main">
              <a:ext uri="{FF2B5EF4-FFF2-40B4-BE49-F238E27FC236}">
                <a16:creationId xmlns:a16="http://schemas.microsoft.com/office/drawing/2014/main" id="{807E54AD-F19E-4324-B304-1AD0060511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1764792"/>
            <a:ext cx="6492240" cy="277977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8FD0FF"/>
              </a:buClr>
              <a:buSzPts val="1300"/>
              <a:buFont typeface="Courier New"/>
              <a:buNone/>
            </a:pPr>
            <a:r>
              <a:rPr sz="1300" b="1" i="0" u="none" cap="none">
                <a:solidFill>
                  <a:srgbClr val="8FD0FF"/>
                </a:solidFill>
                <a:latin typeface="Courier New"/>
                <a:ea typeface="Courier New"/>
                <a:cs typeface="Courier New"/>
              </a:rPr>
              <a:t>public</a:t>
            </a:r>
            <a:r>
              <a:rPr sz="1300" b="0" i="0" u="none" cap="none">
                <a:solidFill>
                  <a:srgbClr val="CADCFC"/>
                </a:solidFill>
                <a:latin typeface="Courier New"/>
                <a:ea typeface="Courier New"/>
                <a:cs typeface="Courier New"/>
              </a:rPr>
              <a:t> </a:t>
            </a:r>
            <a:r>
              <a:rPr sz="1300" b="1" i="0" u="none" cap="none">
                <a:solidFill>
                  <a:srgbClr val="8FD0FF"/>
                </a:solidFill>
                <a:latin typeface="Courier New"/>
                <a:ea typeface="Courier New"/>
                <a:cs typeface="Courier New"/>
              </a:rPr>
              <a:t>void</a:t>
            </a:r>
            <a:r>
              <a:rPr sz="1300" b="0" i="0" u="none" cap="none">
                <a:solidFill>
                  <a:srgbClr val="CADCFC"/>
                </a:solidFill>
                <a:latin typeface="Courier New"/>
                <a:ea typeface="Courier New"/>
                <a:cs typeface="Courier New"/>
              </a:rPr>
              <a:t> draw() {</a:t>
            </a:r>
            <a:endParaRPr sz="13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  <a:p xmlns:a="http://schemas.openxmlformats.org/drawingml/2006/main">
            <a:pPr marL="0" marR="0" lvl="0" indent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1300"/>
              <a:buFont typeface="Courier New"/>
              <a:buNone/>
            </a:pPr>
            <a:r>
              <a:rPr sz="1300" b="0" i="0" u="none" cap="none">
                <a:solidFill>
                  <a:srgbClr val="CADCFC"/>
                </a:solidFill>
                <a:latin typeface="Courier New"/>
                <a:ea typeface="Courier New"/>
                <a:cs typeface="Courier New"/>
              </a:rPr>
              <a:t>  background(255);</a:t>
            </a:r>
            <a:endParaRPr sz="13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  <a:p xmlns:a="http://schemas.openxmlformats.org/drawingml/2006/main">
            <a:pPr marL="0" marR="0" lvl="0" indent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1300"/>
              <a:buFont typeface="Courier New"/>
              <a:buNone/>
            </a:pPr>
            <a:r>
              <a:rPr sz="1300" b="0" i="0" u="none" cap="none">
                <a:solidFill>
                  <a:srgbClr val="CADCFC"/>
                </a:solidFill>
                <a:latin typeface="Courier New"/>
                <a:ea typeface="Courier New"/>
                <a:cs typeface="Courier New"/>
              </a:rPr>
              <a:t>  </a:t>
            </a:r>
            <a:r>
              <a:rPr sz="1300" b="1" i="0" u="none" cap="none">
                <a:solidFill>
                  <a:srgbClr val="8FD0FF"/>
                </a:solidFill>
                <a:latin typeface="Courier New"/>
                <a:ea typeface="Courier New"/>
                <a:cs typeface="Courier New"/>
              </a:rPr>
              <a:t>if</a:t>
            </a:r>
            <a:r>
              <a:rPr sz="1300" b="0" i="0" u="none" cap="none">
                <a:solidFill>
                  <a:srgbClr val="CADCFC"/>
                </a:solidFill>
                <a:latin typeface="Courier New"/>
                <a:ea typeface="Courier New"/>
                <a:cs typeface="Courier New"/>
              </a:rPr>
              <a:t> (mousePressed) {</a:t>
            </a:r>
            <a:endParaRPr sz="13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  <a:p xmlns:a="http://schemas.openxmlformats.org/drawingml/2006/main">
            <a:pPr marL="0" marR="0" lvl="0" indent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1300"/>
              <a:buFont typeface="Courier New"/>
              <a:buNone/>
            </a:pPr>
            <a:r>
              <a:rPr sz="1300" b="0" i="0" u="none" cap="none">
                <a:solidFill>
                  <a:srgbClr val="CADCFC"/>
                </a:solidFill>
                <a:latin typeface="Courier New"/>
                <a:ea typeface="Courier New"/>
                <a:cs typeface="Courier New"/>
              </a:rPr>
              <a:t>    fill(80);</a:t>
            </a:r>
            <a:endParaRPr sz="13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  <a:p xmlns:a="http://schemas.openxmlformats.org/drawingml/2006/main">
            <a:pPr marL="0" marR="0" lvl="0" indent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1300"/>
              <a:buFont typeface="Courier New"/>
              <a:buNone/>
            </a:pPr>
            <a:r>
              <a:rPr sz="1300" b="0" i="0" u="none" cap="none">
                <a:solidFill>
                  <a:srgbClr val="CADCFC"/>
                </a:solidFill>
                <a:latin typeface="Courier New"/>
                <a:ea typeface="Courier New"/>
                <a:cs typeface="Courier New"/>
              </a:rPr>
              <a:t>  } </a:t>
            </a:r>
            <a:r>
              <a:rPr sz="1300" b="1" i="0" u="none" cap="none">
                <a:solidFill>
                  <a:srgbClr val="8FD0FF"/>
                </a:solidFill>
                <a:latin typeface="Courier New"/>
                <a:ea typeface="Courier New"/>
                <a:cs typeface="Courier New"/>
              </a:rPr>
              <a:t>else</a:t>
            </a:r>
            <a:r>
              <a:rPr sz="1300" b="0" i="0" u="none" cap="none">
                <a:solidFill>
                  <a:srgbClr val="CADCFC"/>
                </a:solidFill>
                <a:latin typeface="Courier New"/>
                <a:ea typeface="Courier New"/>
                <a:cs typeface="Courier New"/>
              </a:rPr>
              <a:t> {</a:t>
            </a:r>
            <a:endParaRPr sz="13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  <a:p xmlns:a="http://schemas.openxmlformats.org/drawingml/2006/main">
            <a:pPr marL="0" marR="0" lvl="0" indent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1300"/>
              <a:buFont typeface="Courier New"/>
              <a:buNone/>
            </a:pPr>
            <a:r>
              <a:rPr sz="1300" b="0" i="0" u="none" cap="none">
                <a:solidFill>
                  <a:srgbClr val="CADCFC"/>
                </a:solidFill>
                <a:latin typeface="Courier New"/>
                <a:ea typeface="Courier New"/>
                <a:cs typeface="Courier New"/>
              </a:rPr>
              <a:t>    fill(200);</a:t>
            </a:r>
            <a:endParaRPr sz="13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  <a:p xmlns:a="http://schemas.openxmlformats.org/drawingml/2006/main">
            <a:pPr marL="0" marR="0" lvl="0" indent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1300"/>
              <a:buFont typeface="Courier New"/>
              <a:buNone/>
            </a:pPr>
            <a:r>
              <a:rPr sz="1300" b="0" i="0" u="none" cap="none">
                <a:solidFill>
                  <a:srgbClr val="CADCFC"/>
                </a:solidFill>
                <a:latin typeface="Courier New"/>
                <a:ea typeface="Courier New"/>
                <a:cs typeface="Courier New"/>
              </a:rPr>
              <a:t>  }</a:t>
            </a:r>
            <a:endParaRPr sz="13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  <a:p xmlns:a="http://schemas.openxmlformats.org/drawingml/2006/main">
            <a:pPr marL="0" marR="0" lvl="0" indent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1300"/>
              <a:buFont typeface="Courier New"/>
              <a:buNone/>
            </a:pPr>
            <a:r>
              <a:rPr sz="1300" b="0" i="0" u="none" cap="none">
                <a:solidFill>
                  <a:srgbClr val="CADCFC"/>
                </a:solidFill>
                <a:latin typeface="Courier New"/>
                <a:ea typeface="Courier New"/>
                <a:cs typeface="Courier New"/>
              </a:rPr>
              <a:t>  ellipse(mouseX, mouseY, 30, 30);</a:t>
            </a:r>
            <a:endParaRPr sz="13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  <a:p xmlns:a="http://schemas.openxmlformats.org/drawingml/2006/main">
            <a:pPr marL="0" marR="0" lvl="0" indent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1300"/>
              <a:buFont typeface="Courier New"/>
              <a:buNone/>
            </a:pPr>
            <a:r>
              <a:rPr sz="1300" b="0" i="0" u="none" cap="none">
                <a:solidFill>
                  <a:srgbClr val="CADCFC"/>
                </a:solidFill>
                <a:latin typeface="Courier New"/>
                <a:ea typeface="Courier New"/>
                <a:cs typeface="Courier New"/>
              </a:rPr>
              <a:t>}</a:t>
            </a:r>
            <a:endParaRPr sz="13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  <a:p xmlns:a="http://schemas.openxmlformats.org/drawingml/2006/main">
            <a:pPr marL="0" marR="0" lvl="0" indent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Courier New"/>
              <a:buNone/>
            </a:pPr>
            <a:r>
              <a:rPr sz="1300" b="0" i="0" u="none" cap="none">
                <a:solidFill>
                  <a:srgbClr val="000000"/>
                </a:solidFill>
                <a:latin typeface="Courier New"/>
                <a:ea typeface="Courier New"/>
                <a:cs typeface="Courier New"/>
              </a:rPr>
              <a:t> </a:t>
            </a:r>
            <a:endParaRPr sz="13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  <a:p xmlns:a="http://schemas.openxmlformats.org/drawingml/2006/main">
            <a:pPr marL="0" marR="0" lvl="0" indent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8FD0FF"/>
              </a:buClr>
              <a:buSzPts val="1300"/>
              <a:buFont typeface="Courier New"/>
              <a:buNone/>
            </a:pPr>
            <a:r>
              <a:rPr sz="1300" b="1" i="0" u="none" cap="none">
                <a:solidFill>
                  <a:srgbClr val="8FD0FF"/>
                </a:solidFill>
                <a:latin typeface="Courier New"/>
                <a:ea typeface="Courier New"/>
                <a:cs typeface="Courier New"/>
              </a:rPr>
              <a:t>public</a:t>
            </a:r>
            <a:r>
              <a:rPr sz="1300" b="0" i="0" u="none" cap="none">
                <a:solidFill>
                  <a:srgbClr val="CADCFC"/>
                </a:solidFill>
                <a:latin typeface="Courier New"/>
                <a:ea typeface="Courier New"/>
                <a:cs typeface="Courier New"/>
              </a:rPr>
              <a:t> </a:t>
            </a:r>
            <a:r>
              <a:rPr sz="1300" b="1" i="0" u="none" cap="none">
                <a:solidFill>
                  <a:srgbClr val="8FD0FF"/>
                </a:solidFill>
                <a:latin typeface="Courier New"/>
                <a:ea typeface="Courier New"/>
                <a:cs typeface="Courier New"/>
              </a:rPr>
              <a:t>void</a:t>
            </a:r>
            <a:r>
              <a:rPr sz="1300" b="0" i="0" u="none" cap="none">
                <a:solidFill>
                  <a:srgbClr val="CADCFC"/>
                </a:solidFill>
                <a:latin typeface="Courier New"/>
                <a:ea typeface="Courier New"/>
                <a:cs typeface="Courier New"/>
              </a:rPr>
              <a:t> mousePressed() {</a:t>
            </a:r>
            <a:endParaRPr sz="13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  <a:p xmlns:a="http://schemas.openxmlformats.org/drawingml/2006/main">
            <a:pPr marL="0" marR="0" lvl="0" indent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1300"/>
              <a:buFont typeface="Courier New"/>
              <a:buNone/>
            </a:pPr>
            <a:r>
              <a:rPr sz="1300" b="0" i="0" u="none" cap="none">
                <a:solidFill>
                  <a:srgbClr val="CADCFC"/>
                </a:solidFill>
                <a:latin typeface="Courier New"/>
                <a:ea typeface="Courier New"/>
                <a:cs typeface="Courier New"/>
              </a:rPr>
              <a:t>  println("Pressed once!");</a:t>
            </a:r>
            <a:endParaRPr sz="13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  <a:p xmlns:a="http://schemas.openxmlformats.org/drawingml/2006/main">
            <a:pPr marL="0" marR="0" lvl="0" indent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1300"/>
              <a:buFont typeface="Courier New"/>
              <a:buNone/>
            </a:pPr>
            <a:r>
              <a:rPr sz="1300" b="0" i="0" u="none" cap="none">
                <a:solidFill>
                  <a:srgbClr val="CADCFC"/>
                </a:solidFill>
                <a:latin typeface="Courier New"/>
                <a:ea typeface="Courier New"/>
                <a:cs typeface="Courier New"/>
              </a:rPr>
              <a:t>}</a:t>
            </a:r>
            <a:endParaRPr sz="13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66" name="Google Shape;66;p6">
            <a:extLst xmlns:a="http://schemas.openxmlformats.org/drawingml/2006/main">
              <a:ext uri="{FF2B5EF4-FFF2-40B4-BE49-F238E27FC236}">
                <a16:creationId xmlns:a16="http://schemas.microsoft.com/office/drawing/2014/main" id="{7E9118D4-B87E-4295-9D71-8160D15BAF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80960" y="1600200"/>
            <a:ext cx="3931920" cy="3108960"/>
          </a:xfrm>
          <a:prstGeom xmlns:a="http://schemas.openxmlformats.org/drawingml/2006/main" prst="roundRect">
            <a:avLst>
              <a:gd name="adj" fmla="val 2353"/>
            </a:avLst>
          </a:prstGeom>
          <a:solidFill xmlns:a="http://schemas.openxmlformats.org/drawingml/2006/main">
            <a:srgbClr val="FBF2E3"/>
          </a:solidFill>
          <a:ln xmlns:a="http://schemas.openxmlformats.org/drawingml/2006/main" w="19050" cmpd="sng">
            <a:solidFill>
              <a:srgbClr val="E8A33D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" name="Google Shape;67;p6">
            <a:extLst xmlns:a="http://schemas.openxmlformats.org/drawingml/2006/main">
              <a:ext uri="{FF2B5EF4-FFF2-40B4-BE49-F238E27FC236}">
                <a16:creationId xmlns:a16="http://schemas.microsoft.com/office/drawing/2014/main" id="{A611A6C8-2146-45D7-AC31-5DEE947A2F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9560" y="1764792"/>
            <a:ext cx="3474720" cy="3200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E8A33D"/>
              </a:buClr>
              <a:buSzPts val="1300"/>
              <a:buFont typeface="Calibri"/>
              <a:buNone/>
            </a:pPr>
            <a:r>
              <a:rPr sz="1300" b="1" i="0" u="none" cap="none">
                <a:solidFill>
                  <a:srgbClr val="E8A33D"/>
                </a:solidFill>
                <a:latin typeface="Calibri"/>
                <a:ea typeface="Calibri"/>
                <a:cs typeface="Calibri"/>
              </a:rPr>
              <a:t>Variable vs. function</a:t>
            </a:r>
            <a:endParaRPr sz="13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68" name="Google Shape;68;p6">
            <a:extLst xmlns:a="http://schemas.openxmlformats.org/drawingml/2006/main">
              <a:ext uri="{FF2B5EF4-FFF2-40B4-BE49-F238E27FC236}">
                <a16:creationId xmlns:a16="http://schemas.microsoft.com/office/drawing/2014/main" id="{EA87D066-8080-4168-B1CC-DA9F65BE50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9560" y="2130552"/>
            <a:ext cx="3474720" cy="244144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1B1F2E"/>
              </a:buClr>
              <a:buSzPts val="1350"/>
              <a:buFont typeface="Calibri"/>
              <a:buNone/>
            </a:pPr>
            <a:r>
              <a:rPr sz="1350" b="0" i="0" u="none" cap="none">
                <a:solidFill>
                  <a:srgbClr val="1B1F2E"/>
                </a:solidFill>
                <a:latin typeface="Calibri"/>
                <a:ea typeface="Calibri"/>
                <a:cs typeface="Calibri"/>
              </a:rPr>
              <a:t>mousePressed (no parens) — checked every frame in draw(). True the WHOLE time the button is held.</a:t>
            </a:r>
            <a:endParaRPr sz="135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50"/>
              <a:buFont typeface="Calibri"/>
              <a:buNone/>
            </a:pPr>
            <a:r>
              <a:t/>
            </a:r>
            <a:endParaRPr sz="135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1B1F2E"/>
              </a:buClr>
              <a:buSzPts val="1350"/>
              <a:buFont typeface="Calibri"/>
              <a:buNone/>
            </a:pPr>
            <a:r>
              <a:rPr sz="1350" b="0" i="0" u="none" cap="none">
                <a:solidFill>
                  <a:srgbClr val="1B1F2E"/>
                </a:solidFill>
                <a:latin typeface="Calibri"/>
                <a:ea typeface="Calibri"/>
                <a:cs typeface="Calibri"/>
              </a:rPr>
              <a:t>mousePressed() (with parens) — a separate function. Runs exactly ONCE, at the instant the press happens.</a:t>
            </a:r>
            <a:endParaRPr sz="135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69" name="Google Shape;69;p6">
            <a:extLst xmlns:a="http://schemas.openxmlformats.org/drawingml/2006/main">
              <a:ext uri="{FF2B5EF4-FFF2-40B4-BE49-F238E27FC236}">
                <a16:creationId xmlns:a16="http://schemas.microsoft.com/office/drawing/2014/main" id="{22162661-D2F3-4146-B115-096A49AD55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6446520"/>
            <a:ext cx="6400800" cy="2743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8892B0"/>
              </a:buClr>
              <a:buSzPts val="1000"/>
              <a:buFont typeface="Calibri"/>
              <a:buNone/>
            </a:pPr>
            <a:r>
              <a:rPr sz="1000" b="0" i="1" u="none" cap="none">
                <a:solidFill>
                  <a:srgbClr val="8892B0"/>
                </a:solidFill>
                <a:latin typeface="Calibri"/>
                <a:ea typeface="Calibri"/>
                <a:cs typeface="Calibri"/>
              </a:rPr>
              <a:t>Interactivity &amp; State • </a:t>
            </a:r>
            <a:r>
              <a:rPr sz="1000" b="0" i="1" u="none" cap="none">
                <a:solidFill>
                  <a:srgbClr val="8892B0"/>
                </a:solidFill>
                <a:latin typeface="Calibri"/>
                <a:ea typeface="Calibri"/>
                <a:cs typeface="Calibri"/>
              </a:rPr>
              <a:t>Unit B</a:t>
            </a:r>
            <a:r>
              <a:rPr sz="1000" b="0" i="1" u="none" cap="none">
                <a:solidFill>
                  <a:srgbClr val="8892B0"/>
                </a:solidFill>
                <a:latin typeface="Calibri"/>
                <a:ea typeface="Calibri"/>
                <a:cs typeface="Calibri"/>
              </a:rPr>
              <a:t> • B3.1</a:t>
            </a:r>
            <a:endParaRPr sz="10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70" name="Google Shape;70;p6">
            <a:extLst xmlns:a="http://schemas.openxmlformats.org/drawingml/2006/main">
              <a:ext uri="{FF2B5EF4-FFF2-40B4-BE49-F238E27FC236}">
                <a16:creationId xmlns:a16="http://schemas.microsoft.com/office/drawing/2014/main" id="{D672197F-8F35-4D01-A54D-DDBACB57C8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5455" y="6446520"/>
            <a:ext cx="3657600" cy="2743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r">
              <a:spcBef>
                <a:spcPts val="0"/>
              </a:spcBef>
              <a:spcAft>
                <a:spcPts val="0"/>
              </a:spcAft>
              <a:buClr>
                <a:srgbClr val="8892B0"/>
              </a:buClr>
              <a:buSzPts val="1000"/>
              <a:buFont typeface="Calibri"/>
              <a:buNone/>
            </a:pPr>
            <a:r>
              <a:rPr sz="1000" b="0" i="0" u="none" cap="none">
                <a:solidFill>
                  <a:srgbClr val="8892B0"/>
                </a:solidFill>
                <a:latin typeface="Calibri"/>
                <a:ea typeface="Calibri"/>
                <a:cs typeface="Calibri"/>
              </a:rPr>
              <a:t>Part 1 of 3</a:t>
            </a:r>
            <a:endParaRPr sz="10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038834411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6" name="Google Shape;76;p7">
            <a:extLst xmlns:a="http://schemas.openxmlformats.org/drawingml/2006/main">
              <a:ext uri="{FF2B5EF4-FFF2-40B4-BE49-F238E27FC236}">
                <a16:creationId xmlns:a16="http://schemas.microsoft.com/office/drawing/2014/main" id="{B0069A7C-645B-4CA9-A076-E3892DE8E5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274320"/>
            <a:ext cx="11064240" cy="5486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2700"/>
              <a:buFont typeface="Cambria"/>
              <a:buNone/>
            </a:pPr>
            <a:r>
              <a:rPr sz="2700" b="1" i="0" u="none" cap="none">
                <a:solidFill>
                  <a:srgbClr val="1E2761"/>
                </a:solidFill>
                <a:latin typeface="Cambria"/>
                <a:ea typeface="Cambria"/>
                <a:cs typeface="Cambria"/>
              </a:rPr>
              <a:t>Completing the Trio</a:t>
            </a:r>
            <a:endParaRPr sz="27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77" name="Google Shape;77;p7">
            <a:extLst xmlns:a="http://schemas.openxmlformats.org/drawingml/2006/main">
              <a:ext uri="{FF2B5EF4-FFF2-40B4-BE49-F238E27FC236}">
                <a16:creationId xmlns:a16="http://schemas.microsoft.com/office/drawing/2014/main" id="{3BCB99F9-14F7-4AA0-A7B4-038ABCEC62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841248"/>
            <a:ext cx="11064240" cy="4114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3B4A78"/>
              </a:buClr>
              <a:buSzPts val="1500"/>
              <a:buFont typeface="Calibri"/>
              <a:buNone/>
            </a:pPr>
            <a:r>
              <a:rPr sz="1500" b="0" i="1" u="none" cap="none">
                <a:solidFill>
                  <a:srgbClr val="3B4A78"/>
                </a:solidFill>
                <a:latin typeface="Calibri"/>
                <a:ea typeface="Calibri"/>
                <a:cs typeface="Calibri"/>
              </a:rPr>
              <a:t>Press and release are two one-time events; holding is continuous</a:t>
            </a:r>
            <a:endParaRPr sz="15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78" name="Google Shape;78;p7">
            <a:extLst xmlns:a="http://schemas.openxmlformats.org/drawingml/2006/main">
              <a:ext uri="{FF2B5EF4-FFF2-40B4-BE49-F238E27FC236}">
                <a16:creationId xmlns:a16="http://schemas.microsoft.com/office/drawing/2014/main" id="{40262C14-F312-4788-B9EE-A083348F64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6446520"/>
            <a:ext cx="6400800" cy="2743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8892B0"/>
              </a:buClr>
              <a:buSzPts val="1000"/>
              <a:buFont typeface="Calibri"/>
              <a:buNone/>
            </a:pPr>
            <a:r>
              <a:rPr sz="1000" b="0" i="1" u="none" cap="none">
                <a:solidFill>
                  <a:srgbClr val="8892B0"/>
                </a:solidFill>
                <a:latin typeface="Calibri"/>
                <a:ea typeface="Calibri"/>
                <a:cs typeface="Calibri"/>
              </a:rPr>
              <a:t>Interactivity &amp; State • </a:t>
            </a:r>
            <a:r>
              <a:rPr sz="1000" b="0" i="1" u="none" cap="none">
                <a:solidFill>
                  <a:srgbClr val="8892B0"/>
                </a:solidFill>
                <a:latin typeface="Calibri"/>
                <a:ea typeface="Calibri"/>
                <a:cs typeface="Calibri"/>
              </a:rPr>
              <a:t>Unit B</a:t>
            </a:r>
            <a:r>
              <a:rPr sz="1000" b="0" i="1" u="none" cap="none">
                <a:solidFill>
                  <a:srgbClr val="8892B0"/>
                </a:solidFill>
                <a:latin typeface="Calibri"/>
                <a:ea typeface="Calibri"/>
                <a:cs typeface="Calibri"/>
              </a:rPr>
              <a:t> • B3.1</a:t>
            </a:r>
            <a:endParaRPr sz="10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79" name="Google Shape;79;p7">
            <a:extLst xmlns:a="http://schemas.openxmlformats.org/drawingml/2006/main">
              <a:ext uri="{FF2B5EF4-FFF2-40B4-BE49-F238E27FC236}">
                <a16:creationId xmlns:a16="http://schemas.microsoft.com/office/drawing/2014/main" id="{733924AD-BCE6-4DC8-A589-5FFBEE752B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5455" y="6446520"/>
            <a:ext cx="3657600" cy="2743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r">
              <a:spcBef>
                <a:spcPts val="0"/>
              </a:spcBef>
              <a:spcAft>
                <a:spcPts val="0"/>
              </a:spcAft>
              <a:buClr>
                <a:srgbClr val="8892B0"/>
              </a:buClr>
              <a:buSzPts val="1000"/>
              <a:buFont typeface="Calibri"/>
              <a:buNone/>
            </a:pPr>
            <a:r>
              <a:rPr sz="1000" b="0" i="0" u="none" cap="none">
                <a:solidFill>
                  <a:srgbClr val="8892B0"/>
                </a:solidFill>
                <a:latin typeface="Calibri"/>
                <a:ea typeface="Calibri"/>
                <a:cs typeface="Calibri"/>
              </a:rPr>
              <a:t>Part 1 of 3</a:t>
            </a:r>
            <a:endParaRPr sz="10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80" name="Google Shape;80;p7">
            <a:extLst xmlns:a="http://schemas.openxmlformats.org/drawingml/2006/main">
              <a:ext uri="{FF2B5EF4-FFF2-40B4-BE49-F238E27FC236}">
                <a16:creationId xmlns:a16="http://schemas.microsoft.com/office/drawing/2014/main" id="{D05C108E-4AD1-4AC9-9833-B98BA2A407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1600200"/>
            <a:ext cx="5120640" cy="1188720"/>
          </a:xfrm>
          <a:prstGeom xmlns:a="http://schemas.openxmlformats.org/drawingml/2006/main" prst="roundRect">
            <a:avLst>
              <a:gd name="adj" fmla="val 6154"/>
            </a:avLst>
          </a:prstGeom>
          <a:solidFill xmlns:a="http://schemas.openxmlformats.org/drawingml/2006/main">
            <a:srgbClr val="1B1F2E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1" name="Google Shape;81;p7">
            <a:extLst xmlns:a="http://schemas.openxmlformats.org/drawingml/2006/main">
              <a:ext uri="{FF2B5EF4-FFF2-40B4-BE49-F238E27FC236}">
                <a16:creationId xmlns:a16="http://schemas.microsoft.com/office/drawing/2014/main" id="{B59CCC9A-C23F-4F23-A477-708E9917C9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1764792"/>
            <a:ext cx="4663440" cy="85953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8FD0FF"/>
              </a:buClr>
              <a:buSzPts val="1400"/>
              <a:buFont typeface="Courier New"/>
              <a:buNone/>
            </a:pPr>
            <a:r>
              <a:rPr sz="1400" b="1" i="0" u="none" cap="none">
                <a:solidFill>
                  <a:srgbClr val="8FD0FF"/>
                </a:solidFill>
                <a:latin typeface="Courier New"/>
                <a:ea typeface="Courier New"/>
                <a:cs typeface="Courier New"/>
              </a:rPr>
              <a:t>public</a:t>
            </a:r>
            <a:r>
              <a:rPr sz="1400" b="0" i="0" u="none" cap="none">
                <a:solidFill>
                  <a:srgbClr val="CADCFC"/>
                </a:solidFill>
                <a:latin typeface="Courier New"/>
                <a:ea typeface="Courier New"/>
                <a:cs typeface="Courier New"/>
              </a:rPr>
              <a:t> </a:t>
            </a:r>
            <a:r>
              <a:rPr sz="1400" b="1" i="0" u="none" cap="none">
                <a:solidFill>
                  <a:srgbClr val="8FD0FF"/>
                </a:solidFill>
                <a:latin typeface="Courier New"/>
                <a:ea typeface="Courier New"/>
                <a:cs typeface="Courier New"/>
              </a:rPr>
              <a:t>void</a:t>
            </a:r>
            <a:r>
              <a:rPr sz="1400" b="0" i="0" u="none" cap="none">
                <a:solidFill>
                  <a:srgbClr val="CADCFC"/>
                </a:solidFill>
                <a:latin typeface="Courier New"/>
                <a:ea typeface="Courier New"/>
                <a:cs typeface="Courier New"/>
              </a:rPr>
              <a:t> mouseReleased() {</a:t>
            </a:r>
            <a:endParaRPr sz="14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  <a:p xmlns:a="http://schemas.openxmlformats.org/drawingml/2006/main">
            <a:pPr marL="0" marR="0" lvl="0" indent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1400"/>
              <a:buFont typeface="Courier New"/>
              <a:buNone/>
            </a:pPr>
            <a:r>
              <a:rPr sz="1400" b="0" i="0" u="none" cap="none">
                <a:solidFill>
                  <a:srgbClr val="CADCFC"/>
                </a:solidFill>
                <a:latin typeface="Courier New"/>
                <a:ea typeface="Courier New"/>
                <a:cs typeface="Courier New"/>
              </a:rPr>
              <a:t>  println("Released!");</a:t>
            </a:r>
            <a:endParaRPr sz="14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  <a:p xmlns:a="http://schemas.openxmlformats.org/drawingml/2006/main">
            <a:pPr marL="0" marR="0" lvl="0" indent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1400"/>
              <a:buFont typeface="Courier New"/>
              <a:buNone/>
            </a:pPr>
            <a:r>
              <a:rPr sz="1400" b="0" i="0" u="none" cap="none">
                <a:solidFill>
                  <a:srgbClr val="CADCFC"/>
                </a:solidFill>
                <a:latin typeface="Courier New"/>
                <a:ea typeface="Courier New"/>
                <a:cs typeface="Courier New"/>
              </a:rPr>
              <a:t>}</a:t>
            </a:r>
            <a:endParaRPr sz="14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82" name="Google Shape;82;p7">
            <a:extLst xmlns:a="http://schemas.openxmlformats.org/drawingml/2006/main">
              <a:ext uri="{FF2B5EF4-FFF2-40B4-BE49-F238E27FC236}">
                <a16:creationId xmlns:a16="http://schemas.microsoft.com/office/drawing/2014/main" id="{569F65EA-1D65-407F-ABB5-B3CF3843CD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52160" y="1600200"/>
            <a:ext cx="5760720" cy="1188720"/>
          </a:xfrm>
          <a:prstGeom xmlns:a="http://schemas.openxmlformats.org/drawingml/2006/main" prst="roundRect">
            <a:avLst>
              <a:gd name="adj" fmla="val 6154"/>
            </a:avLst>
          </a:prstGeom>
          <a:solidFill xmlns:a="http://schemas.openxmlformats.org/drawingml/2006/main">
            <a:srgbClr val="FBF2E3"/>
          </a:solidFill>
          <a:ln xmlns:a="http://schemas.openxmlformats.org/drawingml/2006/main" w="19050" cmpd="sng">
            <a:solidFill>
              <a:srgbClr val="E8A33D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3" name="Google Shape;83;p7">
            <a:extLst xmlns:a="http://schemas.openxmlformats.org/drawingml/2006/main">
              <a:ext uri="{FF2B5EF4-FFF2-40B4-BE49-F238E27FC236}">
                <a16:creationId xmlns:a16="http://schemas.microsoft.com/office/drawing/2014/main" id="{986A12DC-4CCB-4A11-BC5E-2A316A2FC3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0760" y="1764792"/>
            <a:ext cx="5303520" cy="88696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1B1F2E"/>
              </a:buClr>
              <a:buSzPts val="1350"/>
              <a:buFont typeface="Calibri"/>
              <a:buNone/>
            </a:pPr>
            <a:r>
              <a:rPr sz="1350" b="0" i="0" u="none" cap="none">
                <a:solidFill>
                  <a:srgbClr val="1B1F2E"/>
                </a:solidFill>
                <a:latin typeface="Calibri"/>
                <a:ea typeface="Calibri"/>
                <a:cs typeface="Calibri"/>
              </a:rPr>
              <a:t>One more one-time event, paired with mousePressed() — release is the other end of the same interaction.</a:t>
            </a:r>
            <a:endParaRPr sz="135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84" name="Google Shape;84;p7">
            <a:extLst xmlns:a="http://schemas.openxmlformats.org/drawingml/2006/main">
              <a:ext uri="{FF2B5EF4-FFF2-40B4-BE49-F238E27FC236}">
                <a16:creationId xmlns:a16="http://schemas.microsoft.com/office/drawing/2014/main" id="{24E49F25-C63C-429C-AFCF-D630862A29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3200400"/>
            <a:ext cx="3566160" cy="2377440"/>
          </a:xfrm>
          <a:prstGeom xmlns:a="http://schemas.openxmlformats.org/drawingml/2006/main" prst="roundRect">
            <a:avLst>
              <a:gd name="adj" fmla="val 3077"/>
            </a:avLst>
          </a:prstGeom>
          <a:solidFill xmlns:a="http://schemas.openxmlformats.org/drawingml/2006/main">
            <a:srgbClr val="1E2761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5" name="Google Shape;85;p7">
            <a:extLst xmlns:a="http://schemas.openxmlformats.org/drawingml/2006/main">
              <a:ext uri="{FF2B5EF4-FFF2-40B4-BE49-F238E27FC236}">
                <a16:creationId xmlns:a16="http://schemas.microsoft.com/office/drawing/2014/main" id="{FAFAE0FA-C34E-4C10-A704-94B80F6463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3337560"/>
            <a:ext cx="3566160" cy="3657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Calibri"/>
              <a:buNone/>
            </a:pPr>
            <a:r>
              <a:rPr sz="1500" b="1" i="0" u="none" cap="none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PRESS</a:t>
            </a:r>
            <a:endParaRPr sz="15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86" name="Google Shape;86;p7">
            <a:extLst xmlns:a="http://schemas.openxmlformats.org/drawingml/2006/main">
              <a:ext uri="{FF2B5EF4-FFF2-40B4-BE49-F238E27FC236}">
                <a16:creationId xmlns:a16="http://schemas.microsoft.com/office/drawing/2014/main" id="{88FE33CC-1070-4F4A-87A9-02CC453B6B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3749040"/>
            <a:ext cx="3383280" cy="16916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1150"/>
              <a:buFont typeface="Courier New"/>
              <a:buNone/>
            </a:pPr>
            <a:r>
              <a:rPr sz="1150" b="0" i="0" u="none" cap="none">
                <a:solidFill>
                  <a:srgbClr val="CADCFC"/>
                </a:solidFill>
                <a:latin typeface="Courier New"/>
                <a:ea typeface="Courier New"/>
                <a:cs typeface="Courier New"/>
              </a:rPr>
              <a:t>mousePressed()</a:t>
            </a:r>
            <a:endParaRPr sz="115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  <a:p xmlns:a="http://schemas.openxmlformats.org/drawingml/2006/main">
            <a:pPr marL="0" marR="0" lvl="0" indent="0" algn="ctr"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1150"/>
              <a:buFont typeface="Courier New"/>
              <a:buNone/>
            </a:pPr>
            <a:r>
              <a:rPr sz="1150" b="0" i="0" u="none" cap="none">
                <a:solidFill>
                  <a:srgbClr val="CADCFC"/>
                </a:solidFill>
                <a:latin typeface="Courier New"/>
                <a:ea typeface="Courier New"/>
                <a:cs typeface="Courier New"/>
              </a:rPr>
              <a:t>fires once,</a:t>
            </a:r>
            <a:endParaRPr sz="115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  <a:p xmlns:a="http://schemas.openxmlformats.org/drawingml/2006/main">
            <a:pPr marL="0" marR="0" lvl="0" indent="0" algn="ctr"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1150"/>
              <a:buFont typeface="Courier New"/>
              <a:buNone/>
            </a:pPr>
            <a:r>
              <a:rPr sz="1150" b="0" i="0" u="none" cap="none">
                <a:solidFill>
                  <a:srgbClr val="CADCFC"/>
                </a:solidFill>
                <a:latin typeface="Courier New"/>
                <a:ea typeface="Courier New"/>
                <a:cs typeface="Courier New"/>
              </a:rPr>
              <a:t>right here</a:t>
            </a:r>
            <a:endParaRPr sz="115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87" name="Google Shape;87;p7">
            <a:extLst xmlns:a="http://schemas.openxmlformats.org/drawingml/2006/main">
              <a:ext uri="{FF2B5EF4-FFF2-40B4-BE49-F238E27FC236}">
                <a16:creationId xmlns:a16="http://schemas.microsoft.com/office/drawing/2014/main" id="{92B39DD0-1BFD-45FC-9A0B-0FB613362B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97680" y="3200400"/>
            <a:ext cx="3566160" cy="2377440"/>
          </a:xfrm>
          <a:prstGeom xmlns:a="http://schemas.openxmlformats.org/drawingml/2006/main" prst="roundRect">
            <a:avLst>
              <a:gd name="adj" fmla="val 3077"/>
            </a:avLst>
          </a:prstGeom>
          <a:solidFill xmlns:a="http://schemas.openxmlformats.org/drawingml/2006/main">
            <a:srgbClr val="FBF2E3"/>
          </a:solidFill>
          <a:ln xmlns:a="http://schemas.openxmlformats.org/drawingml/2006/main" w="19050" cmpd="sng">
            <a:solidFill>
              <a:srgbClr val="E8A33D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8" name="Google Shape;88;p7">
            <a:extLst xmlns:a="http://schemas.openxmlformats.org/drawingml/2006/main">
              <a:ext uri="{FF2B5EF4-FFF2-40B4-BE49-F238E27FC236}">
                <a16:creationId xmlns:a16="http://schemas.microsoft.com/office/drawing/2014/main" id="{30FBB4A3-BAC0-476E-A703-CD0B2461FB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97680" y="3337560"/>
            <a:ext cx="3566160" cy="3657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500"/>
              <a:buFont typeface="Calibri"/>
              <a:buNone/>
            </a:pPr>
            <a:r>
              <a:rPr sz="1500" b="1" i="0" u="none" cap="none">
                <a:solidFill>
                  <a:srgbClr val="1E2761"/>
                </a:solidFill>
                <a:latin typeface="Calibri"/>
                <a:ea typeface="Calibri"/>
                <a:cs typeface="Calibri"/>
              </a:rPr>
              <a:t>HOLD</a:t>
            </a:r>
            <a:endParaRPr sz="15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89" name="Google Shape;89;p7">
            <a:extLst xmlns:a="http://schemas.openxmlformats.org/drawingml/2006/main">
              <a:ext uri="{FF2B5EF4-FFF2-40B4-BE49-F238E27FC236}">
                <a16:creationId xmlns:a16="http://schemas.microsoft.com/office/drawing/2014/main" id="{5AAB88C6-1508-4DD9-8046-6E44FBC1AB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9120" y="3749040"/>
            <a:ext cx="3383280" cy="16916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spcBef>
                <a:spcPts val="0"/>
              </a:spcBef>
              <a:spcAft>
                <a:spcPts val="0"/>
              </a:spcAft>
              <a:buClr>
                <a:srgbClr val="3B4A78"/>
              </a:buClr>
              <a:buSzPts val="1150"/>
              <a:buFont typeface="Courier New"/>
              <a:buNone/>
            </a:pPr>
            <a:r>
              <a:rPr sz="1150" b="0" i="0" u="none" cap="none">
                <a:solidFill>
                  <a:srgbClr val="3B4A78"/>
                </a:solidFill>
                <a:latin typeface="Courier New"/>
                <a:ea typeface="Courier New"/>
                <a:cs typeface="Courier New"/>
              </a:rPr>
              <a:t>mousePressed</a:t>
            </a:r>
            <a:endParaRPr sz="115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  <a:p xmlns:a="http://schemas.openxmlformats.org/drawingml/2006/main">
            <a:pPr marL="0" marR="0" lvl="0" indent="0" algn="ctr">
              <a:spcBef>
                <a:spcPts val="0"/>
              </a:spcBef>
              <a:spcAft>
                <a:spcPts val="0"/>
              </a:spcAft>
              <a:buClr>
                <a:srgbClr val="3B4A78"/>
              </a:buClr>
              <a:buSzPts val="1150"/>
              <a:buFont typeface="Courier New"/>
              <a:buNone/>
            </a:pPr>
            <a:r>
              <a:rPr sz="1150" b="0" i="0" u="none" cap="none">
                <a:solidFill>
                  <a:srgbClr val="3B4A78"/>
                </a:solidFill>
                <a:latin typeface="Courier New"/>
                <a:ea typeface="Courier New"/>
                <a:cs typeface="Courier New"/>
              </a:rPr>
              <a:t>(variable) stays</a:t>
            </a:r>
            <a:endParaRPr sz="115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  <a:p xmlns:a="http://schemas.openxmlformats.org/drawingml/2006/main">
            <a:pPr marL="0" marR="0" lvl="0" indent="0" algn="ctr">
              <a:spcBef>
                <a:spcPts val="0"/>
              </a:spcBef>
              <a:spcAft>
                <a:spcPts val="0"/>
              </a:spcAft>
              <a:buClr>
                <a:srgbClr val="3B4A78"/>
              </a:buClr>
              <a:buSzPts val="1150"/>
              <a:buFont typeface="Courier New"/>
              <a:buNone/>
            </a:pPr>
            <a:r>
              <a:rPr sz="1150" b="0" i="0" u="none" cap="none">
                <a:solidFill>
                  <a:srgbClr val="3B4A78"/>
                </a:solidFill>
                <a:latin typeface="Courier New"/>
                <a:ea typeface="Courier New"/>
                <a:cs typeface="Courier New"/>
              </a:rPr>
              <a:t>true this whole time</a:t>
            </a:r>
            <a:endParaRPr sz="115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90" name="Google Shape;90;p7">
            <a:extLst xmlns:a="http://schemas.openxmlformats.org/drawingml/2006/main">
              <a:ext uri="{FF2B5EF4-FFF2-40B4-BE49-F238E27FC236}">
                <a16:creationId xmlns:a16="http://schemas.microsoft.com/office/drawing/2014/main" id="{77ED56A6-FB4B-406B-9B1A-B3B54BAE7A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6720" y="3200400"/>
            <a:ext cx="3566160" cy="2377440"/>
          </a:xfrm>
          <a:prstGeom xmlns:a="http://schemas.openxmlformats.org/drawingml/2006/main" prst="roundRect">
            <a:avLst>
              <a:gd name="adj" fmla="val 3077"/>
            </a:avLst>
          </a:prstGeom>
          <a:solidFill xmlns:a="http://schemas.openxmlformats.org/drawingml/2006/main">
            <a:srgbClr val="1E2761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1" name="Google Shape;91;p7">
            <a:extLst xmlns:a="http://schemas.openxmlformats.org/drawingml/2006/main">
              <a:ext uri="{FF2B5EF4-FFF2-40B4-BE49-F238E27FC236}">
                <a16:creationId xmlns:a16="http://schemas.microsoft.com/office/drawing/2014/main" id="{CBC5C802-10D2-4712-8670-37AC53B683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6720" y="3337560"/>
            <a:ext cx="3566160" cy="3657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Calibri"/>
              <a:buNone/>
            </a:pPr>
            <a:r>
              <a:rPr sz="1500" b="1" i="0" u="none" cap="none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RELEASE</a:t>
            </a:r>
            <a:endParaRPr sz="15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92" name="Google Shape;92;p7">
            <a:extLst xmlns:a="http://schemas.openxmlformats.org/drawingml/2006/main">
              <a:ext uri="{FF2B5EF4-FFF2-40B4-BE49-F238E27FC236}">
                <a16:creationId xmlns:a16="http://schemas.microsoft.com/office/drawing/2014/main" id="{B745455C-C930-43B4-8C6D-0595D7E1E1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8160" y="3749040"/>
            <a:ext cx="3383280" cy="16916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1150"/>
              <a:buFont typeface="Courier New"/>
              <a:buNone/>
            </a:pPr>
            <a:r>
              <a:rPr sz="1150" b="0" i="0" u="none" cap="none">
                <a:solidFill>
                  <a:srgbClr val="CADCFC"/>
                </a:solidFill>
                <a:latin typeface="Courier New"/>
                <a:ea typeface="Courier New"/>
                <a:cs typeface="Courier New"/>
              </a:rPr>
              <a:t>mouseReleased()</a:t>
            </a:r>
            <a:endParaRPr sz="115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  <a:p xmlns:a="http://schemas.openxmlformats.org/drawingml/2006/main">
            <a:pPr marL="0" marR="0" lvl="0" indent="0" algn="ctr"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1150"/>
              <a:buFont typeface="Courier New"/>
              <a:buNone/>
            </a:pPr>
            <a:r>
              <a:rPr sz="1150" b="0" i="0" u="none" cap="none">
                <a:solidFill>
                  <a:srgbClr val="CADCFC"/>
                </a:solidFill>
                <a:latin typeface="Courier New"/>
                <a:ea typeface="Courier New"/>
                <a:cs typeface="Courier New"/>
              </a:rPr>
              <a:t>fires once,</a:t>
            </a:r>
            <a:endParaRPr sz="115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  <a:p xmlns:a="http://schemas.openxmlformats.org/drawingml/2006/main">
            <a:pPr marL="0" marR="0" lvl="0" indent="0" algn="ctr"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1150"/>
              <a:buFont typeface="Courier New"/>
              <a:buNone/>
            </a:pPr>
            <a:r>
              <a:rPr sz="1150" b="0" i="0" u="none" cap="none">
                <a:solidFill>
                  <a:srgbClr val="CADCFC"/>
                </a:solidFill>
                <a:latin typeface="Courier New"/>
                <a:ea typeface="Courier New"/>
                <a:cs typeface="Courier New"/>
              </a:rPr>
              <a:t>right here</a:t>
            </a:r>
            <a:endParaRPr sz="115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93" name="Google Shape;93;p7">
            <a:extLst xmlns:a="http://schemas.openxmlformats.org/drawingml/2006/main">
              <a:ext uri="{FF2B5EF4-FFF2-40B4-BE49-F238E27FC236}">
                <a16:creationId xmlns:a16="http://schemas.microsoft.com/office/drawing/2014/main" id="{8E6D15AD-94C8-4607-9BDA-86FBABB529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77640" y="4023360"/>
            <a:ext cx="4572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spcBef>
                <a:spcPts val="0"/>
              </a:spcBef>
              <a:spcAft>
                <a:spcPts val="0"/>
              </a:spcAft>
              <a:buClr>
                <a:srgbClr val="8892B0"/>
              </a:buClr>
              <a:buSzPts val="2400"/>
              <a:buFont typeface="Calibri"/>
              <a:buNone/>
            </a:pPr>
            <a:r>
              <a:rPr sz="2400" b="0" i="0" u="none" cap="none">
                <a:solidFill>
                  <a:srgbClr val="8892B0"/>
                </a:solidFill>
                <a:latin typeface="Calibri"/>
                <a:ea typeface="Calibri"/>
                <a:cs typeface="Calibri"/>
              </a:rPr>
              <a:t>→</a:t>
            </a:r>
            <a:endParaRPr sz="24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94" name="Google Shape;94;p7">
            <a:extLst xmlns:a="http://schemas.openxmlformats.org/drawingml/2006/main">
              <a:ext uri="{FF2B5EF4-FFF2-40B4-BE49-F238E27FC236}">
                <a16:creationId xmlns:a16="http://schemas.microsoft.com/office/drawing/2014/main" id="{37594DA8-1C0A-4D39-8770-BAF562B221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26680" y="4023360"/>
            <a:ext cx="4572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spcBef>
                <a:spcPts val="0"/>
              </a:spcBef>
              <a:spcAft>
                <a:spcPts val="0"/>
              </a:spcAft>
              <a:buClr>
                <a:srgbClr val="8892B0"/>
              </a:buClr>
              <a:buSzPts val="2400"/>
              <a:buFont typeface="Calibri"/>
              <a:buNone/>
            </a:pPr>
            <a:r>
              <a:rPr sz="2400" b="0" i="0" u="none" cap="none">
                <a:solidFill>
                  <a:srgbClr val="8892B0"/>
                </a:solidFill>
                <a:latin typeface="Calibri"/>
                <a:ea typeface="Calibri"/>
                <a:cs typeface="Calibri"/>
              </a:rPr>
              <a:t>→</a:t>
            </a:r>
            <a:endParaRPr sz="24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95" name="Google Shape;95;p7">
            <a:extLst xmlns:a="http://schemas.openxmlformats.org/drawingml/2006/main">
              <a:ext uri="{FF2B5EF4-FFF2-40B4-BE49-F238E27FC236}">
                <a16:creationId xmlns:a16="http://schemas.microsoft.com/office/drawing/2014/main" id="{93761191-9C21-4698-8599-042C2D714F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6446520"/>
            <a:ext cx="6400800" cy="2743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8892B0"/>
              </a:buClr>
              <a:buSzPts val="1000"/>
              <a:buFont typeface="Calibri"/>
              <a:buNone/>
            </a:pPr>
            <a:r>
              <a:rPr sz="1000" b="0" i="1" u="none" cap="none">
                <a:solidFill>
                  <a:srgbClr val="8892B0"/>
                </a:solidFill>
                <a:latin typeface="Calibri"/>
                <a:ea typeface="Calibri"/>
                <a:cs typeface="Calibri"/>
              </a:rPr>
              <a:t>Interactivity &amp; State • </a:t>
            </a:r>
            <a:r>
              <a:rPr sz="1000" b="0" i="1" u="none" cap="none">
                <a:solidFill>
                  <a:srgbClr val="8892B0"/>
                </a:solidFill>
                <a:latin typeface="Calibri"/>
                <a:ea typeface="Calibri"/>
                <a:cs typeface="Calibri"/>
              </a:rPr>
              <a:t>Unit B</a:t>
            </a:r>
            <a:r>
              <a:rPr sz="1000" b="0" i="1" u="none" cap="none">
                <a:solidFill>
                  <a:srgbClr val="8892B0"/>
                </a:solidFill>
                <a:latin typeface="Calibri"/>
                <a:ea typeface="Calibri"/>
                <a:cs typeface="Calibri"/>
              </a:rPr>
              <a:t> • B3.1</a:t>
            </a:r>
            <a:endParaRPr sz="10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96" name="Google Shape;96;p7">
            <a:extLst xmlns:a="http://schemas.openxmlformats.org/drawingml/2006/main">
              <a:ext uri="{FF2B5EF4-FFF2-40B4-BE49-F238E27FC236}">
                <a16:creationId xmlns:a16="http://schemas.microsoft.com/office/drawing/2014/main" id="{526B65C8-AD8D-4470-9B90-3B42EE98F7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5455" y="6446520"/>
            <a:ext cx="3657600" cy="2743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r">
              <a:spcBef>
                <a:spcPts val="0"/>
              </a:spcBef>
              <a:spcAft>
                <a:spcPts val="0"/>
              </a:spcAft>
              <a:buClr>
                <a:srgbClr val="8892B0"/>
              </a:buClr>
              <a:buSzPts val="1000"/>
              <a:buFont typeface="Calibri"/>
              <a:buNone/>
            </a:pPr>
            <a:r>
              <a:rPr sz="1000" b="0" i="0" u="none" cap="none">
                <a:solidFill>
                  <a:srgbClr val="8892B0"/>
                </a:solidFill>
                <a:latin typeface="Calibri"/>
                <a:ea typeface="Calibri"/>
                <a:cs typeface="Calibri"/>
              </a:rPr>
              <a:t>Part 1 of 3</a:t>
            </a:r>
            <a:endParaRPr sz="10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495765940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2" name="Google Shape;102;p8">
            <a:extLst xmlns:a="http://schemas.openxmlformats.org/drawingml/2006/main">
              <a:ext uri="{FF2B5EF4-FFF2-40B4-BE49-F238E27FC236}">
                <a16:creationId xmlns:a16="http://schemas.microsoft.com/office/drawing/2014/main" id="{C6C24DAF-A750-4121-B7A7-4FE8BB7A05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274320"/>
            <a:ext cx="11064240" cy="5486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2700"/>
              <a:buFont typeface="Cambria"/>
              <a:buNone/>
            </a:pPr>
            <a:r>
              <a:rPr sz="2700" b="1" i="0" u="none" cap="none">
                <a:solidFill>
                  <a:srgbClr val="1E2761"/>
                </a:solidFill>
                <a:latin typeface="Cambria"/>
                <a:ea typeface="Cambria"/>
                <a:cs typeface="Cambria"/>
              </a:rPr>
              <a:t>Your Turn</a:t>
            </a:r>
            <a:endParaRPr sz="27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03" name="Google Shape;103;p8">
            <a:extLst xmlns:a="http://schemas.openxmlformats.org/drawingml/2006/main">
              <a:ext uri="{FF2B5EF4-FFF2-40B4-BE49-F238E27FC236}">
                <a16:creationId xmlns:a16="http://schemas.microsoft.com/office/drawing/2014/main" id="{407A9B44-DE1B-42AF-8A6E-4F2476312E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841248"/>
            <a:ext cx="11064240" cy="4114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3B4A78"/>
              </a:buClr>
              <a:buSzPts val="1500"/>
              <a:buFont typeface="Calibri"/>
              <a:buNone/>
            </a:pPr>
            <a:r>
              <a:rPr sz="1500" b="0" i="1" u="none" cap="none">
                <a:solidFill>
                  <a:srgbClr val="3B4A78"/>
                </a:solidFill>
                <a:latin typeface="Calibri"/>
                <a:ea typeface="Calibri"/>
                <a:cs typeface="Calibri"/>
              </a:rPr>
              <a:t>Two steps: adjust, then build your own</a:t>
            </a:r>
            <a:endParaRPr sz="15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04" name="Google Shape;104;p8">
            <a:extLst xmlns:a="http://schemas.openxmlformats.org/drawingml/2006/main">
              <a:ext uri="{FF2B5EF4-FFF2-40B4-BE49-F238E27FC236}">
                <a16:creationId xmlns:a16="http://schemas.microsoft.com/office/drawing/2014/main" id="{395D6755-7A13-4868-80DB-010DFD3784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6446520"/>
            <a:ext cx="6400800" cy="2743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8892B0"/>
              </a:buClr>
              <a:buSzPts val="1000"/>
              <a:buFont typeface="Calibri"/>
              <a:buNone/>
            </a:pPr>
            <a:r>
              <a:rPr sz="1000" b="0" i="1" u="none" cap="none">
                <a:solidFill>
                  <a:srgbClr val="8892B0"/>
                </a:solidFill>
                <a:latin typeface="Calibri"/>
                <a:ea typeface="Calibri"/>
                <a:cs typeface="Calibri"/>
              </a:rPr>
              <a:t>Interactivity &amp; State • </a:t>
            </a:r>
            <a:r>
              <a:rPr sz="1000" b="0" i="1" u="none" cap="none">
                <a:solidFill>
                  <a:srgbClr val="8892B0"/>
                </a:solidFill>
                <a:latin typeface="Calibri"/>
                <a:ea typeface="Calibri"/>
                <a:cs typeface="Calibri"/>
              </a:rPr>
              <a:t>Unit B</a:t>
            </a:r>
            <a:r>
              <a:rPr sz="1000" b="0" i="1" u="none" cap="none">
                <a:solidFill>
                  <a:srgbClr val="8892B0"/>
                </a:solidFill>
                <a:latin typeface="Calibri"/>
                <a:ea typeface="Calibri"/>
                <a:cs typeface="Calibri"/>
              </a:rPr>
              <a:t> • B3.1</a:t>
            </a:r>
            <a:endParaRPr sz="10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05" name="Google Shape;105;p8">
            <a:extLst xmlns:a="http://schemas.openxmlformats.org/drawingml/2006/main">
              <a:ext uri="{FF2B5EF4-FFF2-40B4-BE49-F238E27FC236}">
                <a16:creationId xmlns:a16="http://schemas.microsoft.com/office/drawing/2014/main" id="{5C3638EB-F632-42B0-A2F8-E9AC33D569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5455" y="6446520"/>
            <a:ext cx="3657600" cy="2743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r">
              <a:spcBef>
                <a:spcPts val="0"/>
              </a:spcBef>
              <a:spcAft>
                <a:spcPts val="0"/>
              </a:spcAft>
              <a:buClr>
                <a:srgbClr val="8892B0"/>
              </a:buClr>
              <a:buSzPts val="1000"/>
              <a:buFont typeface="Calibri"/>
              <a:buNone/>
            </a:pPr>
            <a:r>
              <a:rPr sz="1000" b="0" i="0" u="none" cap="none">
                <a:solidFill>
                  <a:srgbClr val="8892B0"/>
                </a:solidFill>
                <a:latin typeface="Calibri"/>
                <a:ea typeface="Calibri"/>
                <a:cs typeface="Calibri"/>
              </a:rPr>
              <a:t>Part 1 of 3</a:t>
            </a:r>
            <a:endParaRPr sz="10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06" name="Google Shape;106;p8">
            <a:extLst xmlns:a="http://schemas.openxmlformats.org/drawingml/2006/main">
              <a:ext uri="{FF2B5EF4-FFF2-40B4-BE49-F238E27FC236}">
                <a16:creationId xmlns:a16="http://schemas.microsoft.com/office/drawing/2014/main" id="{27589FCF-3DF8-4C4B-B559-5B4AD40AE3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1600200"/>
            <a:ext cx="5394960" cy="4114800"/>
          </a:xfrm>
          <a:prstGeom xmlns:a="http://schemas.openxmlformats.org/drawingml/2006/main" prst="roundRect">
            <a:avLst>
              <a:gd name="adj" fmla="val 1778"/>
            </a:avLst>
          </a:prstGeom>
          <a:solidFill xmlns:a="http://schemas.openxmlformats.org/drawingml/2006/main">
            <a:srgbClr val="FBF2E3"/>
          </a:solidFill>
          <a:ln xmlns:a="http://schemas.openxmlformats.org/drawingml/2006/main" w="19050" cmpd="sng">
            <a:solidFill>
              <a:srgbClr val="E8A33D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7" name="Google Shape;107;p8">
            <a:extLst xmlns:a="http://schemas.openxmlformats.org/drawingml/2006/main">
              <a:ext uri="{FF2B5EF4-FFF2-40B4-BE49-F238E27FC236}">
                <a16:creationId xmlns:a16="http://schemas.microsoft.com/office/drawing/2014/main" id="{317166FC-DE22-4148-8A13-364EB116E9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1764792"/>
            <a:ext cx="4937760" cy="3200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E8A33D"/>
              </a:buClr>
              <a:buSzPts val="1300"/>
              <a:buFont typeface="Calibri"/>
              <a:buNone/>
            </a:pPr>
            <a:r>
              <a:rPr sz="1300" b="1" i="0" u="none" cap="none">
                <a:solidFill>
                  <a:srgbClr val="E8A33D"/>
                </a:solidFill>
                <a:latin typeface="Calibri"/>
                <a:ea typeface="Calibri"/>
                <a:cs typeface="Calibri"/>
              </a:rPr>
              <a:t>Step 1 — Guided</a:t>
            </a:r>
            <a:endParaRPr sz="13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08" name="Google Shape;108;p8">
            <a:extLst xmlns:a="http://schemas.openxmlformats.org/drawingml/2006/main">
              <a:ext uri="{FF2B5EF4-FFF2-40B4-BE49-F238E27FC236}">
                <a16:creationId xmlns:a16="http://schemas.microsoft.com/office/drawing/2014/main" id="{654850D9-8BD4-4F40-BDB3-0A5760226F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2130552"/>
            <a:ext cx="4937760" cy="34472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1B1F2E"/>
              </a:buClr>
              <a:buSzPts val="1350"/>
              <a:buFont typeface="Calibri"/>
              <a:buNone/>
            </a:pPr>
            <a:r>
              <a:rPr sz="1350" b="0" i="0" u="none" cap="none">
                <a:solidFill>
                  <a:srgbClr val="1B1F2E"/>
                </a:solidFill>
                <a:latin typeface="Calibri"/>
                <a:ea typeface="Calibri"/>
                <a:cs typeface="Calibri"/>
              </a:rPr>
              <a:t>Modify the held/not-held example so SIZE changes while the mouse is pressed, instead of fill.</a:t>
            </a:r>
            <a:endParaRPr sz="135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50"/>
              <a:buFont typeface="Calibri"/>
              <a:buNone/>
            </a:pPr>
            <a:r>
              <a:t/>
            </a:r>
            <a:endParaRPr sz="135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1B1F2E"/>
              </a:buClr>
              <a:buSzPts val="1350"/>
              <a:buFont typeface="Calibri"/>
              <a:buNone/>
            </a:pPr>
            <a:r>
              <a:rPr sz="1350" b="0" i="0" u="none" cap="none">
                <a:solidFill>
                  <a:srgbClr val="1B1F2E"/>
                </a:solidFill>
                <a:latin typeface="Calibri"/>
                <a:ea typeface="Calibri"/>
                <a:cs typeface="Calibri"/>
              </a:rPr>
              <a:t>Keep the fill the same throughout — only size should respond to mousePressed.</a:t>
            </a:r>
            <a:endParaRPr sz="135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09" name="Google Shape;109;p8">
            <a:extLst xmlns:a="http://schemas.openxmlformats.org/drawingml/2006/main">
              <a:ext uri="{FF2B5EF4-FFF2-40B4-BE49-F238E27FC236}">
                <a16:creationId xmlns:a16="http://schemas.microsoft.com/office/drawing/2014/main" id="{E3E1B93B-931F-4ED4-B786-4078823942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3640" y="1600200"/>
            <a:ext cx="5394960" cy="4114800"/>
          </a:xfrm>
          <a:prstGeom xmlns:a="http://schemas.openxmlformats.org/drawingml/2006/main" prst="roundRect">
            <a:avLst>
              <a:gd name="adj" fmla="val 1778"/>
            </a:avLst>
          </a:prstGeom>
          <a:solidFill xmlns:a="http://schemas.openxmlformats.org/drawingml/2006/main">
            <a:srgbClr val="1E2761"/>
          </a:solidFill>
          <a:ln xmlns:a="http://schemas.openxmlformats.org/drawingml/2006/main" w="12700" cmpd="sng">
            <a:solidFill>
              <a:srgbClr val="1E2761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0" name="Google Shape;110;p8">
            <a:extLst xmlns:a="http://schemas.openxmlformats.org/drawingml/2006/main">
              <a:ext uri="{FF2B5EF4-FFF2-40B4-BE49-F238E27FC236}">
                <a16:creationId xmlns:a16="http://schemas.microsoft.com/office/drawing/2014/main" id="{F98F7326-3771-47C0-AB55-6C2E96D69E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2240" y="1764792"/>
            <a:ext cx="4937760" cy="3200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E8A33D"/>
              </a:buClr>
              <a:buSzPts val="1300"/>
              <a:buFont typeface="Calibri"/>
              <a:buNone/>
            </a:pPr>
            <a:r>
              <a:rPr sz="1300" b="1" i="0" u="none" cap="none">
                <a:solidFill>
                  <a:srgbClr val="E8A33D"/>
                </a:solidFill>
                <a:latin typeface="Calibri"/>
                <a:ea typeface="Calibri"/>
                <a:cs typeface="Calibri"/>
              </a:rPr>
              <a:t>Step 2 — Construct It Yourself</a:t>
            </a:r>
            <a:endParaRPr sz="13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11" name="Google Shape;111;p8">
            <a:extLst xmlns:a="http://schemas.openxmlformats.org/drawingml/2006/main">
              <a:ext uri="{FF2B5EF4-FFF2-40B4-BE49-F238E27FC236}">
                <a16:creationId xmlns:a16="http://schemas.microsoft.com/office/drawing/2014/main" id="{63A83C6C-3D2C-4DC1-B7F0-586D558C7D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2240" y="2130552"/>
            <a:ext cx="4937760" cy="34472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50"/>
              <a:buFont typeface="Calibri"/>
              <a:buNone/>
            </a:pPr>
            <a:r>
              <a:rPr sz="1350" b="0" i="0" u="none" cap="none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Build a complete sketch where a shape follows the mouse, AND its appearance changes in some way — your choice of fill or size — for as long as the mouse is held down.</a:t>
            </a:r>
            <a:endParaRPr sz="135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50"/>
              <a:buFont typeface="Calibri"/>
              <a:buNone/>
            </a:pPr>
            <a:r>
              <a:t/>
            </a:r>
            <a:endParaRPr sz="135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50"/>
              <a:buFont typeface="Calibri"/>
              <a:buNone/>
            </a:pPr>
            <a:r>
              <a:rPr sz="1350" b="0" i="0" u="none" cap="none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Remember: background(255) at the top of draw(), or your shape will leave a trail.</a:t>
            </a:r>
            <a:endParaRPr sz="135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12" name="Google Shape;112;p8">
            <a:extLst xmlns:a="http://schemas.openxmlformats.org/drawingml/2006/main">
              <a:ext uri="{FF2B5EF4-FFF2-40B4-BE49-F238E27FC236}">
                <a16:creationId xmlns:a16="http://schemas.microsoft.com/office/drawing/2014/main" id="{FCC43918-ABEA-49DF-9BE2-FE5E79EFCF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6446520"/>
            <a:ext cx="6400800" cy="2743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8892B0"/>
              </a:buClr>
              <a:buSzPts val="1000"/>
              <a:buFont typeface="Calibri"/>
              <a:buNone/>
            </a:pPr>
            <a:r>
              <a:rPr sz="1000" b="0" i="1" u="none" cap="none">
                <a:solidFill>
                  <a:srgbClr val="8892B0"/>
                </a:solidFill>
                <a:latin typeface="Calibri"/>
                <a:ea typeface="Calibri"/>
                <a:cs typeface="Calibri"/>
              </a:rPr>
              <a:t>Interactivity &amp; State • </a:t>
            </a:r>
            <a:r>
              <a:rPr sz="1000" b="0" i="1" u="none" cap="none">
                <a:solidFill>
                  <a:srgbClr val="8892B0"/>
                </a:solidFill>
                <a:latin typeface="Calibri"/>
                <a:ea typeface="Calibri"/>
                <a:cs typeface="Calibri"/>
              </a:rPr>
              <a:t>Unit B</a:t>
            </a:r>
            <a:r>
              <a:rPr sz="1000" b="0" i="1" u="none" cap="none">
                <a:solidFill>
                  <a:srgbClr val="8892B0"/>
                </a:solidFill>
                <a:latin typeface="Calibri"/>
                <a:ea typeface="Calibri"/>
                <a:cs typeface="Calibri"/>
              </a:rPr>
              <a:t> • B3.1</a:t>
            </a:r>
            <a:endParaRPr sz="10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13" name="Google Shape;113;p8">
            <a:extLst xmlns:a="http://schemas.openxmlformats.org/drawingml/2006/main">
              <a:ext uri="{FF2B5EF4-FFF2-40B4-BE49-F238E27FC236}">
                <a16:creationId xmlns:a16="http://schemas.microsoft.com/office/drawing/2014/main" id="{E1F2139A-16B7-443E-86F0-2AA172ABDD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5455" y="6446520"/>
            <a:ext cx="3657600" cy="2743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r">
              <a:spcBef>
                <a:spcPts val="0"/>
              </a:spcBef>
              <a:spcAft>
                <a:spcPts val="0"/>
              </a:spcAft>
              <a:buClr>
                <a:srgbClr val="8892B0"/>
              </a:buClr>
              <a:buSzPts val="1000"/>
              <a:buFont typeface="Calibri"/>
              <a:buNone/>
            </a:pPr>
            <a:r>
              <a:rPr sz="1000" b="0" i="0" u="none" cap="none">
                <a:solidFill>
                  <a:srgbClr val="8892B0"/>
                </a:solidFill>
                <a:latin typeface="Calibri"/>
                <a:ea typeface="Calibri"/>
                <a:cs typeface="Calibri"/>
              </a:rPr>
              <a:t>Part 1 of 3</a:t>
            </a:r>
            <a:endParaRPr sz="10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82027491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9" name="Google Shape;119;p9">
            <a:extLst xmlns:a="http://schemas.openxmlformats.org/drawingml/2006/main">
              <a:ext uri="{FF2B5EF4-FFF2-40B4-BE49-F238E27FC236}">
                <a16:creationId xmlns:a16="http://schemas.microsoft.com/office/drawing/2014/main" id="{C650C772-568A-4704-B237-0AD6200FDF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274320"/>
            <a:ext cx="11064240" cy="5486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2700"/>
              <a:buFont typeface="Cambria"/>
              <a:buNone/>
            </a:pPr>
            <a:r>
              <a:rPr sz="2700" b="1" i="0" u="none" cap="none">
                <a:solidFill>
                  <a:srgbClr val="1E2761"/>
                </a:solidFill>
                <a:latin typeface="Cambria"/>
                <a:ea typeface="Cambria"/>
                <a:cs typeface="Cambria"/>
              </a:rPr>
              <a:t>Recap</a:t>
            </a:r>
            <a:endParaRPr sz="27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20" name="Google Shape;120;p9">
            <a:extLst xmlns:a="http://schemas.openxmlformats.org/drawingml/2006/main">
              <a:ext uri="{FF2B5EF4-FFF2-40B4-BE49-F238E27FC236}">
                <a16:creationId xmlns:a16="http://schemas.microsoft.com/office/drawing/2014/main" id="{4A68C5C6-0D9D-4F3C-A51B-3A62F1F202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841248"/>
            <a:ext cx="11064240" cy="4114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3B4A78"/>
              </a:buClr>
              <a:buSzPts val="1500"/>
              <a:buFont typeface="Calibri"/>
              <a:buNone/>
            </a:pPr>
            <a:r>
              <a:rPr sz="1500" b="0" i="1" u="none" cap="none">
                <a:solidFill>
                  <a:srgbClr val="3B4A78"/>
                </a:solidFill>
                <a:latin typeface="Calibri"/>
                <a:ea typeface="Calibri"/>
                <a:cs typeface="Calibri"/>
              </a:rPr>
              <a:t>What carries forward into Part 2</a:t>
            </a:r>
            <a:endParaRPr sz="15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21" name="Google Shape;121;p9">
            <a:extLst xmlns:a="http://schemas.openxmlformats.org/drawingml/2006/main">
              <a:ext uri="{FF2B5EF4-FFF2-40B4-BE49-F238E27FC236}">
                <a16:creationId xmlns:a16="http://schemas.microsoft.com/office/drawing/2014/main" id="{CA0FB6B3-23A9-4654-9DF1-6487A3B7DE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6446520"/>
            <a:ext cx="6400800" cy="2743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8892B0"/>
              </a:buClr>
              <a:buSzPts val="1000"/>
              <a:buFont typeface="Calibri"/>
              <a:buNone/>
            </a:pPr>
            <a:r>
              <a:rPr sz="1000" b="0" i="1" u="none" cap="none">
                <a:solidFill>
                  <a:srgbClr val="8892B0"/>
                </a:solidFill>
                <a:latin typeface="Calibri"/>
                <a:ea typeface="Calibri"/>
                <a:cs typeface="Calibri"/>
              </a:rPr>
              <a:t>Interactivity &amp; State • </a:t>
            </a:r>
            <a:r>
              <a:rPr sz="1000" b="0" i="1" u="none" cap="none">
                <a:solidFill>
                  <a:srgbClr val="8892B0"/>
                </a:solidFill>
                <a:latin typeface="Calibri"/>
                <a:ea typeface="Calibri"/>
                <a:cs typeface="Calibri"/>
              </a:rPr>
              <a:t>Unit B</a:t>
            </a:r>
            <a:r>
              <a:rPr sz="1000" b="0" i="1" u="none" cap="none">
                <a:solidFill>
                  <a:srgbClr val="8892B0"/>
                </a:solidFill>
                <a:latin typeface="Calibri"/>
                <a:ea typeface="Calibri"/>
                <a:cs typeface="Calibri"/>
              </a:rPr>
              <a:t> • B3.1</a:t>
            </a:r>
            <a:endParaRPr sz="10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22" name="Google Shape;122;p9">
            <a:extLst xmlns:a="http://schemas.openxmlformats.org/drawingml/2006/main">
              <a:ext uri="{FF2B5EF4-FFF2-40B4-BE49-F238E27FC236}">
                <a16:creationId xmlns:a16="http://schemas.microsoft.com/office/drawing/2014/main" id="{67173784-CBF9-44B7-B11E-5B48025788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5455" y="6446520"/>
            <a:ext cx="3657600" cy="2743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r">
              <a:spcBef>
                <a:spcPts val="0"/>
              </a:spcBef>
              <a:spcAft>
                <a:spcPts val="0"/>
              </a:spcAft>
              <a:buClr>
                <a:srgbClr val="8892B0"/>
              </a:buClr>
              <a:buSzPts val="1000"/>
              <a:buFont typeface="Calibri"/>
              <a:buNone/>
            </a:pPr>
            <a:r>
              <a:rPr sz="1000" b="0" i="0" u="none" cap="none">
                <a:solidFill>
                  <a:srgbClr val="8892B0"/>
                </a:solidFill>
                <a:latin typeface="Calibri"/>
                <a:ea typeface="Calibri"/>
                <a:cs typeface="Calibri"/>
              </a:rPr>
              <a:t>Part 1 of 3</a:t>
            </a:r>
            <a:endParaRPr sz="10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23" name="Google Shape;123;p9">
            <a:extLst xmlns:a="http://schemas.openxmlformats.org/drawingml/2006/main">
              <a:ext uri="{FF2B5EF4-FFF2-40B4-BE49-F238E27FC236}">
                <a16:creationId xmlns:a16="http://schemas.microsoft.com/office/drawing/2014/main" id="{04F93584-76DB-4F3C-A793-8722130047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1737360"/>
            <a:ext cx="5394960" cy="2377440"/>
          </a:xfrm>
          <a:prstGeom xmlns:a="http://schemas.openxmlformats.org/drawingml/2006/main" prst="roundRect">
            <a:avLst>
              <a:gd name="adj" fmla="val 3077"/>
            </a:avLst>
          </a:prstGeom>
          <a:solidFill xmlns:a="http://schemas.openxmlformats.org/drawingml/2006/main">
            <a:srgbClr val="1E2761"/>
          </a:solidFill>
          <a:ln xmlns:a="http://schemas.openxmlformats.org/drawingml/2006/main" w="12700" cmpd="sng">
            <a:solidFill>
              <a:srgbClr val="1E2761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4" name="Google Shape;124;p9">
            <a:extLst xmlns:a="http://schemas.openxmlformats.org/drawingml/2006/main">
              <a:ext uri="{FF2B5EF4-FFF2-40B4-BE49-F238E27FC236}">
                <a16:creationId xmlns:a16="http://schemas.microsoft.com/office/drawing/2014/main" id="{C1E3D540-BC37-4B53-8A3A-3EC005D658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1901952"/>
            <a:ext cx="4937760" cy="3200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E8A33D"/>
              </a:buClr>
              <a:buSzPts val="1300"/>
              <a:buFont typeface="Calibri"/>
              <a:buNone/>
            </a:pPr>
            <a:r>
              <a:rPr sz="1300" b="1" i="0" u="none" cap="none">
                <a:solidFill>
                  <a:srgbClr val="E8A33D"/>
                </a:solidFill>
                <a:latin typeface="Calibri"/>
                <a:ea typeface="Calibri"/>
                <a:cs typeface="Calibri"/>
              </a:rPr>
              <a:t>Key idea</a:t>
            </a:r>
            <a:endParaRPr sz="13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25" name="Google Shape;125;p9">
            <a:extLst xmlns:a="http://schemas.openxmlformats.org/drawingml/2006/main">
              <a:ext uri="{FF2B5EF4-FFF2-40B4-BE49-F238E27FC236}">
                <a16:creationId xmlns:a16="http://schemas.microsoft.com/office/drawing/2014/main" id="{1C574A76-EDBE-4585-B0C7-9E9D3BA425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2267712"/>
            <a:ext cx="4937760" cy="170992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50"/>
              <a:buFont typeface="Calibri"/>
              <a:buNone/>
            </a:pPr>
            <a:r>
              <a:rPr sz="1350" b="0" i="0" u="none" cap="none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mouseX/mouseY give you live position for free. mousePressed (variable) and mousePressed() (function) look similar but mean different things — check every frame vs. run once.</a:t>
            </a:r>
            <a:endParaRPr sz="135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26" name="Google Shape;126;p9">
            <a:extLst xmlns:a="http://schemas.openxmlformats.org/drawingml/2006/main">
              <a:ext uri="{FF2B5EF4-FFF2-40B4-BE49-F238E27FC236}">
                <a16:creationId xmlns:a16="http://schemas.microsoft.com/office/drawing/2014/main" id="{B6587EBF-2F62-465F-8151-F4F7F97863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3640" y="1737360"/>
            <a:ext cx="5394960" cy="2377440"/>
          </a:xfrm>
          <a:prstGeom xmlns:a="http://schemas.openxmlformats.org/drawingml/2006/main" prst="roundRect">
            <a:avLst>
              <a:gd name="adj" fmla="val 3077"/>
            </a:avLst>
          </a:prstGeom>
          <a:solidFill xmlns:a="http://schemas.openxmlformats.org/drawingml/2006/main">
            <a:srgbClr val="FBF2E3"/>
          </a:solidFill>
          <a:ln xmlns:a="http://schemas.openxmlformats.org/drawingml/2006/main" w="19050" cmpd="sng">
            <a:solidFill>
              <a:srgbClr val="E8A33D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7" name="Google Shape;127;p9">
            <a:extLst xmlns:a="http://schemas.openxmlformats.org/drawingml/2006/main">
              <a:ext uri="{FF2B5EF4-FFF2-40B4-BE49-F238E27FC236}">
                <a16:creationId xmlns:a16="http://schemas.microsoft.com/office/drawing/2014/main" id="{D1DB9611-B38E-4E57-BADF-9384FC72D2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2240" y="1901952"/>
            <a:ext cx="4937760" cy="3200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E8A33D"/>
              </a:buClr>
              <a:buSzPts val="1300"/>
              <a:buFont typeface="Calibri"/>
              <a:buNone/>
            </a:pPr>
            <a:r>
              <a:rPr sz="1300" b="1" i="0" u="none" cap="none">
                <a:solidFill>
                  <a:srgbClr val="E8A33D"/>
                </a:solidFill>
                <a:latin typeface="Calibri"/>
                <a:ea typeface="Calibri"/>
                <a:cs typeface="Calibri"/>
              </a:rPr>
              <a:t>Next lesson</a:t>
            </a:r>
            <a:endParaRPr sz="13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28" name="Google Shape;128;p9">
            <a:extLst xmlns:a="http://schemas.openxmlformats.org/drawingml/2006/main">
              <a:ext uri="{FF2B5EF4-FFF2-40B4-BE49-F238E27FC236}">
                <a16:creationId xmlns:a16="http://schemas.microsoft.com/office/drawing/2014/main" id="{CDEC078A-DC64-4EC5-8EDB-D1F09063B6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2240" y="2267712"/>
            <a:ext cx="4937760" cy="170992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1B1F2E"/>
              </a:buClr>
              <a:buSzPts val="1350"/>
              <a:buFont typeface="Calibri"/>
              <a:buNone/>
            </a:pPr>
            <a:r>
              <a:rPr sz="1350" b="0" i="0" u="none" cap="none">
                <a:solidFill>
                  <a:srgbClr val="1B1F2E"/>
                </a:solidFill>
                <a:latin typeface="Calibri"/>
                <a:ea typeface="Calibri"/>
                <a:cs typeface="Calibri"/>
              </a:rPr>
              <a:t>Next lesson: the same ideas, but for the keyboard.</a:t>
            </a:r>
            <a:endParaRPr sz="135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29" name="Google Shape;129;p9">
            <a:extLst xmlns:a="http://schemas.openxmlformats.org/drawingml/2006/main">
              <a:ext uri="{FF2B5EF4-FFF2-40B4-BE49-F238E27FC236}">
                <a16:creationId xmlns:a16="http://schemas.microsoft.com/office/drawing/2014/main" id="{B6B8912F-5C18-4F9A-B05D-2238745D89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4434840"/>
            <a:ext cx="11064240" cy="1463040"/>
          </a:xfrm>
          <a:prstGeom xmlns:a="http://schemas.openxmlformats.org/drawingml/2006/main" prst="roundRect">
            <a:avLst>
              <a:gd name="adj" fmla="val 3750"/>
            </a:avLst>
          </a:prstGeom>
          <a:solidFill xmlns:a="http://schemas.openxmlformats.org/drawingml/2006/main">
            <a:srgbClr val="F4F6FB"/>
          </a:solidFill>
          <a:ln xmlns:a="http://schemas.openxmlformats.org/drawingml/2006/main" w="12700" cmpd="sng">
            <a:solidFill>
              <a:srgbClr val="E8ECFB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0" name="Google Shape;130;p9">
            <a:extLst xmlns:a="http://schemas.openxmlformats.org/drawingml/2006/main">
              <a:ext uri="{FF2B5EF4-FFF2-40B4-BE49-F238E27FC236}">
                <a16:creationId xmlns:a16="http://schemas.microsoft.com/office/drawing/2014/main" id="{2C9F3431-6A66-4345-B31A-E97E2B3E4B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4599432"/>
            <a:ext cx="10515600" cy="113385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177800" marR="0" lvl="0" indent="-177800" algn="l">
              <a:spcBef>
                <a:spcPts val="0"/>
              </a:spcBef>
              <a:spcAft>
                <a:spcPts val="0"/>
              </a:spcAft>
              <a:buClr>
                <a:srgbClr val="1B1F2E"/>
              </a:buClr>
              <a:buSzPts val="1300"/>
              <a:buFont typeface="Calibri"/>
              <a:buChar char="•"/>
            </a:pPr>
            <a:r>
              <a:rPr sz="1300" b="0" i="0" u="none" cap="none">
                <a:solidFill>
                  <a:srgbClr val="1B1F2E"/>
                </a:solidFill>
                <a:latin typeface="Calibri"/>
                <a:ea typeface="Calibri"/>
                <a:cs typeface="Calibri"/>
              </a:rPr>
              <a:t>Every Processing lifecycle/event function needs public void in this course's setup.</a:t>
            </a:r>
            <a:endParaRPr sz="13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  <a:p xmlns:a="http://schemas.openxmlformats.org/drawingml/2006/main">
            <a:pPr marL="177800" marR="0" lvl="0" indent="-177800" algn="l">
              <a:spcBef>
                <a:spcPts val="600"/>
              </a:spcBef>
              <a:spcAft>
                <a:spcPts val="0"/>
              </a:spcAft>
              <a:buClr>
                <a:srgbClr val="1B1F2E"/>
              </a:buClr>
              <a:buSzPts val="1300"/>
              <a:buFont typeface="Calibri"/>
              <a:buChar char="•"/>
            </a:pPr>
            <a:r>
              <a:rPr sz="1300" b="0" i="0" u="none" cap="none">
                <a:solidFill>
                  <a:srgbClr val="1B1F2E"/>
                </a:solidFill>
                <a:latin typeface="Calibri"/>
                <a:ea typeface="Calibri"/>
                <a:cs typeface="Calibri"/>
              </a:rPr>
              <a:t>Changing mouseX/mouseY makes the shape follow the mouse; background(255) clears the previous frame so it doesn't leave a trail.</a:t>
            </a:r>
            <a:endParaRPr sz="13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31" name="Google Shape;131;p9">
            <a:extLst xmlns:a="http://schemas.openxmlformats.org/drawingml/2006/main">
              <a:ext uri="{FF2B5EF4-FFF2-40B4-BE49-F238E27FC236}">
                <a16:creationId xmlns:a16="http://schemas.microsoft.com/office/drawing/2014/main" id="{12B62E2C-C925-4AF2-A8FF-272AD4AFCA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6446520"/>
            <a:ext cx="6400800" cy="2743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8892B0"/>
              </a:buClr>
              <a:buSzPts val="1000"/>
              <a:buFont typeface="Calibri"/>
              <a:buNone/>
            </a:pPr>
            <a:r>
              <a:rPr sz="1000" b="0" i="1" u="none" cap="none">
                <a:solidFill>
                  <a:srgbClr val="8892B0"/>
                </a:solidFill>
                <a:latin typeface="Calibri"/>
                <a:ea typeface="Calibri"/>
                <a:cs typeface="Calibri"/>
              </a:rPr>
              <a:t>Interactivity &amp; State • </a:t>
            </a:r>
            <a:r>
              <a:rPr sz="1000" b="0" i="1" u="none" cap="none">
                <a:solidFill>
                  <a:srgbClr val="8892B0"/>
                </a:solidFill>
                <a:latin typeface="Calibri"/>
                <a:ea typeface="Calibri"/>
                <a:cs typeface="Calibri"/>
              </a:rPr>
              <a:t>Unit B</a:t>
            </a:r>
            <a:r>
              <a:rPr sz="1000" b="0" i="1" u="none" cap="none">
                <a:solidFill>
                  <a:srgbClr val="8892B0"/>
                </a:solidFill>
                <a:latin typeface="Calibri"/>
                <a:ea typeface="Calibri"/>
                <a:cs typeface="Calibri"/>
              </a:rPr>
              <a:t> • B3.1</a:t>
            </a:r>
            <a:endParaRPr sz="10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32" name="Google Shape;132;p9">
            <a:extLst xmlns:a="http://schemas.openxmlformats.org/drawingml/2006/main">
              <a:ext uri="{FF2B5EF4-FFF2-40B4-BE49-F238E27FC236}">
                <a16:creationId xmlns:a16="http://schemas.microsoft.com/office/drawing/2014/main" id="{0F1E56BB-D9AF-48E2-8629-DFC086ABD9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5455" y="6446520"/>
            <a:ext cx="3657600" cy="2743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r">
              <a:spcBef>
                <a:spcPts val="0"/>
              </a:spcBef>
              <a:spcAft>
                <a:spcPts val="0"/>
              </a:spcAft>
              <a:buClr>
                <a:srgbClr val="8892B0"/>
              </a:buClr>
              <a:buSzPts val="1000"/>
              <a:buFont typeface="Calibri"/>
              <a:buNone/>
            </a:pPr>
            <a:r>
              <a:rPr sz="1000" b="0" i="0" u="none" cap="none">
                <a:solidFill>
                  <a:srgbClr val="8892B0"/>
                </a:solidFill>
                <a:latin typeface="Calibri"/>
                <a:ea typeface="Calibri"/>
                <a:cs typeface="Calibri"/>
              </a:rPr>
              <a:t>Part 1 of 3</a:t>
            </a:r>
            <a:endParaRPr sz="10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520067233"/>
      </p:ext>
    </p:extLst>
  </p:cSld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2026-08-29T13:20:10.4230000Z</dcterms:created>
  <dcterms:modified xsi:type="dcterms:W3CDTF">2026-08-29T13:20:10.4230000Z</dcterms:modified>
</coreProperties>
</file>