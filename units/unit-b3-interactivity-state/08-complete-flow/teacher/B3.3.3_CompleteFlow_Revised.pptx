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b1b738d79943b7" /><Relationship Type="http://schemas.openxmlformats.org/officeDocument/2006/relationships/extended-properties" Target="/docProps/app.xml" Id="R3a36e08794374785" /><Relationship Type="http://schemas.openxmlformats.org/officeDocument/2006/relationships/officeDocument" Target="/ppt/presentation.xml" Id="Rb96c0501501945b0" /></Relationships>
</file>

<file path=ppt/presentation.xml><?xml version="1.0" encoding="utf-8"?>
<p:presentation xmlns:p="http://schemas.openxmlformats.org/presentationml/2006/main">
  <p:sldMasterIdLst>
    <p:sldMasterId xmlns:r="http://schemas.openxmlformats.org/officeDocument/2006/relationships" id="2147483648" r:id="Rc432239ea7984631"/>
  </p:sldMasterIdLst>
  <p:notesMasterIdLst>
    <p:notesMasterId xmlns:r="http://schemas.openxmlformats.org/officeDocument/2006/relationships" r:id="Rc5498060fff44d46"/>
  </p:notesMasterIdLst>
  <p:sldIdLst>
    <p:sldId xmlns:r="http://schemas.openxmlformats.org/officeDocument/2006/relationships" id="256" r:id="R3b09b44c81e742a3"/>
    <p:sldId xmlns:r="http://schemas.openxmlformats.org/officeDocument/2006/relationships" id="257" r:id="R0311d1ee77924481"/>
    <p:sldId xmlns:r="http://schemas.openxmlformats.org/officeDocument/2006/relationships" id="258" r:id="R88c21f9ee1254958"/>
    <p:sldId xmlns:r="http://schemas.openxmlformats.org/officeDocument/2006/relationships" id="259" r:id="Ra76fda75fe754dfb"/>
    <p:sldId xmlns:r="http://schemas.openxmlformats.org/officeDocument/2006/relationships" id="260" r:id="R82334d444c4f4905"/>
    <p:sldId xmlns:r="http://schemas.openxmlformats.org/officeDocument/2006/relationships" id="261" r:id="R000e28a287bf46cb"/>
    <p:sldId xmlns:r="http://schemas.openxmlformats.org/officeDocument/2006/relationships" id="262" r:id="R42d538e467f34d49"/>
  </p:sldIdLst>
  <p:sldSz cx="1219167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DAF8A312-D057-4C76-9DF9-651C84CF6D1E}">
  <a:tblStyle styleId="{DAF8A312-D057-4C76-9DF9-651C84CF6D1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0754527ac0e7477c" /><Relationship Type="http://schemas.openxmlformats.org/officeDocument/2006/relationships/slideMaster" Target="/ppt/slideMasters/slideMaster1.xml" Id="Rc432239ea7984631" /><Relationship Type="http://schemas.openxmlformats.org/officeDocument/2006/relationships/notesMaster" Target="/ppt/notesMasters/notesMaster1.xml" Id="Rc5498060fff44d46" /><Relationship Type="http://schemas.openxmlformats.org/officeDocument/2006/relationships/presProps" Target="/ppt/presProps.xml" Id="R44858ccab2484c28" /><Relationship Type="http://schemas.openxmlformats.org/officeDocument/2006/relationships/tableStyles" Target="/ppt/tableStyles.xml" Id="Re29f72d0fbdf465b" /><Relationship Type="http://schemas.openxmlformats.org/officeDocument/2006/relationships/slide" Target="/ppt/slides/slide1.xml" Id="R3b09b44c81e742a3" /><Relationship Type="http://schemas.openxmlformats.org/officeDocument/2006/relationships/slide" Target="/ppt/slides/slide2.xml" Id="R0311d1ee77924481" /><Relationship Type="http://schemas.openxmlformats.org/officeDocument/2006/relationships/slide" Target="/ppt/slides/slide3.xml" Id="R88c21f9ee1254958" /><Relationship Type="http://schemas.openxmlformats.org/officeDocument/2006/relationships/slide" Target="/ppt/slides/slide4.xml" Id="Ra76fda75fe754dfb" /><Relationship Type="http://schemas.openxmlformats.org/officeDocument/2006/relationships/slide" Target="/ppt/slides/slide5.xml" Id="R82334d444c4f4905" /><Relationship Type="http://schemas.openxmlformats.org/officeDocument/2006/relationships/slide" Target="/ppt/slides/slide6.xml" Id="R000e28a287bf46cb" /><Relationship Type="http://schemas.openxmlformats.org/officeDocument/2006/relationships/slide" Target="/ppt/slides/slide7.xml" Id="R42d538e467f34d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1d1991b6ce4f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ba447282db4566" /><Relationship Type="http://schemas.openxmlformats.org/officeDocument/2006/relationships/notesMaster" Target="/ppt/notesMasters/notesMaster1.xml" Id="Rbc4ab37b977249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045ca739ea4e9b" /><Relationship Type="http://schemas.openxmlformats.org/officeDocument/2006/relationships/notesMaster" Target="/ppt/notesMasters/notesMaster1.xml" Id="R312512825b0a4c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b0ef881293474e" /><Relationship Type="http://schemas.openxmlformats.org/officeDocument/2006/relationships/notesMaster" Target="/ppt/notesMasters/notesMaster1.xml" Id="R272e063dedf84e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dc8c48caba4b83" /><Relationship Type="http://schemas.openxmlformats.org/officeDocument/2006/relationships/notesMaster" Target="/ppt/notesMasters/notesMaster1.xml" Id="Re3591b10bf4a42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3fc55c27b54269" /><Relationship Type="http://schemas.openxmlformats.org/officeDocument/2006/relationships/notesMaster" Target="/ppt/notesMasters/notesMaster1.xml" Id="R543431978fa04f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469408a4f94e4c" /><Relationship Type="http://schemas.openxmlformats.org/officeDocument/2006/relationships/notesMaster" Target="/ppt/notesMasters/notesMaster1.xml" Id="Rcdbc75ff02f84d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4e8b1e4d534633" /><Relationship Type="http://schemas.openxmlformats.org/officeDocument/2006/relationships/notesMaster" Target="/ppt/notesMasters/notesMaster1.xml" Id="R0700e9b8c6514b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2 minutes. Set the goal: a complete flow is a closed, testable set of scenes and transitions, including a route back to the beginning.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5 minutes. Retrieve the three named scenes and identify which event should leave each 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10 minutes. Trace the complete program. Use named constants, one mutable scene field, one display chain, and event handlers that change only permitted transitions.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 minutes. Explain else-if in the transition handler: after one branch changes scene, later branches must not run during the same event.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 minutes. Trace a full input sequence and record scene before event, event, scene after event, and visible screen.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13 minutes. Students build and test TITLE → PLAY → END → TITLE, including an input that should do nothing in each scene.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3 minutes. Exit check: identify one invariant that makes the flow predictable.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6251c7ac294ee4"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a73ef26c2f4032" /><Relationship Type="http://schemas.openxmlformats.org/officeDocument/2006/relationships/slideLayout" Target="/ppt/slideLayouts/slideLayout1.xml" Id="Ra867ebd36e7b4ce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867ebd36e7b4ce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4ce0e294c64622" /><Relationship Type="http://schemas.openxmlformats.org/officeDocument/2006/relationships/notesSlide" Target="/ppt/notesSlides/notesSlide1.xml" Id="R13d38aa0a97846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5ed2501052f4f29" /><Relationship Type="http://schemas.openxmlformats.org/officeDocument/2006/relationships/notesSlide" Target="/ppt/notesSlides/notesSlide2.xml" Id="R548f839ce0cb4b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d1694012534fe5" /><Relationship Type="http://schemas.openxmlformats.org/officeDocument/2006/relationships/notesSlide" Target="/ppt/notesSlides/notesSlide3.xml" Id="R60bf83f458bd48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ace84fdedf4810" /><Relationship Type="http://schemas.openxmlformats.org/officeDocument/2006/relationships/notesSlide" Target="/ppt/notesSlides/notesSlide4.xml" Id="R268d35d084574f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702ef6f53c4ec6" /><Relationship Type="http://schemas.openxmlformats.org/officeDocument/2006/relationships/notesSlide" Target="/ppt/notesSlides/notesSlide5.xml" Id="Rc2dfe80c36e143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ce5970ea9514282" /><Relationship Type="http://schemas.openxmlformats.org/officeDocument/2006/relationships/notesSlide" Target="/ppt/notesSlides/notesSlide6.xml" Id="R50e9f0eafb8942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4c9d3921e1f4529" /><Relationship Type="http://schemas.openxmlformats.org/officeDocument/2006/relationships/notesSlide" Target="/ppt/notesSlides/notesSlide7.xml" Id="R97e2c47c030f49a3" /></Relationships>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0C32FBBB-B6D7-4325-8625-1F53C9B4222D}"/>
              </a:ext>
            </a:extLst>
          </p:cNvPr>
          <p:cNvSpPr>
            <a:spLocks xmlns:a="http://schemas.openxmlformats.org/drawingml/2006/main" noGrp="1"/>
          </p:cNvSpPr>
          <p:nvPr/>
        </p:nvSpPr>
        <p:spPr>
          <a:xfrm xmlns:a="http://schemas.openxmlformats.org/drawingml/2006/main">
            <a:off x="822960" y="2148840"/>
            <a:ext cx="91440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pPr>
            <a:r>
              <a:rPr sz="1400" b="1" i="0" u="none" cap="none">
                <a:solidFill>
                  <a:srgbClr val="E8A33D"/>
                </a:solidFill>
                <a:latin typeface="Calibri"/>
                <a:ea typeface="Calibri"/>
                <a:cs typeface="Calibri"/>
              </a:rPr>
              <a:t>B3 · INTERACTIVITY &amp; STATE · B3.3 PART 3</a:t>
            </a:r>
            <a:endParaRPr sz="14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184834CD-B619-49E6-8EDF-66787722F5C5}"/>
              </a:ext>
            </a:extLst>
          </p:cNvPr>
          <p:cNvSpPr>
            <a:spLocks xmlns:a="http://schemas.openxmlformats.org/drawingml/2006/main" noGrp="1"/>
          </p:cNvSpPr>
          <p:nvPr/>
        </p:nvSpPr>
        <p:spPr>
          <a:xfrm xmlns:a="http://schemas.openxmlformats.org/drawingml/2006/main">
            <a:off x="822960" y="2514600"/>
            <a:ext cx="1033272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4000"/>
              <a:buFont typeface="Cambria"/>
              <a:buNone/>
            </a:pPr>
            <a:r>
              <a:rPr sz="4000" b="1" i="0" u="none" cap="none">
                <a:solidFill>
                  <a:srgbClr val="FFFFFF"/>
                </a:solidFill>
                <a:latin typeface="Cambria"/>
                <a:ea typeface="Cambria"/>
                <a:cs typeface="Cambria"/>
              </a:rPr>
              <a:t>Building a Complete Flow</a:t>
            </a:r>
            <a:endParaRPr sz="40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05E7192B-E8FB-4FDE-9DBA-D0E759BBEF8E}"/>
              </a:ext>
            </a:extLst>
          </p:cNvPr>
          <p:cNvSpPr>
            <a:spLocks xmlns:a="http://schemas.openxmlformats.org/drawingml/2006/main" noGrp="1"/>
          </p:cNvSpPr>
          <p:nvPr/>
        </p:nvSpPr>
        <p:spPr>
          <a:xfrm xmlns:a="http://schemas.openxmlformats.org/drawingml/2006/main">
            <a:off x="822960" y="3794760"/>
            <a:ext cx="96012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CADCFC"/>
              </a:buClr>
              <a:buSzPts val="1800"/>
              <a:buFont typeface="Calibri"/>
              <a:buNone/>
            </a:pPr>
            <a:r>
              <a:rPr sz="1800" b="0" i="0" u="none" cap="none">
                <a:solidFill>
                  <a:srgbClr val="CADCFC"/>
                </a:solidFill>
                <a:latin typeface="Calibri"/>
                <a:ea typeface="Calibri"/>
                <a:cs typeface="Calibri"/>
              </a:rPr>
              <a:t>Three scenes, transitions in both directions</a:t>
            </a:r>
            <a:endParaRPr sz="1800" b="0" i="0" u="none" cap="none">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CA70F705-7648-4BFE-8F26-4F9C05A38CD0}"/>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23E426C7-7D6A-4CD7-ADB2-9D004E305EF9}"/>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B3.3 · Part 3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3192805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C9DBDD03-491C-4E34-827D-A9D45F7B4E99}"/>
              </a:ext>
            </a:extLst>
          </p:cNvPr>
          <p:cNvSpPr>
            <a:spLocks xmlns:a="http://schemas.openxmlformats.org/drawingml/2006/main" noGrp="1"/>
          </p:cNvSpPr>
          <p:nvPr/>
        </p:nvSpPr>
        <p:spPr>
          <a:xfrm xmlns:a="http://schemas.openxmlformats.org/drawingml/2006/main">
            <a:off x="548640" y="365760"/>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2800"/>
              <a:buFont typeface="Cambria"/>
              <a:buNone/>
            </a:pPr>
            <a:r>
              <a:rPr sz="2800" b="1" i="0" u="none" cap="none">
                <a:solidFill>
                  <a:srgbClr val="1E2761"/>
                </a:solidFill>
                <a:latin typeface="Cambria"/>
                <a:ea typeface="Cambria"/>
                <a:cs typeface="Cambria"/>
              </a:rPr>
              <a:t>Quick Recap: Scenes and Transitions</a:t>
            </a:r>
            <a:endParaRPr sz="28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85C03289-B885-470A-B3B2-ED895572A560}"/>
              </a:ext>
            </a:extLst>
          </p:cNvPr>
          <p:cNvSpPr>
            <a:spLocks xmlns:a="http://schemas.openxmlformats.org/drawingml/2006/main" noGrp="1"/>
          </p:cNvSpPr>
          <p:nvPr/>
        </p:nvSpPr>
        <p:spPr>
          <a:xfrm xmlns:a="http://schemas.openxmlformats.org/drawingml/2006/main">
            <a:off x="548640" y="960120"/>
            <a:ext cx="110642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0" u="none" cap="none">
                <a:solidFill>
                  <a:srgbClr val="3B4A78"/>
                </a:solidFill>
                <a:latin typeface="Calibri"/>
                <a:ea typeface="Calibri"/>
                <a:cs typeface="Calibri"/>
              </a:rPr>
              <a:t>From Parts 1 and 2</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198B297E-233C-46A0-A2AA-25313603BD53}"/>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C63E225C-1C08-47FD-8F55-30C8A4F0670B}"/>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B3.3 · Part 3 of 3</a:t>
            </a:r>
            <a:endParaRPr sz="10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09B319D2-A071-4AF7-95B2-2E96840A99F0}"/>
              </a:ext>
            </a:extLst>
          </p:cNvPr>
          <p:cNvSpPr>
            <a:spLocks xmlns:a="http://schemas.openxmlformats.org/drawingml/2006/main" noGrp="1"/>
          </p:cNvSpPr>
          <p:nvPr/>
        </p:nvSpPr>
        <p:spPr>
          <a:xfrm xmlns:a="http://schemas.openxmlformats.org/drawingml/2006/main">
            <a:off x="548640" y="1691640"/>
            <a:ext cx="5394960" cy="4206240"/>
          </a:xfrm>
          <a:prstGeom xmlns:a="http://schemas.openxmlformats.org/drawingml/2006/main" prst="roundRect">
            <a:avLst>
              <a:gd name="adj" fmla="val 1739"/>
            </a:avLst>
          </a:prstGeom>
          <a:solidFill xmlns:a="http://schemas.openxmlformats.org/drawingml/2006/main">
            <a:srgbClr val="FBF2E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A42E0C06-5A9E-41A5-BDDA-641CB620F419}"/>
              </a:ext>
            </a:extLst>
          </p:cNvPr>
          <p:cNvSpPr>
            <a:spLocks xmlns:a="http://schemas.openxmlformats.org/drawingml/2006/main" noGrp="1"/>
          </p:cNvSpPr>
          <p:nvPr/>
        </p:nvSpPr>
        <p:spPr>
          <a:xfrm xmlns:a="http://schemas.openxmlformats.org/drawingml/2006/main">
            <a:off x="777240" y="185623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300"/>
              <a:buFont typeface="Calibri"/>
              <a:buNone/>
            </a:pPr>
            <a:r>
              <a:rPr sz="1300" b="1" i="0" u="none" cap="none">
                <a:solidFill>
                  <a:srgbClr val="3B4A78"/>
                </a:solidFill>
                <a:latin typeface="Calibri"/>
                <a:ea typeface="Calibri"/>
                <a:cs typeface="Calibri"/>
              </a:rPr>
              <a:t>DISPLAY (PART 1)</a:t>
            </a:r>
            <a:endParaRPr sz="1300" b="0" i="0" u="none" cap="none">
              <a:solidFill>
                <a:schemeClr val="dk1"/>
              </a:solidFill>
              <a:latin typeface="Calibri"/>
              <a:ea typeface="Calibri"/>
              <a:cs typeface="Calibri"/>
            </a:endParaRPr>
          </a:p>
        </p:txBody>
      </p:sp>
      <p:sp>
        <p:nvSpPr>
          <p:cNvPr id="32" name="Google Shape;32;p4">
            <a:extLst xmlns:a="http://schemas.openxmlformats.org/drawingml/2006/main">
              <a:ext uri="{FF2B5EF4-FFF2-40B4-BE49-F238E27FC236}">
                <a16:creationId xmlns:a16="http://schemas.microsoft.com/office/drawing/2014/main" id="{BC7052D7-06DD-49DC-AC3E-2929895BBE06}"/>
              </a:ext>
            </a:extLst>
          </p:cNvPr>
          <p:cNvSpPr>
            <a:spLocks xmlns:a="http://schemas.openxmlformats.org/drawingml/2006/main" noGrp="1"/>
          </p:cNvSpPr>
          <p:nvPr/>
        </p:nvSpPr>
        <p:spPr>
          <a:xfrm xmlns:a="http://schemas.openxmlformats.org/drawingml/2006/main">
            <a:off x="777240" y="2194560"/>
            <a:ext cx="4937760" cy="3520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scene is a named-constant int. draw() checks it with separate if statements, and only one block's shape is active at a time.</a:t>
            </a:r>
            <a:endParaRPr sz="1350" b="0" i="0" u="none" cap="none">
              <a:solidFill>
                <a:schemeClr val="dk1"/>
              </a:solidFill>
              <a:latin typeface="Calibri"/>
              <a:ea typeface="Calibri"/>
              <a:cs typeface="Calibri"/>
            </a:endParaRPr>
          </a:p>
        </p:txBody>
      </p:sp>
      <p:sp>
        <p:nvSpPr>
          <p:cNvPr id="33" name="Google Shape;33;p4">
            <a:extLst xmlns:a="http://schemas.openxmlformats.org/drawingml/2006/main">
              <a:ext uri="{FF2B5EF4-FFF2-40B4-BE49-F238E27FC236}">
                <a16:creationId xmlns:a16="http://schemas.microsoft.com/office/drawing/2014/main" id="{651DC1FD-7A45-49D9-8B0F-D48941B19731}"/>
              </a:ext>
            </a:extLst>
          </p:cNvPr>
          <p:cNvSpPr>
            <a:spLocks xmlns:a="http://schemas.openxmlformats.org/drawingml/2006/main" noGrp="1"/>
          </p:cNvSpPr>
          <p:nvPr/>
        </p:nvSpPr>
        <p:spPr>
          <a:xfrm xmlns:a="http://schemas.openxmlformats.org/drawingml/2006/main">
            <a:off x="6217920" y="1691640"/>
            <a:ext cx="5394960" cy="4206240"/>
          </a:xfrm>
          <a:prstGeom xmlns:a="http://schemas.openxmlformats.org/drawingml/2006/main" prst="roundRect">
            <a:avLst>
              <a:gd name="adj" fmla="val 1739"/>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 name="Google Shape;34;p4">
            <a:extLst xmlns:a="http://schemas.openxmlformats.org/drawingml/2006/main">
              <a:ext uri="{FF2B5EF4-FFF2-40B4-BE49-F238E27FC236}">
                <a16:creationId xmlns:a16="http://schemas.microsoft.com/office/drawing/2014/main" id="{CEE9E7BC-9680-40BF-8DAA-F69761FB6DCC}"/>
              </a:ext>
            </a:extLst>
          </p:cNvPr>
          <p:cNvSpPr>
            <a:spLocks xmlns:a="http://schemas.openxmlformats.org/drawingml/2006/main" noGrp="1"/>
          </p:cNvSpPr>
          <p:nvPr/>
        </p:nvSpPr>
        <p:spPr>
          <a:xfrm xmlns:a="http://schemas.openxmlformats.org/drawingml/2006/main">
            <a:off x="6446520" y="185623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TRANSITIONS (PART 2)</a:t>
            </a:r>
            <a:endParaRPr sz="1300" b="0" i="0" u="none" cap="none">
              <a:solidFill>
                <a:schemeClr val="dk1"/>
              </a:solidFill>
              <a:latin typeface="Calibri"/>
              <a:ea typeface="Calibri"/>
              <a:cs typeface="Calibri"/>
            </a:endParaRPr>
          </a:p>
        </p:txBody>
      </p:sp>
      <p:sp>
        <p:nvSpPr>
          <p:cNvPr id="35" name="Google Shape;35;p4">
            <a:extLst xmlns:a="http://schemas.openxmlformats.org/drawingml/2006/main">
              <a:ext uri="{FF2B5EF4-FFF2-40B4-BE49-F238E27FC236}">
                <a16:creationId xmlns:a16="http://schemas.microsoft.com/office/drawing/2014/main" id="{1D77453A-9BEE-44DD-AB30-E63C24A7A792}"/>
              </a:ext>
            </a:extLst>
          </p:cNvPr>
          <p:cNvSpPr>
            <a:spLocks xmlns:a="http://schemas.openxmlformats.org/drawingml/2006/main" noGrp="1"/>
          </p:cNvSpPr>
          <p:nvPr/>
        </p:nvSpPr>
        <p:spPr>
          <a:xfrm xmlns:a="http://schemas.openxmlformats.org/drawingml/2006/main">
            <a:off x="6446520" y="2194560"/>
            <a:ext cx="4937760" cy="3520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Event handlers like mousePressed() and keyPressed() assign a new value to scene, causing the program to move to a different scene on the next frame.</a:t>
            </a:r>
            <a:endParaRPr sz="135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4848550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Google Shape;41;p5">
            <a:extLst xmlns:a="http://schemas.openxmlformats.org/drawingml/2006/main">
              <a:ext uri="{FF2B5EF4-FFF2-40B4-BE49-F238E27FC236}">
                <a16:creationId xmlns:a16="http://schemas.microsoft.com/office/drawing/2014/main" id="{C0B7EB01-0A5E-40A0-84D5-3526273C0D44}"/>
              </a:ext>
            </a:extLst>
          </p:cNvPr>
          <p:cNvSpPr>
            <a:spLocks xmlns:a="http://schemas.openxmlformats.org/drawingml/2006/main" noGrp="1"/>
          </p:cNvSpPr>
          <p:nvPr/>
        </p:nvSpPr>
        <p:spPr>
          <a:xfrm xmlns:a="http://schemas.openxmlformats.org/drawingml/2006/main">
            <a:off x="548640" y="365760"/>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2800"/>
              <a:buFont typeface="Cambria"/>
              <a:buNone/>
            </a:pPr>
            <a:r>
              <a:rPr sz="2800" b="1" i="0" u="none" cap="none">
                <a:solidFill>
                  <a:srgbClr val="1E2761"/>
                </a:solidFill>
                <a:latin typeface="Cambria"/>
                <a:ea typeface="Cambria"/>
                <a:cs typeface="Cambria"/>
              </a:rPr>
              <a:t>A Complete Three-Scene Flow</a:t>
            </a:r>
            <a:endParaRPr sz="2800" b="0" i="0" u="none" cap="none">
              <a:solidFill>
                <a:schemeClr val="dk1"/>
              </a:solidFill>
              <a:latin typeface="Calibri"/>
              <a:ea typeface="Calibri"/>
              <a:cs typeface="Calibri"/>
            </a:endParaRPr>
          </a:p>
        </p:txBody>
      </p:sp>
      <p:sp>
        <p:nvSpPr>
          <p:cNvPr id="42" name="Google Shape;42;p5">
            <a:extLst xmlns:a="http://schemas.openxmlformats.org/drawingml/2006/main">
              <a:ext uri="{FF2B5EF4-FFF2-40B4-BE49-F238E27FC236}">
                <a16:creationId xmlns:a16="http://schemas.microsoft.com/office/drawing/2014/main" id="{C23F7849-93E9-47CE-A497-4DEFD36CC8BF}"/>
              </a:ext>
            </a:extLst>
          </p:cNvPr>
          <p:cNvSpPr>
            <a:spLocks xmlns:a="http://schemas.openxmlformats.org/drawingml/2006/main" noGrp="1"/>
          </p:cNvSpPr>
          <p:nvPr/>
        </p:nvSpPr>
        <p:spPr>
          <a:xfrm xmlns:a="http://schemas.openxmlformats.org/drawingml/2006/main">
            <a:off x="548640" y="960120"/>
            <a:ext cx="110642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0" u="none" cap="none">
                <a:solidFill>
                  <a:srgbClr val="3B4A78"/>
                </a:solidFill>
                <a:latin typeface="Calibri"/>
                <a:ea typeface="Calibri"/>
                <a:cs typeface="Calibri"/>
              </a:rPr>
              <a:t>Forward through clicks, back to the start with a key press</a:t>
            </a:r>
            <a:endParaRPr sz="1500" b="0" i="0" u="none" cap="none">
              <a:solidFill>
                <a:schemeClr val="dk1"/>
              </a:solidFill>
              <a:latin typeface="Calibri"/>
              <a:ea typeface="Calibri"/>
              <a:cs typeface="Calibri"/>
            </a:endParaRPr>
          </a:p>
        </p:txBody>
      </p:sp>
      <p:sp>
        <p:nvSpPr>
          <p:cNvPr id="43" name="Google Shape;43;p5">
            <a:extLst xmlns:a="http://schemas.openxmlformats.org/drawingml/2006/main">
              <a:ext uri="{FF2B5EF4-FFF2-40B4-BE49-F238E27FC236}">
                <a16:creationId xmlns:a16="http://schemas.microsoft.com/office/drawing/2014/main" id="{E85DC1FB-9C63-446A-A945-D748DE2487FD}"/>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44" name="Google Shape;44;p5">
            <a:extLst xmlns:a="http://schemas.openxmlformats.org/drawingml/2006/main">
              <a:ext uri="{FF2B5EF4-FFF2-40B4-BE49-F238E27FC236}">
                <a16:creationId xmlns:a16="http://schemas.microsoft.com/office/drawing/2014/main" id="{5CA8F375-3930-4633-BFE2-23093F4FD1CE}"/>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B3.3 · Part 3 of 3</a:t>
            </a:r>
            <a:endParaRPr sz="1000" b="0" i="0" u="none" cap="none">
              <a:solidFill>
                <a:schemeClr val="dk1"/>
              </a:solidFill>
              <a:latin typeface="Calibri"/>
              <a:ea typeface="Calibri"/>
              <a:cs typeface="Calibri"/>
            </a:endParaRPr>
          </a:p>
        </p:txBody>
      </p:sp>
      <p:sp>
        <p:nvSpPr>
          <p:cNvPr id="45" name="Google Shape;45;p5">
            <a:extLst xmlns:a="http://schemas.openxmlformats.org/drawingml/2006/main">
              <a:ext uri="{FF2B5EF4-FFF2-40B4-BE49-F238E27FC236}">
                <a16:creationId xmlns:a16="http://schemas.microsoft.com/office/drawing/2014/main" id="{7A141412-396D-4ADF-9C19-BB77557CE51B}"/>
              </a:ext>
            </a:extLst>
          </p:cNvPr>
          <p:cNvSpPr>
            <a:spLocks xmlns:a="http://schemas.openxmlformats.org/drawingml/2006/main" noGrp="1"/>
          </p:cNvSpPr>
          <p:nvPr/>
        </p:nvSpPr>
        <p:spPr>
          <a:xfrm xmlns:a="http://schemas.openxmlformats.org/drawingml/2006/main">
            <a:off x="548640" y="1417320"/>
            <a:ext cx="6675120" cy="5074920"/>
          </a:xfrm>
          <a:prstGeom xmlns:a="http://schemas.openxmlformats.org/drawingml/2006/main" prst="roundRect">
            <a:avLst>
              <a:gd name="adj" fmla="val 1081"/>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6" name="Google Shape;46;p5">
            <a:extLst xmlns:a="http://schemas.openxmlformats.org/drawingml/2006/main">
              <a:ext uri="{FF2B5EF4-FFF2-40B4-BE49-F238E27FC236}">
                <a16:creationId xmlns:a16="http://schemas.microsoft.com/office/drawing/2014/main" id="{B88AD3CE-DC14-4410-BFB0-77BCB9D08EB4}"/>
              </a:ext>
            </a:extLst>
          </p:cNvPr>
          <p:cNvSpPr>
            <a:spLocks xmlns:a="http://schemas.openxmlformats.org/drawingml/2006/main" noGrp="1"/>
          </p:cNvSpPr>
          <p:nvPr/>
        </p:nvSpPr>
        <p:spPr>
          <a:xfrm xmlns:a="http://schemas.openxmlformats.org/drawingml/2006/main">
            <a:off x="822960" y="1618488"/>
            <a:ext cx="6126480" cy="46725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final </a:t>
            </a:r>
            <a:r>
              <a:rPr sz="1000" b="1" i="0" u="none" cap="none">
                <a:solidFill>
                  <a:srgbClr val="8FD0FF"/>
                </a:solidFill>
                <a:latin typeface="Courier New"/>
                <a:ea typeface="Courier New"/>
                <a:cs typeface="Courier New"/>
              </a:rPr>
              <a:t>int</a:t>
            </a:r>
            <a:r>
              <a:rPr sz="1000" b="0" i="0" u="none" cap="none">
                <a:solidFill>
                  <a:srgbClr val="CADCFC"/>
                </a:solidFill>
                <a:latin typeface="Courier New"/>
                <a:ea typeface="Courier New"/>
                <a:cs typeface="Courier New"/>
              </a:rPr>
              <a:t> SCENE_INTRO = 0;</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final </a:t>
            </a:r>
            <a:r>
              <a:rPr sz="1000" b="1" i="0" u="none" cap="none">
                <a:solidFill>
                  <a:srgbClr val="8FD0FF"/>
                </a:solidFill>
                <a:latin typeface="Courier New"/>
                <a:ea typeface="Courier New"/>
                <a:cs typeface="Courier New"/>
              </a:rPr>
              <a:t>int</a:t>
            </a:r>
            <a:r>
              <a:rPr sz="1000" b="0" i="0" u="none" cap="none">
                <a:solidFill>
                  <a:srgbClr val="CADCFC"/>
                </a:solidFill>
                <a:latin typeface="Courier New"/>
                <a:ea typeface="Courier New"/>
                <a:cs typeface="Courier New"/>
              </a:rPr>
              <a:t> SCENE_MAIN   = 1;</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final </a:t>
            </a:r>
            <a:r>
              <a:rPr sz="1000" b="1" i="0" u="none" cap="none">
                <a:solidFill>
                  <a:srgbClr val="8FD0FF"/>
                </a:solidFill>
                <a:latin typeface="Courier New"/>
                <a:ea typeface="Courier New"/>
                <a:cs typeface="Courier New"/>
              </a:rPr>
              <a:t>int</a:t>
            </a:r>
            <a:r>
              <a:rPr sz="1000" b="0" i="0" u="none" cap="none">
                <a:solidFill>
                  <a:srgbClr val="CADCFC"/>
                </a:solidFill>
                <a:latin typeface="Courier New"/>
                <a:ea typeface="Courier New"/>
                <a:cs typeface="Courier New"/>
              </a:rPr>
              <a:t> SCENE_END    = 2;</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8FD0FF"/>
              </a:buClr>
              <a:buSzPts val="1000"/>
              <a:buFont typeface="Courier New"/>
              <a:buNone/>
            </a:pPr>
            <a:r>
              <a:rPr sz="1000" b="1" i="0" u="none" cap="none">
                <a:solidFill>
                  <a:srgbClr val="8FD0FF"/>
                </a:solidFill>
                <a:latin typeface="Courier New"/>
                <a:ea typeface="Courier New"/>
                <a:cs typeface="Courier New"/>
              </a:rPr>
              <a:t>int</a:t>
            </a:r>
            <a:r>
              <a:rPr sz="1000" b="0" i="0" u="none" cap="none">
                <a:solidFill>
                  <a:srgbClr val="CADCFC"/>
                </a:solidFill>
                <a:latin typeface="Courier New"/>
                <a:ea typeface="Courier New"/>
                <a:cs typeface="Courier New"/>
              </a:rPr>
              <a:t> scene = SCENE_INTRO;</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8FD0FF"/>
              </a:buClr>
              <a:buSzPts val="1000"/>
              <a:buFont typeface="Courier New"/>
              <a:buNone/>
            </a:pPr>
            <a:r>
              <a:rPr sz="1000" b="1" i="0" u="none" cap="none">
                <a:solidFill>
                  <a:srgbClr val="8FD0FF"/>
                </a:solidFill>
                <a:latin typeface="Courier New"/>
                <a:ea typeface="Courier New"/>
                <a:cs typeface="Courier New"/>
              </a:rPr>
              <a:t>public</a:t>
            </a:r>
            <a:r>
              <a:rPr sz="1000" b="0" i="0" u="none" cap="none">
                <a:solidFill>
                  <a:srgbClr val="CADCFC"/>
                </a:solidFill>
                <a:latin typeface="Courier New"/>
                <a:ea typeface="Courier New"/>
                <a:cs typeface="Courier New"/>
              </a:rPr>
              <a:t> </a:t>
            </a:r>
            <a:r>
              <a:rPr sz="1000" b="1" i="0" u="none" cap="none">
                <a:solidFill>
                  <a:srgbClr val="8FD0FF"/>
                </a:solidFill>
                <a:latin typeface="Courier New"/>
                <a:ea typeface="Courier New"/>
                <a:cs typeface="Courier New"/>
              </a:rPr>
              <a:t>void</a:t>
            </a:r>
            <a:r>
              <a:rPr sz="1000" b="0" i="0" u="none" cap="none">
                <a:solidFill>
                  <a:srgbClr val="CADCFC"/>
                </a:solidFill>
                <a:latin typeface="Courier New"/>
                <a:ea typeface="Courier New"/>
                <a:cs typeface="Courier New"/>
              </a:rPr>
              <a:t> draw()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background(255);</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a:t>
            </a:r>
            <a:r>
              <a:rPr sz="1000" b="1" i="0" u="none" cap="none">
                <a:solidFill>
                  <a:srgbClr val="8FD0FF"/>
                </a:solidFill>
                <a:latin typeface="Courier New"/>
                <a:ea typeface="Courier New"/>
                <a:cs typeface="Courier New"/>
              </a:rPr>
              <a:t>if</a:t>
            </a:r>
            <a:r>
              <a:rPr sz="1000" b="0" i="0" u="none" cap="none">
                <a:solidFill>
                  <a:srgbClr val="CADCFC"/>
                </a:solidFill>
                <a:latin typeface="Courier New"/>
                <a:ea typeface="Courier New"/>
                <a:cs typeface="Courier New"/>
              </a:rPr>
              <a:t> (scene == SCENE_INTRO) { fill(0);   ellipse(200,200,120,120);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a:t>
            </a:r>
            <a:r>
              <a:rPr sz="1000" b="1" i="0" u="none" cap="none">
                <a:solidFill>
                  <a:srgbClr val="8FD0FF"/>
                </a:solidFill>
                <a:latin typeface="Courier New"/>
                <a:ea typeface="Courier New"/>
                <a:cs typeface="Courier New"/>
              </a:rPr>
              <a:t>if</a:t>
            </a:r>
            <a:r>
              <a:rPr sz="1000" b="0" i="0" u="none" cap="none">
                <a:solidFill>
                  <a:srgbClr val="CADCFC"/>
                </a:solidFill>
                <a:latin typeface="Courier New"/>
                <a:ea typeface="Courier New"/>
                <a:cs typeface="Courier New"/>
              </a:rPr>
              <a:t> (scene == SCENE_MAIN)  { fill(150); rect(100,100,200,200);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a:t>
            </a:r>
            <a:r>
              <a:rPr sz="1000" b="1" i="0" u="none" cap="none">
                <a:solidFill>
                  <a:srgbClr val="8FD0FF"/>
                </a:solidFill>
                <a:latin typeface="Courier New"/>
                <a:ea typeface="Courier New"/>
                <a:cs typeface="Courier New"/>
              </a:rPr>
              <a:t>if</a:t>
            </a:r>
            <a:r>
              <a:rPr sz="1000" b="0" i="0" u="none" cap="none">
                <a:solidFill>
                  <a:srgbClr val="CADCFC"/>
                </a:solidFill>
                <a:latin typeface="Courier New"/>
                <a:ea typeface="Courier New"/>
                <a:cs typeface="Courier New"/>
              </a:rPr>
              <a:t> (scene == SCENE_END)   { fill(200); ellipse(200,200,300,300);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8FD0FF"/>
              </a:buClr>
              <a:buSzPts val="1000"/>
              <a:buFont typeface="Courier New"/>
              <a:buNone/>
            </a:pPr>
            <a:r>
              <a:rPr sz="1000" b="1" i="0" u="none" cap="none">
                <a:solidFill>
                  <a:srgbClr val="8FD0FF"/>
                </a:solidFill>
                <a:latin typeface="Courier New"/>
                <a:ea typeface="Courier New"/>
                <a:cs typeface="Courier New"/>
              </a:rPr>
              <a:t>public</a:t>
            </a:r>
            <a:r>
              <a:rPr sz="1000" b="0" i="0" u="none" cap="none">
                <a:solidFill>
                  <a:srgbClr val="CADCFC"/>
                </a:solidFill>
                <a:latin typeface="Courier New"/>
                <a:ea typeface="Courier New"/>
                <a:cs typeface="Courier New"/>
              </a:rPr>
              <a:t> </a:t>
            </a:r>
            <a:r>
              <a:rPr sz="1000" b="1" i="0" u="none" cap="none">
                <a:solidFill>
                  <a:srgbClr val="8FD0FF"/>
                </a:solidFill>
                <a:latin typeface="Courier New"/>
                <a:ea typeface="Courier New"/>
                <a:cs typeface="Courier New"/>
              </a:rPr>
              <a:t>void</a:t>
            </a:r>
            <a:r>
              <a:rPr sz="1000" b="0" i="0" u="none" cap="none">
                <a:solidFill>
                  <a:srgbClr val="CADCFC"/>
                </a:solidFill>
                <a:latin typeface="Courier New"/>
                <a:ea typeface="Courier New"/>
                <a:cs typeface="Courier New"/>
              </a:rPr>
              <a:t> mousePressed()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a:t>
            </a:r>
            <a:r>
              <a:rPr sz="1000" b="1" i="0" u="none" cap="none">
                <a:solidFill>
                  <a:srgbClr val="8FD0FF"/>
                </a:solidFill>
                <a:latin typeface="Courier New"/>
                <a:ea typeface="Courier New"/>
                <a:cs typeface="Courier New"/>
              </a:rPr>
              <a:t>if</a:t>
            </a:r>
            <a:r>
              <a:rPr sz="1000" b="0" i="0" u="none" cap="none">
                <a:solidFill>
                  <a:srgbClr val="CADCFC"/>
                </a:solidFill>
                <a:latin typeface="Courier New"/>
                <a:ea typeface="Courier New"/>
                <a:cs typeface="Courier New"/>
              </a:rPr>
              <a:t> (scene == SCENE_INTRO)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scene = SCENE_MAIN;</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 </a:t>
            </a:r>
            <a:r>
              <a:rPr sz="1000" b="1" i="0" u="none" cap="none">
                <a:solidFill>
                  <a:srgbClr val="8FD0FF"/>
                </a:solidFill>
                <a:latin typeface="Courier New"/>
                <a:ea typeface="Courier New"/>
                <a:cs typeface="Courier New"/>
              </a:rPr>
              <a:t>else</a:t>
            </a:r>
            <a:r>
              <a:rPr sz="1000" b="0" i="0" u="none" cap="none">
                <a:solidFill>
                  <a:srgbClr val="CADCFC"/>
                </a:solidFill>
                <a:latin typeface="Courier New"/>
                <a:ea typeface="Courier New"/>
                <a:cs typeface="Courier New"/>
              </a:rPr>
              <a:t> </a:t>
            </a:r>
            <a:r>
              <a:rPr sz="1000" b="1" i="0" u="none" cap="none">
                <a:solidFill>
                  <a:srgbClr val="8FD0FF"/>
                </a:solidFill>
                <a:latin typeface="Courier New"/>
                <a:ea typeface="Courier New"/>
                <a:cs typeface="Courier New"/>
              </a:rPr>
              <a:t>if</a:t>
            </a:r>
            <a:r>
              <a:rPr sz="1000" b="0" i="0" u="none" cap="none">
                <a:solidFill>
                  <a:srgbClr val="CADCFC"/>
                </a:solidFill>
                <a:latin typeface="Courier New"/>
                <a:ea typeface="Courier New"/>
                <a:cs typeface="Courier New"/>
              </a:rPr>
              <a:t> (scene == SCENE_MAIN)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scene = SCENE_END;</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8FD0FF"/>
              </a:buClr>
              <a:buSzPts val="1000"/>
              <a:buFont typeface="Courier New"/>
              <a:buNone/>
            </a:pPr>
            <a:r>
              <a:rPr sz="1000" b="1" i="0" u="none" cap="none">
                <a:solidFill>
                  <a:srgbClr val="8FD0FF"/>
                </a:solidFill>
                <a:latin typeface="Courier New"/>
                <a:ea typeface="Courier New"/>
                <a:cs typeface="Courier New"/>
              </a:rPr>
              <a:t>public</a:t>
            </a:r>
            <a:r>
              <a:rPr sz="1000" b="0" i="0" u="none" cap="none">
                <a:solidFill>
                  <a:srgbClr val="CADCFC"/>
                </a:solidFill>
                <a:latin typeface="Courier New"/>
                <a:ea typeface="Courier New"/>
                <a:cs typeface="Courier New"/>
              </a:rPr>
              <a:t> </a:t>
            </a:r>
            <a:r>
              <a:rPr sz="1000" b="1" i="0" u="none" cap="none">
                <a:solidFill>
                  <a:srgbClr val="8FD0FF"/>
                </a:solidFill>
                <a:latin typeface="Courier New"/>
                <a:ea typeface="Courier New"/>
                <a:cs typeface="Courier New"/>
              </a:rPr>
              <a:t>void</a:t>
            </a:r>
            <a:r>
              <a:rPr sz="1000" b="0" i="0" u="none" cap="none">
                <a:solidFill>
                  <a:srgbClr val="CADCFC"/>
                </a:solidFill>
                <a:latin typeface="Courier New"/>
                <a:ea typeface="Courier New"/>
                <a:cs typeface="Courier New"/>
              </a:rPr>
              <a:t> keyPressed()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a:t>
            </a:r>
            <a:r>
              <a:rPr sz="1000" b="1" i="0" u="none" cap="none">
                <a:solidFill>
                  <a:srgbClr val="8FD0FF"/>
                </a:solidFill>
                <a:latin typeface="Courier New"/>
                <a:ea typeface="Courier New"/>
                <a:cs typeface="Courier New"/>
              </a:rPr>
              <a:t>if</a:t>
            </a:r>
            <a:r>
              <a:rPr sz="1000" b="0" i="0" u="none" cap="none">
                <a:solidFill>
                  <a:srgbClr val="CADCFC"/>
                </a:solidFill>
                <a:latin typeface="Courier New"/>
                <a:ea typeface="Courier New"/>
                <a:cs typeface="Courier New"/>
              </a:rPr>
              <a:t> (scene == SCENE_END)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scene = SCENE_INTRO;</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  }</a:t>
            </a:r>
            <a:endParaRPr sz="1000" b="0" i="0" u="none" cap="none">
              <a:solidFill>
                <a:schemeClr val="dk1"/>
              </a:solidFill>
              <a:latin typeface="Calibri"/>
              <a:ea typeface="Calibri"/>
              <a:cs typeface="Calibri"/>
            </a:endParaRPr>
          </a:p>
          <a:p xmlns:a="http://schemas.openxmlformats.org/drawingml/2006/main">
            <a:pPr marL="0" marR="0" lvl="0" indent="0" algn="l">
              <a:lnSpc>
                <a:spcPct val="105000"/>
              </a:lnSpc>
              <a:spcBef>
                <a:spcPts val="0"/>
              </a:spcBef>
              <a:spcAft>
                <a:spcPts val="0"/>
              </a:spcAft>
              <a:buClr>
                <a:srgbClr val="CADCFC"/>
              </a:buClr>
              <a:buSzPts val="1000"/>
              <a:buFont typeface="Courier New"/>
              <a:buNone/>
            </a:pPr>
            <a:r>
              <a:rPr sz="1000" b="0" i="0" u="none" cap="none">
                <a:solidFill>
                  <a:srgbClr val="CADCFC"/>
                </a:solidFill>
                <a:latin typeface="Courier New"/>
                <a:ea typeface="Courier New"/>
                <a:cs typeface="Courier New"/>
              </a:rPr>
              <a:t>}</a:t>
            </a:r>
            <a:endParaRPr sz="1000" b="0" i="0" u="none" cap="none">
              <a:solidFill>
                <a:schemeClr val="dk1"/>
              </a:solidFill>
              <a:latin typeface="Calibri"/>
              <a:ea typeface="Calibri"/>
              <a:cs typeface="Calibri"/>
            </a:endParaRPr>
          </a:p>
        </p:txBody>
      </p:sp>
      <p:sp>
        <p:nvSpPr>
          <p:cNvPr id="47" name="Google Shape;47;p5">
            <a:extLst xmlns:a="http://schemas.openxmlformats.org/drawingml/2006/main">
              <a:ext uri="{FF2B5EF4-FFF2-40B4-BE49-F238E27FC236}">
                <a16:creationId xmlns:a16="http://schemas.microsoft.com/office/drawing/2014/main" id="{1EEAFDCB-B4C8-4745-A39B-9D307345C24D}"/>
              </a:ext>
            </a:extLst>
          </p:cNvPr>
          <p:cNvSpPr>
            <a:spLocks xmlns:a="http://schemas.openxmlformats.org/drawingml/2006/main" noGrp="1"/>
          </p:cNvSpPr>
          <p:nvPr/>
        </p:nvSpPr>
        <p:spPr>
          <a:xfrm xmlns:a="http://schemas.openxmlformats.org/drawingml/2006/main">
            <a:off x="7452360" y="1417320"/>
            <a:ext cx="1082040" cy="5074920"/>
          </a:xfrm>
          <a:prstGeom xmlns:a="http://schemas.openxmlformats.org/drawingml/2006/main" prst="roundRect">
            <a:avLst>
              <a:gd name="adj" fmla="val 5070"/>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 name="Google Shape;48;p5">
            <a:extLst xmlns:a="http://schemas.openxmlformats.org/drawingml/2006/main">
              <a:ext uri="{FF2B5EF4-FFF2-40B4-BE49-F238E27FC236}">
                <a16:creationId xmlns:a16="http://schemas.microsoft.com/office/drawing/2014/main" id="{FF3B4ABF-76A7-42F6-B2A2-FC2A09A589FD}"/>
              </a:ext>
            </a:extLst>
          </p:cNvPr>
          <p:cNvSpPr>
            <a:spLocks xmlns:a="http://schemas.openxmlformats.org/drawingml/2006/main" noGrp="1"/>
          </p:cNvSpPr>
          <p:nvPr/>
        </p:nvSpPr>
        <p:spPr>
          <a:xfrm xmlns:a="http://schemas.openxmlformats.org/drawingml/2006/main">
            <a:off x="7543800" y="1527048"/>
            <a:ext cx="8991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1E2761"/>
              </a:buClr>
              <a:buSzPts val="1400"/>
              <a:buFont typeface="Calibri"/>
              <a:buNone/>
            </a:pPr>
            <a:r>
              <a:rPr sz="1400" b="1" i="0" u="none" cap="none">
                <a:solidFill>
                  <a:srgbClr val="1E2761"/>
                </a:solidFill>
                <a:latin typeface="Calibri"/>
                <a:ea typeface="Calibri"/>
                <a:cs typeface="Calibri"/>
              </a:rPr>
              <a:t>INTRO</a:t>
            </a:r>
            <a:endParaRPr sz="1400" b="0" i="0" u="none" cap="none">
              <a:solidFill>
                <a:schemeClr val="dk1"/>
              </a:solidFill>
              <a:latin typeface="Calibri"/>
              <a:ea typeface="Calibri"/>
              <a:cs typeface="Calibri"/>
            </a:endParaRPr>
          </a:p>
        </p:txBody>
      </p:sp>
      <p:sp>
        <p:nvSpPr>
          <p:cNvPr id="49" name="Google Shape;49;p5">
            <a:extLst xmlns:a="http://schemas.openxmlformats.org/drawingml/2006/main">
              <a:ext uri="{FF2B5EF4-FFF2-40B4-BE49-F238E27FC236}">
                <a16:creationId xmlns:a16="http://schemas.microsoft.com/office/drawing/2014/main" id="{FFC10E76-B069-463F-A41E-178EB852E8F8}"/>
              </a:ext>
            </a:extLst>
          </p:cNvPr>
          <p:cNvSpPr>
            <a:spLocks xmlns:a="http://schemas.openxmlformats.org/drawingml/2006/main" noGrp="1"/>
          </p:cNvSpPr>
          <p:nvPr/>
        </p:nvSpPr>
        <p:spPr>
          <a:xfrm xmlns:a="http://schemas.openxmlformats.org/drawingml/2006/main">
            <a:off x="7543800" y="1892808"/>
            <a:ext cx="899160" cy="448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alibri"/>
              <a:buNone/>
            </a:pPr>
            <a:r>
              <a:rPr sz="1100" b="0" i="0" u="none" cap="none">
                <a:solidFill>
                  <a:srgbClr val="3B4A78"/>
                </a:solidFill>
                <a:latin typeface="Calibri"/>
                <a:ea typeface="Calibri"/>
                <a:cs typeface="Calibri"/>
              </a:rPr>
              <a:t>click →</a:t>
            </a:r>
            <a:endParaRPr sz="1100" b="0" i="0" u="none" cap="none">
              <a:solidFill>
                <a:schemeClr val="dk1"/>
              </a:solidFill>
              <a:latin typeface="Calibri"/>
              <a:ea typeface="Calibri"/>
              <a:cs typeface="Calibri"/>
            </a:endParaRPr>
          </a:p>
        </p:txBody>
      </p:sp>
      <p:sp>
        <p:nvSpPr>
          <p:cNvPr id="50" name="Google Shape;50;p5">
            <a:extLst xmlns:a="http://schemas.openxmlformats.org/drawingml/2006/main">
              <a:ext uri="{FF2B5EF4-FFF2-40B4-BE49-F238E27FC236}">
                <a16:creationId xmlns:a16="http://schemas.microsoft.com/office/drawing/2014/main" id="{ACE82DE1-9EFA-4AD4-A140-9A62FC279370}"/>
              </a:ext>
            </a:extLst>
          </p:cNvPr>
          <p:cNvSpPr>
            <a:spLocks xmlns:a="http://schemas.openxmlformats.org/drawingml/2006/main" noGrp="1"/>
          </p:cNvSpPr>
          <p:nvPr/>
        </p:nvSpPr>
        <p:spPr>
          <a:xfrm xmlns:a="http://schemas.openxmlformats.org/drawingml/2006/main">
            <a:off x="8534400" y="3771900"/>
            <a:ext cx="4572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8892B0"/>
              </a:buClr>
              <a:buSzPts val="2000"/>
              <a:buFont typeface="Calibri"/>
              <a:buNone/>
            </a:pPr>
            <a:r>
              <a:rPr sz="2000" b="0" i="0" u="none" cap="none">
                <a:solidFill>
                  <a:srgbClr val="8892B0"/>
                </a:solidFill>
                <a:latin typeface="Calibri"/>
                <a:ea typeface="Calibri"/>
                <a:cs typeface="Calibri"/>
              </a:rPr>
              <a:t>→</a:t>
            </a:r>
            <a:endParaRPr sz="2000" b="0" i="0" u="none" cap="none">
              <a:solidFill>
                <a:schemeClr val="dk1"/>
              </a:solidFill>
              <a:latin typeface="Calibri"/>
              <a:ea typeface="Calibri"/>
              <a:cs typeface="Calibri"/>
            </a:endParaRPr>
          </a:p>
        </p:txBody>
      </p:sp>
      <p:sp>
        <p:nvSpPr>
          <p:cNvPr id="51" name="Google Shape;51;p5">
            <a:extLst xmlns:a="http://schemas.openxmlformats.org/drawingml/2006/main">
              <a:ext uri="{FF2B5EF4-FFF2-40B4-BE49-F238E27FC236}">
                <a16:creationId xmlns:a16="http://schemas.microsoft.com/office/drawing/2014/main" id="{8E67907B-C922-4856-9219-D9ECA3C4170A}"/>
              </a:ext>
            </a:extLst>
          </p:cNvPr>
          <p:cNvSpPr>
            <a:spLocks xmlns:a="http://schemas.openxmlformats.org/drawingml/2006/main" noGrp="1"/>
          </p:cNvSpPr>
          <p:nvPr/>
        </p:nvSpPr>
        <p:spPr>
          <a:xfrm xmlns:a="http://schemas.openxmlformats.org/drawingml/2006/main">
            <a:off x="8991600" y="1417320"/>
            <a:ext cx="1082040" cy="5074920"/>
          </a:xfrm>
          <a:prstGeom xmlns:a="http://schemas.openxmlformats.org/drawingml/2006/main" prst="roundRect">
            <a:avLst>
              <a:gd name="adj" fmla="val 5070"/>
            </a:avLst>
          </a:prstGeom>
          <a:solidFill xmlns:a="http://schemas.openxmlformats.org/drawingml/2006/main">
            <a:srgbClr val="1E2761"/>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2" name="Google Shape;52;p5">
            <a:extLst xmlns:a="http://schemas.openxmlformats.org/drawingml/2006/main">
              <a:ext uri="{FF2B5EF4-FFF2-40B4-BE49-F238E27FC236}">
                <a16:creationId xmlns:a16="http://schemas.microsoft.com/office/drawing/2014/main" id="{FD25F783-3634-4ACE-9FC3-BB8EEFEFC4DF}"/>
              </a:ext>
            </a:extLst>
          </p:cNvPr>
          <p:cNvSpPr>
            <a:spLocks xmlns:a="http://schemas.openxmlformats.org/drawingml/2006/main" noGrp="1"/>
          </p:cNvSpPr>
          <p:nvPr/>
        </p:nvSpPr>
        <p:spPr>
          <a:xfrm xmlns:a="http://schemas.openxmlformats.org/drawingml/2006/main">
            <a:off x="9083040" y="1527048"/>
            <a:ext cx="8991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MAIN</a:t>
            </a:r>
            <a:endParaRPr sz="1400" b="0" i="0" u="none" cap="none">
              <a:solidFill>
                <a:schemeClr val="dk1"/>
              </a:solidFill>
              <a:latin typeface="Calibri"/>
              <a:ea typeface="Calibri"/>
              <a:cs typeface="Calibri"/>
            </a:endParaRPr>
          </a:p>
        </p:txBody>
      </p:sp>
      <p:sp>
        <p:nvSpPr>
          <p:cNvPr id="53" name="Google Shape;53;p5">
            <a:extLst xmlns:a="http://schemas.openxmlformats.org/drawingml/2006/main">
              <a:ext uri="{FF2B5EF4-FFF2-40B4-BE49-F238E27FC236}">
                <a16:creationId xmlns:a16="http://schemas.microsoft.com/office/drawing/2014/main" id="{4DF195D2-7BEF-40AF-B83E-A7F5554FC589}"/>
              </a:ext>
            </a:extLst>
          </p:cNvPr>
          <p:cNvSpPr>
            <a:spLocks xmlns:a="http://schemas.openxmlformats.org/drawingml/2006/main" noGrp="1"/>
          </p:cNvSpPr>
          <p:nvPr/>
        </p:nvSpPr>
        <p:spPr>
          <a:xfrm xmlns:a="http://schemas.openxmlformats.org/drawingml/2006/main">
            <a:off x="9083040" y="1892808"/>
            <a:ext cx="899160" cy="448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CADCFC"/>
              </a:buClr>
              <a:buSzPts val="1100"/>
              <a:buFont typeface="Calibri"/>
              <a:buNone/>
            </a:pPr>
            <a:r>
              <a:rPr sz="1100" b="0" i="0" u="none" cap="none">
                <a:solidFill>
                  <a:srgbClr val="CADCFC"/>
                </a:solidFill>
                <a:latin typeface="Calibri"/>
                <a:ea typeface="Calibri"/>
                <a:cs typeface="Calibri"/>
              </a:rPr>
              <a:t>click →</a:t>
            </a:r>
            <a:endParaRPr sz="1100" b="0" i="0" u="none" cap="none">
              <a:solidFill>
                <a:schemeClr val="dk1"/>
              </a:solidFill>
              <a:latin typeface="Calibri"/>
              <a:ea typeface="Calibri"/>
              <a:cs typeface="Calibri"/>
            </a:endParaRPr>
          </a:p>
        </p:txBody>
      </p:sp>
      <p:sp>
        <p:nvSpPr>
          <p:cNvPr id="54" name="Google Shape;54;p5">
            <a:extLst xmlns:a="http://schemas.openxmlformats.org/drawingml/2006/main">
              <a:ext uri="{FF2B5EF4-FFF2-40B4-BE49-F238E27FC236}">
                <a16:creationId xmlns:a16="http://schemas.microsoft.com/office/drawing/2014/main" id="{B003C776-8446-410C-AC63-5CAAEC24CC6D}"/>
              </a:ext>
            </a:extLst>
          </p:cNvPr>
          <p:cNvSpPr>
            <a:spLocks xmlns:a="http://schemas.openxmlformats.org/drawingml/2006/main" noGrp="1"/>
          </p:cNvSpPr>
          <p:nvPr/>
        </p:nvSpPr>
        <p:spPr>
          <a:xfrm xmlns:a="http://schemas.openxmlformats.org/drawingml/2006/main">
            <a:off x="10073640" y="3771900"/>
            <a:ext cx="4572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8892B0"/>
              </a:buClr>
              <a:buSzPts val="2000"/>
              <a:buFont typeface="Calibri"/>
              <a:buNone/>
            </a:pPr>
            <a:r>
              <a:rPr sz="2000" b="0" i="0" u="none" cap="none">
                <a:solidFill>
                  <a:srgbClr val="8892B0"/>
                </a:solidFill>
                <a:latin typeface="Calibri"/>
                <a:ea typeface="Calibri"/>
                <a:cs typeface="Calibri"/>
              </a:rPr>
              <a:t>→</a:t>
            </a:r>
            <a:endParaRPr sz="2000" b="0" i="0" u="none" cap="none">
              <a:solidFill>
                <a:schemeClr val="dk1"/>
              </a:solidFill>
              <a:latin typeface="Calibri"/>
              <a:ea typeface="Calibri"/>
              <a:cs typeface="Calibri"/>
            </a:endParaRPr>
          </a:p>
        </p:txBody>
      </p:sp>
      <p:sp>
        <p:nvSpPr>
          <p:cNvPr id="55" name="Google Shape;55;p5">
            <a:extLst xmlns:a="http://schemas.openxmlformats.org/drawingml/2006/main">
              <a:ext uri="{FF2B5EF4-FFF2-40B4-BE49-F238E27FC236}">
                <a16:creationId xmlns:a16="http://schemas.microsoft.com/office/drawing/2014/main" id="{18DA0A12-FC57-46BA-94BA-2937E6FCD5DE}"/>
              </a:ext>
            </a:extLst>
          </p:cNvPr>
          <p:cNvSpPr>
            <a:spLocks xmlns:a="http://schemas.openxmlformats.org/drawingml/2006/main" noGrp="1"/>
          </p:cNvSpPr>
          <p:nvPr/>
        </p:nvSpPr>
        <p:spPr>
          <a:xfrm xmlns:a="http://schemas.openxmlformats.org/drawingml/2006/main">
            <a:off x="10530840" y="1417320"/>
            <a:ext cx="1082040" cy="5074920"/>
          </a:xfrm>
          <a:prstGeom xmlns:a="http://schemas.openxmlformats.org/drawingml/2006/main" prst="roundRect">
            <a:avLst>
              <a:gd name="adj" fmla="val 5070"/>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6" name="Google Shape;56;p5">
            <a:extLst xmlns:a="http://schemas.openxmlformats.org/drawingml/2006/main">
              <a:ext uri="{FF2B5EF4-FFF2-40B4-BE49-F238E27FC236}">
                <a16:creationId xmlns:a16="http://schemas.microsoft.com/office/drawing/2014/main" id="{E75753A7-CDC9-4CC3-BD47-0C9FFF87F501}"/>
              </a:ext>
            </a:extLst>
          </p:cNvPr>
          <p:cNvSpPr>
            <a:spLocks xmlns:a="http://schemas.openxmlformats.org/drawingml/2006/main" noGrp="1"/>
          </p:cNvSpPr>
          <p:nvPr/>
        </p:nvSpPr>
        <p:spPr>
          <a:xfrm xmlns:a="http://schemas.openxmlformats.org/drawingml/2006/main">
            <a:off x="10622280" y="1527048"/>
            <a:ext cx="8991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1E2761"/>
              </a:buClr>
              <a:buSzPts val="1400"/>
              <a:buFont typeface="Calibri"/>
              <a:buNone/>
            </a:pPr>
            <a:r>
              <a:rPr sz="1400" b="1" i="0" u="none" cap="none">
                <a:solidFill>
                  <a:srgbClr val="1E2761"/>
                </a:solidFill>
                <a:latin typeface="Calibri"/>
                <a:ea typeface="Calibri"/>
                <a:cs typeface="Calibri"/>
              </a:rPr>
              <a:t>END</a:t>
            </a:r>
            <a:endParaRPr sz="1400" b="0" i="0" u="none" cap="none">
              <a:solidFill>
                <a:schemeClr val="dk1"/>
              </a:solidFill>
              <a:latin typeface="Calibri"/>
              <a:ea typeface="Calibri"/>
              <a:cs typeface="Calibri"/>
            </a:endParaRPr>
          </a:p>
        </p:txBody>
      </p:sp>
      <p:sp>
        <p:nvSpPr>
          <p:cNvPr id="57" name="Google Shape;57;p5">
            <a:extLst xmlns:a="http://schemas.openxmlformats.org/drawingml/2006/main">
              <a:ext uri="{FF2B5EF4-FFF2-40B4-BE49-F238E27FC236}">
                <a16:creationId xmlns:a16="http://schemas.microsoft.com/office/drawing/2014/main" id="{AA0BE4D6-1373-4D61-994E-062F31957FF4}"/>
              </a:ext>
            </a:extLst>
          </p:cNvPr>
          <p:cNvSpPr>
            <a:spLocks xmlns:a="http://schemas.openxmlformats.org/drawingml/2006/main" noGrp="1"/>
          </p:cNvSpPr>
          <p:nvPr/>
        </p:nvSpPr>
        <p:spPr>
          <a:xfrm xmlns:a="http://schemas.openxmlformats.org/drawingml/2006/main">
            <a:off x="10622280" y="1892808"/>
            <a:ext cx="899160" cy="448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alibri"/>
              <a:buNone/>
            </a:pPr>
            <a:r>
              <a:rPr sz="1100" b="0" i="0" u="none" cap="none">
                <a:solidFill>
                  <a:srgbClr val="3B4A78"/>
                </a:solidFill>
                <a:latin typeface="Calibri"/>
                <a:ea typeface="Calibri"/>
                <a:cs typeface="Calibri"/>
              </a:rPr>
              <a:t>key → back</a:t>
            </a:r>
            <a:endParaRPr sz="11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757633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Google Shape;63;p6">
            <a:extLst xmlns:a="http://schemas.openxmlformats.org/drawingml/2006/main">
              <a:ext uri="{FF2B5EF4-FFF2-40B4-BE49-F238E27FC236}">
                <a16:creationId xmlns:a16="http://schemas.microsoft.com/office/drawing/2014/main" id="{5D874349-5EEC-45D5-AB06-1C604FE264FB}"/>
              </a:ext>
            </a:extLst>
          </p:cNvPr>
          <p:cNvSpPr>
            <a:spLocks xmlns:a="http://schemas.openxmlformats.org/drawingml/2006/main" noGrp="1"/>
          </p:cNvSpPr>
          <p:nvPr/>
        </p:nvSpPr>
        <p:spPr>
          <a:xfrm xmlns:a="http://schemas.openxmlformats.org/drawingml/2006/main">
            <a:off x="548640" y="365760"/>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2800"/>
              <a:buFont typeface="Cambria"/>
              <a:buNone/>
            </a:pPr>
            <a:r>
              <a:rPr sz="2800" b="1" i="0" u="none" cap="none">
                <a:solidFill>
                  <a:srgbClr val="1E2761"/>
                </a:solidFill>
                <a:latin typeface="Cambria"/>
                <a:ea typeface="Cambria"/>
                <a:cs typeface="Cambria"/>
              </a:rPr>
              <a:t>Why else if for Transitions?</a:t>
            </a:r>
            <a:endParaRPr sz="2800" b="0" i="0" u="none" cap="none">
              <a:solidFill>
                <a:schemeClr val="dk1"/>
              </a:solidFill>
              <a:latin typeface="Calibri"/>
              <a:ea typeface="Calibri"/>
              <a:cs typeface="Calibri"/>
            </a:endParaRPr>
          </a:p>
        </p:txBody>
      </p:sp>
      <p:sp>
        <p:nvSpPr>
          <p:cNvPr id="64" name="Google Shape;64;p6">
            <a:extLst xmlns:a="http://schemas.openxmlformats.org/drawingml/2006/main">
              <a:ext uri="{FF2B5EF4-FFF2-40B4-BE49-F238E27FC236}">
                <a16:creationId xmlns:a16="http://schemas.microsoft.com/office/drawing/2014/main" id="{6AE78722-B24F-4344-B422-C713D283E2AF}"/>
              </a:ext>
            </a:extLst>
          </p:cNvPr>
          <p:cNvSpPr>
            <a:spLocks xmlns:a="http://schemas.openxmlformats.org/drawingml/2006/main" noGrp="1"/>
          </p:cNvSpPr>
          <p:nvPr/>
        </p:nvSpPr>
        <p:spPr>
          <a:xfrm xmlns:a="http://schemas.openxmlformats.org/drawingml/2006/main">
            <a:off x="548640" y="960120"/>
            <a:ext cx="110642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0" u="none" cap="none">
                <a:solidFill>
                  <a:srgbClr val="3B4A78"/>
                </a:solidFill>
                <a:latin typeface="Calibri"/>
                <a:ea typeface="Calibri"/>
                <a:cs typeface="Calibri"/>
              </a:rPr>
              <a:t>Display logic and transition logic need different treatment</a:t>
            </a:r>
            <a:endParaRPr sz="1500" b="0" i="0" u="none" cap="none">
              <a:solidFill>
                <a:schemeClr val="dk1"/>
              </a:solidFill>
              <a:latin typeface="Calibri"/>
              <a:ea typeface="Calibri"/>
              <a:cs typeface="Calibri"/>
            </a:endParaRPr>
          </a:p>
        </p:txBody>
      </p:sp>
      <p:sp>
        <p:nvSpPr>
          <p:cNvPr id="65" name="Google Shape;65;p6">
            <a:extLst xmlns:a="http://schemas.openxmlformats.org/drawingml/2006/main">
              <a:ext uri="{FF2B5EF4-FFF2-40B4-BE49-F238E27FC236}">
                <a16:creationId xmlns:a16="http://schemas.microsoft.com/office/drawing/2014/main" id="{378BC797-A099-4AA5-923D-C8A52D74D027}"/>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66" name="Google Shape;66;p6">
            <a:extLst xmlns:a="http://schemas.openxmlformats.org/drawingml/2006/main">
              <a:ext uri="{FF2B5EF4-FFF2-40B4-BE49-F238E27FC236}">
                <a16:creationId xmlns:a16="http://schemas.microsoft.com/office/drawing/2014/main" id="{D017AF8E-A927-4968-AB77-D6ED92F49848}"/>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B3.3 · Part 3 of 3</a:t>
            </a:r>
            <a:endParaRPr sz="1000" b="0" i="0" u="none" cap="none">
              <a:solidFill>
                <a:schemeClr val="dk1"/>
              </a:solidFill>
              <a:latin typeface="Calibri"/>
              <a:ea typeface="Calibri"/>
              <a:cs typeface="Calibri"/>
            </a:endParaRPr>
          </a:p>
        </p:txBody>
      </p:sp>
      <p:sp>
        <p:nvSpPr>
          <p:cNvPr id="67" name="Google Shape;67;p6">
            <a:extLst xmlns:a="http://schemas.openxmlformats.org/drawingml/2006/main">
              <a:ext uri="{FF2B5EF4-FFF2-40B4-BE49-F238E27FC236}">
                <a16:creationId xmlns:a16="http://schemas.microsoft.com/office/drawing/2014/main" id="{6BA0C6C6-F96C-4725-8EE9-DA42456B7E5B}"/>
              </a:ext>
            </a:extLst>
          </p:cNvPr>
          <p:cNvSpPr>
            <a:spLocks xmlns:a="http://schemas.openxmlformats.org/drawingml/2006/main" noGrp="1"/>
          </p:cNvSpPr>
          <p:nvPr/>
        </p:nvSpPr>
        <p:spPr>
          <a:xfrm xmlns:a="http://schemas.openxmlformats.org/drawingml/2006/main">
            <a:off x="548640" y="1554480"/>
            <a:ext cx="5349240" cy="2377440"/>
          </a:xfrm>
          <a:prstGeom xmlns:a="http://schemas.openxmlformats.org/drawingml/2006/main" prst="roundRect">
            <a:avLst>
              <a:gd name="adj" fmla="val 2308"/>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6">
            <a:extLst xmlns:a="http://schemas.openxmlformats.org/drawingml/2006/main">
              <a:ext uri="{FF2B5EF4-FFF2-40B4-BE49-F238E27FC236}">
                <a16:creationId xmlns:a16="http://schemas.microsoft.com/office/drawing/2014/main" id="{3B10E4E7-F1E7-43BA-B2C7-139B32335DEE}"/>
              </a:ext>
            </a:extLst>
          </p:cNvPr>
          <p:cNvSpPr>
            <a:spLocks xmlns:a="http://schemas.openxmlformats.org/drawingml/2006/main" noGrp="1"/>
          </p:cNvSpPr>
          <p:nvPr/>
        </p:nvSpPr>
        <p:spPr>
          <a:xfrm xmlns:a="http://schemas.openxmlformats.org/drawingml/2006/main">
            <a:off x="822960" y="1755648"/>
            <a:ext cx="48006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5000"/>
              </a:lnSpc>
              <a:spcBef>
                <a:spcPts val="0"/>
              </a:spcBef>
              <a:spcAft>
                <a:spcPts val="0"/>
              </a:spcAft>
              <a:buClr>
                <a:srgbClr val="8892B0"/>
              </a:buClr>
              <a:buSzPts val="1150"/>
              <a:buFont typeface="Courier New"/>
              <a:buNone/>
            </a:pPr>
            <a:r>
              <a:rPr sz="1150" b="0" i="1" u="none" cap="none">
                <a:solidFill>
                  <a:srgbClr val="8892B0"/>
                </a:solidFill>
                <a:latin typeface="Courier New"/>
                <a:ea typeface="Courier New"/>
                <a:cs typeface="Courier New"/>
              </a:rPr>
              <a:t>// WITHOUT else if — buggy</a:t>
            </a:r>
            <a:endParaRPr sz="115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8FD0FF"/>
              </a:buClr>
              <a:buSzPts val="1150"/>
              <a:buFont typeface="Courier New"/>
              <a:buNone/>
            </a:pPr>
            <a:r>
              <a:rPr sz="1150" b="1" i="0" u="none" cap="none">
                <a:solidFill>
                  <a:srgbClr val="8FD0FF"/>
                </a:solidFill>
                <a:latin typeface="Courier New"/>
                <a:ea typeface="Courier New"/>
                <a:cs typeface="Courier New"/>
              </a:rPr>
              <a:t>if</a:t>
            </a:r>
            <a:r>
              <a:rPr sz="1150" b="0" i="0" u="none" cap="none">
                <a:solidFill>
                  <a:srgbClr val="CADCFC"/>
                </a:solidFill>
                <a:latin typeface="Courier New"/>
                <a:ea typeface="Courier New"/>
                <a:cs typeface="Courier New"/>
              </a:rPr>
              <a:t> (scene == SCENE_INTRO) {</a:t>
            </a:r>
            <a:endParaRPr sz="115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150"/>
              <a:buFont typeface="Courier New"/>
              <a:buNone/>
            </a:pPr>
            <a:r>
              <a:rPr sz="1150" b="0" i="0" u="none" cap="none">
                <a:solidFill>
                  <a:srgbClr val="CADCFC"/>
                </a:solidFill>
                <a:latin typeface="Courier New"/>
                <a:ea typeface="Courier New"/>
                <a:cs typeface="Courier New"/>
              </a:rPr>
              <a:t>  scene = SCENE_MAIN;</a:t>
            </a:r>
            <a:endParaRPr sz="115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150"/>
              <a:buFont typeface="Courier New"/>
              <a:buNone/>
            </a:pPr>
            <a:r>
              <a:rPr sz="1150" b="0" i="0" u="none" cap="none">
                <a:solidFill>
                  <a:srgbClr val="CADCFC"/>
                </a:solidFill>
                <a:latin typeface="Courier New"/>
                <a:ea typeface="Courier New"/>
                <a:cs typeface="Courier New"/>
              </a:rPr>
              <a:t>}</a:t>
            </a:r>
            <a:endParaRPr sz="115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8FD0FF"/>
              </a:buClr>
              <a:buSzPts val="1150"/>
              <a:buFont typeface="Courier New"/>
              <a:buNone/>
            </a:pPr>
            <a:r>
              <a:rPr sz="1150" b="1" i="0" u="none" cap="none">
                <a:solidFill>
                  <a:srgbClr val="8FD0FF"/>
                </a:solidFill>
                <a:latin typeface="Courier New"/>
                <a:ea typeface="Courier New"/>
                <a:cs typeface="Courier New"/>
              </a:rPr>
              <a:t>if</a:t>
            </a:r>
            <a:r>
              <a:rPr sz="1150" b="0" i="0" u="none" cap="none">
                <a:solidFill>
                  <a:srgbClr val="CADCFC"/>
                </a:solidFill>
                <a:latin typeface="Courier New"/>
                <a:ea typeface="Courier New"/>
                <a:cs typeface="Courier New"/>
              </a:rPr>
              <a:t> (scene == SCENE_MAIN) {</a:t>
            </a:r>
            <a:endParaRPr sz="115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150"/>
              <a:buFont typeface="Courier New"/>
              <a:buNone/>
            </a:pPr>
            <a:r>
              <a:rPr sz="1150" b="0" i="0" u="none" cap="none">
                <a:solidFill>
                  <a:srgbClr val="CADCFC"/>
                </a:solidFill>
                <a:latin typeface="Courier New"/>
                <a:ea typeface="Courier New"/>
                <a:cs typeface="Courier New"/>
              </a:rPr>
              <a:t>  scene = SCENE_END;</a:t>
            </a:r>
            <a:endParaRPr sz="115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150"/>
              <a:buFont typeface="Courier New"/>
              <a:buNone/>
            </a:pPr>
            <a:r>
              <a:rPr sz="1150" b="0" i="0" u="none" cap="none">
                <a:solidFill>
                  <a:srgbClr val="CADCFC"/>
                </a:solidFill>
                <a:latin typeface="Courier New"/>
                <a:ea typeface="Courier New"/>
                <a:cs typeface="Courier New"/>
              </a:rPr>
              <a:t>}</a:t>
            </a:r>
            <a:endParaRPr sz="1150" b="0" i="0" u="none" cap="none">
              <a:solidFill>
                <a:schemeClr val="dk1"/>
              </a:solidFill>
              <a:latin typeface="Calibri"/>
              <a:ea typeface="Calibri"/>
              <a:cs typeface="Calibri"/>
            </a:endParaRPr>
          </a:p>
        </p:txBody>
      </p:sp>
      <p:sp>
        <p:nvSpPr>
          <p:cNvPr id="69" name="Google Shape;69;p6">
            <a:extLst xmlns:a="http://schemas.openxmlformats.org/drawingml/2006/main">
              <a:ext uri="{FF2B5EF4-FFF2-40B4-BE49-F238E27FC236}">
                <a16:creationId xmlns:a16="http://schemas.microsoft.com/office/drawing/2014/main" id="{AF9EFE19-7202-4714-BF8E-6BCD7F48896B}"/>
              </a:ext>
            </a:extLst>
          </p:cNvPr>
          <p:cNvSpPr>
            <a:spLocks xmlns:a="http://schemas.openxmlformats.org/drawingml/2006/main" noGrp="1"/>
          </p:cNvSpPr>
          <p:nvPr/>
        </p:nvSpPr>
        <p:spPr>
          <a:xfrm xmlns:a="http://schemas.openxmlformats.org/drawingml/2006/main">
            <a:off x="6263640" y="1554480"/>
            <a:ext cx="5349240" cy="2377440"/>
          </a:xfrm>
          <a:prstGeom xmlns:a="http://schemas.openxmlformats.org/drawingml/2006/main" prst="roundRect">
            <a:avLst>
              <a:gd name="adj" fmla="val 2308"/>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0" name="Google Shape;70;p6">
            <a:extLst xmlns:a="http://schemas.openxmlformats.org/drawingml/2006/main">
              <a:ext uri="{FF2B5EF4-FFF2-40B4-BE49-F238E27FC236}">
                <a16:creationId xmlns:a16="http://schemas.microsoft.com/office/drawing/2014/main" id="{EB24C071-410C-4367-A886-FCA6DC0C1CAF}"/>
              </a:ext>
            </a:extLst>
          </p:cNvPr>
          <p:cNvSpPr>
            <a:spLocks xmlns:a="http://schemas.openxmlformats.org/drawingml/2006/main" noGrp="1"/>
          </p:cNvSpPr>
          <p:nvPr/>
        </p:nvSpPr>
        <p:spPr>
          <a:xfrm xmlns:a="http://schemas.openxmlformats.org/drawingml/2006/main">
            <a:off x="6537960" y="1755648"/>
            <a:ext cx="48006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5000"/>
              </a:lnSpc>
              <a:spcBef>
                <a:spcPts val="0"/>
              </a:spcBef>
              <a:spcAft>
                <a:spcPts val="0"/>
              </a:spcAft>
              <a:buClr>
                <a:srgbClr val="8892B0"/>
              </a:buClr>
              <a:buSzPts val="1150"/>
              <a:buFont typeface="Courier New"/>
              <a:buNone/>
            </a:pPr>
            <a:r>
              <a:rPr sz="1150" b="0" i="1" u="none" cap="none">
                <a:solidFill>
                  <a:srgbClr val="8892B0"/>
                </a:solidFill>
                <a:latin typeface="Courier New"/>
                <a:ea typeface="Courier New"/>
                <a:cs typeface="Courier New"/>
              </a:rPr>
              <a:t>// WITH else if — correct</a:t>
            </a:r>
            <a:endParaRPr sz="115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8FD0FF"/>
              </a:buClr>
              <a:buSzPts val="1150"/>
              <a:buFont typeface="Courier New"/>
              <a:buNone/>
            </a:pPr>
            <a:r>
              <a:rPr sz="1150" b="1" i="0" u="none" cap="none">
                <a:solidFill>
                  <a:srgbClr val="8FD0FF"/>
                </a:solidFill>
                <a:latin typeface="Courier New"/>
                <a:ea typeface="Courier New"/>
                <a:cs typeface="Courier New"/>
              </a:rPr>
              <a:t>if</a:t>
            </a:r>
            <a:r>
              <a:rPr sz="1150" b="0" i="0" u="none" cap="none">
                <a:solidFill>
                  <a:srgbClr val="CADCFC"/>
                </a:solidFill>
                <a:latin typeface="Courier New"/>
                <a:ea typeface="Courier New"/>
                <a:cs typeface="Courier New"/>
              </a:rPr>
              <a:t> (scene == SCENE_INTRO) {</a:t>
            </a:r>
            <a:endParaRPr sz="115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150"/>
              <a:buFont typeface="Courier New"/>
              <a:buNone/>
            </a:pPr>
            <a:r>
              <a:rPr sz="1150" b="0" i="0" u="none" cap="none">
                <a:solidFill>
                  <a:srgbClr val="CADCFC"/>
                </a:solidFill>
                <a:latin typeface="Courier New"/>
                <a:ea typeface="Courier New"/>
                <a:cs typeface="Courier New"/>
              </a:rPr>
              <a:t>  scene = SCENE_MAIN;</a:t>
            </a:r>
            <a:endParaRPr sz="115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150"/>
              <a:buFont typeface="Courier New"/>
              <a:buNone/>
            </a:pPr>
            <a:r>
              <a:rPr sz="1150" b="0" i="0" u="none" cap="none">
                <a:solidFill>
                  <a:srgbClr val="CADCFC"/>
                </a:solidFill>
                <a:latin typeface="Courier New"/>
                <a:ea typeface="Courier New"/>
                <a:cs typeface="Courier New"/>
              </a:rPr>
              <a:t>} </a:t>
            </a:r>
            <a:r>
              <a:rPr sz="1150" b="1" i="0" u="none" cap="none">
                <a:solidFill>
                  <a:srgbClr val="8FD0FF"/>
                </a:solidFill>
                <a:latin typeface="Courier New"/>
                <a:ea typeface="Courier New"/>
                <a:cs typeface="Courier New"/>
              </a:rPr>
              <a:t>else</a:t>
            </a:r>
            <a:r>
              <a:rPr sz="1150" b="0" i="0" u="none" cap="none">
                <a:solidFill>
                  <a:srgbClr val="CADCFC"/>
                </a:solidFill>
                <a:latin typeface="Courier New"/>
                <a:ea typeface="Courier New"/>
                <a:cs typeface="Courier New"/>
              </a:rPr>
              <a:t> </a:t>
            </a:r>
            <a:r>
              <a:rPr sz="1150" b="1" i="0" u="none" cap="none">
                <a:solidFill>
                  <a:srgbClr val="8FD0FF"/>
                </a:solidFill>
                <a:latin typeface="Courier New"/>
                <a:ea typeface="Courier New"/>
                <a:cs typeface="Courier New"/>
              </a:rPr>
              <a:t>if</a:t>
            </a:r>
            <a:r>
              <a:rPr sz="1150" b="0" i="0" u="none" cap="none">
                <a:solidFill>
                  <a:srgbClr val="CADCFC"/>
                </a:solidFill>
                <a:latin typeface="Courier New"/>
                <a:ea typeface="Courier New"/>
                <a:cs typeface="Courier New"/>
              </a:rPr>
              <a:t> (scene == SCENE_MAIN) {</a:t>
            </a:r>
            <a:endParaRPr sz="115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150"/>
              <a:buFont typeface="Courier New"/>
              <a:buNone/>
            </a:pPr>
            <a:r>
              <a:rPr sz="1150" b="0" i="0" u="none" cap="none">
                <a:solidFill>
                  <a:srgbClr val="CADCFC"/>
                </a:solidFill>
                <a:latin typeface="Courier New"/>
                <a:ea typeface="Courier New"/>
                <a:cs typeface="Courier New"/>
              </a:rPr>
              <a:t>  scene = SCENE_END;</a:t>
            </a:r>
            <a:endParaRPr sz="115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150"/>
              <a:buFont typeface="Courier New"/>
              <a:buNone/>
            </a:pPr>
            <a:r>
              <a:rPr sz="1150" b="0" i="0" u="none" cap="none">
                <a:solidFill>
                  <a:srgbClr val="CADCFC"/>
                </a:solidFill>
                <a:latin typeface="Courier New"/>
                <a:ea typeface="Courier New"/>
                <a:cs typeface="Courier New"/>
              </a:rPr>
              <a:t>}</a:t>
            </a:r>
            <a:endParaRPr sz="1150" b="0" i="0" u="none" cap="none">
              <a:solidFill>
                <a:schemeClr val="dk1"/>
              </a:solidFill>
              <a:latin typeface="Calibri"/>
              <a:ea typeface="Calibri"/>
              <a:cs typeface="Calibri"/>
            </a:endParaRPr>
          </a:p>
        </p:txBody>
      </p:sp>
      <p:sp>
        <p:nvSpPr>
          <p:cNvPr id="71" name="Google Shape;71;p6">
            <a:extLst xmlns:a="http://schemas.openxmlformats.org/drawingml/2006/main">
              <a:ext uri="{FF2B5EF4-FFF2-40B4-BE49-F238E27FC236}">
                <a16:creationId xmlns:a16="http://schemas.microsoft.com/office/drawing/2014/main" id="{04044517-7EF7-4DAA-BA0D-6F4150EA09B8}"/>
              </a:ext>
            </a:extLst>
          </p:cNvPr>
          <p:cNvSpPr>
            <a:spLocks xmlns:a="http://schemas.openxmlformats.org/drawingml/2006/main" noGrp="1"/>
          </p:cNvSpPr>
          <p:nvPr/>
        </p:nvSpPr>
        <p:spPr>
          <a:xfrm xmlns:a="http://schemas.openxmlformats.org/drawingml/2006/main">
            <a:off x="548640" y="4114800"/>
            <a:ext cx="11064240" cy="1828800"/>
          </a:xfrm>
          <a:prstGeom xmlns:a="http://schemas.openxmlformats.org/drawingml/2006/main" prst="roundRect">
            <a:avLst>
              <a:gd name="adj" fmla="val 4000"/>
            </a:avLst>
          </a:prstGeom>
          <a:solidFill xmlns:a="http://schemas.openxmlformats.org/drawingml/2006/main">
            <a:srgbClr val="FBF2E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2" name="Google Shape;72;p6">
            <a:extLst xmlns:a="http://schemas.openxmlformats.org/drawingml/2006/main">
              <a:ext uri="{FF2B5EF4-FFF2-40B4-BE49-F238E27FC236}">
                <a16:creationId xmlns:a16="http://schemas.microsoft.com/office/drawing/2014/main" id="{7C00B0B3-4D2A-4389-BD3D-957C503FC723}"/>
              </a:ext>
            </a:extLst>
          </p:cNvPr>
          <p:cNvSpPr>
            <a:spLocks xmlns:a="http://schemas.openxmlformats.org/drawingml/2006/main" noGrp="1"/>
          </p:cNvSpPr>
          <p:nvPr/>
        </p:nvSpPr>
        <p:spPr>
          <a:xfrm xmlns:a="http://schemas.openxmlformats.org/drawingml/2006/main">
            <a:off x="777240" y="4279392"/>
            <a:ext cx="10607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300"/>
              <a:buFont typeface="Calibri"/>
              <a:buNone/>
            </a:pPr>
            <a:r>
              <a:rPr sz="1300" b="1" i="0" u="none" cap="none">
                <a:solidFill>
                  <a:srgbClr val="3B4A78"/>
                </a:solidFill>
                <a:latin typeface="Calibri"/>
                <a:ea typeface="Calibri"/>
                <a:cs typeface="Calibri"/>
              </a:rPr>
              <a:t>THE BUG, TRACED</a:t>
            </a:r>
            <a:endParaRPr sz="1300" b="0" i="0" u="none" cap="none">
              <a:solidFill>
                <a:schemeClr val="dk1"/>
              </a:solidFill>
              <a:latin typeface="Calibri"/>
              <a:ea typeface="Calibri"/>
              <a:cs typeface="Calibri"/>
            </a:endParaRPr>
          </a:p>
        </p:txBody>
      </p:sp>
      <p:sp>
        <p:nvSpPr>
          <p:cNvPr id="73" name="Google Shape;73;p6">
            <a:extLst xmlns:a="http://schemas.openxmlformats.org/drawingml/2006/main">
              <a:ext uri="{FF2B5EF4-FFF2-40B4-BE49-F238E27FC236}">
                <a16:creationId xmlns:a16="http://schemas.microsoft.com/office/drawing/2014/main" id="{3A676AEE-8FA2-4536-8D8E-A45E2A58EA1D}"/>
              </a:ext>
            </a:extLst>
          </p:cNvPr>
          <p:cNvSpPr>
            <a:spLocks xmlns:a="http://schemas.openxmlformats.org/drawingml/2006/main" noGrp="1"/>
          </p:cNvSpPr>
          <p:nvPr/>
        </p:nvSpPr>
        <p:spPr>
          <a:xfrm xmlns:a="http://schemas.openxmlformats.org/drawingml/2006/main">
            <a:off x="777240" y="4617720"/>
            <a:ext cx="1060704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One click, starting at SCENE_INTRO: the first if sets scene to SCENE_MAIN. Without else if, the second if then re-checks scene — which is now MAIN — and fires too, jumping straight to SCENE_END in a single click. else if stops checking after the first match, so exactly one transition happens per event. Display logic in draw() doesn't have this problem, since nothing inside those blocks changes scene.</a:t>
            </a:r>
            <a:endParaRPr sz="135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8337330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 name="Google Shape;79;p7">
            <a:extLst xmlns:a="http://schemas.openxmlformats.org/drawingml/2006/main">
              <a:ext uri="{FF2B5EF4-FFF2-40B4-BE49-F238E27FC236}">
                <a16:creationId xmlns:a16="http://schemas.microsoft.com/office/drawing/2014/main" id="{F8ECACC1-235B-4046-96B4-45E1F4AE3AEF}"/>
              </a:ext>
            </a:extLst>
          </p:cNvPr>
          <p:cNvSpPr>
            <a:spLocks xmlns:a="http://schemas.openxmlformats.org/drawingml/2006/main" noGrp="1"/>
          </p:cNvSpPr>
          <p:nvPr/>
        </p:nvSpPr>
        <p:spPr>
          <a:xfrm xmlns:a="http://schemas.openxmlformats.org/drawingml/2006/main">
            <a:off x="548640" y="365760"/>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2800"/>
              <a:buFont typeface="Cambria"/>
              <a:buNone/>
            </a:pPr>
            <a:r>
              <a:rPr sz="2800" b="1" i="0" u="none" cap="none">
                <a:solidFill>
                  <a:srgbClr val="1E2761"/>
                </a:solidFill>
                <a:latin typeface="Cambria"/>
                <a:ea typeface="Cambria"/>
                <a:cs typeface="Cambria"/>
              </a:rPr>
              <a:t>Tracing an Event Sequence</a:t>
            </a:r>
            <a:endParaRPr sz="2800" b="0" i="0" u="none" cap="none">
              <a:solidFill>
                <a:schemeClr val="dk1"/>
              </a:solidFill>
              <a:latin typeface="Calibri"/>
              <a:ea typeface="Calibri"/>
              <a:cs typeface="Calibri"/>
            </a:endParaRPr>
          </a:p>
        </p:txBody>
      </p:sp>
      <p:sp>
        <p:nvSpPr>
          <p:cNvPr id="80" name="Google Shape;80;p7">
            <a:extLst xmlns:a="http://schemas.openxmlformats.org/drawingml/2006/main">
              <a:ext uri="{FF2B5EF4-FFF2-40B4-BE49-F238E27FC236}">
                <a16:creationId xmlns:a16="http://schemas.microsoft.com/office/drawing/2014/main" id="{996B2BC3-FB2F-47D2-8331-C805EE358EB5}"/>
              </a:ext>
            </a:extLst>
          </p:cNvPr>
          <p:cNvSpPr>
            <a:spLocks xmlns:a="http://schemas.openxmlformats.org/drawingml/2006/main" noGrp="1"/>
          </p:cNvSpPr>
          <p:nvPr/>
        </p:nvSpPr>
        <p:spPr>
          <a:xfrm xmlns:a="http://schemas.openxmlformats.org/drawingml/2006/main">
            <a:off x="548640" y="960120"/>
            <a:ext cx="110642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0" u="none" cap="none">
                <a:solidFill>
                  <a:srgbClr val="3B4A78"/>
                </a:solidFill>
                <a:latin typeface="Calibri"/>
                <a:ea typeface="Calibri"/>
                <a:cs typeface="Calibri"/>
              </a:rPr>
              <a:t>The same trace-table skill from Algorithms, applied to scene</a:t>
            </a:r>
            <a:endParaRPr sz="1500" b="0" i="0" u="none" cap="none">
              <a:solidFill>
                <a:schemeClr val="dk1"/>
              </a:solidFill>
              <a:latin typeface="Calibri"/>
              <a:ea typeface="Calibri"/>
              <a:cs typeface="Calibri"/>
            </a:endParaRPr>
          </a:p>
        </p:txBody>
      </p:sp>
      <p:sp>
        <p:nvSpPr>
          <p:cNvPr id="81" name="Google Shape;81;p7">
            <a:extLst xmlns:a="http://schemas.openxmlformats.org/drawingml/2006/main">
              <a:ext uri="{FF2B5EF4-FFF2-40B4-BE49-F238E27FC236}">
                <a16:creationId xmlns:a16="http://schemas.microsoft.com/office/drawing/2014/main" id="{1C39301E-03A2-4BA7-A7DD-0A1858CF196C}"/>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82" name="Google Shape;82;p7">
            <a:extLst xmlns:a="http://schemas.openxmlformats.org/drawingml/2006/main">
              <a:ext uri="{FF2B5EF4-FFF2-40B4-BE49-F238E27FC236}">
                <a16:creationId xmlns:a16="http://schemas.microsoft.com/office/drawing/2014/main" id="{2761F341-410B-4676-935E-C8673CE21594}"/>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B3.3 · Part 3 of 3</a:t>
            </a:r>
            <a:endParaRPr sz="1000" b="0" i="0" u="none" cap="none">
              <a:solidFill>
                <a:schemeClr val="dk1"/>
              </a:solidFill>
              <a:latin typeface="Calibri"/>
              <a:ea typeface="Calibri"/>
              <a:cs typeface="Calibri"/>
            </a:endParaRPr>
          </a:p>
        </p:txBody>
      </p:sp>
      <p:graphicFrame>
        <p:nvGraphicFramePr>
          <p:cNvPr id="92" name="Google Shape;83;p7"/>
          <p:cNvGraphicFramePr/>
          <p:nvPr/>
        </p:nvGraphicFramePr>
        <p:xfrm>
          <a:off xmlns:a="http://schemas.openxmlformats.org/drawingml/2006/main" x="548640" y="1691640"/>
          <a:ext xmlns:a="http://schemas.openxmlformats.org/drawingml/2006/main" cx="3000000" cy="3000000"/>
        </p:xfrm>
        <a:graphic xmlns:a="http://schemas.openxmlformats.org/drawingml/2006/main">
          <a:graphicData uri="http://schemas.openxmlformats.org/drawingml/2006/table">
            <a:tbl>
              <a:tblPr>
                <a:tableStyleId>{DAF8A312-D057-4C76-9DF9-651C84CF6D1E}</a:tableStyleId>
              </a:tblPr>
              <a:tblGrid>
                <a:gridCol w="1097275"/>
                <a:gridCol w="1645925"/>
                <a:gridCol w="2743200"/>
                <a:gridCol w="2743200"/>
                <a:gridCol w="2834650"/>
              </a:tblGrid>
              <a:tr h="731525">
                <a:tc>
                  <a:txBody>
                    <a:bodyPr/>
                    <a:lstStyle/>
                    <a:p>
                      <a:pPr marL="0" marR="0" lvl="0" indent="0" algn="l">
                        <a:spcBef>
                          <a:spcPts val="0"/>
                        </a:spcBef>
                        <a:spcAft>
                          <a:spcPts val="0"/>
                        </a:spcAft>
                        <a:buClr>
                          <a:srgbClr val="FFFFFF"/>
                        </a:buClr>
                        <a:buSzPts val="1200"/>
                        <a:buFont typeface="Calibri"/>
                        <a:buNone/>
                      </a:pPr>
                      <a:r>
                        <a:rPr sz="1200" b="1" u="none" cap="none">
                          <a:solidFill>
                            <a:srgbClr val="FFFFFF"/>
                          </a:solidFill>
                        </a:rPr>
                        <a:t>Step</a:t>
                      </a:r>
                      <a:endParaRPr sz="1200" u="none" cap="none"/>
                    </a:p>
                  </a:txBody>
                  <a:tcPr marL="91450" marR="91450" marT="45725" marB="45725">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1E2761"/>
                    </a:solidFill>
                  </a:tcPr>
                </a:tc>
                <a:tc>
                  <a:txBody>
                    <a:bodyPr/>
                    <a:lstStyle/>
                    <a:p>
                      <a:pPr marL="0" marR="0" lvl="0" indent="0" algn="l">
                        <a:spcBef>
                          <a:spcPts val="0"/>
                        </a:spcBef>
                        <a:spcAft>
                          <a:spcPts val="0"/>
                        </a:spcAft>
                        <a:buClr>
                          <a:srgbClr val="FFFFFF"/>
                        </a:buClr>
                        <a:buSzPts val="1200"/>
                        <a:buFont typeface="Calibri"/>
                        <a:buNone/>
                      </a:pPr>
                      <a:r>
                        <a:rPr sz="1200" b="1" u="none" cap="none">
                          <a:solidFill>
                            <a:srgbClr val="FFFFFF"/>
                          </a:solidFill>
                        </a:rPr>
                        <a:t>Event</a:t>
                      </a:r>
                      <a:endParaRPr sz="1200" u="none" cap="none"/>
                    </a:p>
                  </a:txBody>
                  <a:tcPr marL="91450" marR="91450" marT="45725" marB="45725">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1E2761"/>
                    </a:solidFill>
                  </a:tcPr>
                </a:tc>
                <a:tc>
                  <a:txBody>
                    <a:bodyPr/>
                    <a:lstStyle/>
                    <a:p>
                      <a:pPr marL="0" marR="0" lvl="0" indent="0" algn="l">
                        <a:spcBef>
                          <a:spcPts val="0"/>
                        </a:spcBef>
                        <a:spcAft>
                          <a:spcPts val="0"/>
                        </a:spcAft>
                        <a:buClr>
                          <a:srgbClr val="FFFFFF"/>
                        </a:buClr>
                        <a:buSzPts val="1200"/>
                        <a:buFont typeface="Calibri"/>
                        <a:buNone/>
                      </a:pPr>
                      <a:r>
                        <a:rPr sz="1200" b="1" u="none" cap="none">
                          <a:solidFill>
                            <a:srgbClr val="FFFFFF"/>
                          </a:solidFill>
                        </a:rPr>
                        <a:t>scene before</a:t>
                      </a:r>
                      <a:endParaRPr sz="1200" u="none" cap="none"/>
                    </a:p>
                  </a:txBody>
                  <a:tcPr marL="91450" marR="91450" marT="45725" marB="45725">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1E2761"/>
                    </a:solidFill>
                  </a:tcPr>
                </a:tc>
                <a:tc>
                  <a:txBody>
                    <a:bodyPr/>
                    <a:lstStyle/>
                    <a:p>
                      <a:pPr marL="0" marR="0" lvl="0" indent="0" algn="l">
                        <a:spcBef>
                          <a:spcPts val="0"/>
                        </a:spcBef>
                        <a:spcAft>
                          <a:spcPts val="0"/>
                        </a:spcAft>
                        <a:buClr>
                          <a:srgbClr val="FFFFFF"/>
                        </a:buClr>
                        <a:buSzPts val="1200"/>
                        <a:buFont typeface="Calibri"/>
                        <a:buNone/>
                      </a:pPr>
                      <a:r>
                        <a:rPr sz="1200" b="1" u="none" cap="none">
                          <a:solidFill>
                            <a:srgbClr val="FFFFFF"/>
                          </a:solidFill>
                        </a:rPr>
                        <a:t>scene after</a:t>
                      </a:r>
                      <a:endParaRPr sz="1200" u="none" cap="none"/>
                    </a:p>
                  </a:txBody>
                  <a:tcPr marL="91450" marR="91450" marT="45725" marB="45725">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1E2761"/>
                    </a:solidFill>
                  </a:tcPr>
                </a:tc>
                <a:tc>
                  <a:txBody>
                    <a:bodyPr/>
                    <a:lstStyle/>
                    <a:p>
                      <a:pPr marL="0" marR="0" lvl="0" indent="0" algn="l">
                        <a:spcBef>
                          <a:spcPts val="0"/>
                        </a:spcBef>
                        <a:spcAft>
                          <a:spcPts val="0"/>
                        </a:spcAft>
                        <a:buClr>
                          <a:srgbClr val="FFFFFF"/>
                        </a:buClr>
                        <a:buSzPts val="1200"/>
                        <a:buFont typeface="Calibri"/>
                        <a:buNone/>
                      </a:pPr>
                      <a:r>
                        <a:rPr sz="1200" b="1" u="none" cap="none">
                          <a:solidFill>
                            <a:srgbClr val="FFFFFF"/>
                          </a:solidFill>
                        </a:rPr>
                        <a:t>What's drawn</a:t>
                      </a:r>
                      <a:endParaRPr sz="1200" u="none" cap="none"/>
                    </a:p>
                  </a:txBody>
                  <a:tcPr marL="91450" marR="91450" marT="45725" marB="45725">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1E2761"/>
                    </a:solidFill>
                  </a:tcPr>
                </a:tc>
              </a:tr>
              <a:tr h="731525">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1</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4F6FB"/>
                    </a:solidFill>
                  </a:tcPr>
                </a:tc>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click</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4F6FB"/>
                    </a:solidFill>
                  </a:tcPr>
                </a:tc>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SCENE_INTRO</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4F6FB"/>
                    </a:solidFill>
                  </a:tcPr>
                </a:tc>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SCENE_MAIN</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4F6FB"/>
                    </a:solidFill>
                  </a:tcPr>
                </a:tc>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rectangle</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4F6FB"/>
                    </a:solidFill>
                  </a:tcPr>
                </a:tc>
              </a:tr>
              <a:tr h="731525">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2</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FFFFF"/>
                    </a:solidFill>
                  </a:tcPr>
                </a:tc>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click</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FFFFF"/>
                    </a:solidFill>
                  </a:tcPr>
                </a:tc>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SCENE_MAIN</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FFFFF"/>
                    </a:solidFill>
                  </a:tcPr>
                </a:tc>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SCENE_END</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FFFFF"/>
                    </a:solidFill>
                  </a:tcPr>
                </a:tc>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large circle</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FFFFF"/>
                    </a:solidFill>
                  </a:tcPr>
                </a:tc>
              </a:tr>
              <a:tr h="731525">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3</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4F6FB"/>
                    </a:solidFill>
                  </a:tcPr>
                </a:tc>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key press</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4F6FB"/>
                    </a:solidFill>
                  </a:tcPr>
                </a:tc>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SCENE_END</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4F6FB"/>
                    </a:solidFill>
                  </a:tcPr>
                </a:tc>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SCENE_INTRO</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4F6FB"/>
                    </a:solidFill>
                  </a:tcPr>
                </a:tc>
                <a:tc>
                  <a:txBody>
                    <a:bodyPr/>
                    <a:lstStyle/>
                    <a:p>
                      <a:pPr marL="0" marR="0" lvl="0" indent="0" algn="l">
                        <a:spcBef>
                          <a:spcPts val="0"/>
                        </a:spcBef>
                        <a:spcAft>
                          <a:spcPts val="0"/>
                        </a:spcAft>
                        <a:buClr>
                          <a:srgbClr val="1B1F2E"/>
                        </a:buClr>
                        <a:buSzPts val="1300"/>
                        <a:buFont typeface="Calibri"/>
                        <a:buNone/>
                      </a:pPr>
                      <a:r>
                        <a:rPr sz="1300" u="none" cap="none">
                          <a:solidFill>
                            <a:srgbClr val="1B1F2E"/>
                          </a:solidFill>
                          <a:latin typeface="Calibri"/>
                          <a:ea typeface="Calibri"/>
                          <a:cs typeface="Calibri"/>
                        </a:rPr>
                        <a:t>small circle</a:t>
                      </a:r>
                      <a:endParaRPr sz="1300" u="none" cap="none">
                        <a:latin typeface="Calibri"/>
                        <a:ea typeface="Calibri"/>
                        <a:cs typeface="Calibri"/>
                      </a:endParaRPr>
                    </a:p>
                  </a:txBody>
                  <a:tcPr marL="91450" marR="91450" marT="45725" marB="45725" anchor="ctr">
                    <a:lnL w="12700" cmpd="sng">
                      <a:solidFill>
                        <a:srgbClr val="E8ECFB"/>
                      </a:solidFill>
                      <a:prstDash val="solid"/>
                    </a:lnL>
                    <a:lnR w="12700" cmpd="sng">
                      <a:solidFill>
                        <a:srgbClr val="E8ECFB"/>
                      </a:solidFill>
                      <a:prstDash val="solid"/>
                    </a:lnR>
                    <a:lnT w="12700" cmpd="sng">
                      <a:solidFill>
                        <a:srgbClr val="E8ECFB"/>
                      </a:solidFill>
                      <a:prstDash val="solid"/>
                    </a:lnT>
                    <a:lnB w="12700" cmpd="sng">
                      <a:solidFill>
                        <a:srgbClr val="E8ECFB"/>
                      </a:solidFill>
                      <a:prstDash val="solid"/>
                    </a:lnB>
                    <a:solidFill>
                      <a:srgbClr val="F4F6FB"/>
                    </a:solidFill>
                  </a:tcPr>
                </a:tc>
              </a:tr>
            </a:tbl>
          </a:graphicData>
        </a:graphic>
      </p:graphicFrame>
      <p:sp>
        <p:nvSpPr>
          <p:cNvPr id="84" name="Google Shape;84;p7">
            <a:extLst xmlns:a="http://schemas.openxmlformats.org/drawingml/2006/main">
              <a:ext uri="{FF2B5EF4-FFF2-40B4-BE49-F238E27FC236}">
                <a16:creationId xmlns:a16="http://schemas.microsoft.com/office/drawing/2014/main" id="{F1CF3338-AED9-4739-B3CE-3F046FD1EF25}"/>
              </a:ext>
            </a:extLst>
          </p:cNvPr>
          <p:cNvSpPr>
            <a:spLocks xmlns:a="http://schemas.openxmlformats.org/drawingml/2006/main" noGrp="1"/>
          </p:cNvSpPr>
          <p:nvPr/>
        </p:nvSpPr>
        <p:spPr>
          <a:xfrm xmlns:a="http://schemas.openxmlformats.org/drawingml/2006/main">
            <a:off x="548640" y="4846320"/>
            <a:ext cx="11064240" cy="1097280"/>
          </a:xfrm>
          <a:prstGeom xmlns:a="http://schemas.openxmlformats.org/drawingml/2006/main" prst="roundRect">
            <a:avLst>
              <a:gd name="adj" fmla="val 6667"/>
            </a:avLst>
          </a:prstGeom>
          <a:solidFill xmlns:a="http://schemas.openxmlformats.org/drawingml/2006/main">
            <a:srgbClr val="FBF2E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5" name="Google Shape;85;p7">
            <a:extLst xmlns:a="http://schemas.openxmlformats.org/drawingml/2006/main">
              <a:ext uri="{FF2B5EF4-FFF2-40B4-BE49-F238E27FC236}">
                <a16:creationId xmlns:a16="http://schemas.microsoft.com/office/drawing/2014/main" id="{58ED280D-21C8-449A-B25B-DCA60CCCECDA}"/>
              </a:ext>
            </a:extLst>
          </p:cNvPr>
          <p:cNvSpPr>
            <a:spLocks xmlns:a="http://schemas.openxmlformats.org/drawingml/2006/main" noGrp="1"/>
          </p:cNvSpPr>
          <p:nvPr/>
        </p:nvSpPr>
        <p:spPr>
          <a:xfrm xmlns:a="http://schemas.openxmlformats.org/drawingml/2006/main">
            <a:off x="777240" y="5010912"/>
            <a:ext cx="10607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300"/>
              <a:buFont typeface="Calibri"/>
              <a:buNone/>
            </a:pPr>
            <a:r>
              <a:rPr sz="1300" b="1" i="0" u="none" cap="none">
                <a:solidFill>
                  <a:srgbClr val="3B4A78"/>
                </a:solidFill>
                <a:latin typeface="Calibri"/>
                <a:ea typeface="Calibri"/>
                <a:cs typeface="Calibri"/>
              </a:rPr>
              <a:t>TRY IT YOURSELF</a:t>
            </a:r>
            <a:endParaRPr sz="1300" b="0" i="0" u="none" cap="none">
              <a:solidFill>
                <a:schemeClr val="dk1"/>
              </a:solidFill>
              <a:latin typeface="Calibri"/>
              <a:ea typeface="Calibri"/>
              <a:cs typeface="Calibri"/>
            </a:endParaRPr>
          </a:p>
        </p:txBody>
      </p:sp>
      <p:sp>
        <p:nvSpPr>
          <p:cNvPr id="86" name="Google Shape;86;p7">
            <a:extLst xmlns:a="http://schemas.openxmlformats.org/drawingml/2006/main">
              <a:ext uri="{FF2B5EF4-FFF2-40B4-BE49-F238E27FC236}">
                <a16:creationId xmlns:a16="http://schemas.microsoft.com/office/drawing/2014/main" id="{A924ACD0-FE07-464F-B6C7-7B44E8A3606C}"/>
              </a:ext>
            </a:extLst>
          </p:cNvPr>
          <p:cNvSpPr>
            <a:spLocks xmlns:a="http://schemas.openxmlformats.org/drawingml/2006/main" noGrp="1"/>
          </p:cNvSpPr>
          <p:nvPr/>
        </p:nvSpPr>
        <p:spPr>
          <a:xfrm xmlns:a="http://schemas.openxmlformats.org/drawingml/2006/main">
            <a:off x="777240" y="5349240"/>
            <a:ext cx="106070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Given a sequence of events, predict the resulting scene value at each step before running the program — exactly like tracing an algorithm by hand.</a:t>
            </a:r>
            <a:endParaRPr sz="135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239594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 name="Google Shape;92;p8">
            <a:extLst xmlns:a="http://schemas.openxmlformats.org/drawingml/2006/main">
              <a:ext uri="{FF2B5EF4-FFF2-40B4-BE49-F238E27FC236}">
                <a16:creationId xmlns:a16="http://schemas.microsoft.com/office/drawing/2014/main" id="{EE9E8615-F53E-4AAD-AF03-CDD69CB44777}"/>
              </a:ext>
            </a:extLst>
          </p:cNvPr>
          <p:cNvSpPr>
            <a:spLocks xmlns:a="http://schemas.openxmlformats.org/drawingml/2006/main" noGrp="1"/>
          </p:cNvSpPr>
          <p:nvPr/>
        </p:nvSpPr>
        <p:spPr>
          <a:xfrm xmlns:a="http://schemas.openxmlformats.org/drawingml/2006/main">
            <a:off x="548640" y="365760"/>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2800"/>
              <a:buFont typeface="Cambria"/>
              <a:buNone/>
            </a:pPr>
            <a:r>
              <a:rPr sz="2800" b="1" i="0" u="none" cap="none">
                <a:solidFill>
                  <a:srgbClr val="1E2761"/>
                </a:solidFill>
                <a:latin typeface="Cambria"/>
                <a:ea typeface="Cambria"/>
                <a:cs typeface="Cambria"/>
              </a:rPr>
              <a:t>Your Turn</a:t>
            </a:r>
            <a:endParaRPr sz="2800" b="0" i="0" u="none" cap="none">
              <a:solidFill>
                <a:schemeClr val="dk1"/>
              </a:solidFill>
              <a:latin typeface="Calibri"/>
              <a:ea typeface="Calibri"/>
              <a:cs typeface="Calibri"/>
            </a:endParaRPr>
          </a:p>
        </p:txBody>
      </p:sp>
      <p:sp>
        <p:nvSpPr>
          <p:cNvPr id="93" name="Google Shape;93;p8">
            <a:extLst xmlns:a="http://schemas.openxmlformats.org/drawingml/2006/main">
              <a:ext uri="{FF2B5EF4-FFF2-40B4-BE49-F238E27FC236}">
                <a16:creationId xmlns:a16="http://schemas.microsoft.com/office/drawing/2014/main" id="{70793A8D-6D7B-4546-A8C1-1B2D0B371BD0}"/>
              </a:ext>
            </a:extLst>
          </p:cNvPr>
          <p:cNvSpPr>
            <a:spLocks xmlns:a="http://schemas.openxmlformats.org/drawingml/2006/main" noGrp="1"/>
          </p:cNvSpPr>
          <p:nvPr/>
        </p:nvSpPr>
        <p:spPr>
          <a:xfrm xmlns:a="http://schemas.openxmlformats.org/drawingml/2006/main">
            <a:off x="548640" y="960120"/>
            <a:ext cx="110642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0" u="none" cap="none">
                <a:solidFill>
                  <a:srgbClr val="3B4A78"/>
                </a:solidFill>
                <a:latin typeface="Calibri"/>
                <a:ea typeface="Calibri"/>
                <a:cs typeface="Calibri"/>
              </a:rPr>
              <a:t>Step 1: Guided · Step 2: Construct Yourself</a:t>
            </a:r>
            <a:endParaRPr sz="1500" b="0" i="0" u="none" cap="none">
              <a:solidFill>
                <a:schemeClr val="dk1"/>
              </a:solidFill>
              <a:latin typeface="Calibri"/>
              <a:ea typeface="Calibri"/>
              <a:cs typeface="Calibri"/>
            </a:endParaRPr>
          </a:p>
        </p:txBody>
      </p:sp>
      <p:sp>
        <p:nvSpPr>
          <p:cNvPr id="94" name="Google Shape;94;p8">
            <a:extLst xmlns:a="http://schemas.openxmlformats.org/drawingml/2006/main">
              <a:ext uri="{FF2B5EF4-FFF2-40B4-BE49-F238E27FC236}">
                <a16:creationId xmlns:a16="http://schemas.microsoft.com/office/drawing/2014/main" id="{83A8EAE9-CF20-4229-97DB-837738E0DB79}"/>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95" name="Google Shape;95;p8">
            <a:extLst xmlns:a="http://schemas.openxmlformats.org/drawingml/2006/main">
              <a:ext uri="{FF2B5EF4-FFF2-40B4-BE49-F238E27FC236}">
                <a16:creationId xmlns:a16="http://schemas.microsoft.com/office/drawing/2014/main" id="{DA8295AC-E8D3-4F11-86E5-2641AA17BA89}"/>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B3.3 · Part 3 of 3</a:t>
            </a:r>
            <a:endParaRPr sz="1000" b="0" i="0" u="none" cap="none">
              <a:solidFill>
                <a:schemeClr val="dk1"/>
              </a:solidFill>
              <a:latin typeface="Calibri"/>
              <a:ea typeface="Calibri"/>
              <a:cs typeface="Calibri"/>
            </a:endParaRPr>
          </a:p>
        </p:txBody>
      </p:sp>
      <p:sp>
        <p:nvSpPr>
          <p:cNvPr id="96" name="Google Shape;96;p8">
            <a:extLst xmlns:a="http://schemas.openxmlformats.org/drawingml/2006/main">
              <a:ext uri="{FF2B5EF4-FFF2-40B4-BE49-F238E27FC236}">
                <a16:creationId xmlns:a16="http://schemas.microsoft.com/office/drawing/2014/main" id="{CF2AF204-00DB-4080-9646-59A42B3736A2}"/>
              </a:ext>
            </a:extLst>
          </p:cNvPr>
          <p:cNvSpPr>
            <a:spLocks xmlns:a="http://schemas.openxmlformats.org/drawingml/2006/main" noGrp="1"/>
          </p:cNvSpPr>
          <p:nvPr/>
        </p:nvSpPr>
        <p:spPr>
          <a:xfrm xmlns:a="http://schemas.openxmlformats.org/drawingml/2006/main">
            <a:off x="548640" y="1691640"/>
            <a:ext cx="5394960" cy="4206240"/>
          </a:xfrm>
          <a:prstGeom xmlns:a="http://schemas.openxmlformats.org/drawingml/2006/main" prst="roundRect">
            <a:avLst>
              <a:gd name="adj" fmla="val 1739"/>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7" name="Google Shape;97;p8">
            <a:extLst xmlns:a="http://schemas.openxmlformats.org/drawingml/2006/main">
              <a:ext uri="{FF2B5EF4-FFF2-40B4-BE49-F238E27FC236}">
                <a16:creationId xmlns:a16="http://schemas.microsoft.com/office/drawing/2014/main" id="{504B9C93-86A5-46DF-A70A-6F11C184D15B}"/>
              </a:ext>
            </a:extLst>
          </p:cNvPr>
          <p:cNvSpPr>
            <a:spLocks xmlns:a="http://schemas.openxmlformats.org/drawingml/2006/main" noGrp="1"/>
          </p:cNvSpPr>
          <p:nvPr/>
        </p:nvSpPr>
        <p:spPr>
          <a:xfrm xmlns:a="http://schemas.openxmlformats.org/drawingml/2006/main">
            <a:off x="777240" y="185623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STEP 1 · GUIDED</a:t>
            </a:r>
            <a:endParaRPr sz="1300" b="0" i="0" u="none" cap="none">
              <a:solidFill>
                <a:schemeClr val="dk1"/>
              </a:solidFill>
              <a:latin typeface="Calibri"/>
              <a:ea typeface="Calibri"/>
              <a:cs typeface="Calibri"/>
            </a:endParaRPr>
          </a:p>
        </p:txBody>
      </p:sp>
      <p:sp>
        <p:nvSpPr>
          <p:cNvPr id="98" name="Google Shape;98;p8">
            <a:extLst xmlns:a="http://schemas.openxmlformats.org/drawingml/2006/main">
              <a:ext uri="{FF2B5EF4-FFF2-40B4-BE49-F238E27FC236}">
                <a16:creationId xmlns:a16="http://schemas.microsoft.com/office/drawing/2014/main" id="{4DC75238-10B9-4D1A-A4FC-DF210F21B1F5}"/>
              </a:ext>
            </a:extLst>
          </p:cNvPr>
          <p:cNvSpPr>
            <a:spLocks xmlns:a="http://schemas.openxmlformats.org/drawingml/2006/main" noGrp="1"/>
          </p:cNvSpPr>
          <p:nvPr/>
        </p:nvSpPr>
        <p:spPr>
          <a:xfrm xmlns:a="http://schemas.openxmlformats.org/drawingml/2006/main">
            <a:off x="777240" y="2194560"/>
            <a:ext cx="4937760" cy="3520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Given a short list of events (click, click, key press, click), trace scene's value after each one by hand. Then run the program and check your predictions.</a:t>
            </a:r>
            <a:endParaRPr sz="1350" b="0" i="0" u="none" cap="none">
              <a:solidFill>
                <a:schemeClr val="dk1"/>
              </a:solidFill>
              <a:latin typeface="Calibri"/>
              <a:ea typeface="Calibri"/>
              <a:cs typeface="Calibri"/>
            </a:endParaRPr>
          </a:p>
        </p:txBody>
      </p:sp>
      <p:sp>
        <p:nvSpPr>
          <p:cNvPr id="99" name="Google Shape;99;p8">
            <a:extLst xmlns:a="http://schemas.openxmlformats.org/drawingml/2006/main">
              <a:ext uri="{FF2B5EF4-FFF2-40B4-BE49-F238E27FC236}">
                <a16:creationId xmlns:a16="http://schemas.microsoft.com/office/drawing/2014/main" id="{A2FE6738-8F85-41C6-A545-FBE5203A4A57}"/>
              </a:ext>
            </a:extLst>
          </p:cNvPr>
          <p:cNvSpPr>
            <a:spLocks xmlns:a="http://schemas.openxmlformats.org/drawingml/2006/main" noGrp="1"/>
          </p:cNvSpPr>
          <p:nvPr/>
        </p:nvSpPr>
        <p:spPr>
          <a:xfrm xmlns:a="http://schemas.openxmlformats.org/drawingml/2006/main">
            <a:off x="6217920" y="1691640"/>
            <a:ext cx="5394960" cy="4206240"/>
          </a:xfrm>
          <a:prstGeom xmlns:a="http://schemas.openxmlformats.org/drawingml/2006/main" prst="roundRect">
            <a:avLst>
              <a:gd name="adj" fmla="val 1739"/>
            </a:avLst>
          </a:prstGeom>
          <a:solidFill xmlns:a="http://schemas.openxmlformats.org/drawingml/2006/main">
            <a:srgbClr val="FBF2E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0" name="Google Shape;100;p8">
            <a:extLst xmlns:a="http://schemas.openxmlformats.org/drawingml/2006/main">
              <a:ext uri="{FF2B5EF4-FFF2-40B4-BE49-F238E27FC236}">
                <a16:creationId xmlns:a16="http://schemas.microsoft.com/office/drawing/2014/main" id="{B2E22FC0-6A40-47F1-B4FD-8F3690CDEC4C}"/>
              </a:ext>
            </a:extLst>
          </p:cNvPr>
          <p:cNvSpPr>
            <a:spLocks xmlns:a="http://schemas.openxmlformats.org/drawingml/2006/main" noGrp="1"/>
          </p:cNvSpPr>
          <p:nvPr/>
        </p:nvSpPr>
        <p:spPr>
          <a:xfrm xmlns:a="http://schemas.openxmlformats.org/drawingml/2006/main">
            <a:off x="6446520" y="185623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300"/>
              <a:buFont typeface="Calibri"/>
              <a:buNone/>
            </a:pPr>
            <a:r>
              <a:rPr sz="1300" b="1" i="0" u="none" cap="none">
                <a:solidFill>
                  <a:srgbClr val="3B4A78"/>
                </a:solidFill>
                <a:latin typeface="Calibri"/>
                <a:ea typeface="Calibri"/>
                <a:cs typeface="Calibri"/>
              </a:rPr>
              <a:t>STEP 2 · CONSTRUCT YOURSELF</a:t>
            </a:r>
            <a:endParaRPr sz="1300" b="0" i="0" u="none" cap="none">
              <a:solidFill>
                <a:schemeClr val="dk1"/>
              </a:solidFill>
              <a:latin typeface="Calibri"/>
              <a:ea typeface="Calibri"/>
              <a:cs typeface="Calibri"/>
            </a:endParaRPr>
          </a:p>
        </p:txBody>
      </p:sp>
      <p:sp>
        <p:nvSpPr>
          <p:cNvPr id="101" name="Google Shape;101;p8">
            <a:extLst xmlns:a="http://schemas.openxmlformats.org/drawingml/2006/main">
              <a:ext uri="{FF2B5EF4-FFF2-40B4-BE49-F238E27FC236}">
                <a16:creationId xmlns:a16="http://schemas.microsoft.com/office/drawing/2014/main" id="{97768E96-EFD4-44A5-8D33-3558CD9BA753}"/>
              </a:ext>
            </a:extLst>
          </p:cNvPr>
          <p:cNvSpPr>
            <a:spLocks xmlns:a="http://schemas.openxmlformats.org/drawingml/2006/main" noGrp="1"/>
          </p:cNvSpPr>
          <p:nvPr/>
        </p:nvSpPr>
        <p:spPr>
          <a:xfrm xmlns:a="http://schemas.openxmlformats.org/drawingml/2006/main">
            <a:off x="6446520" y="2194560"/>
            <a:ext cx="4937760" cy="3520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Design your own 3-scene flow with at least one non-linear transition — either a backward transition, or a scene that can be re-entered more than once. Use else if wherever a single event could otherwise cause more than one transition.</a:t>
            </a:r>
            <a:endParaRPr sz="135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7132616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 name="Google Shape;107;p9">
            <a:extLst xmlns:a="http://schemas.openxmlformats.org/drawingml/2006/main">
              <a:ext uri="{FF2B5EF4-FFF2-40B4-BE49-F238E27FC236}">
                <a16:creationId xmlns:a16="http://schemas.microsoft.com/office/drawing/2014/main" id="{D1CEB339-EDDB-42A9-B736-E9D15D8E06DC}"/>
              </a:ext>
            </a:extLst>
          </p:cNvPr>
          <p:cNvSpPr>
            <a:spLocks xmlns:a="http://schemas.openxmlformats.org/drawingml/2006/main" noGrp="1"/>
          </p:cNvSpPr>
          <p:nvPr/>
        </p:nvSpPr>
        <p:spPr>
          <a:xfrm xmlns:a="http://schemas.openxmlformats.org/drawingml/2006/main">
            <a:off x="548640" y="365760"/>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2800"/>
              <a:buFont typeface="Cambria"/>
              <a:buNone/>
            </a:pPr>
            <a:r>
              <a:rPr sz="2800" b="1" i="0" u="none" cap="none">
                <a:solidFill>
                  <a:srgbClr val="1E2761"/>
                </a:solidFill>
                <a:latin typeface="Cambria"/>
                <a:ea typeface="Cambria"/>
                <a:cs typeface="Cambria"/>
              </a:rPr>
              <a:t>Recap</a:t>
            </a:r>
            <a:endParaRPr sz="2800" b="0" i="0" u="none" cap="none">
              <a:solidFill>
                <a:schemeClr val="dk1"/>
              </a:solidFill>
              <a:latin typeface="Calibri"/>
              <a:ea typeface="Calibri"/>
              <a:cs typeface="Calibri"/>
            </a:endParaRPr>
          </a:p>
        </p:txBody>
      </p:sp>
      <p:sp>
        <p:nvSpPr>
          <p:cNvPr id="108" name="Google Shape;108;p9">
            <a:extLst xmlns:a="http://schemas.openxmlformats.org/drawingml/2006/main">
              <a:ext uri="{FF2B5EF4-FFF2-40B4-BE49-F238E27FC236}">
                <a16:creationId xmlns:a16="http://schemas.microsoft.com/office/drawing/2014/main" id="{A44402CC-B9CA-4775-8B53-7726DED2C7BE}"/>
              </a:ext>
            </a:extLst>
          </p:cNvPr>
          <p:cNvSpPr>
            <a:spLocks xmlns:a="http://schemas.openxmlformats.org/drawingml/2006/main" noGrp="1"/>
          </p:cNvSpPr>
          <p:nvPr/>
        </p:nvSpPr>
        <p:spPr>
          <a:xfrm xmlns:a="http://schemas.openxmlformats.org/drawingml/2006/main">
            <a:off x="548640" y="960120"/>
            <a:ext cx="110642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0" u="none" cap="none">
                <a:solidFill>
                  <a:srgbClr val="3B4A78"/>
                </a:solidFill>
                <a:latin typeface="Calibri"/>
                <a:ea typeface="Calibri"/>
                <a:cs typeface="Calibri"/>
              </a:rPr>
              <a:t>Key idea and what's next</a:t>
            </a:r>
            <a:endParaRPr sz="1500" b="0" i="0" u="none" cap="none">
              <a:solidFill>
                <a:schemeClr val="dk1"/>
              </a:solidFill>
              <a:latin typeface="Calibri"/>
              <a:ea typeface="Calibri"/>
              <a:cs typeface="Calibri"/>
            </a:endParaRPr>
          </a:p>
        </p:txBody>
      </p:sp>
      <p:sp>
        <p:nvSpPr>
          <p:cNvPr id="109" name="Google Shape;109;p9">
            <a:extLst xmlns:a="http://schemas.openxmlformats.org/drawingml/2006/main">
              <a:ext uri="{FF2B5EF4-FFF2-40B4-BE49-F238E27FC236}">
                <a16:creationId xmlns:a16="http://schemas.microsoft.com/office/drawing/2014/main" id="{B7F9F074-CD79-442A-AD00-4631B40F2C3A}"/>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110" name="Google Shape;110;p9">
            <a:extLst xmlns:a="http://schemas.openxmlformats.org/drawingml/2006/main">
              <a:ext uri="{FF2B5EF4-FFF2-40B4-BE49-F238E27FC236}">
                <a16:creationId xmlns:a16="http://schemas.microsoft.com/office/drawing/2014/main" id="{8A8B67E6-3532-4401-B708-8644584C9472}"/>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B3.3 · Part 3 of 3</a:t>
            </a:r>
            <a:endParaRPr sz="1000" b="0" i="0" u="none" cap="none">
              <a:solidFill>
                <a:schemeClr val="dk1"/>
              </a:solidFill>
              <a:latin typeface="Calibri"/>
              <a:ea typeface="Calibri"/>
              <a:cs typeface="Calibri"/>
            </a:endParaRPr>
          </a:p>
        </p:txBody>
      </p:sp>
      <p:sp>
        <p:nvSpPr>
          <p:cNvPr id="111" name="Google Shape;111;p9">
            <a:extLst xmlns:a="http://schemas.openxmlformats.org/drawingml/2006/main">
              <a:ext uri="{FF2B5EF4-FFF2-40B4-BE49-F238E27FC236}">
                <a16:creationId xmlns:a16="http://schemas.microsoft.com/office/drawing/2014/main" id="{95048335-0D61-4095-93C0-673032F74672}"/>
              </a:ext>
            </a:extLst>
          </p:cNvPr>
          <p:cNvSpPr>
            <a:spLocks xmlns:a="http://schemas.openxmlformats.org/drawingml/2006/main" noGrp="1"/>
          </p:cNvSpPr>
          <p:nvPr/>
        </p:nvSpPr>
        <p:spPr>
          <a:xfrm xmlns:a="http://schemas.openxmlformats.org/drawingml/2006/main">
            <a:off x="548640" y="1691640"/>
            <a:ext cx="10607040" cy="2011680"/>
          </a:xfrm>
          <a:prstGeom xmlns:a="http://schemas.openxmlformats.org/drawingml/2006/main" prst="roundRect">
            <a:avLst>
              <a:gd name="adj" fmla="val 3636"/>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2" name="Google Shape;112;p9">
            <a:extLst xmlns:a="http://schemas.openxmlformats.org/drawingml/2006/main">
              <a:ext uri="{FF2B5EF4-FFF2-40B4-BE49-F238E27FC236}">
                <a16:creationId xmlns:a16="http://schemas.microsoft.com/office/drawing/2014/main" id="{AB25C1DF-36F4-426B-9C16-F86540DE5DE4}"/>
              </a:ext>
            </a:extLst>
          </p:cNvPr>
          <p:cNvSpPr>
            <a:spLocks xmlns:a="http://schemas.openxmlformats.org/drawingml/2006/main" noGrp="1"/>
          </p:cNvSpPr>
          <p:nvPr/>
        </p:nvSpPr>
        <p:spPr>
          <a:xfrm xmlns:a="http://schemas.openxmlformats.org/drawingml/2006/main">
            <a:off x="777240" y="1856232"/>
            <a:ext cx="101498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KEY IDEA</a:t>
            </a:r>
            <a:endParaRPr sz="1300" b="0" i="0" u="none" cap="none">
              <a:solidFill>
                <a:schemeClr val="dk1"/>
              </a:solidFill>
              <a:latin typeface="Calibri"/>
              <a:ea typeface="Calibri"/>
              <a:cs typeface="Calibri"/>
            </a:endParaRPr>
          </a:p>
        </p:txBody>
      </p:sp>
      <p:sp>
        <p:nvSpPr>
          <p:cNvPr id="113" name="Google Shape;113;p9">
            <a:extLst xmlns:a="http://schemas.openxmlformats.org/drawingml/2006/main">
              <a:ext uri="{FF2B5EF4-FFF2-40B4-BE49-F238E27FC236}">
                <a16:creationId xmlns:a16="http://schemas.microsoft.com/office/drawing/2014/main" id="{D580B86F-6DBF-4DE2-83AA-0A1B3B2DF47B}"/>
              </a:ext>
            </a:extLst>
          </p:cNvPr>
          <p:cNvSpPr>
            <a:spLocks xmlns:a="http://schemas.openxmlformats.org/drawingml/2006/main" noGrp="1"/>
          </p:cNvSpPr>
          <p:nvPr/>
        </p:nvSpPr>
        <p:spPr>
          <a:xfrm xmlns:a="http://schemas.openxmlformats.org/drawingml/2006/main">
            <a:off x="777240" y="2194560"/>
            <a:ext cx="1014984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A state variable doesn't just store a value — when used to control branching in draw(), it selects which entire version of the program is currently active.</a:t>
            </a:r>
            <a:endParaRPr sz="1350" b="0" i="0" u="none" cap="none">
              <a:solidFill>
                <a:schemeClr val="dk1"/>
              </a:solidFill>
              <a:latin typeface="Calibri"/>
              <a:ea typeface="Calibri"/>
              <a:cs typeface="Calibri"/>
            </a:endParaRPr>
          </a:p>
        </p:txBody>
      </p:sp>
      <p:sp>
        <p:nvSpPr>
          <p:cNvPr id="114" name="Google Shape;114;p9">
            <a:extLst xmlns:a="http://schemas.openxmlformats.org/drawingml/2006/main">
              <a:ext uri="{FF2B5EF4-FFF2-40B4-BE49-F238E27FC236}">
                <a16:creationId xmlns:a16="http://schemas.microsoft.com/office/drawing/2014/main" id="{01A57E1F-67FD-407E-8610-FF034ECF0EF9}"/>
              </a:ext>
            </a:extLst>
          </p:cNvPr>
          <p:cNvSpPr>
            <a:spLocks xmlns:a="http://schemas.openxmlformats.org/drawingml/2006/main" noGrp="1"/>
          </p:cNvSpPr>
          <p:nvPr/>
        </p:nvSpPr>
        <p:spPr>
          <a:xfrm xmlns:a="http://schemas.openxmlformats.org/drawingml/2006/main">
            <a:off x="548640" y="3886200"/>
            <a:ext cx="10607040" cy="2011680"/>
          </a:xfrm>
          <a:prstGeom xmlns:a="http://schemas.openxmlformats.org/drawingml/2006/main" prst="roundRect">
            <a:avLst>
              <a:gd name="adj" fmla="val 3636"/>
            </a:avLst>
          </a:prstGeom>
          <a:solidFill xmlns:a="http://schemas.openxmlformats.org/drawingml/2006/main">
            <a:srgbClr val="FBF2E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5" name="Google Shape;115;p9">
            <a:extLst xmlns:a="http://schemas.openxmlformats.org/drawingml/2006/main">
              <a:ext uri="{FF2B5EF4-FFF2-40B4-BE49-F238E27FC236}">
                <a16:creationId xmlns:a16="http://schemas.microsoft.com/office/drawing/2014/main" id="{04C8209A-4CC3-4724-9337-13C0B8723003}"/>
              </a:ext>
            </a:extLst>
          </p:cNvPr>
          <p:cNvSpPr>
            <a:spLocks xmlns:a="http://schemas.openxmlformats.org/drawingml/2006/main" noGrp="1"/>
          </p:cNvSpPr>
          <p:nvPr/>
        </p:nvSpPr>
        <p:spPr>
          <a:xfrm xmlns:a="http://schemas.openxmlformats.org/drawingml/2006/main">
            <a:off x="777240" y="4050792"/>
            <a:ext cx="101498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300"/>
              <a:buFont typeface="Calibri"/>
              <a:buNone/>
            </a:pPr>
            <a:r>
              <a:rPr sz="1300" b="1" i="0" u="none" cap="none">
                <a:solidFill>
                  <a:srgbClr val="3B4A78"/>
                </a:solidFill>
                <a:latin typeface="Calibri"/>
                <a:ea typeface="Calibri"/>
                <a:cs typeface="Calibri"/>
              </a:rPr>
              <a:t>NEXT: B3.4</a:t>
            </a:r>
            <a:endParaRPr sz="1300" b="0" i="0" u="none" cap="none">
              <a:solidFill>
                <a:schemeClr val="dk1"/>
              </a:solidFill>
              <a:latin typeface="Calibri"/>
              <a:ea typeface="Calibri"/>
              <a:cs typeface="Calibri"/>
            </a:endParaRPr>
          </a:p>
        </p:txBody>
      </p:sp>
      <p:sp>
        <p:nvSpPr>
          <p:cNvPr id="116" name="Google Shape;116;p9">
            <a:extLst xmlns:a="http://schemas.openxmlformats.org/drawingml/2006/main">
              <a:ext uri="{FF2B5EF4-FFF2-40B4-BE49-F238E27FC236}">
                <a16:creationId xmlns:a16="http://schemas.microsoft.com/office/drawing/2014/main" id="{6E09D190-E056-4531-B0FC-644259B3B3D5}"/>
              </a:ext>
            </a:extLst>
          </p:cNvPr>
          <p:cNvSpPr>
            <a:spLocks xmlns:a="http://schemas.openxmlformats.org/drawingml/2006/main" noGrp="1"/>
          </p:cNvSpPr>
          <p:nvPr/>
        </p:nvSpPr>
        <p:spPr>
          <a:xfrm xmlns:a="http://schemas.openxmlformats.org/drawingml/2006/main">
            <a:off x="777240" y="4389120"/>
            <a:ext cx="1014984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B3.4 uses the same event vocabulary — keys and mouse regions — to drive continuous parameters like speed or size, instead of discrete scene changes.</a:t>
            </a:r>
            <a:endParaRPr sz="135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711375118"/>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2026-08-29T13:20:24.3450000Z</dcterms:created>
  <dcterms:modified xsi:type="dcterms:W3CDTF">2026-08-29T13:20:24.3450000Z</dcterms:modified>
</coreProperties>
</file>