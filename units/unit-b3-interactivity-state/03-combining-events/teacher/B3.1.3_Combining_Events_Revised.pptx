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634c5745fd449f" /><Relationship Type="http://schemas.openxmlformats.org/officeDocument/2006/relationships/extended-properties" Target="/docProps/app.xml" Id="Rc942f370f3964f04" /><Relationship Type="http://schemas.openxmlformats.org/officeDocument/2006/relationships/officeDocument" Target="/ppt/presentation.xml" Id="R338067d2053b4b11" /></Relationships>
</file>

<file path=ppt/presentation.xml><?xml version="1.0" encoding="utf-8"?>
<p:presentation xmlns:p="http://schemas.openxmlformats.org/presentationml/2006/main">
  <p:sldMasterIdLst>
    <p:sldMasterId xmlns:r="http://schemas.openxmlformats.org/officeDocument/2006/relationships" id="2147483648" r:id="R0640e2726705423c"/>
  </p:sldMasterIdLst>
  <p:notesMasterIdLst>
    <p:notesMasterId xmlns:r="http://schemas.openxmlformats.org/officeDocument/2006/relationships" r:id="Rf41669e98710451c"/>
  </p:notesMasterIdLst>
  <p:sldIdLst>
    <p:sldId xmlns:r="http://schemas.openxmlformats.org/officeDocument/2006/relationships" id="256" r:id="Rb827b1e8b1784d6c"/>
    <p:sldId xmlns:r="http://schemas.openxmlformats.org/officeDocument/2006/relationships" id="257" r:id="Rac577cf6980c4cf6"/>
    <p:sldId xmlns:r="http://schemas.openxmlformats.org/officeDocument/2006/relationships" id="258" r:id="R407df67850ca4338"/>
    <p:sldId xmlns:r="http://schemas.openxmlformats.org/officeDocument/2006/relationships" id="259" r:id="R915977445508419d"/>
    <p:sldId xmlns:r="http://schemas.openxmlformats.org/officeDocument/2006/relationships" id="260" r:id="R61f74d33bc0a4644"/>
    <p:sldId xmlns:r="http://schemas.openxmlformats.org/officeDocument/2006/relationships" id="261" r:id="R65ad2374a99c40f1"/>
    <p:sldId xmlns:r="http://schemas.openxmlformats.org/officeDocument/2006/relationships" id="262" r:id="R3e055c065a8c4517"/>
  </p:sldIdLst>
  <p:sldSz cx="1219167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b051a2c6064760" /><Relationship Type="http://schemas.openxmlformats.org/officeDocument/2006/relationships/slideMaster" Target="/ppt/slideMasters/slideMaster1.xml" Id="R0640e2726705423c" /><Relationship Type="http://schemas.openxmlformats.org/officeDocument/2006/relationships/notesMaster" Target="/ppt/notesMasters/notesMaster1.xml" Id="Rf41669e98710451c" /><Relationship Type="http://schemas.openxmlformats.org/officeDocument/2006/relationships/presProps" Target="/ppt/presProps.xml" Id="Rdafd425fe1714e00" /><Relationship Type="http://schemas.openxmlformats.org/officeDocument/2006/relationships/tableStyles" Target="/ppt/tableStyles.xml" Id="R9a93ae032aa0462e" /><Relationship Type="http://schemas.openxmlformats.org/officeDocument/2006/relationships/slide" Target="/ppt/slides/slide1.xml" Id="Rb827b1e8b1784d6c" /><Relationship Type="http://schemas.openxmlformats.org/officeDocument/2006/relationships/slide" Target="/ppt/slides/slide2.xml" Id="Rac577cf6980c4cf6" /><Relationship Type="http://schemas.openxmlformats.org/officeDocument/2006/relationships/slide" Target="/ppt/slides/slide3.xml" Id="R407df67850ca4338" /><Relationship Type="http://schemas.openxmlformats.org/officeDocument/2006/relationships/slide" Target="/ppt/slides/slide4.xml" Id="R915977445508419d" /><Relationship Type="http://schemas.openxmlformats.org/officeDocument/2006/relationships/slide" Target="/ppt/slides/slide5.xml" Id="R61f74d33bc0a4644" /><Relationship Type="http://schemas.openxmlformats.org/officeDocument/2006/relationships/slide" Target="/ppt/slides/slide6.xml" Id="R65ad2374a99c40f1" /><Relationship Type="http://schemas.openxmlformats.org/officeDocument/2006/relationships/slide" Target="/ppt/slides/slide7.xml" Id="R3e055c065a8c45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c246fd280f4e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388833ebb84ec8" /><Relationship Type="http://schemas.openxmlformats.org/officeDocument/2006/relationships/notesMaster" Target="/ppt/notesMasters/notesMaster1.xml" Id="Re10f5b72fb1c4c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2758954b024c16" /><Relationship Type="http://schemas.openxmlformats.org/officeDocument/2006/relationships/notesMaster" Target="/ppt/notesMasters/notesMaster1.xml" Id="R21944fc0262f44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fdba6442814c4f" /><Relationship Type="http://schemas.openxmlformats.org/officeDocument/2006/relationships/notesMaster" Target="/ppt/notesMasters/notesMaster1.xml" Id="R12849f791c664b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8477fb54804843" /><Relationship Type="http://schemas.openxmlformats.org/officeDocument/2006/relationships/notesMaster" Target="/ppt/notesMasters/notesMaster1.xml" Id="Rae7cc76921af4e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0db81c08584e84" /><Relationship Type="http://schemas.openxmlformats.org/officeDocument/2006/relationships/notesMaster" Target="/ppt/notesMasters/notesMaster1.xml" Id="R7611b19512c54a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169adb381a4960" /><Relationship Type="http://schemas.openxmlformats.org/officeDocument/2006/relationships/notesMaster" Target="/ppt/notesMasters/notesMaster1.xml" Id="Ra516cdf4451a4d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05a38e44a54654" /><Relationship Type="http://schemas.openxmlformats.org/officeDocument/2006/relationships/notesMaster" Target="/ppt/notesMasters/notesMaster1.xml" Id="R91b66e695fcb40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2 minutes. Frame the lesson as coordination: one program can accept several input sources while sharing the same persistent state.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5 minutes. Retrieve both event trios and classify each callback as mouse or keyboard input.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9 minutes. Trace the combined program. draw() reads fields to render; mousePressed() and keyPressed() update those fields only when their events occur.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7 minutes. Emphasize scope: shapeSize and fillValue must be class fields. Locals declared inside an event method disappear after that call and cannot drive later frames.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 minutes. Preview program mode as a named value that changes which behaviour is active. Keep this as state, not a second event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13 minutes. Students build one mouse action and one keyboard action that affect different fields, then verify both still work in either order.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3 minutes. Exit check: identify the input, state update, and rendered consequence for one interaction.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e692fa2d0a493e"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0c22ea069a4870" /><Relationship Type="http://schemas.openxmlformats.org/officeDocument/2006/relationships/slideLayout" Target="/ppt/slideLayouts/slideLayout1.xml" Id="R5a1e7050b9d145c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a1e7050b9d145c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729b3b18464c16" /><Relationship Type="http://schemas.openxmlformats.org/officeDocument/2006/relationships/notesSlide" Target="/ppt/notesSlides/notesSlide1.xml" Id="Rd5d65861e7824b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bc8f8024b24cb8" /><Relationship Type="http://schemas.openxmlformats.org/officeDocument/2006/relationships/notesSlide" Target="/ppt/notesSlides/notesSlide2.xml" Id="R71db1b6daf8b4f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de76dca95746ad" /><Relationship Type="http://schemas.openxmlformats.org/officeDocument/2006/relationships/notesSlide" Target="/ppt/notesSlides/notesSlide3.xml" Id="R48f838d808f642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4cc8dfd3694230" /><Relationship Type="http://schemas.openxmlformats.org/officeDocument/2006/relationships/notesSlide" Target="/ppt/notesSlides/notesSlide4.xml" Id="R9c5c1e46df4944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09ca489fc24896" /><Relationship Type="http://schemas.openxmlformats.org/officeDocument/2006/relationships/notesSlide" Target="/ppt/notesSlides/notesSlide5.xml" Id="Rab3725ec4f8b49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9e5ec784a84efb" /><Relationship Type="http://schemas.openxmlformats.org/officeDocument/2006/relationships/notesSlide" Target="/ppt/notesSlides/notesSlide6.xml" Id="R25490ffa224342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03905acfbf427f" /><Relationship Type="http://schemas.openxmlformats.org/officeDocument/2006/relationships/notesSlide" Target="/ppt/notesSlides/notesSlide7.xml" Id="R464cdb596b0d478d"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251C1504-DE74-406E-B27F-6F0CD7A6DBD8}"/>
              </a:ext>
            </a:extLst>
          </p:cNvPr>
          <p:cNvSpPr>
            <a:spLocks xmlns:a="http://schemas.openxmlformats.org/drawingml/2006/main" noGrp="1"/>
          </p:cNvSpPr>
          <p:nvPr/>
        </p:nvSpPr>
        <p:spPr>
          <a:xfrm xmlns:a="http://schemas.openxmlformats.org/drawingml/2006/main">
            <a:off x="822960" y="2148840"/>
            <a:ext cx="105156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600"/>
              <a:buFont typeface="Calibri"/>
              <a:buNone/>
            </a:pPr>
            <a:r>
              <a:rPr sz="1600" b="1" i="0" u="none" cap="none">
                <a:solidFill>
                  <a:srgbClr val="E8A33D"/>
                </a:solidFill>
                <a:latin typeface="Calibri"/>
                <a:ea typeface="Calibri"/>
                <a:cs typeface="Calibri"/>
              </a:rPr>
              <a:t>B3.1  ·  Interactivity &amp; State</a:t>
            </a:r>
            <a:endParaRPr sz="16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71D32E6A-D49F-4D6C-91D1-CE1C7FE2BA7F}"/>
              </a:ext>
            </a:extLst>
          </p:cNvPr>
          <p:cNvSpPr>
            <a:spLocks xmlns:a="http://schemas.openxmlformats.org/drawingml/2006/main" noGrp="1"/>
          </p:cNvSpPr>
          <p:nvPr/>
        </p:nvSpPr>
        <p:spPr>
          <a:xfrm xmlns:a="http://schemas.openxmlformats.org/drawingml/2006/main">
            <a:off x="822960" y="2606040"/>
            <a:ext cx="1051560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4000"/>
              <a:buFont typeface="Cambria"/>
              <a:buNone/>
            </a:pPr>
            <a:r>
              <a:rPr sz="4000" b="1" i="0" u="none" cap="none">
                <a:solidFill>
                  <a:srgbClr val="FFFFFF"/>
                </a:solidFill>
                <a:latin typeface="Cambria"/>
                <a:ea typeface="Cambria"/>
                <a:cs typeface="Cambria"/>
              </a:rPr>
              <a:t>Combining Both: Event-Driven Changes</a:t>
            </a:r>
            <a:endParaRPr sz="40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95D8A644-7AEE-438C-96F6-963490C54C32}"/>
              </a:ext>
            </a:extLst>
          </p:cNvPr>
          <p:cNvSpPr>
            <a:spLocks xmlns:a="http://schemas.openxmlformats.org/drawingml/2006/main" noGrp="1"/>
          </p:cNvSpPr>
          <p:nvPr/>
        </p:nvSpPr>
        <p:spPr>
          <a:xfrm xmlns:a="http://schemas.openxmlformats.org/drawingml/2006/main">
            <a:off x="822960" y="3977640"/>
            <a:ext cx="98755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CADCFC"/>
              </a:buClr>
              <a:buSzPts val="1800"/>
              <a:buFont typeface="Calibri"/>
              <a:buNone/>
            </a:pPr>
            <a:r>
              <a:rPr sz="1800" b="0" i="1" u="none" cap="none">
                <a:solidFill>
                  <a:srgbClr val="CADCFC"/>
                </a:solidFill>
                <a:latin typeface="Calibri"/>
                <a:ea typeface="Calibri"/>
                <a:cs typeface="Calibri"/>
              </a:rPr>
              <a:t>One program, two input sources, two variables that remember their values between frames.</a:t>
            </a:r>
            <a:endParaRPr sz="1800" b="0" i="0" u="non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64A8D9D8-AFC9-4D87-A338-3E1D26C4DBC2}"/>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9F73A0E9-C8E6-4A78-BBDB-8278F2B8BB2F}"/>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7725114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9F701884-3CAE-4CEF-9DA3-E4357541F3DF}"/>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600"/>
              <a:buFont typeface="Cambria"/>
              <a:buNone/>
            </a:pPr>
            <a:r>
              <a:rPr sz="2600" b="1" i="0" u="none" cap="none">
                <a:solidFill>
                  <a:srgbClr val="1E2761"/>
                </a:solidFill>
                <a:latin typeface="Cambria"/>
                <a:ea typeface="Cambria"/>
                <a:cs typeface="Cambria"/>
              </a:rPr>
              <a:t>Quick Recap: Both Trios</a:t>
            </a:r>
            <a:endParaRPr sz="26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0264D1C5-EBF5-4A33-BEAF-256E94BDCDDE}"/>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From Parts 1 and 2</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58A358B3-E320-421D-8609-5E237BC4C68D}"/>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EF3B773A-A55B-4414-A560-1878C32A701F}"/>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53F79621-D5E2-4E03-9789-189509150B43}"/>
              </a:ext>
            </a:extLst>
          </p:cNvPr>
          <p:cNvSpPr>
            <a:spLocks xmlns:a="http://schemas.openxmlformats.org/drawingml/2006/main" noGrp="1"/>
          </p:cNvSpPr>
          <p:nvPr/>
        </p:nvSpPr>
        <p:spPr>
          <a:xfrm xmlns:a="http://schemas.openxmlformats.org/drawingml/2006/main">
            <a:off x="548640" y="1600200"/>
            <a:ext cx="5394960" cy="2377440"/>
          </a:xfrm>
          <a:prstGeom xmlns:a="http://schemas.openxmlformats.org/drawingml/2006/main" prst="roundRect">
            <a:avLst>
              <a:gd name="adj" fmla="val 2308"/>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4CC11B6E-BE99-42A5-85AC-5B9EA0C820A4}"/>
              </a:ext>
            </a:extLst>
          </p:cNvPr>
          <p:cNvSpPr>
            <a:spLocks xmlns:a="http://schemas.openxmlformats.org/drawingml/2006/main" noGrp="1"/>
          </p:cNvSpPr>
          <p:nvPr/>
        </p:nvSpPr>
        <p:spPr>
          <a:xfrm xmlns:a="http://schemas.openxmlformats.org/drawingml/2006/main">
            <a:off x="822960" y="1764792"/>
            <a:ext cx="4846320" cy="20482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177800" marR="0" lvl="0" indent="-177800" algn="l">
              <a:spcBef>
                <a:spcPts val="0"/>
              </a:spcBef>
              <a:spcAft>
                <a:spcPts val="0"/>
              </a:spcAft>
              <a:buClr>
                <a:srgbClr val="1B1F2E"/>
              </a:buClr>
              <a:buSzPts val="1300"/>
              <a:buFont typeface="Calibri"/>
              <a:buChar char="•"/>
            </a:pPr>
            <a:r>
              <a:rPr sz="1300" b="1" i="0" u="none" cap="none">
                <a:solidFill>
                  <a:srgbClr val="1B1F2E"/>
                </a:solidFill>
                <a:latin typeface="Calibri"/>
                <a:ea typeface="Calibri"/>
                <a:cs typeface="Calibri"/>
              </a:rPr>
              <a:t>Mouse:</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mouseX/mouseY — live position</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mousePressed — held (variable)</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mousePressed() / mouseReleased() — one-time events</a:t>
            </a:r>
            <a:endParaRPr sz="1300" b="0" i="0" u="none" cap="none">
              <a:solidFill>
                <a:schemeClr val="dk1"/>
              </a:solidFill>
              <a:latin typeface="Calibri"/>
              <a:ea typeface="Calibri"/>
              <a:cs typeface="Calibri"/>
            </a:endParaRPr>
          </a:p>
        </p:txBody>
      </p:sp>
      <p:sp>
        <p:nvSpPr>
          <p:cNvPr id="32" name="Google Shape;32;p4">
            <a:extLst xmlns:a="http://schemas.openxmlformats.org/drawingml/2006/main">
              <a:ext uri="{FF2B5EF4-FFF2-40B4-BE49-F238E27FC236}">
                <a16:creationId xmlns:a16="http://schemas.microsoft.com/office/drawing/2014/main" id="{F12E3C3A-05C3-4AA4-AFC6-8DDB402AE895}"/>
              </a:ext>
            </a:extLst>
          </p:cNvPr>
          <p:cNvSpPr>
            <a:spLocks xmlns:a="http://schemas.openxmlformats.org/drawingml/2006/main" noGrp="1"/>
          </p:cNvSpPr>
          <p:nvPr/>
        </p:nvSpPr>
        <p:spPr>
          <a:xfrm xmlns:a="http://schemas.openxmlformats.org/drawingml/2006/main">
            <a:off x="6263640" y="1600200"/>
            <a:ext cx="5394960" cy="2377440"/>
          </a:xfrm>
          <a:prstGeom xmlns:a="http://schemas.openxmlformats.org/drawingml/2006/main" prst="roundRect">
            <a:avLst>
              <a:gd name="adj" fmla="val 2308"/>
            </a:avLst>
          </a:prstGeom>
          <a:solidFill xmlns:a="http://schemas.openxmlformats.org/drawingml/2006/main">
            <a:srgbClr val="FFFFFF"/>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6795290E-186A-4150-88BB-70FD80E256A8}"/>
              </a:ext>
            </a:extLst>
          </p:cNvPr>
          <p:cNvSpPr>
            <a:spLocks xmlns:a="http://schemas.openxmlformats.org/drawingml/2006/main" noGrp="1"/>
          </p:cNvSpPr>
          <p:nvPr/>
        </p:nvSpPr>
        <p:spPr>
          <a:xfrm xmlns:a="http://schemas.openxmlformats.org/drawingml/2006/main">
            <a:off x="6537960" y="1764792"/>
            <a:ext cx="4846320" cy="20482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177800" marR="0" lvl="0" indent="-177800" algn="l">
              <a:spcBef>
                <a:spcPts val="0"/>
              </a:spcBef>
              <a:spcAft>
                <a:spcPts val="0"/>
              </a:spcAft>
              <a:buClr>
                <a:srgbClr val="1B1F2E"/>
              </a:buClr>
              <a:buSzPts val="1300"/>
              <a:buFont typeface="Calibri"/>
              <a:buChar char="•"/>
            </a:pPr>
            <a:r>
              <a:rPr sz="1300" b="1" i="0" u="none" cap="none">
                <a:solidFill>
                  <a:srgbClr val="1B1F2E"/>
                </a:solidFill>
                <a:latin typeface="Calibri"/>
                <a:ea typeface="Calibri"/>
                <a:cs typeface="Calibri"/>
              </a:rPr>
              <a:t>Keyboard:</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key — the character typed</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keyPressed — held (variable)</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keyPressed() — event (may repeat while held)</a:t>
            </a:r>
            <a:endParaRPr sz="13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8641DB61-97D5-4324-868C-6528764CBBF0}"/>
              </a:ext>
            </a:extLst>
          </p:cNvPr>
          <p:cNvSpPr>
            <a:spLocks xmlns:a="http://schemas.openxmlformats.org/drawingml/2006/main" noGrp="1"/>
          </p:cNvSpPr>
          <p:nvPr/>
        </p:nvSpPr>
        <p:spPr>
          <a:xfrm xmlns:a="http://schemas.openxmlformats.org/drawingml/2006/main">
            <a:off x="548640" y="4206240"/>
            <a:ext cx="11064240" cy="1828800"/>
          </a:xfrm>
          <a:prstGeom xmlns:a="http://schemas.openxmlformats.org/drawingml/2006/main" prst="roundRect">
            <a:avLst>
              <a:gd name="adj" fmla="val 4000"/>
            </a:avLst>
          </a:prstGeom>
          <a:solidFill xmlns:a="http://schemas.openxmlformats.org/drawingml/2006/main">
            <a:srgbClr val="1E2761"/>
          </a:solidFill>
          <a:ln xmlns:a="http://schemas.openxmlformats.org/drawingml/2006/main" w="12700" cmpd="sng">
            <a:solidFill>
              <a:srgbClr val="1E276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 name="Google Shape;35;p4">
            <a:extLst xmlns:a="http://schemas.openxmlformats.org/drawingml/2006/main">
              <a:ext uri="{FF2B5EF4-FFF2-40B4-BE49-F238E27FC236}">
                <a16:creationId xmlns:a16="http://schemas.microsoft.com/office/drawing/2014/main" id="{743B1885-B97C-46B0-BF11-2C7392182B93}"/>
              </a:ext>
            </a:extLst>
          </p:cNvPr>
          <p:cNvSpPr>
            <a:spLocks xmlns:a="http://schemas.openxmlformats.org/drawingml/2006/main" noGrp="1"/>
          </p:cNvSpPr>
          <p:nvPr/>
        </p:nvSpPr>
        <p:spPr>
          <a:xfrm xmlns:a="http://schemas.openxmlformats.org/drawingml/2006/main">
            <a:off x="777240" y="4370832"/>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Today</a:t>
            </a:r>
            <a:endParaRPr sz="1300" b="0" i="0" u="none" cap="none">
              <a:solidFill>
                <a:schemeClr val="dk1"/>
              </a:solidFill>
              <a:latin typeface="Calibri"/>
              <a:ea typeface="Calibri"/>
              <a:cs typeface="Calibri"/>
            </a:endParaRPr>
          </a:p>
        </p:txBody>
      </p:sp>
      <p:sp>
        <p:nvSpPr>
          <p:cNvPr id="36" name="Google Shape;36;p4">
            <a:extLst xmlns:a="http://schemas.openxmlformats.org/drawingml/2006/main">
              <a:ext uri="{FF2B5EF4-FFF2-40B4-BE49-F238E27FC236}">
                <a16:creationId xmlns:a16="http://schemas.microsoft.com/office/drawing/2014/main" id="{78308F9A-BAF6-46F9-BEC1-22518AF44F7C}"/>
              </a:ext>
            </a:extLst>
          </p:cNvPr>
          <p:cNvSpPr>
            <a:spLocks xmlns:a="http://schemas.openxmlformats.org/drawingml/2006/main" noGrp="1"/>
          </p:cNvSpPr>
          <p:nvPr/>
        </p:nvSpPr>
        <p:spPr>
          <a:xfrm xmlns:a="http://schemas.openxmlformats.org/drawingml/2006/main">
            <a:off x="777240" y="4736592"/>
            <a:ext cx="10607040" cy="116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One program, both input sources — mouse press changes one property, a key press changes another. To make that work, we need to talk about where a variable is declared.</a:t>
            </a:r>
            <a:endParaRPr sz="1350" b="0" i="0" u="none" cap="none">
              <a:solidFill>
                <a:schemeClr val="dk1"/>
              </a:solidFill>
              <a:latin typeface="Calibri"/>
              <a:ea typeface="Calibri"/>
              <a:cs typeface="Calibri"/>
            </a:endParaRPr>
          </a:p>
        </p:txBody>
      </p:sp>
      <p:sp>
        <p:nvSpPr>
          <p:cNvPr id="37" name="Google Shape;37;p4">
            <a:extLst xmlns:a="http://schemas.openxmlformats.org/drawingml/2006/main">
              <a:ext uri="{FF2B5EF4-FFF2-40B4-BE49-F238E27FC236}">
                <a16:creationId xmlns:a16="http://schemas.microsoft.com/office/drawing/2014/main" id="{CB7C3BBF-6EB8-48D6-AD24-29C640F0BD38}"/>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38" name="Google Shape;38;p4">
            <a:extLst xmlns:a="http://schemas.openxmlformats.org/drawingml/2006/main">
              <a:ext uri="{FF2B5EF4-FFF2-40B4-BE49-F238E27FC236}">
                <a16:creationId xmlns:a16="http://schemas.microsoft.com/office/drawing/2014/main" id="{8AABEF2F-E935-4952-AC80-21D23E0317CC}"/>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7945686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Google Shape;44;p5">
            <a:extLst xmlns:a="http://schemas.openxmlformats.org/drawingml/2006/main">
              <a:ext uri="{FF2B5EF4-FFF2-40B4-BE49-F238E27FC236}">
                <a16:creationId xmlns:a16="http://schemas.microsoft.com/office/drawing/2014/main" id="{F729BC63-EAED-4B61-9EC2-5FB9CC598EBB}"/>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600"/>
              <a:buFont typeface="Cambria"/>
              <a:buNone/>
            </a:pPr>
            <a:r>
              <a:rPr sz="2600" b="1" i="0" u="none" cap="none">
                <a:solidFill>
                  <a:srgbClr val="1E2761"/>
                </a:solidFill>
                <a:latin typeface="Cambria"/>
                <a:ea typeface="Cambria"/>
                <a:cs typeface="Cambria"/>
              </a:rPr>
              <a:t>One Program, Two Input Sources</a:t>
            </a:r>
            <a:endParaRPr sz="2600" b="0" i="0" u="none" cap="none">
              <a:solidFill>
                <a:schemeClr val="dk1"/>
              </a:solidFill>
              <a:latin typeface="Calibri"/>
              <a:ea typeface="Calibri"/>
              <a:cs typeface="Calibri"/>
            </a:endParaRPr>
          </a:p>
        </p:txBody>
      </p:sp>
      <p:sp>
        <p:nvSpPr>
          <p:cNvPr id="45" name="Google Shape;45;p5">
            <a:extLst xmlns:a="http://schemas.openxmlformats.org/drawingml/2006/main">
              <a:ext uri="{FF2B5EF4-FFF2-40B4-BE49-F238E27FC236}">
                <a16:creationId xmlns:a16="http://schemas.microsoft.com/office/drawing/2014/main" id="{44C2F268-B9B5-4272-B730-CC6BFD6DB4FB}"/>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Mouse press toggles fill; the 'a' key grows the shape</a:t>
            </a:r>
            <a:endParaRPr sz="1500" b="0" i="0" u="none" cap="none">
              <a:solidFill>
                <a:schemeClr val="dk1"/>
              </a:solidFill>
              <a:latin typeface="Calibri"/>
              <a:ea typeface="Calibri"/>
              <a:cs typeface="Calibri"/>
            </a:endParaRPr>
          </a:p>
        </p:txBody>
      </p:sp>
      <p:sp>
        <p:nvSpPr>
          <p:cNvPr id="46" name="Google Shape;46;p5">
            <a:extLst xmlns:a="http://schemas.openxmlformats.org/drawingml/2006/main">
              <a:ext uri="{FF2B5EF4-FFF2-40B4-BE49-F238E27FC236}">
                <a16:creationId xmlns:a16="http://schemas.microsoft.com/office/drawing/2014/main" id="{B52AA61F-5048-4D9A-89F2-2BF36DDDEAE9}"/>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47" name="Google Shape;47;p5">
            <a:extLst xmlns:a="http://schemas.openxmlformats.org/drawingml/2006/main">
              <a:ext uri="{FF2B5EF4-FFF2-40B4-BE49-F238E27FC236}">
                <a16:creationId xmlns:a16="http://schemas.microsoft.com/office/drawing/2014/main" id="{4E81BFBF-FC07-4337-A5F3-28DAFC29C8F6}"/>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
        <p:nvSpPr>
          <p:cNvPr id="48" name="Google Shape;48;p5">
            <a:extLst xmlns:a="http://schemas.openxmlformats.org/drawingml/2006/main">
              <a:ext uri="{FF2B5EF4-FFF2-40B4-BE49-F238E27FC236}">
                <a16:creationId xmlns:a16="http://schemas.microsoft.com/office/drawing/2014/main" id="{496571BE-18B0-4F15-B23D-5AEE4B22C632}"/>
              </a:ext>
            </a:extLst>
          </p:cNvPr>
          <p:cNvSpPr>
            <a:spLocks xmlns:a="http://schemas.openxmlformats.org/drawingml/2006/main" noGrp="1"/>
          </p:cNvSpPr>
          <p:nvPr/>
        </p:nvSpPr>
        <p:spPr>
          <a:xfrm xmlns:a="http://schemas.openxmlformats.org/drawingml/2006/main">
            <a:off x="548640" y="1600200"/>
            <a:ext cx="5394960" cy="3017520"/>
          </a:xfrm>
          <a:prstGeom xmlns:a="http://schemas.openxmlformats.org/drawingml/2006/main" prst="roundRect">
            <a:avLst>
              <a:gd name="adj" fmla="val 2424"/>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5">
            <a:extLst xmlns:a="http://schemas.openxmlformats.org/drawingml/2006/main">
              <a:ext uri="{FF2B5EF4-FFF2-40B4-BE49-F238E27FC236}">
                <a16:creationId xmlns:a16="http://schemas.microsoft.com/office/drawing/2014/main" id="{1B494940-A322-49FB-A627-5614D492EB7B}"/>
              </a:ext>
            </a:extLst>
          </p:cNvPr>
          <p:cNvSpPr>
            <a:spLocks xmlns:a="http://schemas.openxmlformats.org/drawingml/2006/main" noGrp="1"/>
          </p:cNvSpPr>
          <p:nvPr/>
        </p:nvSpPr>
        <p:spPr>
          <a:xfrm xmlns:a="http://schemas.openxmlformats.org/drawingml/2006/main">
            <a:off x="777240" y="1764792"/>
            <a:ext cx="4937760" cy="2688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8FD0FF"/>
              </a:buClr>
              <a:buSzPts val="1350"/>
              <a:buFont typeface="Courier New"/>
              <a:buNone/>
            </a:pPr>
            <a:r>
              <a:rPr sz="1350" b="1" i="0" u="none" cap="none">
                <a:solidFill>
                  <a:srgbClr val="8FD0FF"/>
                </a:solidFill>
                <a:latin typeface="Courier New"/>
                <a:ea typeface="Courier New"/>
                <a:cs typeface="Courier New"/>
              </a:rPr>
              <a:t>int</a:t>
            </a:r>
            <a:r>
              <a:rPr sz="1350" b="0" i="0" u="none" cap="none">
                <a:solidFill>
                  <a:srgbClr val="CADCFC"/>
                </a:solidFill>
                <a:latin typeface="Courier New"/>
                <a:ea typeface="Courier New"/>
                <a:cs typeface="Courier New"/>
              </a:rPr>
              <a:t> shapeSize = 30;</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8FD0FF"/>
              </a:buClr>
              <a:buSzPts val="1350"/>
              <a:buFont typeface="Courier New"/>
              <a:buNone/>
            </a:pPr>
            <a:r>
              <a:rPr sz="1350" b="1" i="0" u="none" cap="none">
                <a:solidFill>
                  <a:srgbClr val="8FD0FF"/>
                </a:solidFill>
                <a:latin typeface="Courier New"/>
                <a:ea typeface="Courier New"/>
                <a:cs typeface="Courier New"/>
              </a:rPr>
              <a:t>int</a:t>
            </a:r>
            <a:r>
              <a:rPr sz="1350" b="0" i="0" u="none" cap="none">
                <a:solidFill>
                  <a:srgbClr val="CADCFC"/>
                </a:solidFill>
                <a:latin typeface="Courier New"/>
                <a:ea typeface="Courier New"/>
                <a:cs typeface="Courier New"/>
              </a:rPr>
              <a:t> fillValue = 200;</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000000"/>
              </a:buClr>
              <a:buSzPts val="1350"/>
              <a:buFont typeface="Courier New"/>
              <a:buNone/>
            </a:pPr>
            <a:r>
              <a:rPr sz="1350" b="0" i="0" u="none" cap="none">
                <a:solidFill>
                  <a:srgbClr val="000000"/>
                </a:solidFill>
                <a:latin typeface="Courier New"/>
                <a:ea typeface="Courier New"/>
                <a:cs typeface="Courier New"/>
              </a:rPr>
              <a:t>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8FD0FF"/>
              </a:buClr>
              <a:buSzPts val="1350"/>
              <a:buFont typeface="Courier New"/>
              <a:buNone/>
            </a:pPr>
            <a:r>
              <a:rPr sz="1350" b="1" i="0" u="none" cap="none">
                <a:solidFill>
                  <a:srgbClr val="8FD0FF"/>
                </a:solidFill>
                <a:latin typeface="Courier New"/>
                <a:ea typeface="Courier New"/>
                <a:cs typeface="Courier New"/>
              </a:rPr>
              <a:t>public</a:t>
            </a:r>
            <a:r>
              <a:rPr sz="1350" b="0" i="0" u="none" cap="none">
                <a:solidFill>
                  <a:srgbClr val="CADCFC"/>
                </a:solidFill>
                <a:latin typeface="Courier New"/>
                <a:ea typeface="Courier New"/>
                <a:cs typeface="Courier New"/>
              </a:rPr>
              <a:t> </a:t>
            </a:r>
            <a:r>
              <a:rPr sz="1350" b="1" i="0" u="none" cap="none">
                <a:solidFill>
                  <a:srgbClr val="8FD0FF"/>
                </a:solidFill>
                <a:latin typeface="Courier New"/>
                <a:ea typeface="Courier New"/>
                <a:cs typeface="Courier New"/>
              </a:rPr>
              <a:t>void</a:t>
            </a:r>
            <a:r>
              <a:rPr sz="1350" b="0" i="0" u="none" cap="none">
                <a:solidFill>
                  <a:srgbClr val="CADCFC"/>
                </a:solidFill>
                <a:latin typeface="Courier New"/>
                <a:ea typeface="Courier New"/>
                <a:cs typeface="Courier New"/>
              </a:rPr>
              <a:t> draw()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background(255);</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fill(fillValue);</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ellipse(mouseX, mouseY,</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shapeSize, shapeSize);</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a:t>
            </a:r>
            <a:endParaRPr sz="1350" b="0" i="0" u="none" cap="none">
              <a:solidFill>
                <a:schemeClr val="dk1"/>
              </a:solidFill>
              <a:latin typeface="Calibri"/>
              <a:ea typeface="Calibri"/>
              <a:cs typeface="Calibri"/>
            </a:endParaRPr>
          </a:p>
        </p:txBody>
      </p:sp>
      <p:sp>
        <p:nvSpPr>
          <p:cNvPr id="50" name="Google Shape;50;p5">
            <a:extLst xmlns:a="http://schemas.openxmlformats.org/drawingml/2006/main">
              <a:ext uri="{FF2B5EF4-FFF2-40B4-BE49-F238E27FC236}">
                <a16:creationId xmlns:a16="http://schemas.microsoft.com/office/drawing/2014/main" id="{6A85CF49-3B99-4439-8B8F-E0DADA11D146}"/>
              </a:ext>
            </a:extLst>
          </p:cNvPr>
          <p:cNvSpPr>
            <a:spLocks xmlns:a="http://schemas.openxmlformats.org/drawingml/2006/main" noGrp="1"/>
          </p:cNvSpPr>
          <p:nvPr/>
        </p:nvSpPr>
        <p:spPr>
          <a:xfrm xmlns:a="http://schemas.openxmlformats.org/drawingml/2006/main">
            <a:off x="6263640" y="1600200"/>
            <a:ext cx="5394960" cy="3886200"/>
          </a:xfrm>
          <a:prstGeom xmlns:a="http://schemas.openxmlformats.org/drawingml/2006/main" prst="roundRect">
            <a:avLst>
              <a:gd name="adj" fmla="val 1882"/>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1" name="Google Shape;51;p5">
            <a:extLst xmlns:a="http://schemas.openxmlformats.org/drawingml/2006/main">
              <a:ext uri="{FF2B5EF4-FFF2-40B4-BE49-F238E27FC236}">
                <a16:creationId xmlns:a16="http://schemas.microsoft.com/office/drawing/2014/main" id="{C84D4F73-AE93-466B-8B10-2A7518F88D79}"/>
              </a:ext>
            </a:extLst>
          </p:cNvPr>
          <p:cNvSpPr>
            <a:spLocks xmlns:a="http://schemas.openxmlformats.org/drawingml/2006/main" noGrp="1"/>
          </p:cNvSpPr>
          <p:nvPr/>
        </p:nvSpPr>
        <p:spPr>
          <a:xfrm xmlns:a="http://schemas.openxmlformats.org/drawingml/2006/main">
            <a:off x="6492240" y="1764792"/>
            <a:ext cx="4937760" cy="35570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8FD0FF"/>
              </a:buClr>
              <a:buSzPts val="1350"/>
              <a:buFont typeface="Courier New"/>
              <a:buNone/>
            </a:pPr>
            <a:r>
              <a:rPr sz="1350" b="1" i="0" u="none" cap="none">
                <a:solidFill>
                  <a:srgbClr val="8FD0FF"/>
                </a:solidFill>
                <a:latin typeface="Courier New"/>
                <a:ea typeface="Courier New"/>
                <a:cs typeface="Courier New"/>
              </a:rPr>
              <a:t>public</a:t>
            </a:r>
            <a:r>
              <a:rPr sz="1350" b="0" i="0" u="none" cap="none">
                <a:solidFill>
                  <a:srgbClr val="CADCFC"/>
                </a:solidFill>
                <a:latin typeface="Courier New"/>
                <a:ea typeface="Courier New"/>
                <a:cs typeface="Courier New"/>
              </a:rPr>
              <a:t> </a:t>
            </a:r>
            <a:r>
              <a:rPr sz="1350" b="1" i="0" u="none" cap="none">
                <a:solidFill>
                  <a:srgbClr val="8FD0FF"/>
                </a:solidFill>
                <a:latin typeface="Courier New"/>
                <a:ea typeface="Courier New"/>
                <a:cs typeface="Courier New"/>
              </a:rPr>
              <a:t>void</a:t>
            </a:r>
            <a:r>
              <a:rPr sz="1350" b="0" i="0" u="none" cap="none">
                <a:solidFill>
                  <a:srgbClr val="CADCFC"/>
                </a:solidFill>
                <a:latin typeface="Courier New"/>
                <a:ea typeface="Courier New"/>
                <a:cs typeface="Courier New"/>
              </a:rPr>
              <a:t> mousePressed()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a:t>
            </a:r>
            <a:r>
              <a:rPr sz="1350" b="1" i="0" u="none" cap="none">
                <a:solidFill>
                  <a:srgbClr val="8FD0FF"/>
                </a:solidFill>
                <a:latin typeface="Courier New"/>
                <a:ea typeface="Courier New"/>
                <a:cs typeface="Courier New"/>
              </a:rPr>
              <a:t>if</a:t>
            </a:r>
            <a:r>
              <a:rPr sz="1350" b="0" i="0" u="none" cap="none">
                <a:solidFill>
                  <a:srgbClr val="CADCFC"/>
                </a:solidFill>
                <a:latin typeface="Courier New"/>
                <a:ea typeface="Courier New"/>
                <a:cs typeface="Courier New"/>
              </a:rPr>
              <a:t> (fillValue == 80)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fillValue = 200;</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 </a:t>
            </a:r>
            <a:r>
              <a:rPr sz="1350" b="1" i="0" u="none" cap="none">
                <a:solidFill>
                  <a:srgbClr val="8FD0FF"/>
                </a:solidFill>
                <a:latin typeface="Courier New"/>
                <a:ea typeface="Courier New"/>
                <a:cs typeface="Courier New"/>
              </a:rPr>
              <a:t>else</a:t>
            </a:r>
            <a:r>
              <a:rPr sz="1350" b="0" i="0" u="none" cap="none">
                <a:solidFill>
                  <a:srgbClr val="CADCFC"/>
                </a:solidFill>
                <a:latin typeface="Courier New"/>
                <a:ea typeface="Courier New"/>
                <a:cs typeface="Courier New"/>
              </a:rPr>
              <a:t>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fillValue = 80;</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000000"/>
              </a:buClr>
              <a:buSzPts val="1350"/>
              <a:buFont typeface="Courier New"/>
              <a:buNone/>
            </a:pPr>
            <a:r>
              <a:rPr sz="1350" b="0" i="0" u="none" cap="none">
                <a:solidFill>
                  <a:srgbClr val="000000"/>
                </a:solidFill>
                <a:latin typeface="Courier New"/>
                <a:ea typeface="Courier New"/>
                <a:cs typeface="Courier New"/>
              </a:rPr>
              <a:t>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8FD0FF"/>
              </a:buClr>
              <a:buSzPts val="1350"/>
              <a:buFont typeface="Courier New"/>
              <a:buNone/>
            </a:pPr>
            <a:r>
              <a:rPr sz="1350" b="1" i="0" u="none" cap="none">
                <a:solidFill>
                  <a:srgbClr val="8FD0FF"/>
                </a:solidFill>
                <a:latin typeface="Courier New"/>
                <a:ea typeface="Courier New"/>
                <a:cs typeface="Courier New"/>
              </a:rPr>
              <a:t>public</a:t>
            </a:r>
            <a:r>
              <a:rPr sz="1350" b="0" i="0" u="none" cap="none">
                <a:solidFill>
                  <a:srgbClr val="CADCFC"/>
                </a:solidFill>
                <a:latin typeface="Courier New"/>
                <a:ea typeface="Courier New"/>
                <a:cs typeface="Courier New"/>
              </a:rPr>
              <a:t> </a:t>
            </a:r>
            <a:r>
              <a:rPr sz="1350" b="1" i="0" u="none" cap="none">
                <a:solidFill>
                  <a:srgbClr val="8FD0FF"/>
                </a:solidFill>
                <a:latin typeface="Courier New"/>
                <a:ea typeface="Courier New"/>
                <a:cs typeface="Courier New"/>
              </a:rPr>
              <a:t>void</a:t>
            </a:r>
            <a:r>
              <a:rPr sz="1350" b="0" i="0" u="none" cap="none">
                <a:solidFill>
                  <a:srgbClr val="CADCFC"/>
                </a:solidFill>
                <a:latin typeface="Courier New"/>
                <a:ea typeface="Courier New"/>
                <a:cs typeface="Courier New"/>
              </a:rPr>
              <a:t> keyPressed()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a:t>
            </a:r>
            <a:r>
              <a:rPr sz="1350" b="1" i="0" u="none" cap="none">
                <a:solidFill>
                  <a:srgbClr val="8FD0FF"/>
                </a:solidFill>
                <a:latin typeface="Courier New"/>
                <a:ea typeface="Courier New"/>
                <a:cs typeface="Courier New"/>
              </a:rPr>
              <a:t>if</a:t>
            </a:r>
            <a:r>
              <a:rPr sz="1350" b="0" i="0" u="none" cap="none">
                <a:solidFill>
                  <a:srgbClr val="CADCFC"/>
                </a:solidFill>
                <a:latin typeface="Courier New"/>
                <a:ea typeface="Courier New"/>
                <a:cs typeface="Courier New"/>
              </a:rPr>
              <a:t> (key == 'a')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shapeSize = shapeSize + 10;</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a:t>
            </a:r>
            <a:endParaRPr sz="1350" b="0" i="0" u="none" cap="none">
              <a:solidFill>
                <a:schemeClr val="dk1"/>
              </a:solidFill>
              <a:latin typeface="Calibri"/>
              <a:ea typeface="Calibri"/>
              <a:cs typeface="Calibri"/>
            </a:endParaRPr>
          </a:p>
        </p:txBody>
      </p:sp>
      <p:sp>
        <p:nvSpPr>
          <p:cNvPr id="52" name="Google Shape;52;p5">
            <a:extLst xmlns:a="http://schemas.openxmlformats.org/drawingml/2006/main">
              <a:ext uri="{FF2B5EF4-FFF2-40B4-BE49-F238E27FC236}">
                <a16:creationId xmlns:a16="http://schemas.microsoft.com/office/drawing/2014/main" id="{B0835DAC-CF67-4309-B28B-A19AA1497D9A}"/>
              </a:ext>
            </a:extLst>
          </p:cNvPr>
          <p:cNvSpPr>
            <a:spLocks xmlns:a="http://schemas.openxmlformats.org/drawingml/2006/main" noGrp="1"/>
          </p:cNvSpPr>
          <p:nvPr/>
        </p:nvSpPr>
        <p:spPr>
          <a:xfrm xmlns:a="http://schemas.openxmlformats.org/drawingml/2006/main">
            <a:off x="548640" y="4800600"/>
            <a:ext cx="5394960" cy="1097280"/>
          </a:xfrm>
          <a:prstGeom xmlns:a="http://schemas.openxmlformats.org/drawingml/2006/main" prst="roundRect">
            <a:avLst>
              <a:gd name="adj" fmla="val 6667"/>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 name="Google Shape;53;p5">
            <a:extLst xmlns:a="http://schemas.openxmlformats.org/drawingml/2006/main">
              <a:ext uri="{FF2B5EF4-FFF2-40B4-BE49-F238E27FC236}">
                <a16:creationId xmlns:a16="http://schemas.microsoft.com/office/drawing/2014/main" id="{07D24BED-77ED-4D22-B308-6DD23EC270C7}"/>
              </a:ext>
            </a:extLst>
          </p:cNvPr>
          <p:cNvSpPr>
            <a:spLocks xmlns:a="http://schemas.openxmlformats.org/drawingml/2006/main" noGrp="1"/>
          </p:cNvSpPr>
          <p:nvPr/>
        </p:nvSpPr>
        <p:spPr>
          <a:xfrm xmlns:a="http://schemas.openxmlformats.org/drawingml/2006/main">
            <a:off x="777240" y="4965192"/>
            <a:ext cx="4937760" cy="7955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Declared once, at the top — shared across functions.</a:t>
            </a:r>
            <a:endParaRPr sz="1350" b="0" i="0" u="none" cap="none">
              <a:solidFill>
                <a:schemeClr val="dk1"/>
              </a:solidFill>
              <a:latin typeface="Calibri"/>
              <a:ea typeface="Calibri"/>
              <a:cs typeface="Calibri"/>
            </a:endParaRPr>
          </a:p>
        </p:txBody>
      </p:sp>
      <p:sp>
        <p:nvSpPr>
          <p:cNvPr id="54" name="Google Shape;54;p5">
            <a:extLst xmlns:a="http://schemas.openxmlformats.org/drawingml/2006/main">
              <a:ext uri="{FF2B5EF4-FFF2-40B4-BE49-F238E27FC236}">
                <a16:creationId xmlns:a16="http://schemas.microsoft.com/office/drawing/2014/main" id="{033E9165-048C-4687-BBD8-8DD2726B0AA7}"/>
              </a:ext>
            </a:extLst>
          </p:cNvPr>
          <p:cNvSpPr>
            <a:spLocks xmlns:a="http://schemas.openxmlformats.org/drawingml/2006/main" noGrp="1"/>
          </p:cNvSpPr>
          <p:nvPr/>
        </p:nvSpPr>
        <p:spPr>
          <a:xfrm xmlns:a="http://schemas.openxmlformats.org/drawingml/2006/main">
            <a:off x="6263640" y="5623560"/>
            <a:ext cx="5394960" cy="822960"/>
          </a:xfrm>
          <a:prstGeom xmlns:a="http://schemas.openxmlformats.org/drawingml/2006/main" prst="roundRect">
            <a:avLst>
              <a:gd name="adj" fmla="val 8889"/>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5" name="Google Shape;55;p5">
            <a:extLst xmlns:a="http://schemas.openxmlformats.org/drawingml/2006/main">
              <a:ext uri="{FF2B5EF4-FFF2-40B4-BE49-F238E27FC236}">
                <a16:creationId xmlns:a16="http://schemas.microsoft.com/office/drawing/2014/main" id="{EB4EC1C5-8E6C-4B0B-A88B-AEFD05B4DAF9}"/>
              </a:ext>
            </a:extLst>
          </p:cNvPr>
          <p:cNvSpPr>
            <a:spLocks xmlns:a="http://schemas.openxmlformats.org/drawingml/2006/main" noGrp="1"/>
          </p:cNvSpPr>
          <p:nvPr/>
        </p:nvSpPr>
        <p:spPr>
          <a:xfrm xmlns:a="http://schemas.openxmlformats.org/drawingml/2006/main">
            <a:off x="6492240" y="5788152"/>
            <a:ext cx="493776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Holding 'a' may grow the shape repeatedly — key repeat (Part 2), not a bug.</a:t>
            </a:r>
            <a:endParaRPr sz="1350" b="0" i="0" u="none" cap="none">
              <a:solidFill>
                <a:schemeClr val="dk1"/>
              </a:solidFill>
              <a:latin typeface="Calibri"/>
              <a:ea typeface="Calibri"/>
              <a:cs typeface="Calibri"/>
            </a:endParaRPr>
          </a:p>
        </p:txBody>
      </p:sp>
      <p:sp>
        <p:nvSpPr>
          <p:cNvPr id="56" name="Google Shape;56;p5">
            <a:extLst xmlns:a="http://schemas.openxmlformats.org/drawingml/2006/main">
              <a:ext uri="{FF2B5EF4-FFF2-40B4-BE49-F238E27FC236}">
                <a16:creationId xmlns:a16="http://schemas.microsoft.com/office/drawing/2014/main" id="{EF4610A2-E523-45D2-BC20-2E1A71578746}"/>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57" name="Google Shape;57;p5">
            <a:extLst xmlns:a="http://schemas.openxmlformats.org/drawingml/2006/main">
              <a:ext uri="{FF2B5EF4-FFF2-40B4-BE49-F238E27FC236}">
                <a16:creationId xmlns:a16="http://schemas.microsoft.com/office/drawing/2014/main" id="{E38BA219-91F7-4811-96AD-BFC71DBE432C}"/>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231090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Google Shape;63;p6">
            <a:extLst xmlns:a="http://schemas.openxmlformats.org/drawingml/2006/main">
              <a:ext uri="{FF2B5EF4-FFF2-40B4-BE49-F238E27FC236}">
                <a16:creationId xmlns:a16="http://schemas.microsoft.com/office/drawing/2014/main" id="{3D4C5E5B-13D5-4608-A415-E35BC6BE0F6D}"/>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600"/>
              <a:buFont typeface="Cambria"/>
              <a:buNone/>
            </a:pPr>
            <a:r>
              <a:rPr sz="2600" b="1" i="0" u="none" cap="none">
                <a:solidFill>
                  <a:srgbClr val="1E2761"/>
                </a:solidFill>
                <a:latin typeface="Cambria"/>
                <a:ea typeface="Cambria"/>
                <a:cs typeface="Cambria"/>
              </a:rPr>
              <a:t>Where shapeSize and fillValue Live</a:t>
            </a:r>
            <a:endParaRPr sz="2600" b="0" i="0" u="none" cap="none">
              <a:solidFill>
                <a:schemeClr val="dk1"/>
              </a:solidFill>
              <a:latin typeface="Calibri"/>
              <a:ea typeface="Calibri"/>
              <a:cs typeface="Calibri"/>
            </a:endParaRPr>
          </a:p>
        </p:txBody>
      </p:sp>
      <p:sp>
        <p:nvSpPr>
          <p:cNvPr id="64" name="Google Shape;64;p6">
            <a:extLst xmlns:a="http://schemas.openxmlformats.org/drawingml/2006/main">
              <a:ext uri="{FF2B5EF4-FFF2-40B4-BE49-F238E27FC236}">
                <a16:creationId xmlns:a16="http://schemas.microsoft.com/office/drawing/2014/main" id="{FBEF3AA0-166A-494E-95C9-4DA62A0CEECB}"/>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A new term: persistent sketch variable</a:t>
            </a:r>
            <a:endParaRPr sz="1500" b="0" i="0" u="none" cap="none">
              <a:solidFill>
                <a:schemeClr val="dk1"/>
              </a:solidFill>
              <a:latin typeface="Calibri"/>
              <a:ea typeface="Calibri"/>
              <a:cs typeface="Calibri"/>
            </a:endParaRPr>
          </a:p>
        </p:txBody>
      </p:sp>
      <p:sp>
        <p:nvSpPr>
          <p:cNvPr id="65" name="Google Shape;65;p6">
            <a:extLst xmlns:a="http://schemas.openxmlformats.org/drawingml/2006/main">
              <a:ext uri="{FF2B5EF4-FFF2-40B4-BE49-F238E27FC236}">
                <a16:creationId xmlns:a16="http://schemas.microsoft.com/office/drawing/2014/main" id="{A5B93DF8-1C3D-4224-B10F-E33FB009A0A2}"/>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66" name="Google Shape;66;p6">
            <a:extLst xmlns:a="http://schemas.openxmlformats.org/drawingml/2006/main">
              <a:ext uri="{FF2B5EF4-FFF2-40B4-BE49-F238E27FC236}">
                <a16:creationId xmlns:a16="http://schemas.microsoft.com/office/drawing/2014/main" id="{742E6EB3-4B33-4D53-BDED-4B78D685F42C}"/>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
        <p:nvSpPr>
          <p:cNvPr id="67" name="Google Shape;67;p6">
            <a:extLst xmlns:a="http://schemas.openxmlformats.org/drawingml/2006/main">
              <a:ext uri="{FF2B5EF4-FFF2-40B4-BE49-F238E27FC236}">
                <a16:creationId xmlns:a16="http://schemas.microsoft.com/office/drawing/2014/main" id="{9E085053-0A98-4E88-95CC-04D4F6CEBFD1}"/>
              </a:ext>
            </a:extLst>
          </p:cNvPr>
          <p:cNvSpPr>
            <a:spLocks xmlns:a="http://schemas.openxmlformats.org/drawingml/2006/main" noGrp="1"/>
          </p:cNvSpPr>
          <p:nvPr/>
        </p:nvSpPr>
        <p:spPr>
          <a:xfrm xmlns:a="http://schemas.openxmlformats.org/drawingml/2006/main">
            <a:off x="548640" y="1600200"/>
            <a:ext cx="11064240" cy="2286000"/>
          </a:xfrm>
          <a:prstGeom xmlns:a="http://schemas.openxmlformats.org/drawingml/2006/main" prst="roundRect">
            <a:avLst>
              <a:gd name="adj" fmla="val 3200"/>
            </a:avLst>
          </a:prstGeom>
          <a:solidFill xmlns:a="http://schemas.openxmlformats.org/drawingml/2006/main">
            <a:srgbClr val="1E2761"/>
          </a:solidFill>
          <a:ln xmlns:a="http://schemas.openxmlformats.org/drawingml/2006/main" w="12700" cmpd="sng">
            <a:solidFill>
              <a:srgbClr val="1E276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6">
            <a:extLst xmlns:a="http://schemas.openxmlformats.org/drawingml/2006/main">
              <a:ext uri="{FF2B5EF4-FFF2-40B4-BE49-F238E27FC236}">
                <a16:creationId xmlns:a16="http://schemas.microsoft.com/office/drawing/2014/main" id="{24FDC765-9AD2-4F0E-A9FD-B67633B30F95}"/>
              </a:ext>
            </a:extLst>
          </p:cNvPr>
          <p:cNvSpPr>
            <a:spLocks xmlns:a="http://schemas.openxmlformats.org/drawingml/2006/main" noGrp="1"/>
          </p:cNvSpPr>
          <p:nvPr/>
        </p:nvSpPr>
        <p:spPr>
          <a:xfrm xmlns:a="http://schemas.openxmlformats.org/drawingml/2006/main">
            <a:off x="777240" y="1764792"/>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The rule</a:t>
            </a:r>
            <a:endParaRPr sz="1300" b="0" i="0" u="none" cap="none">
              <a:solidFill>
                <a:schemeClr val="dk1"/>
              </a:solidFill>
              <a:latin typeface="Calibri"/>
              <a:ea typeface="Calibri"/>
              <a:cs typeface="Calibri"/>
            </a:endParaRPr>
          </a:p>
        </p:txBody>
      </p:sp>
      <p:sp>
        <p:nvSpPr>
          <p:cNvPr id="69" name="Google Shape;69;p6">
            <a:extLst xmlns:a="http://schemas.openxmlformats.org/drawingml/2006/main">
              <a:ext uri="{FF2B5EF4-FFF2-40B4-BE49-F238E27FC236}">
                <a16:creationId xmlns:a16="http://schemas.microsoft.com/office/drawing/2014/main" id="{CB36A523-B6B4-4372-BDE2-DE991AED255B}"/>
              </a:ext>
            </a:extLst>
          </p:cNvPr>
          <p:cNvSpPr>
            <a:spLocks xmlns:a="http://schemas.openxmlformats.org/drawingml/2006/main" noGrp="1"/>
          </p:cNvSpPr>
          <p:nvPr/>
        </p:nvSpPr>
        <p:spPr>
          <a:xfrm xmlns:a="http://schemas.openxmlformats.org/drawingml/2006/main">
            <a:off x="777240" y="2130552"/>
            <a:ext cx="10607040" cy="1618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These variables must be available to more than one function: draw() reads both shapeSize and fillValue every frame, while mousePressed() changes fillValue and keyPressed() changes shapeSize. A variable declared inside one function cannot be reached from another function at all — so both are declared at class level, outside every function. We'll place ours above setup() for readability.</a:t>
            </a:r>
            <a:endParaRPr sz="1350" b="0" i="0" u="none" cap="none">
              <a:solidFill>
                <a:schemeClr val="dk1"/>
              </a:solidFill>
              <a:latin typeface="Calibri"/>
              <a:ea typeface="Calibri"/>
              <a:cs typeface="Calibri"/>
            </a:endParaRPr>
          </a:p>
        </p:txBody>
      </p:sp>
      <p:sp>
        <p:nvSpPr>
          <p:cNvPr id="70" name="Google Shape;70;p6">
            <a:extLst xmlns:a="http://schemas.openxmlformats.org/drawingml/2006/main">
              <a:ext uri="{FF2B5EF4-FFF2-40B4-BE49-F238E27FC236}">
                <a16:creationId xmlns:a16="http://schemas.microsoft.com/office/drawing/2014/main" id="{E5813EA9-1E5B-45C8-B750-DCD47988B171}"/>
              </a:ext>
            </a:extLst>
          </p:cNvPr>
          <p:cNvSpPr>
            <a:spLocks xmlns:a="http://schemas.openxmlformats.org/drawingml/2006/main" noGrp="1"/>
          </p:cNvSpPr>
          <p:nvPr/>
        </p:nvSpPr>
        <p:spPr>
          <a:xfrm xmlns:a="http://schemas.openxmlformats.org/drawingml/2006/main">
            <a:off x="548640" y="4069080"/>
            <a:ext cx="11064240" cy="1783080"/>
          </a:xfrm>
          <a:prstGeom xmlns:a="http://schemas.openxmlformats.org/drawingml/2006/main" prst="roundRect">
            <a:avLst>
              <a:gd name="adj" fmla="val 4103"/>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 name="Google Shape;71;p6">
            <a:extLst xmlns:a="http://schemas.openxmlformats.org/drawingml/2006/main">
              <a:ext uri="{FF2B5EF4-FFF2-40B4-BE49-F238E27FC236}">
                <a16:creationId xmlns:a16="http://schemas.microsoft.com/office/drawing/2014/main" id="{DBEFBDB5-EA8F-4B9B-8E14-60FDFDEAA44B}"/>
              </a:ext>
            </a:extLst>
          </p:cNvPr>
          <p:cNvSpPr>
            <a:spLocks xmlns:a="http://schemas.openxmlformats.org/drawingml/2006/main" noGrp="1"/>
          </p:cNvSpPr>
          <p:nvPr/>
        </p:nvSpPr>
        <p:spPr>
          <a:xfrm xmlns:a="http://schemas.openxmlformats.org/drawingml/2006/main">
            <a:off x="777240" y="4233672"/>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New term: persistent sketch variable</a:t>
            </a:r>
            <a:endParaRPr sz="1300" b="0" i="0" u="none" cap="none">
              <a:solidFill>
                <a:schemeClr val="dk1"/>
              </a:solidFill>
              <a:latin typeface="Calibri"/>
              <a:ea typeface="Calibri"/>
              <a:cs typeface="Calibri"/>
            </a:endParaRPr>
          </a:p>
        </p:txBody>
      </p:sp>
      <p:sp>
        <p:nvSpPr>
          <p:cNvPr id="72" name="Google Shape;72;p6">
            <a:extLst xmlns:a="http://schemas.openxmlformats.org/drawingml/2006/main">
              <a:ext uri="{FF2B5EF4-FFF2-40B4-BE49-F238E27FC236}">
                <a16:creationId xmlns:a16="http://schemas.microsoft.com/office/drawing/2014/main" id="{EB5FD4F3-0264-45E5-A6BE-E9C5EA64604C}"/>
              </a:ext>
            </a:extLst>
          </p:cNvPr>
          <p:cNvSpPr>
            <a:spLocks xmlns:a="http://schemas.openxmlformats.org/drawingml/2006/main" noGrp="1"/>
          </p:cNvSpPr>
          <p:nvPr/>
        </p:nvSpPr>
        <p:spPr>
          <a:xfrm xmlns:a="http://schemas.openxmlformats.org/drawingml/2006/main">
            <a:off x="777240" y="4599432"/>
            <a:ext cx="10607040" cy="11155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A variable declared this way keeps its value between frames and between events — that's what makes it "persistent." Why this matters, and how to think about it deliberately, is the whole subject of the next lesson (B3.2).</a:t>
            </a:r>
            <a:endParaRPr sz="1350" b="0" i="0" u="none" cap="none">
              <a:solidFill>
                <a:schemeClr val="dk1"/>
              </a:solidFill>
              <a:latin typeface="Calibri"/>
              <a:ea typeface="Calibri"/>
              <a:cs typeface="Calibri"/>
            </a:endParaRPr>
          </a:p>
        </p:txBody>
      </p:sp>
      <p:sp>
        <p:nvSpPr>
          <p:cNvPr id="73" name="Google Shape;73;p6">
            <a:extLst xmlns:a="http://schemas.openxmlformats.org/drawingml/2006/main">
              <a:ext uri="{FF2B5EF4-FFF2-40B4-BE49-F238E27FC236}">
                <a16:creationId xmlns:a16="http://schemas.microsoft.com/office/drawing/2014/main" id="{40792C4A-2313-4D51-8368-D8AD4A4F20FB}"/>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74" name="Google Shape;74;p6">
            <a:extLst xmlns:a="http://schemas.openxmlformats.org/drawingml/2006/main">
              <a:ext uri="{FF2B5EF4-FFF2-40B4-BE49-F238E27FC236}">
                <a16:creationId xmlns:a16="http://schemas.microsoft.com/office/drawing/2014/main" id="{58DFA4F2-14B5-4287-9807-D6BC105FDDF2}"/>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1173392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 name="Google Shape;80;p7">
            <a:extLst xmlns:a="http://schemas.openxmlformats.org/drawingml/2006/main">
              <a:ext uri="{FF2B5EF4-FFF2-40B4-BE49-F238E27FC236}">
                <a16:creationId xmlns:a16="http://schemas.microsoft.com/office/drawing/2014/main" id="{27B933A6-759E-4183-87B5-A05186DC5AF4}"/>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600"/>
              <a:buFont typeface="Cambria"/>
              <a:buNone/>
            </a:pPr>
            <a:r>
              <a:rPr sz="2600" b="1" i="0" u="none" cap="none">
                <a:solidFill>
                  <a:srgbClr val="1E2761"/>
                </a:solidFill>
                <a:latin typeface="Cambria"/>
                <a:ea typeface="Cambria"/>
                <a:cs typeface="Cambria"/>
              </a:rPr>
              <a:t>A Quick Preview: Program Mode</a:t>
            </a:r>
            <a:endParaRPr sz="2600" b="0" i="0" u="none" cap="none">
              <a:solidFill>
                <a:schemeClr val="dk1"/>
              </a:solidFill>
              <a:latin typeface="Calibri"/>
              <a:ea typeface="Calibri"/>
              <a:cs typeface="Calibri"/>
            </a:endParaRPr>
          </a:p>
        </p:txBody>
      </p:sp>
      <p:sp>
        <p:nvSpPr>
          <p:cNvPr id="81" name="Google Shape;81;p7">
            <a:extLst xmlns:a="http://schemas.openxmlformats.org/drawingml/2006/main">
              <a:ext uri="{FF2B5EF4-FFF2-40B4-BE49-F238E27FC236}">
                <a16:creationId xmlns:a16="http://schemas.microsoft.com/office/drawing/2014/main" id="{59F0BD9A-C9A9-4224-9C64-01718B208353}"/>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One more thing a persistent variable could hold</a:t>
            </a:r>
            <a:endParaRPr sz="1500" b="0" i="0" u="none" cap="none">
              <a:solidFill>
                <a:schemeClr val="dk1"/>
              </a:solidFill>
              <a:latin typeface="Calibri"/>
              <a:ea typeface="Calibri"/>
              <a:cs typeface="Calibri"/>
            </a:endParaRPr>
          </a:p>
        </p:txBody>
      </p:sp>
      <p:sp>
        <p:nvSpPr>
          <p:cNvPr id="82" name="Google Shape;82;p7">
            <a:extLst xmlns:a="http://schemas.openxmlformats.org/drawingml/2006/main">
              <a:ext uri="{FF2B5EF4-FFF2-40B4-BE49-F238E27FC236}">
                <a16:creationId xmlns:a16="http://schemas.microsoft.com/office/drawing/2014/main" id="{2D970A9F-05CA-4EB3-869B-F597DA792D41}"/>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83" name="Google Shape;83;p7">
            <a:extLst xmlns:a="http://schemas.openxmlformats.org/drawingml/2006/main">
              <a:ext uri="{FF2B5EF4-FFF2-40B4-BE49-F238E27FC236}">
                <a16:creationId xmlns:a16="http://schemas.microsoft.com/office/drawing/2014/main" id="{ACAD9B28-AFE0-4E68-8070-8E8241204925}"/>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
        <p:nvSpPr>
          <p:cNvPr id="84" name="Google Shape;84;p7">
            <a:extLst xmlns:a="http://schemas.openxmlformats.org/drawingml/2006/main">
              <a:ext uri="{FF2B5EF4-FFF2-40B4-BE49-F238E27FC236}">
                <a16:creationId xmlns:a16="http://schemas.microsoft.com/office/drawing/2014/main" id="{E88B9D42-9A79-4133-8EA2-994749486E9D}"/>
              </a:ext>
            </a:extLst>
          </p:cNvPr>
          <p:cNvSpPr>
            <a:spLocks xmlns:a="http://schemas.openxmlformats.org/drawingml/2006/main" noGrp="1"/>
          </p:cNvSpPr>
          <p:nvPr/>
        </p:nvSpPr>
        <p:spPr>
          <a:xfrm xmlns:a="http://schemas.openxmlformats.org/drawingml/2006/main">
            <a:off x="548640" y="1737360"/>
            <a:ext cx="11064240" cy="1828800"/>
          </a:xfrm>
          <a:prstGeom xmlns:a="http://schemas.openxmlformats.org/drawingml/2006/main" prst="roundRect">
            <a:avLst>
              <a:gd name="adj" fmla="val 3000"/>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5" name="Google Shape;85;p7">
            <a:extLst xmlns:a="http://schemas.openxmlformats.org/drawingml/2006/main">
              <a:ext uri="{FF2B5EF4-FFF2-40B4-BE49-F238E27FC236}">
                <a16:creationId xmlns:a16="http://schemas.microsoft.com/office/drawing/2014/main" id="{3D6FB992-C0B9-44DB-AC55-3A2AA0F802DD}"/>
              </a:ext>
            </a:extLst>
          </p:cNvPr>
          <p:cNvSpPr>
            <a:spLocks xmlns:a="http://schemas.openxmlformats.org/drawingml/2006/main" noGrp="1"/>
          </p:cNvSpPr>
          <p:nvPr/>
        </p:nvSpPr>
        <p:spPr>
          <a:xfrm xmlns:a="http://schemas.openxmlformats.org/drawingml/2006/main">
            <a:off x="822960" y="1901952"/>
            <a:ext cx="10515600" cy="14996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177800" marR="0" lvl="0" indent="-177800" algn="l">
              <a:spcBef>
                <a:spcPts val="0"/>
              </a:spcBef>
              <a:spcAft>
                <a:spcPts val="0"/>
              </a:spcAft>
              <a:buClr>
                <a:srgbClr val="1B1F2E"/>
              </a:buClr>
              <a:buSzPts val="1300"/>
              <a:buFont typeface="Calibri"/>
              <a:buChar char="•"/>
            </a:pPr>
            <a:r>
              <a:rPr sz="1300" b="0" i="0" u="none" cap="none">
                <a:solidFill>
                  <a:srgbClr val="1B1F2E"/>
                </a:solidFill>
                <a:latin typeface="Calibri"/>
                <a:ea typeface="Calibri"/>
                <a:cs typeface="Calibri"/>
              </a:rPr>
              <a:t>shapeSize and fillValue each hold a number that tweaks an existing drawing.</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A persistent variable could instead hold which "mode" the whole program is in — changing what gets drawn entirely, not just tweaking one property.</a:t>
            </a:r>
            <a:endParaRPr sz="1300" b="0" i="0" u="none" cap="none">
              <a:solidFill>
                <a:schemeClr val="dk1"/>
              </a:solidFill>
              <a:latin typeface="Calibri"/>
              <a:ea typeface="Calibri"/>
              <a:cs typeface="Calibri"/>
            </a:endParaRPr>
          </a:p>
        </p:txBody>
      </p:sp>
      <p:sp>
        <p:nvSpPr>
          <p:cNvPr id="86" name="Google Shape;86;p7">
            <a:extLst xmlns:a="http://schemas.openxmlformats.org/drawingml/2006/main">
              <a:ext uri="{FF2B5EF4-FFF2-40B4-BE49-F238E27FC236}">
                <a16:creationId xmlns:a16="http://schemas.microsoft.com/office/drawing/2014/main" id="{99983B53-AEA9-4008-9856-862421168D82}"/>
              </a:ext>
            </a:extLst>
          </p:cNvPr>
          <p:cNvSpPr>
            <a:spLocks xmlns:a="http://schemas.openxmlformats.org/drawingml/2006/main" noGrp="1"/>
          </p:cNvSpPr>
          <p:nvPr/>
        </p:nvSpPr>
        <p:spPr>
          <a:xfrm xmlns:a="http://schemas.openxmlformats.org/drawingml/2006/main">
            <a:off x="548640" y="3749040"/>
            <a:ext cx="11064240" cy="2103120"/>
          </a:xfrm>
          <a:prstGeom xmlns:a="http://schemas.openxmlformats.org/drawingml/2006/main" prst="roundRect">
            <a:avLst>
              <a:gd name="adj" fmla="val 3478"/>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7" name="Google Shape;87;p7">
            <a:extLst xmlns:a="http://schemas.openxmlformats.org/drawingml/2006/main">
              <a:ext uri="{FF2B5EF4-FFF2-40B4-BE49-F238E27FC236}">
                <a16:creationId xmlns:a16="http://schemas.microsoft.com/office/drawing/2014/main" id="{AE128219-BA3C-4C55-9C15-AF48A3009AEE}"/>
              </a:ext>
            </a:extLst>
          </p:cNvPr>
          <p:cNvSpPr>
            <a:spLocks xmlns:a="http://schemas.openxmlformats.org/drawingml/2006/main" noGrp="1"/>
          </p:cNvSpPr>
          <p:nvPr/>
        </p:nvSpPr>
        <p:spPr>
          <a:xfrm xmlns:a="http://schemas.openxmlformats.org/drawingml/2006/main">
            <a:off x="777240" y="3913632"/>
            <a:ext cx="10607040" cy="18013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That's a much bigger idea than this lesson covers — a full worked example, with multiple screens and transitions between them, is B3.3's entire learning statement. For now, just know the same mechanism (a persistent variable, changed by an event, checked by a condition) is what makes it possible.</a:t>
            </a:r>
            <a:endParaRPr sz="1350" b="0" i="0" u="none" cap="none">
              <a:solidFill>
                <a:schemeClr val="dk1"/>
              </a:solidFill>
              <a:latin typeface="Calibri"/>
              <a:ea typeface="Calibri"/>
              <a:cs typeface="Calibri"/>
            </a:endParaRPr>
          </a:p>
        </p:txBody>
      </p:sp>
      <p:sp>
        <p:nvSpPr>
          <p:cNvPr id="88" name="Google Shape;88;p7">
            <a:extLst xmlns:a="http://schemas.openxmlformats.org/drawingml/2006/main">
              <a:ext uri="{FF2B5EF4-FFF2-40B4-BE49-F238E27FC236}">
                <a16:creationId xmlns:a16="http://schemas.microsoft.com/office/drawing/2014/main" id="{F858E9D8-E377-4D5D-91F6-9DCC9F9C4D1A}"/>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89" name="Google Shape;89;p7">
            <a:extLst xmlns:a="http://schemas.openxmlformats.org/drawingml/2006/main">
              <a:ext uri="{FF2B5EF4-FFF2-40B4-BE49-F238E27FC236}">
                <a16:creationId xmlns:a16="http://schemas.microsoft.com/office/drawing/2014/main" id="{C75B121C-41D7-4F8A-A0C1-CCC5198EA5D1}"/>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7629680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Google Shape;95;p8">
            <a:extLst xmlns:a="http://schemas.openxmlformats.org/drawingml/2006/main">
              <a:ext uri="{FF2B5EF4-FFF2-40B4-BE49-F238E27FC236}">
                <a16:creationId xmlns:a16="http://schemas.microsoft.com/office/drawing/2014/main" id="{E90331B9-D665-4E16-89D9-2A88D43D47ED}"/>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600"/>
              <a:buFont typeface="Cambria"/>
              <a:buNone/>
            </a:pPr>
            <a:r>
              <a:rPr sz="2600" b="1" i="0" u="none" cap="none">
                <a:solidFill>
                  <a:srgbClr val="1E2761"/>
                </a:solidFill>
                <a:latin typeface="Cambria"/>
                <a:ea typeface="Cambria"/>
                <a:cs typeface="Cambria"/>
              </a:rPr>
              <a:t>Your Turn</a:t>
            </a:r>
            <a:endParaRPr sz="2600" b="0" i="0" u="none" cap="none">
              <a:solidFill>
                <a:schemeClr val="dk1"/>
              </a:solidFill>
              <a:latin typeface="Calibri"/>
              <a:ea typeface="Calibri"/>
              <a:cs typeface="Calibri"/>
            </a:endParaRPr>
          </a:p>
        </p:txBody>
      </p:sp>
      <p:sp>
        <p:nvSpPr>
          <p:cNvPr id="96" name="Google Shape;96;p8">
            <a:extLst xmlns:a="http://schemas.openxmlformats.org/drawingml/2006/main">
              <a:ext uri="{FF2B5EF4-FFF2-40B4-BE49-F238E27FC236}">
                <a16:creationId xmlns:a16="http://schemas.microsoft.com/office/drawing/2014/main" id="{4ACF14BC-DF68-4D8B-8FA3-12A1EC0A3DCA}"/>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Build the whole combination yourself</a:t>
            </a:r>
            <a:endParaRPr sz="1500" b="0" i="0" u="none" cap="none">
              <a:solidFill>
                <a:schemeClr val="dk1"/>
              </a:solidFill>
              <a:latin typeface="Calibri"/>
              <a:ea typeface="Calibri"/>
              <a:cs typeface="Calibri"/>
            </a:endParaRPr>
          </a:p>
        </p:txBody>
      </p:sp>
      <p:sp>
        <p:nvSpPr>
          <p:cNvPr id="97" name="Google Shape;97;p8">
            <a:extLst xmlns:a="http://schemas.openxmlformats.org/drawingml/2006/main">
              <a:ext uri="{FF2B5EF4-FFF2-40B4-BE49-F238E27FC236}">
                <a16:creationId xmlns:a16="http://schemas.microsoft.com/office/drawing/2014/main" id="{17681155-FF8A-49D0-AC25-5C94A51F07CC}"/>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98" name="Google Shape;98;p8">
            <a:extLst xmlns:a="http://schemas.openxmlformats.org/drawingml/2006/main">
              <a:ext uri="{FF2B5EF4-FFF2-40B4-BE49-F238E27FC236}">
                <a16:creationId xmlns:a16="http://schemas.microsoft.com/office/drawing/2014/main" id="{8743042B-ED7C-43D6-A253-899F536BF789}"/>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
        <p:nvSpPr>
          <p:cNvPr id="99" name="Google Shape;99;p8">
            <a:extLst xmlns:a="http://schemas.openxmlformats.org/drawingml/2006/main">
              <a:ext uri="{FF2B5EF4-FFF2-40B4-BE49-F238E27FC236}">
                <a16:creationId xmlns:a16="http://schemas.microsoft.com/office/drawing/2014/main" id="{0B8EF1EA-DBBB-4E36-BE1D-08C7224535FF}"/>
              </a:ext>
            </a:extLst>
          </p:cNvPr>
          <p:cNvSpPr>
            <a:spLocks xmlns:a="http://schemas.openxmlformats.org/drawingml/2006/main" noGrp="1"/>
          </p:cNvSpPr>
          <p:nvPr/>
        </p:nvSpPr>
        <p:spPr>
          <a:xfrm xmlns:a="http://schemas.openxmlformats.org/drawingml/2006/main">
            <a:off x="548640" y="1600200"/>
            <a:ext cx="11064240" cy="3200400"/>
          </a:xfrm>
          <a:prstGeom xmlns:a="http://schemas.openxmlformats.org/drawingml/2006/main" prst="roundRect">
            <a:avLst>
              <a:gd name="adj" fmla="val 2286"/>
            </a:avLst>
          </a:prstGeom>
          <a:solidFill xmlns:a="http://schemas.openxmlformats.org/drawingml/2006/main">
            <a:srgbClr val="1E2761"/>
          </a:solidFill>
          <a:ln xmlns:a="http://schemas.openxmlformats.org/drawingml/2006/main" w="12700" cmpd="sng">
            <a:solidFill>
              <a:srgbClr val="1E276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0" name="Google Shape;100;p8">
            <a:extLst xmlns:a="http://schemas.openxmlformats.org/drawingml/2006/main">
              <a:ext uri="{FF2B5EF4-FFF2-40B4-BE49-F238E27FC236}">
                <a16:creationId xmlns:a16="http://schemas.microsoft.com/office/drawing/2014/main" id="{8891AB3A-CFBC-483B-85BD-823431A5B0CE}"/>
              </a:ext>
            </a:extLst>
          </p:cNvPr>
          <p:cNvSpPr>
            <a:spLocks xmlns:a="http://schemas.openxmlformats.org/drawingml/2006/main" noGrp="1"/>
          </p:cNvSpPr>
          <p:nvPr/>
        </p:nvSpPr>
        <p:spPr>
          <a:xfrm xmlns:a="http://schemas.openxmlformats.org/drawingml/2006/main">
            <a:off x="777240" y="1764792"/>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Construct It Yourself</a:t>
            </a:r>
            <a:endParaRPr sz="1300" b="0" i="0" u="none" cap="none">
              <a:solidFill>
                <a:schemeClr val="dk1"/>
              </a:solidFill>
              <a:latin typeface="Calibri"/>
              <a:ea typeface="Calibri"/>
              <a:cs typeface="Calibri"/>
            </a:endParaRPr>
          </a:p>
        </p:txBody>
      </p:sp>
      <p:sp>
        <p:nvSpPr>
          <p:cNvPr id="101" name="Google Shape;101;p8">
            <a:extLst xmlns:a="http://schemas.openxmlformats.org/drawingml/2006/main">
              <a:ext uri="{FF2B5EF4-FFF2-40B4-BE49-F238E27FC236}">
                <a16:creationId xmlns:a16="http://schemas.microsoft.com/office/drawing/2014/main" id="{E233BE79-1B6D-42A3-9C49-F7518CC62404}"/>
              </a:ext>
            </a:extLst>
          </p:cNvPr>
          <p:cNvSpPr>
            <a:spLocks xmlns:a="http://schemas.openxmlformats.org/drawingml/2006/main" noGrp="1"/>
          </p:cNvSpPr>
          <p:nvPr/>
        </p:nvSpPr>
        <p:spPr>
          <a:xfrm xmlns:a="http://schemas.openxmlformats.org/drawingml/2006/main">
            <a:off x="777240" y="2130552"/>
            <a:ext cx="10607040" cy="2532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Build a program combining at least one mouse event and one keyboard event, each changing a different persistent sketch variable declared at class level, each affecting something visible.</a:t>
            </a:r>
            <a:endParaRPr sz="135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chemeClr val="dk1"/>
              </a:buClr>
              <a:buSzPts val="1350"/>
              <a:buFont typeface="Calibri"/>
              <a:buNone/>
            </a:pPr>
            <a:r>
              <a:t/>
            </a:r>
            <a:endParaRPr sz="135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Remember: background(255) at the top of draw() so shapes don't leave a trail, and both variables need their own declared line, outside every function, with a starting value.</a:t>
            </a:r>
            <a:endParaRPr sz="1350" b="0" i="0" u="none" cap="none">
              <a:solidFill>
                <a:schemeClr val="dk1"/>
              </a:solidFill>
              <a:latin typeface="Calibri"/>
              <a:ea typeface="Calibri"/>
              <a:cs typeface="Calibri"/>
            </a:endParaRPr>
          </a:p>
        </p:txBody>
      </p:sp>
      <p:sp>
        <p:nvSpPr>
          <p:cNvPr id="102" name="Google Shape;102;p8">
            <a:extLst xmlns:a="http://schemas.openxmlformats.org/drawingml/2006/main">
              <a:ext uri="{FF2B5EF4-FFF2-40B4-BE49-F238E27FC236}">
                <a16:creationId xmlns:a16="http://schemas.microsoft.com/office/drawing/2014/main" id="{65B38E07-4686-47E3-9EB5-7D5E14ECCB8E}"/>
              </a:ext>
            </a:extLst>
          </p:cNvPr>
          <p:cNvSpPr>
            <a:spLocks xmlns:a="http://schemas.openxmlformats.org/drawingml/2006/main" noGrp="1"/>
          </p:cNvSpPr>
          <p:nvPr/>
        </p:nvSpPr>
        <p:spPr>
          <a:xfrm xmlns:a="http://schemas.openxmlformats.org/drawingml/2006/main">
            <a:off x="548640" y="4937760"/>
            <a:ext cx="11064240" cy="914400"/>
          </a:xfrm>
          <a:prstGeom xmlns:a="http://schemas.openxmlformats.org/drawingml/2006/main" prst="roundRect">
            <a:avLst>
              <a:gd name="adj" fmla="val 8000"/>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3" name="Google Shape;103;p8">
            <a:extLst xmlns:a="http://schemas.openxmlformats.org/drawingml/2006/main">
              <a:ext uri="{FF2B5EF4-FFF2-40B4-BE49-F238E27FC236}">
                <a16:creationId xmlns:a16="http://schemas.microsoft.com/office/drawing/2014/main" id="{ACC759C5-7524-4C83-86FE-A5F6C75A881E}"/>
              </a:ext>
            </a:extLst>
          </p:cNvPr>
          <p:cNvSpPr>
            <a:spLocks xmlns:a="http://schemas.openxmlformats.org/drawingml/2006/main" noGrp="1"/>
          </p:cNvSpPr>
          <p:nvPr/>
        </p:nvSpPr>
        <p:spPr>
          <a:xfrm xmlns:a="http://schemas.openxmlformats.org/drawingml/2006/main">
            <a:off x="777240" y="5102352"/>
            <a:ext cx="10607040" cy="6126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Two working input sources, two properties, one persistent variable each — that's a complete answer.</a:t>
            </a:r>
            <a:endParaRPr sz="1350" b="0" i="0" u="none" cap="none">
              <a:solidFill>
                <a:schemeClr val="dk1"/>
              </a:solidFill>
              <a:latin typeface="Calibri"/>
              <a:ea typeface="Calibri"/>
              <a:cs typeface="Calibri"/>
            </a:endParaRPr>
          </a:p>
        </p:txBody>
      </p:sp>
      <p:sp>
        <p:nvSpPr>
          <p:cNvPr id="104" name="Google Shape;104;p8">
            <a:extLst xmlns:a="http://schemas.openxmlformats.org/drawingml/2006/main">
              <a:ext uri="{FF2B5EF4-FFF2-40B4-BE49-F238E27FC236}">
                <a16:creationId xmlns:a16="http://schemas.microsoft.com/office/drawing/2014/main" id="{F1172543-1759-4832-9766-1720902B27FC}"/>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105" name="Google Shape;105;p8">
            <a:extLst xmlns:a="http://schemas.openxmlformats.org/drawingml/2006/main">
              <a:ext uri="{FF2B5EF4-FFF2-40B4-BE49-F238E27FC236}">
                <a16:creationId xmlns:a16="http://schemas.microsoft.com/office/drawing/2014/main" id="{DB3767AD-2C28-45E0-9D5C-769902504DD6}"/>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509239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 name="Google Shape;111;p9">
            <a:extLst xmlns:a="http://schemas.openxmlformats.org/drawingml/2006/main">
              <a:ext uri="{FF2B5EF4-FFF2-40B4-BE49-F238E27FC236}">
                <a16:creationId xmlns:a16="http://schemas.microsoft.com/office/drawing/2014/main" id="{1B8CB4BC-E8AA-4753-A263-1DCCF0F393D7}"/>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600"/>
              <a:buFont typeface="Cambria"/>
              <a:buNone/>
            </a:pPr>
            <a:r>
              <a:rPr sz="2600" b="1" i="0" u="none" cap="none">
                <a:solidFill>
                  <a:srgbClr val="1E2761"/>
                </a:solidFill>
                <a:latin typeface="Cambria"/>
                <a:ea typeface="Cambria"/>
                <a:cs typeface="Cambria"/>
              </a:rPr>
              <a:t>Recap</a:t>
            </a:r>
            <a:endParaRPr sz="2600" b="0" i="0" u="none" cap="none">
              <a:solidFill>
                <a:schemeClr val="dk1"/>
              </a:solidFill>
              <a:latin typeface="Calibri"/>
              <a:ea typeface="Calibri"/>
              <a:cs typeface="Calibri"/>
            </a:endParaRPr>
          </a:p>
        </p:txBody>
      </p:sp>
      <p:sp>
        <p:nvSpPr>
          <p:cNvPr id="112" name="Google Shape;112;p9">
            <a:extLst xmlns:a="http://schemas.openxmlformats.org/drawingml/2006/main">
              <a:ext uri="{FF2B5EF4-FFF2-40B4-BE49-F238E27FC236}">
                <a16:creationId xmlns:a16="http://schemas.microsoft.com/office/drawing/2014/main" id="{9170E377-2FBE-4BBD-A99D-DB7CBD04A49C}"/>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B3.1 complete</a:t>
            </a:r>
            <a:endParaRPr sz="1500" b="0" i="0" u="none" cap="none">
              <a:solidFill>
                <a:schemeClr val="dk1"/>
              </a:solidFill>
              <a:latin typeface="Calibri"/>
              <a:ea typeface="Calibri"/>
              <a:cs typeface="Calibri"/>
            </a:endParaRPr>
          </a:p>
        </p:txBody>
      </p:sp>
      <p:sp>
        <p:nvSpPr>
          <p:cNvPr id="113" name="Google Shape;113;p9">
            <a:extLst xmlns:a="http://schemas.openxmlformats.org/drawingml/2006/main">
              <a:ext uri="{FF2B5EF4-FFF2-40B4-BE49-F238E27FC236}">
                <a16:creationId xmlns:a16="http://schemas.microsoft.com/office/drawing/2014/main" id="{8029801B-C177-4DF4-8835-A38747C2BE76}"/>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114" name="Google Shape;114;p9">
            <a:extLst xmlns:a="http://schemas.openxmlformats.org/drawingml/2006/main">
              <a:ext uri="{FF2B5EF4-FFF2-40B4-BE49-F238E27FC236}">
                <a16:creationId xmlns:a16="http://schemas.microsoft.com/office/drawing/2014/main" id="{60FF15AD-7739-4464-B86D-150F4570E8A5}"/>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
        <p:nvSpPr>
          <p:cNvPr id="115" name="Google Shape;115;p9">
            <a:extLst xmlns:a="http://schemas.openxmlformats.org/drawingml/2006/main">
              <a:ext uri="{FF2B5EF4-FFF2-40B4-BE49-F238E27FC236}">
                <a16:creationId xmlns:a16="http://schemas.microsoft.com/office/drawing/2014/main" id="{0AE9620C-8190-4478-92A9-832E665D56EC}"/>
              </a:ext>
            </a:extLst>
          </p:cNvPr>
          <p:cNvSpPr>
            <a:spLocks xmlns:a="http://schemas.openxmlformats.org/drawingml/2006/main" noGrp="1"/>
          </p:cNvSpPr>
          <p:nvPr/>
        </p:nvSpPr>
        <p:spPr>
          <a:xfrm xmlns:a="http://schemas.openxmlformats.org/drawingml/2006/main">
            <a:off x="548640" y="1737360"/>
            <a:ext cx="5394960" cy="2377440"/>
          </a:xfrm>
          <a:prstGeom xmlns:a="http://schemas.openxmlformats.org/drawingml/2006/main" prst="roundRect">
            <a:avLst>
              <a:gd name="adj" fmla="val 3077"/>
            </a:avLst>
          </a:prstGeom>
          <a:solidFill xmlns:a="http://schemas.openxmlformats.org/drawingml/2006/main">
            <a:srgbClr val="1E2761"/>
          </a:solidFill>
          <a:ln xmlns:a="http://schemas.openxmlformats.org/drawingml/2006/main" w="12700" cmpd="sng">
            <a:solidFill>
              <a:srgbClr val="1E276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6" name="Google Shape;116;p9">
            <a:extLst xmlns:a="http://schemas.openxmlformats.org/drawingml/2006/main">
              <a:ext uri="{FF2B5EF4-FFF2-40B4-BE49-F238E27FC236}">
                <a16:creationId xmlns:a16="http://schemas.microsoft.com/office/drawing/2014/main" id="{34F14F50-747F-4A3C-BFA9-CD66AE2DD687}"/>
              </a:ext>
            </a:extLst>
          </p:cNvPr>
          <p:cNvSpPr>
            <a:spLocks xmlns:a="http://schemas.openxmlformats.org/drawingml/2006/main" noGrp="1"/>
          </p:cNvSpPr>
          <p:nvPr/>
        </p:nvSpPr>
        <p:spPr>
          <a:xfrm xmlns:a="http://schemas.openxmlformats.org/drawingml/2006/main">
            <a:off x="777240" y="190195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Key idea</a:t>
            </a:r>
            <a:endParaRPr sz="1300" b="0" i="0" u="none" cap="none">
              <a:solidFill>
                <a:schemeClr val="dk1"/>
              </a:solidFill>
              <a:latin typeface="Calibri"/>
              <a:ea typeface="Calibri"/>
              <a:cs typeface="Calibri"/>
            </a:endParaRPr>
          </a:p>
        </p:txBody>
      </p:sp>
      <p:sp>
        <p:nvSpPr>
          <p:cNvPr id="117" name="Google Shape;117;p9">
            <a:extLst xmlns:a="http://schemas.openxmlformats.org/drawingml/2006/main">
              <a:ext uri="{FF2B5EF4-FFF2-40B4-BE49-F238E27FC236}">
                <a16:creationId xmlns:a16="http://schemas.microsoft.com/office/drawing/2014/main" id="{89CE66B0-51AD-4139-9942-AEF7587F54E4}"/>
              </a:ext>
            </a:extLst>
          </p:cNvPr>
          <p:cNvSpPr>
            <a:spLocks xmlns:a="http://schemas.openxmlformats.org/drawingml/2006/main" noGrp="1"/>
          </p:cNvSpPr>
          <p:nvPr/>
        </p:nvSpPr>
        <p:spPr>
          <a:xfrm xmlns:a="http://schemas.openxmlformats.org/drawingml/2006/main">
            <a:off x="777240" y="2267712"/>
            <a:ext cx="4937760" cy="1709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A persistent sketch variable — declared outside every function — is what lets an event function change something that draw() can still see, frame after frame.</a:t>
            </a:r>
            <a:endParaRPr sz="1350" b="0" i="0" u="none" cap="none">
              <a:solidFill>
                <a:schemeClr val="dk1"/>
              </a:solidFill>
              <a:latin typeface="Calibri"/>
              <a:ea typeface="Calibri"/>
              <a:cs typeface="Calibri"/>
            </a:endParaRPr>
          </a:p>
        </p:txBody>
      </p:sp>
      <p:sp>
        <p:nvSpPr>
          <p:cNvPr id="118" name="Google Shape;118;p9">
            <a:extLst xmlns:a="http://schemas.openxmlformats.org/drawingml/2006/main">
              <a:ext uri="{FF2B5EF4-FFF2-40B4-BE49-F238E27FC236}">
                <a16:creationId xmlns:a16="http://schemas.microsoft.com/office/drawing/2014/main" id="{3E8A47C9-5F42-4F89-8D8E-F0EBC622CA78}"/>
              </a:ext>
            </a:extLst>
          </p:cNvPr>
          <p:cNvSpPr>
            <a:spLocks xmlns:a="http://schemas.openxmlformats.org/drawingml/2006/main" noGrp="1"/>
          </p:cNvSpPr>
          <p:nvPr/>
        </p:nvSpPr>
        <p:spPr>
          <a:xfrm xmlns:a="http://schemas.openxmlformats.org/drawingml/2006/main">
            <a:off x="6263640" y="1737360"/>
            <a:ext cx="5394960" cy="2377440"/>
          </a:xfrm>
          <a:prstGeom xmlns:a="http://schemas.openxmlformats.org/drawingml/2006/main" prst="roundRect">
            <a:avLst>
              <a:gd name="adj" fmla="val 3077"/>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9" name="Google Shape;119;p9">
            <a:extLst xmlns:a="http://schemas.openxmlformats.org/drawingml/2006/main">
              <a:ext uri="{FF2B5EF4-FFF2-40B4-BE49-F238E27FC236}">
                <a16:creationId xmlns:a16="http://schemas.microsoft.com/office/drawing/2014/main" id="{3E4D1AD4-2AA4-4D38-8C32-DD40D6E23C4D}"/>
              </a:ext>
            </a:extLst>
          </p:cNvPr>
          <p:cNvSpPr>
            <a:spLocks xmlns:a="http://schemas.openxmlformats.org/drawingml/2006/main" noGrp="1"/>
          </p:cNvSpPr>
          <p:nvPr/>
        </p:nvSpPr>
        <p:spPr>
          <a:xfrm xmlns:a="http://schemas.openxmlformats.org/drawingml/2006/main">
            <a:off x="6492240" y="190195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Next lesson</a:t>
            </a:r>
            <a:endParaRPr sz="1300" b="0" i="0" u="none" cap="none">
              <a:solidFill>
                <a:schemeClr val="dk1"/>
              </a:solidFill>
              <a:latin typeface="Calibri"/>
              <a:ea typeface="Calibri"/>
              <a:cs typeface="Calibri"/>
            </a:endParaRPr>
          </a:p>
        </p:txBody>
      </p:sp>
      <p:sp>
        <p:nvSpPr>
          <p:cNvPr id="120" name="Google Shape;120;p9">
            <a:extLst xmlns:a="http://schemas.openxmlformats.org/drawingml/2006/main">
              <a:ext uri="{FF2B5EF4-FFF2-40B4-BE49-F238E27FC236}">
                <a16:creationId xmlns:a16="http://schemas.microsoft.com/office/drawing/2014/main" id="{516956CF-4ABB-445C-9B45-48A91C94A747}"/>
              </a:ext>
            </a:extLst>
          </p:cNvPr>
          <p:cNvSpPr>
            <a:spLocks xmlns:a="http://schemas.openxmlformats.org/drawingml/2006/main" noGrp="1"/>
          </p:cNvSpPr>
          <p:nvPr/>
        </p:nvSpPr>
        <p:spPr>
          <a:xfrm xmlns:a="http://schemas.openxmlformats.org/drawingml/2006/main">
            <a:off x="6492240" y="2267712"/>
            <a:ext cx="4937760" cy="1709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B3.2 — how persistent sketch variables represent and control a program's state.</a:t>
            </a:r>
            <a:endParaRPr sz="1350" b="0" i="0" u="none" cap="none">
              <a:solidFill>
                <a:schemeClr val="dk1"/>
              </a:solidFill>
              <a:latin typeface="Calibri"/>
              <a:ea typeface="Calibri"/>
              <a:cs typeface="Calibri"/>
            </a:endParaRPr>
          </a:p>
        </p:txBody>
      </p:sp>
      <p:sp>
        <p:nvSpPr>
          <p:cNvPr id="121" name="Google Shape;121;p9">
            <a:extLst xmlns:a="http://schemas.openxmlformats.org/drawingml/2006/main">
              <a:ext uri="{FF2B5EF4-FFF2-40B4-BE49-F238E27FC236}">
                <a16:creationId xmlns:a16="http://schemas.microsoft.com/office/drawing/2014/main" id="{C3CB624B-2D5A-4B63-86C5-93B535543414}"/>
              </a:ext>
            </a:extLst>
          </p:cNvPr>
          <p:cNvSpPr>
            <a:spLocks xmlns:a="http://schemas.openxmlformats.org/drawingml/2006/main" noGrp="1"/>
          </p:cNvSpPr>
          <p:nvPr/>
        </p:nvSpPr>
        <p:spPr>
          <a:xfrm xmlns:a="http://schemas.openxmlformats.org/drawingml/2006/main">
            <a:off x="548640" y="4434840"/>
            <a:ext cx="11064240" cy="1463040"/>
          </a:xfrm>
          <a:prstGeom xmlns:a="http://schemas.openxmlformats.org/drawingml/2006/main" prst="roundRect">
            <a:avLst>
              <a:gd name="adj" fmla="val 3750"/>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 name="Google Shape;122;p9">
            <a:extLst xmlns:a="http://schemas.openxmlformats.org/drawingml/2006/main">
              <a:ext uri="{FF2B5EF4-FFF2-40B4-BE49-F238E27FC236}">
                <a16:creationId xmlns:a16="http://schemas.microsoft.com/office/drawing/2014/main" id="{C102D872-035D-4E4A-BBE2-27EC3E6333CF}"/>
              </a:ext>
            </a:extLst>
          </p:cNvPr>
          <p:cNvSpPr>
            <a:spLocks xmlns:a="http://schemas.openxmlformats.org/drawingml/2006/main" noGrp="1"/>
          </p:cNvSpPr>
          <p:nvPr/>
        </p:nvSpPr>
        <p:spPr>
          <a:xfrm xmlns:a="http://schemas.openxmlformats.org/drawingml/2006/main">
            <a:off x="822960" y="4599432"/>
            <a:ext cx="10515600" cy="11338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177800" marR="0" lvl="0" indent="-177800" algn="l">
              <a:spcBef>
                <a:spcPts val="0"/>
              </a:spcBef>
              <a:spcAft>
                <a:spcPts val="0"/>
              </a:spcAft>
              <a:buClr>
                <a:srgbClr val="1B1F2E"/>
              </a:buClr>
              <a:buSzPts val="1300"/>
              <a:buFont typeface="Calibri"/>
              <a:buChar char="•"/>
            </a:pPr>
            <a:r>
              <a:rPr sz="1300" b="0" i="0" u="none" cap="none">
                <a:solidFill>
                  <a:srgbClr val="1B1F2E"/>
                </a:solidFill>
                <a:latin typeface="Calibri"/>
                <a:ea typeface="Calibri"/>
                <a:cs typeface="Calibri"/>
              </a:rPr>
              <a:t>Mouse and keyboard both provide held-state variables plus event callbacks — with keyboard press events able to repeat while held.</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A persistent sketch variable is what connects an event to something draw() can show.</a:t>
            </a:r>
            <a:endParaRPr sz="1300" b="0" i="0" u="none" cap="none">
              <a:solidFill>
                <a:schemeClr val="dk1"/>
              </a:solidFill>
              <a:latin typeface="Calibri"/>
              <a:ea typeface="Calibri"/>
              <a:cs typeface="Calibri"/>
            </a:endParaRPr>
          </a:p>
        </p:txBody>
      </p:sp>
      <p:sp>
        <p:nvSpPr>
          <p:cNvPr id="123" name="Google Shape;123;p9">
            <a:extLst xmlns:a="http://schemas.openxmlformats.org/drawingml/2006/main">
              <a:ext uri="{FF2B5EF4-FFF2-40B4-BE49-F238E27FC236}">
                <a16:creationId xmlns:a16="http://schemas.microsoft.com/office/drawing/2014/main" id="{35B2FD0F-A2F6-4654-8800-5FABA8F815A9}"/>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124" name="Google Shape;124;p9">
            <a:extLst xmlns:a="http://schemas.openxmlformats.org/drawingml/2006/main">
              <a:ext uri="{FF2B5EF4-FFF2-40B4-BE49-F238E27FC236}">
                <a16:creationId xmlns:a16="http://schemas.microsoft.com/office/drawing/2014/main" id="{3A98BD62-DAF2-4F5B-8AC7-C3B46D5FF691}"/>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3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817394805"/>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2026-08-29T13:20:14.2470000Z</dcterms:created>
  <dcterms:modified xsi:type="dcterms:W3CDTF">2026-08-29T13:20:14.2470000Z</dcterms:modified>
</coreProperties>
</file>