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2cd12891624f06" /><Relationship Type="http://schemas.openxmlformats.org/officeDocument/2006/relationships/extended-properties" Target="/docProps/app.xml" Id="Rbe03a6e4d0794fca" /><Relationship Type="http://schemas.openxmlformats.org/officeDocument/2006/relationships/officeDocument" Target="/ppt/presentation.xml" Id="R9b21d667e3be4f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dacc89e3e745c6"/>
  </p:sldMasterIdLst>
  <p:notesMasterIdLst>
    <p:notesMasterId xmlns:r="http://schemas.openxmlformats.org/officeDocument/2006/relationships" r:id="R51496ac365c44b30"/>
  </p:notesMasterIdLst>
  <p:sldIdLst>
    <p:sldId xmlns:r="http://schemas.openxmlformats.org/officeDocument/2006/relationships" id="256" r:id="Rbdbb8654eafb453b"/>
    <p:sldId xmlns:r="http://schemas.openxmlformats.org/officeDocument/2006/relationships" id="257" r:id="R142f7afe726e47cf"/>
    <p:sldId xmlns:r="http://schemas.openxmlformats.org/officeDocument/2006/relationships" id="258" r:id="R8104f4c5b1954641"/>
    <p:sldId xmlns:r="http://schemas.openxmlformats.org/officeDocument/2006/relationships" id="259" r:id="Rdfc043998f664684"/>
    <p:sldId xmlns:r="http://schemas.openxmlformats.org/officeDocument/2006/relationships" id="260" r:id="Rc33ac2b3eada4a10"/>
    <p:sldId xmlns:r="http://schemas.openxmlformats.org/officeDocument/2006/relationships" id="261" r:id="R661c02e56e924091"/>
    <p:sldId xmlns:r="http://schemas.openxmlformats.org/officeDocument/2006/relationships" id="262" r:id="R398bf4c965de423a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7186b8dd0549ac" /><Relationship Type="http://schemas.openxmlformats.org/officeDocument/2006/relationships/slideMaster" Target="/ppt/slideMasters/slideMaster1.xml" Id="R7bdacc89e3e745c6" /><Relationship Type="http://schemas.openxmlformats.org/officeDocument/2006/relationships/notesMaster" Target="/ppt/notesMasters/notesMaster1.xml" Id="R51496ac365c44b30" /><Relationship Type="http://schemas.openxmlformats.org/officeDocument/2006/relationships/presProps" Target="/ppt/presProps.xml" Id="Ree84c20f2fce415d" /><Relationship Type="http://schemas.openxmlformats.org/officeDocument/2006/relationships/tableStyles" Target="/ppt/tableStyles.xml" Id="R6f68bd613ef64c26" /><Relationship Type="http://schemas.openxmlformats.org/officeDocument/2006/relationships/slide" Target="/ppt/slides/slide1.xml" Id="Rbdbb8654eafb453b" /><Relationship Type="http://schemas.openxmlformats.org/officeDocument/2006/relationships/slide" Target="/ppt/slides/slide2.xml" Id="R142f7afe726e47cf" /><Relationship Type="http://schemas.openxmlformats.org/officeDocument/2006/relationships/slide" Target="/ppt/slides/slide3.xml" Id="R8104f4c5b1954641" /><Relationship Type="http://schemas.openxmlformats.org/officeDocument/2006/relationships/slide" Target="/ppt/slides/slide4.xml" Id="Rdfc043998f664684" /><Relationship Type="http://schemas.openxmlformats.org/officeDocument/2006/relationships/slide" Target="/ppt/slides/slide5.xml" Id="Rc33ac2b3eada4a10" /><Relationship Type="http://schemas.openxmlformats.org/officeDocument/2006/relationships/slide" Target="/ppt/slides/slide6.xml" Id="R661c02e56e924091" /><Relationship Type="http://schemas.openxmlformats.org/officeDocument/2006/relationships/slide" Target="/ppt/slides/slide7.xml" Id="R398bf4c965de42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7976ddebec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ab255d8a0489c" /><Relationship Type="http://schemas.openxmlformats.org/officeDocument/2006/relationships/notesMaster" Target="/ppt/notesMasters/notesMaster1.xml" Id="R98f32949441843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d9a6568f8e4c70" /><Relationship Type="http://schemas.openxmlformats.org/officeDocument/2006/relationships/notesMaster" Target="/ppt/notesMasters/notesMaster1.xml" Id="R184ccdacb62044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9eb0b80c454e5d" /><Relationship Type="http://schemas.openxmlformats.org/officeDocument/2006/relationships/notesMaster" Target="/ppt/notesMasters/notesMaster1.xml" Id="Rf44214a4686d47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2de614063b4a81" /><Relationship Type="http://schemas.openxmlformats.org/officeDocument/2006/relationships/notesMaster" Target="/ppt/notesMasters/notesMaster1.xml" Id="R2cc82391880449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7cc88197174e81" /><Relationship Type="http://schemas.openxmlformats.org/officeDocument/2006/relationships/notesMaster" Target="/ppt/notesMasters/notesMaster1.xml" Id="R0ed0354efce140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cd00c90e1c4cac" /><Relationship Type="http://schemas.openxmlformats.org/officeDocument/2006/relationships/notesMaster" Target="/ppt/notesMasters/notesMaster1.xml" Id="Rbe654650843445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95931082d44ec3" /><Relationship Type="http://schemas.openxmlformats.org/officeDocument/2006/relationships/notesMaster" Target="/ppt/notesMasters/notesMaster1.xml" Id="Rc62871911e2741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Connect scene state to numeric state: both persist, but numeric parameters can have many values rather than a small set of names.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Retrieval: keyPressed() changes a field; draw() uses the current field value to render.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 minutes. Model growing and shrinking with keys. Keep size as a class field and use constrain() or explicit bounds after each update.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Distinguish a numeric value from a named scene state. Both are state; they differ in the useful set of values.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Trace boundary cases. Verify that repeated input cannot make size negative or larger than the canvas can support.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 minutes. Students add a second key-controlled parameter and safe bounds, then test minimum, middle, and maximum values.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explain the update step and the invariant enforced by the range check.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b505fccb748e3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28386253d44be" /><Relationship Type="http://schemas.openxmlformats.org/officeDocument/2006/relationships/slideLayout" Target="/ppt/slideLayouts/slideLayout1.xml" Id="Refe451ef6f8f484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e451ef6f8f484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242b3ed464f5b" /><Relationship Type="http://schemas.openxmlformats.org/officeDocument/2006/relationships/notesSlide" Target="/ppt/notesSlides/notesSlide1.xml" Id="Ra2d36341d2fa4b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04196f4884b88" /><Relationship Type="http://schemas.openxmlformats.org/officeDocument/2006/relationships/notesSlide" Target="/ppt/notesSlides/notesSlide2.xml" Id="R80cb396351bb4c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e95e3516d246f4" /><Relationship Type="http://schemas.openxmlformats.org/officeDocument/2006/relationships/notesSlide" Target="/ppt/notesSlides/notesSlide3.xml" Id="Rb9064e41de6e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c2d309db149b5" /><Relationship Type="http://schemas.openxmlformats.org/officeDocument/2006/relationships/notesSlide" Target="/ppt/notesSlides/notesSlide4.xml" Id="Rfdc9e714f32145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4c9a292da4f96" /><Relationship Type="http://schemas.openxmlformats.org/officeDocument/2006/relationships/notesSlide" Target="/ppt/notesSlides/notesSlide5.xml" Id="R47b60f6cbf9147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3c7f50c454990" /><Relationship Type="http://schemas.openxmlformats.org/officeDocument/2006/relationships/notesSlide" Target="/ppt/notesSlides/notesSlide6.xml" Id="R130116dfae4741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ea16dc00c4cc8" /><Relationship Type="http://schemas.openxmlformats.org/officeDocument/2006/relationships/notesSlide" Target="/ppt/notesSlides/notesSlide7.xml" Id="Raad40d50f3554a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27A31941-F399-4B79-A75B-78DA4E8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B3 · INTERACTIVITY &amp; STATE · B3.4 PART 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8B05C73-AC4E-48F7-AF13-C441E1BA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Key-Controlled Parameters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162EF374-F0ED-4365-A0E8-A798C483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Using keys to step a value up and down within bounds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4CFB27A1-E2B4-478D-BF07-87CD049F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1D1E4AB0-45A0-4200-A0BA-AABC9FE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0408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43F79863-47DA-4D35-A6D8-149BBD66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Events Change State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AA2AB766-F3E9-4284-AA9F-FCA7C271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B3.1–B3.3 — the same pattern, a new kind of value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AF85353B-849E-42AD-83B5-59735C2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FB0F6947-EC54-44DB-8C09-4B22E63E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75CD171F-4F48-4DCA-AFBF-7394A4D4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22D18DAF-9555-4616-A4B6-D4ACF00C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WE ALREADY KNOW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9268938-1D77-46FE-ABDD-8957D418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An event handler can assign a new value to a persistent state variable. In B3.3, that variable held one of a small set of named scenes.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8A9ABD7-CBA2-4017-BA45-166FD5EA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C3B08D5A-85F2-4121-A4FB-B23DE6D1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C93276B6-51B9-49BC-BAA1-DAE958B8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if the variable isn't picking between named scenes, but is itself a number that matters — like a size or a speed? A NEW CONCEPT: this is a controlled program parameter — different from the function parameters you met back in B2.1. A function parameter belongs to a custom function's definition; a program parameter is just an adjustable property of the running program, like size, speed, or quantity.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127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39F0AB47-0044-4977-BDCD-4B7E565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Growing and Shrinking with Keys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74EEC319-C4AD-4D37-BE6C-5EFB81FF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bounded parameter, changed one step at a time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315E584A-736F-490C-AEC3-0D8159BB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25AF7CA4-D637-46A0-B75A-F95CB80C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96C5085B-91BB-49B1-B0EF-5451ECA0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675120" cy="507492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35E0ABD9-AE77-49F2-918A-0FB7BBBC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6126480" cy="46725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circleSize = 60;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settings()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size(400, 400);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fill(0);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ellipse(200, 200, circleSize, circleSize);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00"/>
              <a:buFont typeface="Courier New"/>
              <a:buNone/>
            </a:pP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keyPressed()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(key == '+')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(circleSize &lt; 300)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circleSize = circleSize + 10;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(key == '-')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</a:t>
            </a:r>
            <a:r>
              <a:rPr sz="110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(circleSize &gt; 20) {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  circleSize = circleSize - 10;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ourier New"/>
              <a:buNone/>
            </a:pPr>
            <a:r>
              <a:rPr sz="110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0C39332C-D1EC-4D91-9D7E-A0D720E7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17320"/>
            <a:ext cx="4160520" cy="2286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A0124C6E-ECAB-4FD8-B444-404C7C0F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8191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SAME MECHANISM, NEW JOB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8898C76E-1427-482A-BC69-99018127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920240"/>
            <a:ext cx="370332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persistent variable, changed by an event handler — exactly like B3.3's scene. Here the number itself matters, not which named value it equals.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86446A08-5AA9-43E2-A73A-420A11A9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977640"/>
            <a:ext cx="219456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134BE6CB-52C3-411D-9A32-1255435B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5168" y="491032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3A21B26C-63BE-4124-A033-065668B4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6309360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circleSize = 60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983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8F31FA93-48B0-41FF-ADE2-96B2CA40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A Value, Not a Named State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E58B9286-9BF1-4D05-9101-908A58F0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Contrasting circleSize with B3.3's scene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75BB3086-454E-4743-97F5-2382B4BA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AC507C15-A766-4EEB-AFA3-00650AC4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C3B019D5-FA18-4D46-9B4D-7487220E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551456A7-C3E8-4B95-BE1C-1A24B754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scene (B3.3): a small set of named states.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Only the identity matters — is it SCENE_INTRO, SCENE_MAIN, or SCENE_END?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actual number behind the name (0, 1, 2) was never meant to be read as a quantity.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85D8748B-1F18-4A73-AB4A-FF4CCF88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D1931F4B-A9A3-49E5-B37A-8B93D08E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circleSize (B3.4): a number with real meaning.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There's no small set of named values — circleSize can be 60, 70, or many other numeric values within its range, each with real quantitative meaning.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number itself is what draw() uses directly, every frame.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9056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974D6897-3E30-4C9B-9858-234F8DB2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Why the Range Check Matters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F9765BD1-1EE6-4E5A-ADB4-09FDEAD0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Held keys can fire more than once — bounds keep the value sensible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DDDD0761-D5F5-4A3B-ACE2-DD6167DD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6259A07E-1CA5-4AF2-964D-3369639C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DCF7F925-8441-40C2-959A-F689788D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5349240" cy="283464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37E775B2-1D93-4DA4-B948-F87F4605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755648"/>
            <a:ext cx="4800600" cy="243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250"/>
              <a:buFont typeface="Courier New"/>
              <a:buNone/>
            </a:pPr>
            <a:r>
              <a:rPr sz="125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Without a bound — risky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(key == '+') {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circleSize = circleSize + 10;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0516E0A3-9DB0-413F-A77C-373FFD4E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54480"/>
            <a:ext cx="5349240" cy="283464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7F79C976-428C-4D49-A2BA-3C179884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755648"/>
            <a:ext cx="4800600" cy="243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250"/>
              <a:buFont typeface="Courier New"/>
              <a:buNone/>
            </a:pPr>
            <a:r>
              <a:rPr sz="1250" b="0" i="1" u="none" cap="none">
                <a:solidFill>
                  <a:srgbClr val="8892B0"/>
                </a:solidFill>
                <a:latin typeface="Courier New"/>
                <a:ea typeface="Courier New"/>
                <a:cs typeface="Courier New"/>
              </a:rPr>
              <a:t>// With a bound — safe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250"/>
              <a:buFont typeface="Courier New"/>
              <a:buNone/>
            </a:pPr>
            <a:r>
              <a:rPr sz="12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(key == '+') {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2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(circleSize &lt; 300) {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circleSize = circleSize + 10;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sz="12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2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27FB013F-E763-4820-920E-67DE9B42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17720"/>
            <a:ext cx="11064240" cy="150876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C00BFB7A-575B-4DCA-BDF8-8B3B6EE6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8231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REMEMBER FROM B3.1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C13D3A3A-5664-4DB6-BBC2-DE5D310C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20640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keyPressed() can fire more than once while a key is held, due to OS key-repeat. Without a bound, holding '+' would let circleSize climb without limit — eventually drawing off-canvas or in an unusable way. The bound keeps every value in a sensible range.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108636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Google Shape;87;p8">
            <a:extLst xmlns:a="http://schemas.openxmlformats.org/drawingml/2006/main">
              <a:ext uri="{FF2B5EF4-FFF2-40B4-BE49-F238E27FC236}">
                <a16:creationId xmlns:a16="http://schemas.microsoft.com/office/drawing/2014/main" id="{16151C6E-01ED-4D3B-9538-0EB715F9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8" name="Google Shape;88;p8">
            <a:extLst xmlns:a="http://schemas.openxmlformats.org/drawingml/2006/main">
              <a:ext uri="{FF2B5EF4-FFF2-40B4-BE49-F238E27FC236}">
                <a16:creationId xmlns:a16="http://schemas.microsoft.com/office/drawing/2014/main" id="{7051F6F3-C9A9-4DCB-8303-4168D45B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9" name="Google Shape;89;p8">
            <a:extLst xmlns:a="http://schemas.openxmlformats.org/drawingml/2006/main">
              <a:ext uri="{FF2B5EF4-FFF2-40B4-BE49-F238E27FC236}">
                <a16:creationId xmlns:a16="http://schemas.microsoft.com/office/drawing/2014/main" id="{DC37435C-B05F-4304-A1F7-1AB2C87B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97BCF647-7798-43D5-8984-060CBAAD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08DCFBC0-00DD-4BA9-86BB-0C2C5947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8E1FC237-975D-4D3F-87D3-D332329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68AF4954-ECD9-4823-96D1-9D2AF56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Change the step amount to a different value — choose 5, 10, or 20. Each of these divides the 20–300 range evenly from a starting value of 60, so the bounds still land exactly. Predict what happens with a step like 17 before trying it.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E4B0D25F-9F90-4987-9264-F8E2FFBF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7F311F86-903D-4F73-B2DD-F2462212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24A54FE5-B21D-4C6C-8B38-63975FB5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Add key-controlled growth/shrink to a different visual parameter — try the grayscale fill() value, bounded between 0 and 255. Use a step of 5, since it divides that range exactly, and the same guarded-increment pattern from this lesson's core example.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4848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9">
            <a:extLst xmlns:a="http://schemas.openxmlformats.org/drawingml/2006/main">
              <a:ext uri="{FF2B5EF4-FFF2-40B4-BE49-F238E27FC236}">
                <a16:creationId xmlns:a16="http://schemas.microsoft.com/office/drawing/2014/main" id="{D742DA31-1584-427B-8CE2-7613839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" name="Google Shape;103;p9">
            <a:extLst xmlns:a="http://schemas.openxmlformats.org/drawingml/2006/main">
              <a:ext uri="{FF2B5EF4-FFF2-40B4-BE49-F238E27FC236}">
                <a16:creationId xmlns:a16="http://schemas.microsoft.com/office/drawing/2014/main" id="{73D6D7EA-C1FA-4D66-87DD-C4DD820E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 and what's next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4" name="Google Shape;104;p9">
            <a:extLst xmlns:a="http://schemas.openxmlformats.org/drawingml/2006/main">
              <a:ext uri="{FF2B5EF4-FFF2-40B4-BE49-F238E27FC236}">
                <a16:creationId xmlns:a16="http://schemas.microsoft.com/office/drawing/2014/main" id="{07E97299-86A3-4641-AE8C-CF4AAECD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DA8B0C7A-7D83-4918-A831-7CBD484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B3.4 · Part 1 of 2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517AEF2F-45F1-432B-9385-92FD9DAF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2EBD7866-E8E5-487D-983A-9F414C76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50BE4443-0CF5-4228-8234-AD271DB5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controlled program parameter is a persistent variable whose specific numeric value matters — changed step by step through an event handler, and kept inside sensible bounds so it never runs away.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4194E78E-3F93-45DF-BE24-B56C0C3A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E75C7E0E-1A20-490F-BB86-4001793B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B3.4 PART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392F276F-BFDC-498E-8DC3-F80E31F4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Keys change a parameter one step at a time. Next, we'll drive a parameter continuously — reading the mouse's live position directly, and building a simple on-screen button.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053386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2026-08-29T13:20:26.0150000Z</dcterms:created>
  <dcterms:modified xsi:type="dcterms:W3CDTF">2026-08-29T13:20:26.0150000Z</dcterms:modified>
</coreProperties>
</file>