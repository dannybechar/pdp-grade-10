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e4825d8b35428f" /><Relationship Type="http://schemas.openxmlformats.org/officeDocument/2006/relationships/extended-properties" Target="/docProps/app.xml" Id="Ra2a66f442b95447b" /><Relationship Type="http://schemas.openxmlformats.org/officeDocument/2006/relationships/officeDocument" Target="/ppt/presentation.xml" Id="Raf278ad73aa94a1c" /></Relationships>
</file>

<file path=ppt/presentation.xml><?xml version="1.0" encoding="utf-8"?>
<p:presentation xmlns:p="http://schemas.openxmlformats.org/presentationml/2006/main">
  <p:sldMasterIdLst>
    <p:sldMasterId xmlns:r="http://schemas.openxmlformats.org/officeDocument/2006/relationships" id="2147483648" r:id="R2837e129c88a4395"/>
  </p:sldMasterIdLst>
  <p:notesMasterIdLst>
    <p:notesMasterId xmlns:r="http://schemas.openxmlformats.org/officeDocument/2006/relationships" r:id="R88d10cac7f6a4ca4"/>
  </p:notesMasterIdLst>
  <p:sldIdLst>
    <p:sldId xmlns:r="http://schemas.openxmlformats.org/officeDocument/2006/relationships" id="256" r:id="R59ad2e1c37ae451d"/>
    <p:sldId xmlns:r="http://schemas.openxmlformats.org/officeDocument/2006/relationships" id="257" r:id="Re01b6e088bf347be"/>
    <p:sldId xmlns:r="http://schemas.openxmlformats.org/officeDocument/2006/relationships" id="258" r:id="R5047e8c9665c4d26"/>
    <p:sldId xmlns:r="http://schemas.openxmlformats.org/officeDocument/2006/relationships" id="259" r:id="Reca54b5d2a024aa1"/>
    <p:sldId xmlns:r="http://schemas.openxmlformats.org/officeDocument/2006/relationships" id="260" r:id="R65a2c381879b46a2"/>
    <p:sldId xmlns:r="http://schemas.openxmlformats.org/officeDocument/2006/relationships" id="261" r:id="R611e1db2e0df4822"/>
    <p:sldId xmlns:r="http://schemas.openxmlformats.org/officeDocument/2006/relationships" id="262" r:id="Rc0b14a5680e54995"/>
  </p:sldIdLst>
  <p:sldSz cx="1219167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97d45944274b05" /><Relationship Type="http://schemas.openxmlformats.org/officeDocument/2006/relationships/slideMaster" Target="/ppt/slideMasters/slideMaster1.xml" Id="R2837e129c88a4395" /><Relationship Type="http://schemas.openxmlformats.org/officeDocument/2006/relationships/notesMaster" Target="/ppt/notesMasters/notesMaster1.xml" Id="R88d10cac7f6a4ca4" /><Relationship Type="http://schemas.openxmlformats.org/officeDocument/2006/relationships/presProps" Target="/ppt/presProps.xml" Id="R4be837e4022943d7" /><Relationship Type="http://schemas.openxmlformats.org/officeDocument/2006/relationships/tableStyles" Target="/ppt/tableStyles.xml" Id="R32879651e0b04621" /><Relationship Type="http://schemas.openxmlformats.org/officeDocument/2006/relationships/slide" Target="/ppt/slides/slide1.xml" Id="R59ad2e1c37ae451d" /><Relationship Type="http://schemas.openxmlformats.org/officeDocument/2006/relationships/slide" Target="/ppt/slides/slide2.xml" Id="Re01b6e088bf347be" /><Relationship Type="http://schemas.openxmlformats.org/officeDocument/2006/relationships/slide" Target="/ppt/slides/slide3.xml" Id="R5047e8c9665c4d26" /><Relationship Type="http://schemas.openxmlformats.org/officeDocument/2006/relationships/slide" Target="/ppt/slides/slide4.xml" Id="Reca54b5d2a024aa1" /><Relationship Type="http://schemas.openxmlformats.org/officeDocument/2006/relationships/slide" Target="/ppt/slides/slide5.xml" Id="R65a2c381879b46a2" /><Relationship Type="http://schemas.openxmlformats.org/officeDocument/2006/relationships/slide" Target="/ppt/slides/slide6.xml" Id="R611e1db2e0df4822" /><Relationship Type="http://schemas.openxmlformats.org/officeDocument/2006/relationships/slide" Target="/ppt/slides/slide7.xml" Id="Rc0b14a5680e549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49642f1cf34d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6c4a0d1b6340f2" /><Relationship Type="http://schemas.openxmlformats.org/officeDocument/2006/relationships/notesMaster" Target="/ppt/notesMasters/notesMaster1.xml" Id="R59da1ba150ce46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73ac98642843ee" /><Relationship Type="http://schemas.openxmlformats.org/officeDocument/2006/relationships/notesMaster" Target="/ppt/notesMasters/notesMaster1.xml" Id="R6e0a9391618b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b064524702456a" /><Relationship Type="http://schemas.openxmlformats.org/officeDocument/2006/relationships/notesMaster" Target="/ppt/notesMasters/notesMaster1.xml" Id="R5c625593e4934f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1a7f2c984c475d" /><Relationship Type="http://schemas.openxmlformats.org/officeDocument/2006/relationships/notesMaster" Target="/ppt/notesMasters/notesMaster1.xml" Id="R8048d3f534ae41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b93a3ebb7c4524" /><Relationship Type="http://schemas.openxmlformats.org/officeDocument/2006/relationships/notesMaster" Target="/ppt/notesMasters/notesMaster1.xml" Id="R4f8c8d7e402148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a7c58db10f4b68" /><Relationship Type="http://schemas.openxmlformats.org/officeDocument/2006/relationships/notesMaster" Target="/ppt/notesMasters/notesMaster1.xml" Id="R04b02598d3ab49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a18857bae54b38" /><Relationship Type="http://schemas.openxmlformats.org/officeDocument/2006/relationships/notesMaster" Target="/ppt/notesMasters/notesMaster1.xml" Id="R97381043da494d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2 minutes. Reconnect to the mouse-event pattern: Processing owns the event loop and calls the matching callback.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5 minutes. Retrieval: classify mousePressed as a boolean field and mousePressed() as an event method.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9 minutes. Model keyPressed(). Use key for character keys. Keep the callback public in the Java PApplet subclass so the override is explicit.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7 minutes. Compare keyPressed (the held-state field) with keyPressed() (the callback). Trace one short press and one held key, then explain that operating-system key repeat can cause several callback calls during one physical hold.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 minutes. Model held-state rendering in draw(). Trace key down, held, and key up. Emphasize that background(255) clears the previous frame so the shape disappears when keyPressed becomes false.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13 minutes. Students first change the printable character checked by the model, then build two distinct printable-key responses using two explicit if statements. They choose the keys and grayscale values, compile, run, and test both expected keys plus one unrelated key.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 minutes. Exit check: identify keyPressed (field), keyPressed() (callback), and key (most recent character), then explain the keyboard-repeat caveat and how this lesson prepares the combined mouse-and-keyboard program in Part 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https://processing.org/reference/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cf4c881d714d8f"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7ba337635e41af" /><Relationship Type="http://schemas.openxmlformats.org/officeDocument/2006/relationships/slideLayout" Target="/ppt/slideLayouts/slideLayout1.xml" Id="Rb0f79c6eaa5e4c9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0f79c6eaa5e4c9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da455586674f66" /><Relationship Type="http://schemas.openxmlformats.org/officeDocument/2006/relationships/notesSlide" Target="/ppt/notesSlides/notesSlide1.xml" Id="R463e981c3b974a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b3208450e54e30" /><Relationship Type="http://schemas.openxmlformats.org/officeDocument/2006/relationships/notesSlide" Target="/ppt/notesSlides/notesSlide2.xml" Id="R103425db149349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e5c2d3a0ecd486b" /><Relationship Type="http://schemas.openxmlformats.org/officeDocument/2006/relationships/notesSlide" Target="/ppt/notesSlides/notesSlide3.xml" Id="R5b198218993443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7fffd17f914c78" /><Relationship Type="http://schemas.openxmlformats.org/officeDocument/2006/relationships/notesSlide" Target="/ppt/notesSlides/notesSlide4.xml" Id="R5d34b2e0817e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e53d20b91446e0" /><Relationship Type="http://schemas.openxmlformats.org/officeDocument/2006/relationships/notesSlide" Target="/ppt/notesSlides/notesSlide5.xml" Id="Reae6541da58149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9b711c979444ac" /><Relationship Type="http://schemas.openxmlformats.org/officeDocument/2006/relationships/notesSlide" Target="/ppt/notesSlides/notesSlide6.xml" Id="R69e89d0a840742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363772495b4119" /><Relationship Type="http://schemas.openxmlformats.org/officeDocument/2006/relationships/notesSlide" Target="/ppt/notesSlides/notesSlide7.xml" Id="R2e86bcae465243d8" /></Relationships>
</file>

<file path=ppt/slides/slide1.xml><?xml version="1.0" encoding="utf-8"?>
<p:sld xmlns:p="http://schemas.openxmlformats.org/presentationml/2006/main">
  <p:cSld>
    <p:bg>
      <p:bgPr>
        <a:solidFill xmlns:a="http://schemas.openxmlformats.org/drawingml/2006/main">
          <a:srgbClr val="1E2761"/>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AE7D4B19-2A06-4E42-81C7-96247E3EF248}"/>
              </a:ext>
            </a:extLst>
          </p:cNvPr>
          <p:cNvSpPr>
            <a:spLocks xmlns:a="http://schemas.openxmlformats.org/drawingml/2006/main" noGrp="1"/>
          </p:cNvSpPr>
          <p:nvPr/>
        </p:nvSpPr>
        <p:spPr>
          <a:xfrm xmlns:a="http://schemas.openxmlformats.org/drawingml/2006/main">
            <a:off x="822960" y="2148840"/>
            <a:ext cx="10515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600"/>
              <a:buFont typeface="Calibri"/>
              <a:buNone/>
            </a:pPr>
            <a:r>
              <a:rPr sz="1600" b="1" i="0" u="none" cap="none">
                <a:solidFill>
                  <a:srgbClr val="E8A33D"/>
                </a:solidFill>
                <a:latin typeface="Calibri"/>
                <a:ea typeface="Calibri"/>
                <a:cs typeface="Calibri"/>
              </a:rPr>
              <a:t>B3.1  ·  Interactivity &amp; State</a:t>
            </a:r>
            <a:endParaRPr sz="1600" b="0" i="0" u="none" cap="none">
              <a:solidFill>
                <a:schemeClr val="dk1"/>
              </a:solidFill>
              <a:latin typeface="Calibri"/>
              <a:ea typeface="Calibri"/>
              <a:cs typeface="Calibri"/>
            </a:endParaRPr>
          </a:p>
        </p:txBody>
      </p:sp>
      <p:sp>
        <p:nvSpPr>
          <p:cNvPr id="17" name="Google Shape;17;p3">
            <a:extLst xmlns:a="http://schemas.openxmlformats.org/drawingml/2006/main">
              <a:ext uri="{FF2B5EF4-FFF2-40B4-BE49-F238E27FC236}">
                <a16:creationId xmlns:a16="http://schemas.microsoft.com/office/drawing/2014/main" id="{A863B010-756F-45B4-A301-1627720A2115}"/>
              </a:ext>
            </a:extLst>
          </p:cNvPr>
          <p:cNvSpPr>
            <a:spLocks xmlns:a="http://schemas.openxmlformats.org/drawingml/2006/main" noGrp="1"/>
          </p:cNvSpPr>
          <p:nvPr/>
        </p:nvSpPr>
        <p:spPr>
          <a:xfrm xmlns:a="http://schemas.openxmlformats.org/drawingml/2006/main">
            <a:off x="822960" y="2606040"/>
            <a:ext cx="10515600" cy="1463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FFFFFF"/>
              </a:buClr>
              <a:buSzPts val="4000"/>
              <a:buFont typeface="Cambria"/>
              <a:buNone/>
            </a:pPr>
            <a:r>
              <a:rPr sz="4000" b="1" i="0" u="none" cap="none">
                <a:solidFill>
                  <a:srgbClr val="FFFFFF"/>
                </a:solidFill>
                <a:latin typeface="Cambria"/>
                <a:ea typeface="Cambria"/>
                <a:cs typeface="Cambria"/>
              </a:rPr>
              <a:t>Keyboard Events</a:t>
            </a:r>
            <a:endParaRPr sz="4000" b="0" i="0" u="none" cap="none">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EF49E606-4442-4897-B5AC-04FA0F219C46}"/>
              </a:ext>
            </a:extLst>
          </p:cNvPr>
          <p:cNvSpPr>
            <a:spLocks xmlns:a="http://schemas.openxmlformats.org/drawingml/2006/main" noGrp="1"/>
          </p:cNvSpPr>
          <p:nvPr/>
        </p:nvSpPr>
        <p:spPr>
          <a:xfrm xmlns:a="http://schemas.openxmlformats.org/drawingml/2006/main">
            <a:off x="822960" y="3977640"/>
            <a:ext cx="987552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CADCFC"/>
              </a:buClr>
              <a:buSzPts val="1800"/>
              <a:buFont typeface="Calibri"/>
              <a:buNone/>
            </a:pPr>
            <a:r>
              <a:rPr sz="1800" b="0" i="1" u="none" cap="none">
                <a:solidFill>
                  <a:srgbClr val="CADCFC"/>
                </a:solidFill>
                <a:latin typeface="Calibri"/>
                <a:ea typeface="Calibri"/>
                <a:cs typeface="Calibri"/>
              </a:rPr>
              <a:t>The same input model as the mouse — with one real keyboard-specific difference.</a:t>
            </a:r>
            <a:endParaRPr sz="1800" b="0" i="0" u="none" cap="none">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1D291CA3-63B7-4515-AA77-A8C76DFF83E8}"/>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EEDD9F10-F0BE-43B9-973D-2C58661AF87D}"/>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4509613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9F5E7F76-0504-4BA5-A3B1-28954CB8AA5D}"/>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Quick Recap: The Mouse Trio</a:t>
            </a:r>
            <a:endParaRPr sz="2700" b="0" i="0" u="none" cap="none">
              <a:solidFill>
                <a:schemeClr val="dk1"/>
              </a:solidFill>
              <a:latin typeface="Calibri"/>
              <a:ea typeface="Calibri"/>
              <a:cs typeface="Calibri"/>
            </a:endParaRPr>
          </a:p>
        </p:txBody>
      </p:sp>
      <p:sp>
        <p:nvSpPr>
          <p:cNvPr id="27" name="Google Shape;27;p4">
            <a:extLst xmlns:a="http://schemas.openxmlformats.org/drawingml/2006/main">
              <a:ext uri="{FF2B5EF4-FFF2-40B4-BE49-F238E27FC236}">
                <a16:creationId xmlns:a16="http://schemas.microsoft.com/office/drawing/2014/main" id="{83AD387C-0B18-441B-B017-2B466C2D3FF6}"/>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From Part 1</a:t>
            </a:r>
            <a:endParaRPr sz="1500" b="0" i="0" u="none" cap="none">
              <a:solidFill>
                <a:schemeClr val="dk1"/>
              </a:solidFill>
              <a:latin typeface="Calibri"/>
              <a:ea typeface="Calibri"/>
              <a:cs typeface="Calibri"/>
            </a:endParaRPr>
          </a:p>
        </p:txBody>
      </p:sp>
      <p:sp>
        <p:nvSpPr>
          <p:cNvPr id="28" name="Google Shape;28;p4">
            <a:extLst xmlns:a="http://schemas.openxmlformats.org/drawingml/2006/main">
              <a:ext uri="{FF2B5EF4-FFF2-40B4-BE49-F238E27FC236}">
                <a16:creationId xmlns:a16="http://schemas.microsoft.com/office/drawing/2014/main" id="{4C72662B-62EB-4E91-92C3-8EA48BA01585}"/>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29" name="Google Shape;29;p4">
            <a:extLst xmlns:a="http://schemas.openxmlformats.org/drawingml/2006/main">
              <a:ext uri="{FF2B5EF4-FFF2-40B4-BE49-F238E27FC236}">
                <a16:creationId xmlns:a16="http://schemas.microsoft.com/office/drawing/2014/main" id="{DB8C23C5-26F9-43BD-A4C2-8EC41CAFF858}"/>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30" name="Google Shape;30;p4">
            <a:extLst xmlns:a="http://schemas.openxmlformats.org/drawingml/2006/main">
              <a:ext uri="{FF2B5EF4-FFF2-40B4-BE49-F238E27FC236}">
                <a16:creationId xmlns:a16="http://schemas.microsoft.com/office/drawing/2014/main" id="{D46169FD-B443-4325-9D4D-48D3D7E0BBBB}"/>
              </a:ext>
            </a:extLst>
          </p:cNvPr>
          <p:cNvSpPr>
            <a:spLocks xmlns:a="http://schemas.openxmlformats.org/drawingml/2006/main" noGrp="1"/>
          </p:cNvSpPr>
          <p:nvPr/>
        </p:nvSpPr>
        <p:spPr>
          <a:xfrm xmlns:a="http://schemas.openxmlformats.org/drawingml/2006/main">
            <a:off x="548640" y="1600200"/>
            <a:ext cx="11064240" cy="2011680"/>
          </a:xfrm>
          <a:prstGeom xmlns:a="http://schemas.openxmlformats.org/drawingml/2006/main" prst="roundRect">
            <a:avLst>
              <a:gd name="adj" fmla="val 2727"/>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 name="Google Shape;31;p4">
            <a:extLst xmlns:a="http://schemas.openxmlformats.org/drawingml/2006/main">
              <a:ext uri="{FF2B5EF4-FFF2-40B4-BE49-F238E27FC236}">
                <a16:creationId xmlns:a16="http://schemas.microsoft.com/office/drawing/2014/main" id="{92DD2CDD-1534-4CF5-A07B-C6B2E969B496}"/>
              </a:ext>
            </a:extLst>
          </p:cNvPr>
          <p:cNvSpPr>
            <a:spLocks xmlns:a="http://schemas.openxmlformats.org/drawingml/2006/main" noGrp="1"/>
          </p:cNvSpPr>
          <p:nvPr/>
        </p:nvSpPr>
        <p:spPr>
          <a:xfrm xmlns:a="http://schemas.openxmlformats.org/drawingml/2006/main">
            <a:off x="822960" y="1764792"/>
            <a:ext cx="10515600" cy="16824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mousePressed (variable) — true the whole time the button is held.</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mousePressed() (function) — runs once, at the instant of the press.</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mouseReleased() (function) — runs once, at the instant of release.</a:t>
            </a:r>
            <a:endParaRPr sz="1300" b="0" i="0" u="none" cap="none">
              <a:solidFill>
                <a:schemeClr val="dk1"/>
              </a:solidFill>
              <a:latin typeface="Calibri"/>
              <a:ea typeface="Calibri"/>
              <a:cs typeface="Calibri"/>
            </a:endParaRPr>
          </a:p>
        </p:txBody>
      </p:sp>
      <p:sp>
        <p:nvSpPr>
          <p:cNvPr id="32" name="Google Shape;32;p4">
            <a:extLst xmlns:a="http://schemas.openxmlformats.org/drawingml/2006/main">
              <a:ext uri="{FF2B5EF4-FFF2-40B4-BE49-F238E27FC236}">
                <a16:creationId xmlns:a16="http://schemas.microsoft.com/office/drawing/2014/main" id="{7723DEA8-E522-455C-BA96-C339A7DFB9F4}"/>
              </a:ext>
            </a:extLst>
          </p:cNvPr>
          <p:cNvSpPr>
            <a:spLocks xmlns:a="http://schemas.openxmlformats.org/drawingml/2006/main" noGrp="1"/>
          </p:cNvSpPr>
          <p:nvPr/>
        </p:nvSpPr>
        <p:spPr>
          <a:xfrm xmlns:a="http://schemas.openxmlformats.org/drawingml/2006/main">
            <a:off x="548640" y="3840480"/>
            <a:ext cx="11064240" cy="2011680"/>
          </a:xfrm>
          <a:prstGeom xmlns:a="http://schemas.openxmlformats.org/drawingml/2006/main" prst="roundRect">
            <a:avLst>
              <a:gd name="adj" fmla="val 3636"/>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3" name="Google Shape;33;p4">
            <a:extLst xmlns:a="http://schemas.openxmlformats.org/drawingml/2006/main">
              <a:ext uri="{FF2B5EF4-FFF2-40B4-BE49-F238E27FC236}">
                <a16:creationId xmlns:a16="http://schemas.microsoft.com/office/drawing/2014/main" id="{D066285E-0CE0-41B4-9184-BE58F6308C77}"/>
              </a:ext>
            </a:extLst>
          </p:cNvPr>
          <p:cNvSpPr>
            <a:spLocks xmlns:a="http://schemas.openxmlformats.org/drawingml/2006/main" noGrp="1"/>
          </p:cNvSpPr>
          <p:nvPr/>
        </p:nvSpPr>
        <p:spPr>
          <a:xfrm xmlns:a="http://schemas.openxmlformats.org/drawingml/2006/main">
            <a:off x="777240" y="400507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Today</a:t>
            </a:r>
            <a:endParaRPr sz="1300" b="0" i="0" u="none" cap="none">
              <a:solidFill>
                <a:schemeClr val="dk1"/>
              </a:solidFill>
              <a:latin typeface="Calibri"/>
              <a:ea typeface="Calibri"/>
              <a:cs typeface="Calibri"/>
            </a:endParaRPr>
          </a:p>
        </p:txBody>
      </p:sp>
      <p:sp>
        <p:nvSpPr>
          <p:cNvPr id="34" name="Google Shape;34;p4">
            <a:extLst xmlns:a="http://schemas.openxmlformats.org/drawingml/2006/main">
              <a:ext uri="{FF2B5EF4-FFF2-40B4-BE49-F238E27FC236}">
                <a16:creationId xmlns:a16="http://schemas.microsoft.com/office/drawing/2014/main" id="{CF3D92CC-2292-4E4E-BD1F-E7DB75F8F722}"/>
              </a:ext>
            </a:extLst>
          </p:cNvPr>
          <p:cNvSpPr>
            <a:spLocks xmlns:a="http://schemas.openxmlformats.org/drawingml/2006/main" noGrp="1"/>
          </p:cNvSpPr>
          <p:nvPr/>
        </p:nvSpPr>
        <p:spPr>
          <a:xfrm xmlns:a="http://schemas.openxmlformats.org/drawingml/2006/main">
            <a:off x="777240" y="4370832"/>
            <a:ext cx="10607040" cy="1344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The held-state and event-function pattern mirrors the mouse exactly — keyPressed with mousePressed, keyPressed() with mousePressed(). The key variable additionally tells us which key was most recently pressed. There's one real difference between the keyboard and mouse events, and it's worth knowing before you build anything with it.</a:t>
            </a:r>
            <a:endParaRPr sz="1350" b="0" i="0" u="none" cap="none">
              <a:solidFill>
                <a:schemeClr val="dk1"/>
              </a:solidFill>
              <a:latin typeface="Calibri"/>
              <a:ea typeface="Calibri"/>
              <a:cs typeface="Calibri"/>
            </a:endParaRPr>
          </a:p>
        </p:txBody>
      </p:sp>
      <p:sp>
        <p:nvSpPr>
          <p:cNvPr id="35" name="Google Shape;35;p4">
            <a:extLst xmlns:a="http://schemas.openxmlformats.org/drawingml/2006/main">
              <a:ext uri="{FF2B5EF4-FFF2-40B4-BE49-F238E27FC236}">
                <a16:creationId xmlns:a16="http://schemas.microsoft.com/office/drawing/2014/main" id="{E84DF119-D79C-4CD0-8A5D-E4058E24D92E}"/>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36" name="Google Shape;36;p4">
            <a:extLst xmlns:a="http://schemas.openxmlformats.org/drawingml/2006/main">
              <a:ext uri="{FF2B5EF4-FFF2-40B4-BE49-F238E27FC236}">
                <a16:creationId xmlns:a16="http://schemas.microsoft.com/office/drawing/2014/main" id="{910B2829-A8BA-4D0C-951E-4D0B81BD84DD}"/>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6270740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Google Shape;42;p5">
            <a:extLst xmlns:a="http://schemas.openxmlformats.org/drawingml/2006/main">
              <a:ext uri="{FF2B5EF4-FFF2-40B4-BE49-F238E27FC236}">
                <a16:creationId xmlns:a16="http://schemas.microsoft.com/office/drawing/2014/main" id="{A108CFAA-6B58-4FD2-A7B2-2427527E2137}"/>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A Key Event</a:t>
            </a:r>
            <a:endParaRPr sz="2700" b="0" i="0" u="none" cap="none">
              <a:solidFill>
                <a:schemeClr val="dk1"/>
              </a:solidFill>
              <a:latin typeface="Calibri"/>
              <a:ea typeface="Calibri"/>
              <a:cs typeface="Calibri"/>
            </a:endParaRPr>
          </a:p>
        </p:txBody>
      </p:sp>
      <p:sp>
        <p:nvSpPr>
          <p:cNvPr id="43" name="Google Shape;43;p5">
            <a:extLst xmlns:a="http://schemas.openxmlformats.org/drawingml/2006/main">
              <a:ext uri="{FF2B5EF4-FFF2-40B4-BE49-F238E27FC236}">
                <a16:creationId xmlns:a16="http://schemas.microsoft.com/office/drawing/2014/main" id="{F0761885-17AB-4969-A17D-1BF282F1A541}"/>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key stores the most recently pressed character</a:t>
            </a:r>
            <a:endParaRPr sz="1500" b="0" i="0" u="none" cap="none">
              <a:solidFill>
                <a:schemeClr val="dk1"/>
              </a:solidFill>
              <a:latin typeface="Calibri"/>
              <a:ea typeface="Calibri"/>
              <a:cs typeface="Calibri"/>
            </a:endParaRPr>
          </a:p>
        </p:txBody>
      </p:sp>
      <p:sp>
        <p:nvSpPr>
          <p:cNvPr id="44" name="Google Shape;44;p5">
            <a:extLst xmlns:a="http://schemas.openxmlformats.org/drawingml/2006/main">
              <a:ext uri="{FF2B5EF4-FFF2-40B4-BE49-F238E27FC236}">
                <a16:creationId xmlns:a16="http://schemas.microsoft.com/office/drawing/2014/main" id="{90F23A48-2F55-4C58-A557-48714C26CBF2}"/>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45" name="Google Shape;45;p5">
            <a:extLst xmlns:a="http://schemas.openxmlformats.org/drawingml/2006/main">
              <a:ext uri="{FF2B5EF4-FFF2-40B4-BE49-F238E27FC236}">
                <a16:creationId xmlns:a16="http://schemas.microsoft.com/office/drawing/2014/main" id="{F301D7D0-8357-4AFC-ADD5-DFD7C304A283}"/>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46" name="Google Shape;46;p5">
            <a:extLst xmlns:a="http://schemas.openxmlformats.org/drawingml/2006/main">
              <a:ext uri="{FF2B5EF4-FFF2-40B4-BE49-F238E27FC236}">
                <a16:creationId xmlns:a16="http://schemas.microsoft.com/office/drawing/2014/main" id="{2A1DD54C-F7FF-4379-B70B-019BFE0EBFFF}"/>
              </a:ext>
            </a:extLst>
          </p:cNvPr>
          <p:cNvSpPr>
            <a:spLocks xmlns:a="http://schemas.openxmlformats.org/drawingml/2006/main" noGrp="1"/>
          </p:cNvSpPr>
          <p:nvPr/>
        </p:nvSpPr>
        <p:spPr>
          <a:xfrm xmlns:a="http://schemas.openxmlformats.org/drawingml/2006/main">
            <a:off x="548640" y="1600200"/>
            <a:ext cx="6949440" cy="2377440"/>
          </a:xfrm>
          <a:prstGeom xmlns:a="http://schemas.openxmlformats.org/drawingml/2006/main" prst="roundRect">
            <a:avLst>
              <a:gd name="adj" fmla="val 3077"/>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7" name="Google Shape;47;p5">
            <a:extLst xmlns:a="http://schemas.openxmlformats.org/drawingml/2006/main">
              <a:ext uri="{FF2B5EF4-FFF2-40B4-BE49-F238E27FC236}">
                <a16:creationId xmlns:a16="http://schemas.microsoft.com/office/drawing/2014/main" id="{26ACD891-3243-4CE8-9A9E-CDE324F67BBA}"/>
              </a:ext>
            </a:extLst>
          </p:cNvPr>
          <p:cNvSpPr>
            <a:spLocks xmlns:a="http://schemas.openxmlformats.org/drawingml/2006/main" noGrp="1"/>
          </p:cNvSpPr>
          <p:nvPr/>
        </p:nvSpPr>
        <p:spPr>
          <a:xfrm xmlns:a="http://schemas.openxmlformats.org/drawingml/2006/main">
            <a:off x="777240" y="1764792"/>
            <a:ext cx="6492240" cy="20482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8FD0FF"/>
              </a:buClr>
              <a:buSzPts val="1500"/>
              <a:buFont typeface="Courier New"/>
              <a:buNone/>
            </a:pPr>
            <a:r>
              <a:rPr sz="1500" b="1" i="0" u="none" cap="none">
                <a:solidFill>
                  <a:srgbClr val="8FD0FF"/>
                </a:solidFill>
                <a:latin typeface="Courier New"/>
                <a:ea typeface="Courier New"/>
                <a:cs typeface="Courier New"/>
              </a:rPr>
              <a:t>public</a:t>
            </a:r>
            <a:r>
              <a:rPr sz="1500" b="0" i="0" u="none" cap="none">
                <a:solidFill>
                  <a:srgbClr val="CADCFC"/>
                </a:solidFill>
                <a:latin typeface="Courier New"/>
                <a:ea typeface="Courier New"/>
                <a:cs typeface="Courier New"/>
              </a:rPr>
              <a:t> </a:t>
            </a:r>
            <a:r>
              <a:rPr sz="1500" b="1" i="0" u="none" cap="none">
                <a:solidFill>
                  <a:srgbClr val="8FD0FF"/>
                </a:solidFill>
                <a:latin typeface="Courier New"/>
                <a:ea typeface="Courier New"/>
                <a:cs typeface="Courier New"/>
              </a:rPr>
              <a:t>void</a:t>
            </a:r>
            <a:r>
              <a:rPr sz="1500" b="0" i="0" u="none" cap="none">
                <a:solidFill>
                  <a:srgbClr val="CADCFC"/>
                </a:solidFill>
                <a:latin typeface="Courier New"/>
                <a:ea typeface="Courier New"/>
                <a:cs typeface="Courier New"/>
              </a:rPr>
              <a:t> keyPressed() {</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  </a:t>
            </a:r>
            <a:r>
              <a:rPr sz="1500" b="1" i="0" u="none" cap="none">
                <a:solidFill>
                  <a:srgbClr val="8FD0FF"/>
                </a:solidFill>
                <a:latin typeface="Courier New"/>
                <a:ea typeface="Courier New"/>
                <a:cs typeface="Courier New"/>
              </a:rPr>
              <a:t>if</a:t>
            </a:r>
            <a:r>
              <a:rPr sz="1500" b="0" i="0" u="none" cap="none">
                <a:solidFill>
                  <a:srgbClr val="CADCFC"/>
                </a:solidFill>
                <a:latin typeface="Courier New"/>
                <a:ea typeface="Courier New"/>
                <a:cs typeface="Courier New"/>
              </a:rPr>
              <a:t> (key == 'a') {</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    fill(80);</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  } </a:t>
            </a:r>
            <a:r>
              <a:rPr sz="1500" b="1" i="0" u="none" cap="none">
                <a:solidFill>
                  <a:srgbClr val="8FD0FF"/>
                </a:solidFill>
                <a:latin typeface="Courier New"/>
                <a:ea typeface="Courier New"/>
                <a:cs typeface="Courier New"/>
              </a:rPr>
              <a:t>else</a:t>
            </a:r>
            <a:r>
              <a:rPr sz="1500" b="0" i="0" u="none" cap="none">
                <a:solidFill>
                  <a:srgbClr val="CADCFC"/>
                </a:solidFill>
                <a:latin typeface="Courier New"/>
                <a:ea typeface="Courier New"/>
                <a:cs typeface="Courier New"/>
              </a:rPr>
              <a:t> {</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    fill(200);</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  }</a:t>
            </a:r>
            <a:endParaRPr sz="15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500"/>
              <a:buFont typeface="Courier New"/>
              <a:buNone/>
            </a:pPr>
            <a:r>
              <a:rPr sz="1500" b="0" i="0" u="none" cap="none">
                <a:solidFill>
                  <a:srgbClr val="CADCFC"/>
                </a:solidFill>
                <a:latin typeface="Courier New"/>
                <a:ea typeface="Courier New"/>
                <a:cs typeface="Courier New"/>
              </a:rPr>
              <a:t>}</a:t>
            </a:r>
            <a:endParaRPr sz="1500" b="0" i="0" u="none" cap="none">
              <a:solidFill>
                <a:schemeClr val="dk1"/>
              </a:solidFill>
              <a:latin typeface="Calibri"/>
              <a:ea typeface="Calibri"/>
              <a:cs typeface="Calibri"/>
            </a:endParaRPr>
          </a:p>
        </p:txBody>
      </p:sp>
      <p:sp>
        <p:nvSpPr>
          <p:cNvPr id="48" name="Google Shape;48;p5">
            <a:extLst xmlns:a="http://schemas.openxmlformats.org/drawingml/2006/main">
              <a:ext uri="{FF2B5EF4-FFF2-40B4-BE49-F238E27FC236}">
                <a16:creationId xmlns:a16="http://schemas.microsoft.com/office/drawing/2014/main" id="{04CD865E-682D-4602-83CE-31CF7ED0D0FE}"/>
              </a:ext>
            </a:extLst>
          </p:cNvPr>
          <p:cNvSpPr>
            <a:spLocks xmlns:a="http://schemas.openxmlformats.org/drawingml/2006/main" noGrp="1"/>
          </p:cNvSpPr>
          <p:nvPr/>
        </p:nvSpPr>
        <p:spPr>
          <a:xfrm xmlns:a="http://schemas.openxmlformats.org/drawingml/2006/main">
            <a:off x="7680960" y="1600200"/>
            <a:ext cx="3931920" cy="2377440"/>
          </a:xfrm>
          <a:prstGeom xmlns:a="http://schemas.openxmlformats.org/drawingml/2006/main" prst="roundRect">
            <a:avLst>
              <a:gd name="adj" fmla="val 3077"/>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49" name="Google Shape;49;p5">
            <a:extLst xmlns:a="http://schemas.openxmlformats.org/drawingml/2006/main">
              <a:ext uri="{FF2B5EF4-FFF2-40B4-BE49-F238E27FC236}">
                <a16:creationId xmlns:a16="http://schemas.microsoft.com/office/drawing/2014/main" id="{4614FAA6-F933-47A7-AC6A-223498BE767A}"/>
              </a:ext>
            </a:extLst>
          </p:cNvPr>
          <p:cNvSpPr>
            <a:spLocks xmlns:a="http://schemas.openxmlformats.org/drawingml/2006/main" noGrp="1"/>
          </p:cNvSpPr>
          <p:nvPr/>
        </p:nvSpPr>
        <p:spPr>
          <a:xfrm xmlns:a="http://schemas.openxmlformats.org/drawingml/2006/main">
            <a:off x="7909560" y="1764792"/>
            <a:ext cx="34747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One simple comparison</a:t>
            </a:r>
            <a:endParaRPr sz="1300" b="0" i="0" u="none" cap="none">
              <a:solidFill>
                <a:schemeClr val="dk1"/>
              </a:solidFill>
              <a:latin typeface="Calibri"/>
              <a:ea typeface="Calibri"/>
              <a:cs typeface="Calibri"/>
            </a:endParaRPr>
          </a:p>
        </p:txBody>
      </p:sp>
      <p:sp>
        <p:nvSpPr>
          <p:cNvPr id="50" name="Google Shape;50;p5">
            <a:extLst xmlns:a="http://schemas.openxmlformats.org/drawingml/2006/main">
              <a:ext uri="{FF2B5EF4-FFF2-40B4-BE49-F238E27FC236}">
                <a16:creationId xmlns:a16="http://schemas.microsoft.com/office/drawing/2014/main" id="{04B486CB-AF96-49E9-A137-1C093FFA4547}"/>
              </a:ext>
            </a:extLst>
          </p:cNvPr>
          <p:cNvSpPr>
            <a:spLocks xmlns:a="http://schemas.openxmlformats.org/drawingml/2006/main" noGrp="1"/>
          </p:cNvSpPr>
          <p:nvPr/>
        </p:nvSpPr>
        <p:spPr>
          <a:xfrm xmlns:a="http://schemas.openxmlformats.org/drawingml/2006/main">
            <a:off x="7909560" y="2130552"/>
            <a:ext cx="3474720" cy="170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Just like every condition since B2.4 — a single comparison, no &amp;&amp; or ||. key == 'a' checks one specific character.</a:t>
            </a:r>
            <a:endParaRPr sz="1350" b="0" i="0" u="none" cap="none">
              <a:solidFill>
                <a:schemeClr val="dk1"/>
              </a:solidFill>
              <a:latin typeface="Calibri"/>
              <a:ea typeface="Calibri"/>
              <a:cs typeface="Calibri"/>
            </a:endParaRPr>
          </a:p>
        </p:txBody>
      </p:sp>
      <p:sp>
        <p:nvSpPr>
          <p:cNvPr id="51" name="Google Shape;51;p5">
            <a:extLst xmlns:a="http://schemas.openxmlformats.org/drawingml/2006/main">
              <a:ext uri="{FF2B5EF4-FFF2-40B4-BE49-F238E27FC236}">
                <a16:creationId xmlns:a16="http://schemas.microsoft.com/office/drawing/2014/main" id="{2A97C277-EE69-4109-9621-7039566F06F9}"/>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52" name="Google Shape;52;p5">
            <a:extLst xmlns:a="http://schemas.openxmlformats.org/drawingml/2006/main">
              <a:ext uri="{FF2B5EF4-FFF2-40B4-BE49-F238E27FC236}">
                <a16:creationId xmlns:a16="http://schemas.microsoft.com/office/drawing/2014/main" id="{FAD33ADA-E58A-4794-B507-390EA73C13B1}"/>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21370229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Google Shape;58;p6">
            <a:extLst xmlns:a="http://schemas.openxmlformats.org/drawingml/2006/main">
              <a:ext uri="{FF2B5EF4-FFF2-40B4-BE49-F238E27FC236}">
                <a16:creationId xmlns:a16="http://schemas.microsoft.com/office/drawing/2014/main" id="{7F0BDF48-53FF-4385-81BB-A69A76B72CB3}"/>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Same Pattern, One Real Difference</a:t>
            </a:r>
            <a:endParaRPr sz="2700" b="0" i="0" u="none" cap="none">
              <a:solidFill>
                <a:schemeClr val="dk1"/>
              </a:solidFill>
              <a:latin typeface="Calibri"/>
              <a:ea typeface="Calibri"/>
              <a:cs typeface="Calibri"/>
            </a:endParaRPr>
          </a:p>
        </p:txBody>
      </p:sp>
      <p:sp>
        <p:nvSpPr>
          <p:cNvPr id="59" name="Google Shape;59;p6">
            <a:extLst xmlns:a="http://schemas.openxmlformats.org/drawingml/2006/main">
              <a:ext uri="{FF2B5EF4-FFF2-40B4-BE49-F238E27FC236}">
                <a16:creationId xmlns:a16="http://schemas.microsoft.com/office/drawing/2014/main" id="{FA353BD3-32A2-4808-8B0B-FDDBC1F4B338}"/>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keyPressed vs. keyPressed() — almost identical to the mouse pair</a:t>
            </a:r>
            <a:endParaRPr sz="1500" b="0" i="0" u="none" cap="none">
              <a:solidFill>
                <a:schemeClr val="dk1"/>
              </a:solidFill>
              <a:latin typeface="Calibri"/>
              <a:ea typeface="Calibri"/>
              <a:cs typeface="Calibri"/>
            </a:endParaRPr>
          </a:p>
        </p:txBody>
      </p:sp>
      <p:sp>
        <p:nvSpPr>
          <p:cNvPr id="60" name="Google Shape;60;p6">
            <a:extLst xmlns:a="http://schemas.openxmlformats.org/drawingml/2006/main">
              <a:ext uri="{FF2B5EF4-FFF2-40B4-BE49-F238E27FC236}">
                <a16:creationId xmlns:a16="http://schemas.microsoft.com/office/drawing/2014/main" id="{E4AF1BE9-7E7D-4042-8C4B-3D161BE8F8BD}"/>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61" name="Google Shape;61;p6">
            <a:extLst xmlns:a="http://schemas.openxmlformats.org/drawingml/2006/main">
              <a:ext uri="{FF2B5EF4-FFF2-40B4-BE49-F238E27FC236}">
                <a16:creationId xmlns:a16="http://schemas.microsoft.com/office/drawing/2014/main" id="{C9E63193-DADB-419B-90E1-983D2028E0D5}"/>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62" name="Google Shape;62;p6">
            <a:extLst xmlns:a="http://schemas.openxmlformats.org/drawingml/2006/main">
              <a:ext uri="{FF2B5EF4-FFF2-40B4-BE49-F238E27FC236}">
                <a16:creationId xmlns:a16="http://schemas.microsoft.com/office/drawing/2014/main" id="{0F49417C-E65B-4C49-B8E6-887B197C67C0}"/>
              </a:ext>
            </a:extLst>
          </p:cNvPr>
          <p:cNvSpPr>
            <a:spLocks xmlns:a="http://schemas.openxmlformats.org/drawingml/2006/main" noGrp="1"/>
          </p:cNvSpPr>
          <p:nvPr/>
        </p:nvSpPr>
        <p:spPr>
          <a:xfrm xmlns:a="http://schemas.openxmlformats.org/drawingml/2006/main">
            <a:off x="548640" y="1600200"/>
            <a:ext cx="11064240" cy="1554480"/>
          </a:xfrm>
          <a:prstGeom xmlns:a="http://schemas.openxmlformats.org/drawingml/2006/main" prst="roundRect">
            <a:avLst>
              <a:gd name="adj" fmla="val 3529"/>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3" name="Google Shape;63;p6">
            <a:extLst xmlns:a="http://schemas.openxmlformats.org/drawingml/2006/main">
              <a:ext uri="{FF2B5EF4-FFF2-40B4-BE49-F238E27FC236}">
                <a16:creationId xmlns:a16="http://schemas.microsoft.com/office/drawing/2014/main" id="{69E89F27-9EB8-4B4D-A5BA-9709397A08A3}"/>
              </a:ext>
            </a:extLst>
          </p:cNvPr>
          <p:cNvSpPr>
            <a:spLocks xmlns:a="http://schemas.openxmlformats.org/drawingml/2006/main" noGrp="1"/>
          </p:cNvSpPr>
          <p:nvPr/>
        </p:nvSpPr>
        <p:spPr>
          <a:xfrm xmlns:a="http://schemas.openxmlformats.org/drawingml/2006/main">
            <a:off x="822960" y="1764792"/>
            <a:ext cx="10515600" cy="12252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keyPressed (no parens) — true the whole time any key is held. Same as mousePressed.</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keyPressed() (with parens) — runs when a key goes down. Same idea as mousePressed().</a:t>
            </a:r>
            <a:endParaRPr sz="1300" b="0" i="0" u="none" cap="none">
              <a:solidFill>
                <a:schemeClr val="dk1"/>
              </a:solidFill>
              <a:latin typeface="Calibri"/>
              <a:ea typeface="Calibri"/>
              <a:cs typeface="Calibri"/>
            </a:endParaRPr>
          </a:p>
        </p:txBody>
      </p:sp>
      <p:sp>
        <p:nvSpPr>
          <p:cNvPr id="64" name="Google Shape;64;p6">
            <a:extLst xmlns:a="http://schemas.openxmlformats.org/drawingml/2006/main">
              <a:ext uri="{FF2B5EF4-FFF2-40B4-BE49-F238E27FC236}">
                <a16:creationId xmlns:a16="http://schemas.microsoft.com/office/drawing/2014/main" id="{BACE4DC7-145B-4A41-A875-005470186AD7}"/>
              </a:ext>
            </a:extLst>
          </p:cNvPr>
          <p:cNvSpPr>
            <a:spLocks xmlns:a="http://schemas.openxmlformats.org/drawingml/2006/main" noGrp="1"/>
          </p:cNvSpPr>
          <p:nvPr/>
        </p:nvSpPr>
        <p:spPr>
          <a:xfrm xmlns:a="http://schemas.openxmlformats.org/drawingml/2006/main">
            <a:off x="548640" y="3337560"/>
            <a:ext cx="11064240" cy="2651760"/>
          </a:xfrm>
          <a:prstGeom xmlns:a="http://schemas.openxmlformats.org/drawingml/2006/main" prst="roundRect">
            <a:avLst>
              <a:gd name="adj" fmla="val 2759"/>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5" name="Google Shape;65;p6">
            <a:extLst xmlns:a="http://schemas.openxmlformats.org/drawingml/2006/main">
              <a:ext uri="{FF2B5EF4-FFF2-40B4-BE49-F238E27FC236}">
                <a16:creationId xmlns:a16="http://schemas.microsoft.com/office/drawing/2014/main" id="{02F0C4A0-73F9-4A21-B103-4E261970EFF2}"/>
              </a:ext>
            </a:extLst>
          </p:cNvPr>
          <p:cNvSpPr>
            <a:spLocks xmlns:a="http://schemas.openxmlformats.org/drawingml/2006/main" noGrp="1"/>
          </p:cNvSpPr>
          <p:nvPr/>
        </p:nvSpPr>
        <p:spPr>
          <a:xfrm xmlns:a="http://schemas.openxmlformats.org/drawingml/2006/main">
            <a:off x="777240" y="3502152"/>
            <a:ext cx="1060704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The one real difference</a:t>
            </a:r>
            <a:endParaRPr sz="1300" b="0" i="0" u="none" cap="none">
              <a:solidFill>
                <a:schemeClr val="dk1"/>
              </a:solidFill>
              <a:latin typeface="Calibri"/>
              <a:ea typeface="Calibri"/>
              <a:cs typeface="Calibri"/>
            </a:endParaRPr>
          </a:p>
        </p:txBody>
      </p:sp>
      <p:sp>
        <p:nvSpPr>
          <p:cNvPr id="66" name="Google Shape;66;p6">
            <a:extLst xmlns:a="http://schemas.openxmlformats.org/drawingml/2006/main">
              <a:ext uri="{FF2B5EF4-FFF2-40B4-BE49-F238E27FC236}">
                <a16:creationId xmlns:a16="http://schemas.microsoft.com/office/drawing/2014/main" id="{410D82D7-EB0C-4EE4-B62D-459D0B63E66B}"/>
              </a:ext>
            </a:extLst>
          </p:cNvPr>
          <p:cNvSpPr>
            <a:spLocks xmlns:a="http://schemas.openxmlformats.org/drawingml/2006/main" noGrp="1"/>
          </p:cNvSpPr>
          <p:nvPr/>
        </p:nvSpPr>
        <p:spPr>
          <a:xfrm xmlns:a="http://schemas.openxmlformats.org/drawingml/2006/main">
            <a:off x="777240" y="3867912"/>
            <a:ext cx="10607040" cy="198424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mousePressed() fires exactly once per physical press. keyPressed() can fire MORE than once for a single held key — because operating systems generate repeated key-repeat events, the same way your keyboard repeats a letter if you hold it down while typing.</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Same basic input model as the mouse. One keyboard-specific caveat, not a different model.</a:t>
            </a:r>
            <a:endParaRPr sz="1350" b="0" i="0" u="none" cap="none">
              <a:solidFill>
                <a:schemeClr val="dk1"/>
              </a:solidFill>
              <a:latin typeface="Calibri"/>
              <a:ea typeface="Calibri"/>
              <a:cs typeface="Calibri"/>
            </a:endParaRPr>
          </a:p>
        </p:txBody>
      </p:sp>
      <p:sp>
        <p:nvSpPr>
          <p:cNvPr id="67" name="Google Shape;67;p6">
            <a:extLst xmlns:a="http://schemas.openxmlformats.org/drawingml/2006/main">
              <a:ext uri="{FF2B5EF4-FFF2-40B4-BE49-F238E27FC236}">
                <a16:creationId xmlns:a16="http://schemas.microsoft.com/office/drawing/2014/main" id="{98D7A7B7-AAD7-424D-95F2-5DA3E2862685}"/>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68" name="Google Shape;68;p6">
            <a:extLst xmlns:a="http://schemas.openxmlformats.org/drawingml/2006/main">
              <a:ext uri="{FF2B5EF4-FFF2-40B4-BE49-F238E27FC236}">
                <a16:creationId xmlns:a16="http://schemas.microsoft.com/office/drawing/2014/main" id="{5AF13041-163F-4F5E-B2FC-B3A8DD8A0C0F}"/>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0609584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Google Shape;74;p7">
            <a:extLst xmlns:a="http://schemas.openxmlformats.org/drawingml/2006/main">
              <a:ext uri="{FF2B5EF4-FFF2-40B4-BE49-F238E27FC236}">
                <a16:creationId xmlns:a16="http://schemas.microsoft.com/office/drawing/2014/main" id="{5FB92477-0338-4BB1-917D-DF4E91D1ADB9}"/>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The Held Version</a:t>
            </a:r>
            <a:endParaRPr sz="2700" b="0" i="0" u="none" cap="none">
              <a:solidFill>
                <a:schemeClr val="dk1"/>
              </a:solidFill>
              <a:latin typeface="Calibri"/>
              <a:ea typeface="Calibri"/>
              <a:cs typeface="Calibri"/>
            </a:endParaRPr>
          </a:p>
        </p:txBody>
      </p:sp>
      <p:sp>
        <p:nvSpPr>
          <p:cNvPr id="75" name="Google Shape;75;p7">
            <a:extLst xmlns:a="http://schemas.openxmlformats.org/drawingml/2006/main">
              <a:ext uri="{FF2B5EF4-FFF2-40B4-BE49-F238E27FC236}">
                <a16:creationId xmlns:a16="http://schemas.microsoft.com/office/drawing/2014/main" id="{89FA187E-945D-42D2-8CB1-5AF4874A5B10}"/>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background(255) still matters, or the shape never disappears</a:t>
            </a:r>
            <a:endParaRPr sz="1500" b="0" i="0" u="none" cap="none">
              <a:solidFill>
                <a:schemeClr val="dk1"/>
              </a:solidFill>
              <a:latin typeface="Calibri"/>
              <a:ea typeface="Calibri"/>
              <a:cs typeface="Calibri"/>
            </a:endParaRPr>
          </a:p>
        </p:txBody>
      </p:sp>
      <p:sp>
        <p:nvSpPr>
          <p:cNvPr id="76" name="Google Shape;76;p7">
            <a:extLst xmlns:a="http://schemas.openxmlformats.org/drawingml/2006/main">
              <a:ext uri="{FF2B5EF4-FFF2-40B4-BE49-F238E27FC236}">
                <a16:creationId xmlns:a16="http://schemas.microsoft.com/office/drawing/2014/main" id="{D21680C8-EC16-4088-AAC8-F894D577A65D}"/>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77" name="Google Shape;77;p7">
            <a:extLst xmlns:a="http://schemas.openxmlformats.org/drawingml/2006/main">
              <a:ext uri="{FF2B5EF4-FFF2-40B4-BE49-F238E27FC236}">
                <a16:creationId xmlns:a16="http://schemas.microsoft.com/office/drawing/2014/main" id="{02185F0B-1D0B-4716-8A96-CE85A7A73324}"/>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78" name="Google Shape;78;p7">
            <a:extLst xmlns:a="http://schemas.openxmlformats.org/drawingml/2006/main">
              <a:ext uri="{FF2B5EF4-FFF2-40B4-BE49-F238E27FC236}">
                <a16:creationId xmlns:a16="http://schemas.microsoft.com/office/drawing/2014/main" id="{363B2E5D-AE8C-4681-B866-1C3CE2623FE1}"/>
              </a:ext>
            </a:extLst>
          </p:cNvPr>
          <p:cNvSpPr>
            <a:spLocks xmlns:a="http://schemas.openxmlformats.org/drawingml/2006/main" noGrp="1"/>
          </p:cNvSpPr>
          <p:nvPr/>
        </p:nvSpPr>
        <p:spPr>
          <a:xfrm xmlns:a="http://schemas.openxmlformats.org/drawingml/2006/main">
            <a:off x="548640" y="1600200"/>
            <a:ext cx="5120640" cy="2103120"/>
          </a:xfrm>
          <a:prstGeom xmlns:a="http://schemas.openxmlformats.org/drawingml/2006/main" prst="roundRect">
            <a:avLst>
              <a:gd name="adj" fmla="val 3478"/>
            </a:avLst>
          </a:prstGeom>
          <a:solidFill xmlns:a="http://schemas.openxmlformats.org/drawingml/2006/main">
            <a:srgbClr val="1B1F2E"/>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79" name="Google Shape;79;p7">
            <a:extLst xmlns:a="http://schemas.openxmlformats.org/drawingml/2006/main">
              <a:ext uri="{FF2B5EF4-FFF2-40B4-BE49-F238E27FC236}">
                <a16:creationId xmlns:a16="http://schemas.microsoft.com/office/drawing/2014/main" id="{1B8117DE-F9ED-480F-860E-0086FCBA944B}"/>
              </a:ext>
            </a:extLst>
          </p:cNvPr>
          <p:cNvSpPr>
            <a:spLocks xmlns:a="http://schemas.openxmlformats.org/drawingml/2006/main" noGrp="1"/>
          </p:cNvSpPr>
          <p:nvPr/>
        </p:nvSpPr>
        <p:spPr>
          <a:xfrm xmlns:a="http://schemas.openxmlformats.org/drawingml/2006/main">
            <a:off x="777240" y="1764792"/>
            <a:ext cx="4663440" cy="17739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8FD0FF"/>
              </a:buClr>
              <a:buSzPts val="1400"/>
              <a:buFont typeface="Courier New"/>
              <a:buNone/>
            </a:pPr>
            <a:r>
              <a:rPr sz="1400" b="1" i="0" u="none" cap="none">
                <a:solidFill>
                  <a:srgbClr val="8FD0FF"/>
                </a:solidFill>
                <a:latin typeface="Courier New"/>
                <a:ea typeface="Courier New"/>
                <a:cs typeface="Courier New"/>
              </a:rPr>
              <a:t>public</a:t>
            </a:r>
            <a:r>
              <a:rPr sz="1400" b="0" i="0" u="none" cap="none">
                <a:solidFill>
                  <a:srgbClr val="CADCFC"/>
                </a:solidFill>
                <a:latin typeface="Courier New"/>
                <a:ea typeface="Courier New"/>
                <a:cs typeface="Courier New"/>
              </a:rPr>
              <a:t> </a:t>
            </a:r>
            <a:r>
              <a:rPr sz="1400" b="1" i="0" u="none" cap="none">
                <a:solidFill>
                  <a:srgbClr val="8FD0FF"/>
                </a:solidFill>
                <a:latin typeface="Courier New"/>
                <a:ea typeface="Courier New"/>
                <a:cs typeface="Courier New"/>
              </a:rPr>
              <a:t>void</a:t>
            </a:r>
            <a:r>
              <a:rPr sz="1400" b="0" i="0" u="none" cap="none">
                <a:solidFill>
                  <a:srgbClr val="CADCFC"/>
                </a:solidFill>
                <a:latin typeface="Courier New"/>
                <a:ea typeface="Courier New"/>
                <a:cs typeface="Courier New"/>
              </a:rPr>
              <a:t> draw()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background(255);</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a:t>
            </a:r>
            <a:r>
              <a:rPr sz="1400" b="1" i="0" u="none" cap="none">
                <a:solidFill>
                  <a:srgbClr val="8FD0FF"/>
                </a:solidFill>
                <a:latin typeface="Courier New"/>
                <a:ea typeface="Courier New"/>
                <a:cs typeface="Courier New"/>
              </a:rPr>
              <a:t>if</a:t>
            </a:r>
            <a:r>
              <a:rPr sz="1400" b="0" i="0" u="none" cap="none">
                <a:solidFill>
                  <a:srgbClr val="CADCFC"/>
                </a:solidFill>
                <a:latin typeface="Courier New"/>
                <a:ea typeface="Courier New"/>
                <a:cs typeface="Courier New"/>
              </a:rPr>
              <a:t> (keyPressed)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ellipse(200, 200, 60, 60);</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  }</a:t>
            </a:r>
            <a:endParaRPr sz="1400" b="0" i="0" u="none" cap="none">
              <a:solidFill>
                <a:schemeClr val="dk1"/>
              </a:solidFill>
              <a:latin typeface="Calibri"/>
              <a:ea typeface="Calibri"/>
              <a:cs typeface="Calibri"/>
            </a:endParaRPr>
          </a:p>
          <a:p xmlns:a="http://schemas.openxmlformats.org/drawingml/2006/main">
            <a:pPr marL="0" marR="0" lvl="0" indent="0" algn="l">
              <a:lnSpc>
                <a:spcPct val="115000"/>
              </a:lnSpc>
              <a:spcBef>
                <a:spcPts val="0"/>
              </a:spcBef>
              <a:spcAft>
                <a:spcPts val="0"/>
              </a:spcAft>
              <a:buClr>
                <a:srgbClr val="CADCFC"/>
              </a:buClr>
              <a:buSzPts val="1400"/>
              <a:buFont typeface="Courier New"/>
              <a:buNone/>
            </a:pPr>
            <a:r>
              <a:rPr sz="1400" b="0" i="0" u="none" cap="none">
                <a:solidFill>
                  <a:srgbClr val="CADCFC"/>
                </a:solidFill>
                <a:latin typeface="Courier New"/>
                <a:ea typeface="Courier New"/>
                <a:cs typeface="Courier New"/>
              </a:rPr>
              <a:t>}</a:t>
            </a:r>
            <a:endParaRPr sz="1400" b="0" i="0" u="none" cap="none">
              <a:solidFill>
                <a:schemeClr val="dk1"/>
              </a:solidFill>
              <a:latin typeface="Calibri"/>
              <a:ea typeface="Calibri"/>
              <a:cs typeface="Calibri"/>
            </a:endParaRPr>
          </a:p>
        </p:txBody>
      </p:sp>
      <p:sp>
        <p:nvSpPr>
          <p:cNvPr id="80" name="Google Shape;80;p7">
            <a:extLst xmlns:a="http://schemas.openxmlformats.org/drawingml/2006/main">
              <a:ext uri="{FF2B5EF4-FFF2-40B4-BE49-F238E27FC236}">
                <a16:creationId xmlns:a16="http://schemas.microsoft.com/office/drawing/2014/main" id="{8CF2E02F-30D3-4F66-A5E3-C03DB4F5AF28}"/>
              </a:ext>
            </a:extLst>
          </p:cNvPr>
          <p:cNvSpPr>
            <a:spLocks xmlns:a="http://schemas.openxmlformats.org/drawingml/2006/main" noGrp="1"/>
          </p:cNvSpPr>
          <p:nvPr/>
        </p:nvSpPr>
        <p:spPr>
          <a:xfrm xmlns:a="http://schemas.openxmlformats.org/drawingml/2006/main">
            <a:off x="5852160" y="1600200"/>
            <a:ext cx="5760720" cy="2103120"/>
          </a:xfrm>
          <a:prstGeom xmlns:a="http://schemas.openxmlformats.org/drawingml/2006/main" prst="roundRect">
            <a:avLst>
              <a:gd name="adj" fmla="val 3478"/>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1" name="Google Shape;81;p7">
            <a:extLst xmlns:a="http://schemas.openxmlformats.org/drawingml/2006/main">
              <a:ext uri="{FF2B5EF4-FFF2-40B4-BE49-F238E27FC236}">
                <a16:creationId xmlns:a16="http://schemas.microsoft.com/office/drawing/2014/main" id="{10C5131F-A26F-49D4-B1E7-7D9C7F0C5C9C}"/>
              </a:ext>
            </a:extLst>
          </p:cNvPr>
          <p:cNvSpPr>
            <a:spLocks xmlns:a="http://schemas.openxmlformats.org/drawingml/2006/main" noGrp="1"/>
          </p:cNvSpPr>
          <p:nvPr/>
        </p:nvSpPr>
        <p:spPr>
          <a:xfrm xmlns:a="http://schemas.openxmlformats.org/drawingml/2006/main">
            <a:off x="6080760" y="1764792"/>
            <a:ext cx="5303520" cy="18013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Without background(255), the shape would appear once and stay forever — even after the key is released. With it, the shape only shows up while keyPressed is true.</a:t>
            </a:r>
            <a:endParaRPr sz="1350" b="0" i="0" u="none" cap="none">
              <a:solidFill>
                <a:schemeClr val="dk1"/>
              </a:solidFill>
              <a:latin typeface="Calibri"/>
              <a:ea typeface="Calibri"/>
              <a:cs typeface="Calibri"/>
            </a:endParaRPr>
          </a:p>
        </p:txBody>
      </p:sp>
      <p:sp>
        <p:nvSpPr>
          <p:cNvPr id="82" name="Google Shape;82;p7">
            <a:extLst xmlns:a="http://schemas.openxmlformats.org/drawingml/2006/main">
              <a:ext uri="{FF2B5EF4-FFF2-40B4-BE49-F238E27FC236}">
                <a16:creationId xmlns:a16="http://schemas.microsoft.com/office/drawing/2014/main" id="{769D9900-C790-4B5F-A014-52675E294763}"/>
              </a:ext>
            </a:extLst>
          </p:cNvPr>
          <p:cNvSpPr>
            <a:spLocks xmlns:a="http://schemas.openxmlformats.org/drawingml/2006/main" noGrp="1"/>
          </p:cNvSpPr>
          <p:nvPr/>
        </p:nvSpPr>
        <p:spPr>
          <a:xfrm xmlns:a="http://schemas.openxmlformats.org/drawingml/2006/main">
            <a:off x="548640" y="4023360"/>
            <a:ext cx="3566160" cy="2011680"/>
          </a:xfrm>
          <a:prstGeom xmlns:a="http://schemas.openxmlformats.org/drawingml/2006/main" prst="roundRect">
            <a:avLst>
              <a:gd name="adj" fmla="val 363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3" name="Google Shape;83;p7">
            <a:extLst xmlns:a="http://schemas.openxmlformats.org/drawingml/2006/main">
              <a:ext uri="{FF2B5EF4-FFF2-40B4-BE49-F238E27FC236}">
                <a16:creationId xmlns:a16="http://schemas.microsoft.com/office/drawing/2014/main" id="{954B87F7-DBFE-453C-A580-89BE473D6B64}"/>
              </a:ext>
            </a:extLst>
          </p:cNvPr>
          <p:cNvSpPr>
            <a:spLocks xmlns:a="http://schemas.openxmlformats.org/drawingml/2006/main" noGrp="1"/>
          </p:cNvSpPr>
          <p:nvPr/>
        </p:nvSpPr>
        <p:spPr>
          <a:xfrm xmlns:a="http://schemas.openxmlformats.org/drawingml/2006/main">
            <a:off x="548640" y="4160520"/>
            <a:ext cx="3566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KEY DOWN</a:t>
            </a:r>
            <a:endParaRPr sz="1500" b="0" i="0" u="none" cap="none">
              <a:solidFill>
                <a:schemeClr val="dk1"/>
              </a:solidFill>
              <a:latin typeface="Calibri"/>
              <a:ea typeface="Calibri"/>
              <a:cs typeface="Calibri"/>
            </a:endParaRPr>
          </a:p>
        </p:txBody>
      </p:sp>
      <p:sp>
        <p:nvSpPr>
          <p:cNvPr id="84" name="Google Shape;84;p7">
            <a:extLst xmlns:a="http://schemas.openxmlformats.org/drawingml/2006/main">
              <a:ext uri="{FF2B5EF4-FFF2-40B4-BE49-F238E27FC236}">
                <a16:creationId xmlns:a16="http://schemas.microsoft.com/office/drawing/2014/main" id="{13D77D79-3E4B-4226-BB6A-061AB6C58E22}"/>
              </a:ext>
            </a:extLst>
          </p:cNvPr>
          <p:cNvSpPr>
            <a:spLocks xmlns:a="http://schemas.openxmlformats.org/drawingml/2006/main" noGrp="1"/>
          </p:cNvSpPr>
          <p:nvPr/>
        </p:nvSpPr>
        <p:spPr>
          <a:xfrm xmlns:a="http://schemas.openxmlformats.org/drawingml/2006/main">
            <a:off x="640080" y="4572000"/>
            <a:ext cx="338328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CADCFC"/>
              </a:buClr>
              <a:buSzPts val="1100"/>
              <a:buFont typeface="Courier New"/>
              <a:buNone/>
            </a:pPr>
            <a:r>
              <a:rPr sz="1100" b="0" i="0" u="none" cap="none">
                <a:solidFill>
                  <a:srgbClr val="CADCFC"/>
                </a:solidFill>
                <a:latin typeface="Courier New"/>
                <a:ea typeface="Courier New"/>
                <a:cs typeface="Courier New"/>
              </a:rPr>
              <a:t>keyPressed()</a:t>
            </a:r>
            <a:endParaRPr sz="1100" b="0" i="0" u="none" cap="none">
              <a:solidFill>
                <a:schemeClr val="dk1"/>
              </a:solidFill>
              <a:latin typeface="Calibri"/>
              <a:ea typeface="Calibri"/>
              <a:cs typeface="Calibri"/>
            </a:endParaRPr>
          </a:p>
          <a:p xmlns:a="http://schemas.openxmlformats.org/drawingml/2006/main">
            <a:pPr marL="0" marR="0" lvl="0" indent="0" algn="ctr">
              <a:spcBef>
                <a:spcPts val="0"/>
              </a:spcBef>
              <a:spcAft>
                <a:spcPts val="0"/>
              </a:spcAft>
              <a:buClr>
                <a:srgbClr val="CADCFC"/>
              </a:buClr>
              <a:buSzPts val="1100"/>
              <a:buFont typeface="Courier New"/>
              <a:buNone/>
            </a:pPr>
            <a:r>
              <a:rPr sz="1100" b="0" i="0" u="none" cap="none">
                <a:solidFill>
                  <a:srgbClr val="CADCFC"/>
                </a:solidFill>
                <a:latin typeface="Courier New"/>
                <a:ea typeface="Courier New"/>
                <a:cs typeface="Courier New"/>
              </a:rPr>
              <a:t>fires — maybe</a:t>
            </a:r>
            <a:endParaRPr sz="1100" b="0" i="0" u="none" cap="none">
              <a:solidFill>
                <a:schemeClr val="dk1"/>
              </a:solidFill>
              <a:latin typeface="Calibri"/>
              <a:ea typeface="Calibri"/>
              <a:cs typeface="Calibri"/>
            </a:endParaRPr>
          </a:p>
          <a:p xmlns:a="http://schemas.openxmlformats.org/drawingml/2006/main">
            <a:pPr marL="0" marR="0" lvl="0" indent="0" algn="ctr">
              <a:spcBef>
                <a:spcPts val="0"/>
              </a:spcBef>
              <a:spcAft>
                <a:spcPts val="0"/>
              </a:spcAft>
              <a:buClr>
                <a:srgbClr val="CADCFC"/>
              </a:buClr>
              <a:buSzPts val="1100"/>
              <a:buFont typeface="Courier New"/>
              <a:buNone/>
            </a:pPr>
            <a:r>
              <a:rPr sz="1100" b="0" i="0" u="none" cap="none">
                <a:solidFill>
                  <a:srgbClr val="CADCFC"/>
                </a:solidFill>
                <a:latin typeface="Courier New"/>
                <a:ea typeface="Courier New"/>
                <a:cs typeface="Courier New"/>
              </a:rPr>
              <a:t>more than once</a:t>
            </a:r>
            <a:endParaRPr sz="1100" b="0" i="0" u="none" cap="none">
              <a:solidFill>
                <a:schemeClr val="dk1"/>
              </a:solidFill>
              <a:latin typeface="Calibri"/>
              <a:ea typeface="Calibri"/>
              <a:cs typeface="Calibri"/>
            </a:endParaRPr>
          </a:p>
        </p:txBody>
      </p:sp>
      <p:sp>
        <p:nvSpPr>
          <p:cNvPr id="85" name="Google Shape;85;p7">
            <a:extLst xmlns:a="http://schemas.openxmlformats.org/drawingml/2006/main">
              <a:ext uri="{FF2B5EF4-FFF2-40B4-BE49-F238E27FC236}">
                <a16:creationId xmlns:a16="http://schemas.microsoft.com/office/drawing/2014/main" id="{8C03B7D2-2135-4E85-8CF6-52A1189EF07D}"/>
              </a:ext>
            </a:extLst>
          </p:cNvPr>
          <p:cNvSpPr>
            <a:spLocks xmlns:a="http://schemas.openxmlformats.org/drawingml/2006/main" noGrp="1"/>
          </p:cNvSpPr>
          <p:nvPr/>
        </p:nvSpPr>
        <p:spPr>
          <a:xfrm xmlns:a="http://schemas.openxmlformats.org/drawingml/2006/main">
            <a:off x="4297680" y="4023360"/>
            <a:ext cx="3566160" cy="2011680"/>
          </a:xfrm>
          <a:prstGeom xmlns:a="http://schemas.openxmlformats.org/drawingml/2006/main" prst="roundRect">
            <a:avLst>
              <a:gd name="adj" fmla="val 3636"/>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6" name="Google Shape;86;p7">
            <a:extLst xmlns:a="http://schemas.openxmlformats.org/drawingml/2006/main">
              <a:ext uri="{FF2B5EF4-FFF2-40B4-BE49-F238E27FC236}">
                <a16:creationId xmlns:a16="http://schemas.microsoft.com/office/drawing/2014/main" id="{5A37B72B-20B6-4D45-AD26-705B0FC91D2F}"/>
              </a:ext>
            </a:extLst>
          </p:cNvPr>
          <p:cNvSpPr>
            <a:spLocks xmlns:a="http://schemas.openxmlformats.org/drawingml/2006/main" noGrp="1"/>
          </p:cNvSpPr>
          <p:nvPr/>
        </p:nvSpPr>
        <p:spPr>
          <a:xfrm xmlns:a="http://schemas.openxmlformats.org/drawingml/2006/main">
            <a:off x="4297680" y="4160520"/>
            <a:ext cx="3566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1E2761"/>
              </a:buClr>
              <a:buSzPts val="1500"/>
              <a:buFont typeface="Calibri"/>
              <a:buNone/>
            </a:pPr>
            <a:r>
              <a:rPr sz="1500" b="1" i="0" u="none" cap="none">
                <a:solidFill>
                  <a:srgbClr val="1E2761"/>
                </a:solidFill>
                <a:latin typeface="Calibri"/>
                <a:ea typeface="Calibri"/>
                <a:cs typeface="Calibri"/>
              </a:rPr>
              <a:t>HELD</a:t>
            </a:r>
            <a:endParaRPr sz="1500" b="0" i="0" u="none" cap="none">
              <a:solidFill>
                <a:schemeClr val="dk1"/>
              </a:solidFill>
              <a:latin typeface="Calibri"/>
              <a:ea typeface="Calibri"/>
              <a:cs typeface="Calibri"/>
            </a:endParaRPr>
          </a:p>
        </p:txBody>
      </p:sp>
      <p:sp>
        <p:nvSpPr>
          <p:cNvPr id="87" name="Google Shape;87;p7">
            <a:extLst xmlns:a="http://schemas.openxmlformats.org/drawingml/2006/main">
              <a:ext uri="{FF2B5EF4-FFF2-40B4-BE49-F238E27FC236}">
                <a16:creationId xmlns:a16="http://schemas.microsoft.com/office/drawing/2014/main" id="{8B2A3F6C-C68B-4B34-ABBD-9640F44B70F2}"/>
              </a:ext>
            </a:extLst>
          </p:cNvPr>
          <p:cNvSpPr>
            <a:spLocks xmlns:a="http://schemas.openxmlformats.org/drawingml/2006/main" noGrp="1"/>
          </p:cNvSpPr>
          <p:nvPr/>
        </p:nvSpPr>
        <p:spPr>
          <a:xfrm xmlns:a="http://schemas.openxmlformats.org/drawingml/2006/main">
            <a:off x="4389120" y="4572000"/>
            <a:ext cx="338328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keyPressed</a:t>
            </a:r>
            <a:endParaRPr sz="1100" b="0" i="0" u="none" cap="none">
              <a:solidFill>
                <a:schemeClr val="dk1"/>
              </a:solidFill>
              <a:latin typeface="Calibri"/>
              <a:ea typeface="Calibri"/>
              <a:cs typeface="Calibri"/>
            </a:endParaRPr>
          </a:p>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(variable) stays</a:t>
            </a:r>
            <a:endParaRPr sz="1100" b="0" i="0" u="none" cap="none">
              <a:solidFill>
                <a:schemeClr val="dk1"/>
              </a:solidFill>
              <a:latin typeface="Calibri"/>
              <a:ea typeface="Calibri"/>
              <a:cs typeface="Calibri"/>
            </a:endParaRPr>
          </a:p>
          <a:p xmlns:a="http://schemas.openxmlformats.org/drawingml/2006/main">
            <a:pPr marL="0" marR="0" lvl="0" indent="0" algn="ctr">
              <a:spcBef>
                <a:spcPts val="0"/>
              </a:spcBef>
              <a:spcAft>
                <a:spcPts val="0"/>
              </a:spcAft>
              <a:buClr>
                <a:srgbClr val="3B4A78"/>
              </a:buClr>
              <a:buSzPts val="1100"/>
              <a:buFont typeface="Courier New"/>
              <a:buNone/>
            </a:pPr>
            <a:r>
              <a:rPr sz="1100" b="0" i="0" u="none" cap="none">
                <a:solidFill>
                  <a:srgbClr val="3B4A78"/>
                </a:solidFill>
                <a:latin typeface="Courier New"/>
                <a:ea typeface="Courier New"/>
                <a:cs typeface="Courier New"/>
              </a:rPr>
              <a:t>true this whole time</a:t>
            </a:r>
            <a:endParaRPr sz="1100" b="0" i="0" u="none" cap="none">
              <a:solidFill>
                <a:schemeClr val="dk1"/>
              </a:solidFill>
              <a:latin typeface="Calibri"/>
              <a:ea typeface="Calibri"/>
              <a:cs typeface="Calibri"/>
            </a:endParaRPr>
          </a:p>
        </p:txBody>
      </p:sp>
      <p:sp>
        <p:nvSpPr>
          <p:cNvPr id="88" name="Google Shape;88;p7">
            <a:extLst xmlns:a="http://schemas.openxmlformats.org/drawingml/2006/main">
              <a:ext uri="{FF2B5EF4-FFF2-40B4-BE49-F238E27FC236}">
                <a16:creationId xmlns:a16="http://schemas.microsoft.com/office/drawing/2014/main" id="{A80ED2A0-4C5A-448D-B4F7-C02A5642FC22}"/>
              </a:ext>
            </a:extLst>
          </p:cNvPr>
          <p:cNvSpPr>
            <a:spLocks xmlns:a="http://schemas.openxmlformats.org/drawingml/2006/main" noGrp="1"/>
          </p:cNvSpPr>
          <p:nvPr/>
        </p:nvSpPr>
        <p:spPr>
          <a:xfrm xmlns:a="http://schemas.openxmlformats.org/drawingml/2006/main">
            <a:off x="8046720" y="4023360"/>
            <a:ext cx="3566160" cy="2011680"/>
          </a:xfrm>
          <a:prstGeom xmlns:a="http://schemas.openxmlformats.org/drawingml/2006/main" prst="roundRect">
            <a:avLst>
              <a:gd name="adj" fmla="val 3636"/>
            </a:avLst>
          </a:prstGeom>
          <a:solidFill xmlns:a="http://schemas.openxmlformats.org/drawingml/2006/main">
            <a:srgbClr val="1E276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89" name="Google Shape;89;p7">
            <a:extLst xmlns:a="http://schemas.openxmlformats.org/drawingml/2006/main">
              <a:ext uri="{FF2B5EF4-FFF2-40B4-BE49-F238E27FC236}">
                <a16:creationId xmlns:a16="http://schemas.microsoft.com/office/drawing/2014/main" id="{77EBB39F-2CE8-4DEA-9193-244B36780BA0}"/>
              </a:ext>
            </a:extLst>
          </p:cNvPr>
          <p:cNvSpPr>
            <a:spLocks xmlns:a="http://schemas.openxmlformats.org/drawingml/2006/main" noGrp="1"/>
          </p:cNvSpPr>
          <p:nvPr/>
        </p:nvSpPr>
        <p:spPr>
          <a:xfrm xmlns:a="http://schemas.openxmlformats.org/drawingml/2006/main">
            <a:off x="8046720" y="4160520"/>
            <a:ext cx="35661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1500"/>
              <a:buFont typeface="Calibri"/>
              <a:buNone/>
            </a:pPr>
            <a:r>
              <a:rPr sz="1500" b="1" i="0" u="none" cap="none">
                <a:solidFill>
                  <a:srgbClr val="FFFFFF"/>
                </a:solidFill>
                <a:latin typeface="Calibri"/>
                <a:ea typeface="Calibri"/>
                <a:cs typeface="Calibri"/>
              </a:rPr>
              <a:t>KEY UP</a:t>
            </a:r>
            <a:endParaRPr sz="1500" b="0" i="0" u="none" cap="none">
              <a:solidFill>
                <a:schemeClr val="dk1"/>
              </a:solidFill>
              <a:latin typeface="Calibri"/>
              <a:ea typeface="Calibri"/>
              <a:cs typeface="Calibri"/>
            </a:endParaRPr>
          </a:p>
        </p:txBody>
      </p:sp>
      <p:sp>
        <p:nvSpPr>
          <p:cNvPr id="90" name="Google Shape;90;p7">
            <a:extLst xmlns:a="http://schemas.openxmlformats.org/drawingml/2006/main">
              <a:ext uri="{FF2B5EF4-FFF2-40B4-BE49-F238E27FC236}">
                <a16:creationId xmlns:a16="http://schemas.microsoft.com/office/drawing/2014/main" id="{4D271E4B-7D51-4025-9E30-79290557D4A2}"/>
              </a:ext>
            </a:extLst>
          </p:cNvPr>
          <p:cNvSpPr>
            <a:spLocks xmlns:a="http://schemas.openxmlformats.org/drawingml/2006/main" noGrp="1"/>
          </p:cNvSpPr>
          <p:nvPr/>
        </p:nvSpPr>
        <p:spPr>
          <a:xfrm xmlns:a="http://schemas.openxmlformats.org/drawingml/2006/main">
            <a:off x="8138160" y="4572000"/>
            <a:ext cx="3383280" cy="1325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spcBef>
                <a:spcPts val="0"/>
              </a:spcBef>
              <a:spcAft>
                <a:spcPts val="0"/>
              </a:spcAft>
              <a:buClr>
                <a:srgbClr val="CADCFC"/>
              </a:buClr>
              <a:buSzPts val="1100"/>
              <a:buFont typeface="Courier New"/>
              <a:buNone/>
            </a:pPr>
            <a:r>
              <a:rPr sz="1100" b="0" i="0" u="none" cap="none">
                <a:solidFill>
                  <a:srgbClr val="CADCFC"/>
                </a:solidFill>
                <a:latin typeface="Courier New"/>
                <a:ea typeface="Courier New"/>
                <a:cs typeface="Courier New"/>
              </a:rPr>
              <a:t>keyPressed</a:t>
            </a:r>
            <a:endParaRPr sz="1100" b="0" i="0" u="none" cap="none">
              <a:solidFill>
                <a:schemeClr val="dk1"/>
              </a:solidFill>
              <a:latin typeface="Calibri"/>
              <a:ea typeface="Calibri"/>
              <a:cs typeface="Calibri"/>
            </a:endParaRPr>
          </a:p>
          <a:p xmlns:a="http://schemas.openxmlformats.org/drawingml/2006/main">
            <a:pPr marL="0" marR="0" lvl="0" indent="0" algn="ctr">
              <a:spcBef>
                <a:spcPts val="0"/>
              </a:spcBef>
              <a:spcAft>
                <a:spcPts val="0"/>
              </a:spcAft>
              <a:buClr>
                <a:srgbClr val="CADCFC"/>
              </a:buClr>
              <a:buSzPts val="1100"/>
              <a:buFont typeface="Courier New"/>
              <a:buNone/>
            </a:pPr>
            <a:r>
              <a:rPr sz="1100" b="0" i="0" u="none" cap="none">
                <a:solidFill>
                  <a:srgbClr val="CADCFC"/>
                </a:solidFill>
                <a:latin typeface="Courier New"/>
                <a:ea typeface="Courier New"/>
                <a:cs typeface="Courier New"/>
              </a:rPr>
              <a:t>becomes false</a:t>
            </a:r>
            <a:endParaRPr sz="1100" b="0" i="0" u="none" cap="none">
              <a:solidFill>
                <a:schemeClr val="dk1"/>
              </a:solidFill>
              <a:latin typeface="Calibri"/>
              <a:ea typeface="Calibri"/>
              <a:cs typeface="Calibri"/>
            </a:endParaRPr>
          </a:p>
        </p:txBody>
      </p:sp>
      <p:sp>
        <p:nvSpPr>
          <p:cNvPr id="91" name="Google Shape;91;p7">
            <a:extLst xmlns:a="http://schemas.openxmlformats.org/drawingml/2006/main">
              <a:ext uri="{FF2B5EF4-FFF2-40B4-BE49-F238E27FC236}">
                <a16:creationId xmlns:a16="http://schemas.microsoft.com/office/drawing/2014/main" id="{782975C6-2834-491B-9F94-14A6F76CB9C0}"/>
              </a:ext>
            </a:extLst>
          </p:cNvPr>
          <p:cNvSpPr>
            <a:spLocks xmlns:a="http://schemas.openxmlformats.org/drawingml/2006/main" noGrp="1"/>
          </p:cNvSpPr>
          <p:nvPr/>
        </p:nvSpPr>
        <p:spPr>
          <a:xfrm xmlns:a="http://schemas.openxmlformats.org/drawingml/2006/main">
            <a:off x="3977640" y="4754880"/>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200"/>
              <a:buFont typeface="Calibri"/>
              <a:buNone/>
            </a:pPr>
            <a:r>
              <a:rPr sz="2200" b="0" i="0" u="none" cap="none">
                <a:solidFill>
                  <a:srgbClr val="8892B0"/>
                </a:solidFill>
                <a:latin typeface="Calibri"/>
                <a:ea typeface="Calibri"/>
                <a:cs typeface="Calibri"/>
              </a:rPr>
              <a:t>→</a:t>
            </a:r>
            <a:endParaRPr sz="2200" b="0" i="0" u="none" cap="none">
              <a:solidFill>
                <a:schemeClr val="dk1"/>
              </a:solidFill>
              <a:latin typeface="Calibri"/>
              <a:ea typeface="Calibri"/>
              <a:cs typeface="Calibri"/>
            </a:endParaRPr>
          </a:p>
        </p:txBody>
      </p:sp>
      <p:sp>
        <p:nvSpPr>
          <p:cNvPr id="92" name="Google Shape;92;p7">
            <a:extLst xmlns:a="http://schemas.openxmlformats.org/drawingml/2006/main">
              <a:ext uri="{FF2B5EF4-FFF2-40B4-BE49-F238E27FC236}">
                <a16:creationId xmlns:a16="http://schemas.microsoft.com/office/drawing/2014/main" id="{39EBE3A7-287A-42F5-AAA2-F2E06E493F80}"/>
              </a:ext>
            </a:extLst>
          </p:cNvPr>
          <p:cNvSpPr>
            <a:spLocks xmlns:a="http://schemas.openxmlformats.org/drawingml/2006/main" noGrp="1"/>
          </p:cNvSpPr>
          <p:nvPr/>
        </p:nvSpPr>
        <p:spPr>
          <a:xfrm xmlns:a="http://schemas.openxmlformats.org/drawingml/2006/main">
            <a:off x="7726680" y="4754880"/>
            <a:ext cx="4572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8892B0"/>
              </a:buClr>
              <a:buSzPts val="2200"/>
              <a:buFont typeface="Calibri"/>
              <a:buNone/>
            </a:pPr>
            <a:r>
              <a:rPr sz="2200" b="0" i="0" u="none" cap="none">
                <a:solidFill>
                  <a:srgbClr val="8892B0"/>
                </a:solidFill>
                <a:latin typeface="Calibri"/>
                <a:ea typeface="Calibri"/>
                <a:cs typeface="Calibri"/>
              </a:rPr>
              <a:t>→</a:t>
            </a:r>
            <a:endParaRPr sz="2200" b="0" i="0" u="none" cap="none">
              <a:solidFill>
                <a:schemeClr val="dk1"/>
              </a:solidFill>
              <a:latin typeface="Calibri"/>
              <a:ea typeface="Calibri"/>
              <a:cs typeface="Calibri"/>
            </a:endParaRPr>
          </a:p>
        </p:txBody>
      </p:sp>
      <p:sp>
        <p:nvSpPr>
          <p:cNvPr id="93" name="Google Shape;93;p7">
            <a:extLst xmlns:a="http://schemas.openxmlformats.org/drawingml/2006/main">
              <a:ext uri="{FF2B5EF4-FFF2-40B4-BE49-F238E27FC236}">
                <a16:creationId xmlns:a16="http://schemas.microsoft.com/office/drawing/2014/main" id="{BD55AEBC-0803-4B75-BF24-615305CEBF38}"/>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94" name="Google Shape;94;p7">
            <a:extLst xmlns:a="http://schemas.openxmlformats.org/drawingml/2006/main">
              <a:ext uri="{FF2B5EF4-FFF2-40B4-BE49-F238E27FC236}">
                <a16:creationId xmlns:a16="http://schemas.microsoft.com/office/drawing/2014/main" id="{4725C957-3AB1-42F8-9AFC-39E2DA078FC0}"/>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478148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 name="Google Shape;100;p8">
            <a:extLst xmlns:a="http://schemas.openxmlformats.org/drawingml/2006/main">
              <a:ext uri="{FF2B5EF4-FFF2-40B4-BE49-F238E27FC236}">
                <a16:creationId xmlns:a16="http://schemas.microsoft.com/office/drawing/2014/main" id="{43E60E85-0C2F-454A-8D8B-6B9594C1CA9A}"/>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Your Turn</a:t>
            </a:r>
            <a:endParaRPr sz="2700" b="0" i="0" u="none" cap="none">
              <a:solidFill>
                <a:schemeClr val="dk1"/>
              </a:solidFill>
              <a:latin typeface="Calibri"/>
              <a:ea typeface="Calibri"/>
              <a:cs typeface="Calibri"/>
            </a:endParaRPr>
          </a:p>
        </p:txBody>
      </p:sp>
      <p:sp>
        <p:nvSpPr>
          <p:cNvPr id="101" name="Google Shape;101;p8">
            <a:extLst xmlns:a="http://schemas.openxmlformats.org/drawingml/2006/main">
              <a:ext uri="{FF2B5EF4-FFF2-40B4-BE49-F238E27FC236}">
                <a16:creationId xmlns:a16="http://schemas.microsoft.com/office/drawing/2014/main" id="{874F7F05-8573-41EF-8132-C6BAEF62DFFA}"/>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Two steps: adjust, then design your own two-key response</a:t>
            </a:r>
            <a:endParaRPr sz="1500" b="0" i="0" u="none" cap="none">
              <a:solidFill>
                <a:schemeClr val="dk1"/>
              </a:solidFill>
              <a:latin typeface="Calibri"/>
              <a:ea typeface="Calibri"/>
              <a:cs typeface="Calibri"/>
            </a:endParaRPr>
          </a:p>
        </p:txBody>
      </p:sp>
      <p:sp>
        <p:nvSpPr>
          <p:cNvPr id="102" name="Google Shape;102;p8">
            <a:extLst xmlns:a="http://schemas.openxmlformats.org/drawingml/2006/main">
              <a:ext uri="{FF2B5EF4-FFF2-40B4-BE49-F238E27FC236}">
                <a16:creationId xmlns:a16="http://schemas.microsoft.com/office/drawing/2014/main" id="{D12AF0EB-72FE-4243-A341-E05364E2873E}"/>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03" name="Google Shape;103;p8">
            <a:extLst xmlns:a="http://schemas.openxmlformats.org/drawingml/2006/main">
              <a:ext uri="{FF2B5EF4-FFF2-40B4-BE49-F238E27FC236}">
                <a16:creationId xmlns:a16="http://schemas.microsoft.com/office/drawing/2014/main" id="{B7353428-CAED-4742-838C-49769C5998FB}"/>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104" name="Google Shape;104;p8">
            <a:extLst xmlns:a="http://schemas.openxmlformats.org/drawingml/2006/main">
              <a:ext uri="{FF2B5EF4-FFF2-40B4-BE49-F238E27FC236}">
                <a16:creationId xmlns:a16="http://schemas.microsoft.com/office/drawing/2014/main" id="{73EBC44E-132D-42CD-B928-734DDC8CB54B}"/>
              </a:ext>
            </a:extLst>
          </p:cNvPr>
          <p:cNvSpPr>
            <a:spLocks xmlns:a="http://schemas.openxmlformats.org/drawingml/2006/main" noGrp="1"/>
          </p:cNvSpPr>
          <p:nvPr/>
        </p:nvSpPr>
        <p:spPr>
          <a:xfrm xmlns:a="http://schemas.openxmlformats.org/drawingml/2006/main">
            <a:off x="548640" y="1600200"/>
            <a:ext cx="5394960" cy="4114800"/>
          </a:xfrm>
          <a:prstGeom xmlns:a="http://schemas.openxmlformats.org/drawingml/2006/main" prst="roundRect">
            <a:avLst>
              <a:gd name="adj" fmla="val 1778"/>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5" name="Google Shape;105;p8">
            <a:extLst xmlns:a="http://schemas.openxmlformats.org/drawingml/2006/main">
              <a:ext uri="{FF2B5EF4-FFF2-40B4-BE49-F238E27FC236}">
                <a16:creationId xmlns:a16="http://schemas.microsoft.com/office/drawing/2014/main" id="{FA95B032-8053-475B-972A-BE99D35244C9}"/>
              </a:ext>
            </a:extLst>
          </p:cNvPr>
          <p:cNvSpPr>
            <a:spLocks xmlns:a="http://schemas.openxmlformats.org/drawingml/2006/main" noGrp="1"/>
          </p:cNvSpPr>
          <p:nvPr/>
        </p:nvSpPr>
        <p:spPr>
          <a:xfrm xmlns:a="http://schemas.openxmlformats.org/drawingml/2006/main">
            <a:off x="777240" y="176479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Step 1 — Guided</a:t>
            </a:r>
            <a:endParaRPr sz="1300" b="0" i="0" u="none" cap="none">
              <a:solidFill>
                <a:schemeClr val="dk1"/>
              </a:solidFill>
              <a:latin typeface="Calibri"/>
              <a:ea typeface="Calibri"/>
              <a:cs typeface="Calibri"/>
            </a:endParaRPr>
          </a:p>
        </p:txBody>
      </p:sp>
      <p:sp>
        <p:nvSpPr>
          <p:cNvPr id="106" name="Google Shape;106;p8">
            <a:extLst xmlns:a="http://schemas.openxmlformats.org/drawingml/2006/main">
              <a:ext uri="{FF2B5EF4-FFF2-40B4-BE49-F238E27FC236}">
                <a16:creationId xmlns:a16="http://schemas.microsoft.com/office/drawing/2014/main" id="{DCB1223B-F5EA-4FDB-B667-6CE4A733439A}"/>
              </a:ext>
            </a:extLst>
          </p:cNvPr>
          <p:cNvSpPr>
            <a:spLocks xmlns:a="http://schemas.openxmlformats.org/drawingml/2006/main" noGrp="1"/>
          </p:cNvSpPr>
          <p:nvPr/>
        </p:nvSpPr>
        <p:spPr>
          <a:xfrm xmlns:a="http://schemas.openxmlformats.org/drawingml/2006/main">
            <a:off x="777240" y="2130552"/>
            <a:ext cx="4937760" cy="3447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Change the key checked in the core example from 'a' to a letter of your choice.</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Then choose a different pair of grayscale fill values for the two branches.</a:t>
            </a:r>
            <a:endParaRPr sz="1350" b="0" i="0" u="none" cap="none">
              <a:solidFill>
                <a:schemeClr val="dk1"/>
              </a:solidFill>
              <a:latin typeface="Calibri"/>
              <a:ea typeface="Calibri"/>
              <a:cs typeface="Calibri"/>
            </a:endParaRPr>
          </a:p>
        </p:txBody>
      </p:sp>
      <p:sp>
        <p:nvSpPr>
          <p:cNvPr id="107" name="Google Shape;107;p8">
            <a:extLst xmlns:a="http://schemas.openxmlformats.org/drawingml/2006/main">
              <a:ext uri="{FF2B5EF4-FFF2-40B4-BE49-F238E27FC236}">
                <a16:creationId xmlns:a16="http://schemas.microsoft.com/office/drawing/2014/main" id="{E542D5B9-D589-48E6-BE7F-424F83267CB5}"/>
              </a:ext>
            </a:extLst>
          </p:cNvPr>
          <p:cNvSpPr>
            <a:spLocks xmlns:a="http://schemas.openxmlformats.org/drawingml/2006/main" noGrp="1"/>
          </p:cNvSpPr>
          <p:nvPr/>
        </p:nvSpPr>
        <p:spPr>
          <a:xfrm xmlns:a="http://schemas.openxmlformats.org/drawingml/2006/main">
            <a:off x="6263640" y="1600200"/>
            <a:ext cx="5394960" cy="4114800"/>
          </a:xfrm>
          <a:prstGeom xmlns:a="http://schemas.openxmlformats.org/drawingml/2006/main" prst="roundRect">
            <a:avLst>
              <a:gd name="adj" fmla="val 1778"/>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08" name="Google Shape;108;p8">
            <a:extLst xmlns:a="http://schemas.openxmlformats.org/drawingml/2006/main">
              <a:ext uri="{FF2B5EF4-FFF2-40B4-BE49-F238E27FC236}">
                <a16:creationId xmlns:a16="http://schemas.microsoft.com/office/drawing/2014/main" id="{FE533D1B-F87F-410F-A0D4-954D970C486A}"/>
              </a:ext>
            </a:extLst>
          </p:cNvPr>
          <p:cNvSpPr>
            <a:spLocks xmlns:a="http://schemas.openxmlformats.org/drawingml/2006/main" noGrp="1"/>
          </p:cNvSpPr>
          <p:nvPr/>
        </p:nvSpPr>
        <p:spPr>
          <a:xfrm xmlns:a="http://schemas.openxmlformats.org/drawingml/2006/main">
            <a:off x="6492240" y="176479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Step 2 — Construct It Yourself</a:t>
            </a:r>
            <a:endParaRPr sz="1300" b="0" i="0" u="none" cap="none">
              <a:solidFill>
                <a:schemeClr val="dk1"/>
              </a:solidFill>
              <a:latin typeface="Calibri"/>
              <a:ea typeface="Calibri"/>
              <a:cs typeface="Calibri"/>
            </a:endParaRPr>
          </a:p>
        </p:txBody>
      </p:sp>
      <p:sp>
        <p:nvSpPr>
          <p:cNvPr id="109" name="Google Shape;109;p8">
            <a:extLst xmlns:a="http://schemas.openxmlformats.org/drawingml/2006/main">
              <a:ext uri="{FF2B5EF4-FFF2-40B4-BE49-F238E27FC236}">
                <a16:creationId xmlns:a16="http://schemas.microsoft.com/office/drawing/2014/main" id="{760F9E6F-ADC1-49DD-9E4F-41301CD46E4E}"/>
              </a:ext>
            </a:extLst>
          </p:cNvPr>
          <p:cNvSpPr>
            <a:spLocks xmlns:a="http://schemas.openxmlformats.org/drawingml/2006/main" noGrp="1"/>
          </p:cNvSpPr>
          <p:nvPr/>
        </p:nvSpPr>
        <p:spPr>
          <a:xfrm xmlns:a="http://schemas.openxmlformats.org/drawingml/2006/main">
            <a:off x="6492240" y="2130552"/>
            <a:ext cx="4937760" cy="3447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Build a sketch where two different specific keys each select a different, visibly distinct grayscale fill — for example 'a' selects one shade, 's' selects another.</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You choose both keys and both fill values. Two separate if statements is enough — you don't need &amp;&amp; or || for this.</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chemeClr val="dk1"/>
              </a:buClr>
              <a:buSzPts val="1350"/>
              <a:buFont typeface="Calibri"/>
              <a:buNone/>
            </a:pPr>
            <a:r>
              <a:t/>
            </a:r>
            <a:endParaRPr sz="1350" b="0" i="0" u="none" cap="none">
              <a:solidFill>
                <a:schemeClr val="dk1"/>
              </a:solidFill>
              <a:latin typeface="Calibri"/>
              <a:ea typeface="Calibri"/>
              <a:cs typeface="Calibri"/>
            </a:endParaRPr>
          </a:p>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(Changing size or position based on a key press needs one more idea — that's exactly what Part 3 introduces next.)</a:t>
            </a:r>
            <a:endParaRPr sz="1350" b="0" i="0" u="none" cap="none">
              <a:solidFill>
                <a:schemeClr val="dk1"/>
              </a:solidFill>
              <a:latin typeface="Calibri"/>
              <a:ea typeface="Calibri"/>
              <a:cs typeface="Calibri"/>
            </a:endParaRPr>
          </a:p>
        </p:txBody>
      </p:sp>
      <p:sp>
        <p:nvSpPr>
          <p:cNvPr id="110" name="Google Shape;110;p8">
            <a:extLst xmlns:a="http://schemas.openxmlformats.org/drawingml/2006/main">
              <a:ext uri="{FF2B5EF4-FFF2-40B4-BE49-F238E27FC236}">
                <a16:creationId xmlns:a16="http://schemas.microsoft.com/office/drawing/2014/main" id="{95FD78E9-00A8-45D8-8BF8-27447A81C05E}"/>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11" name="Google Shape;111;p8">
            <a:extLst xmlns:a="http://schemas.openxmlformats.org/drawingml/2006/main">
              <a:ext uri="{FF2B5EF4-FFF2-40B4-BE49-F238E27FC236}">
                <a16:creationId xmlns:a16="http://schemas.microsoft.com/office/drawing/2014/main" id="{54BB590D-8C99-4A9D-831A-EE2B9A640B4E}"/>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1650073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9">
            <a:extLst xmlns:a="http://schemas.openxmlformats.org/drawingml/2006/main">
              <a:ext uri="{FF2B5EF4-FFF2-40B4-BE49-F238E27FC236}">
                <a16:creationId xmlns:a16="http://schemas.microsoft.com/office/drawing/2014/main" id="{C65635FA-6A0A-4D6E-8000-5FBA09EBEB3E}"/>
              </a:ext>
            </a:extLst>
          </p:cNvPr>
          <p:cNvSpPr>
            <a:spLocks xmlns:a="http://schemas.openxmlformats.org/drawingml/2006/main" noGrp="1"/>
          </p:cNvSpPr>
          <p:nvPr/>
        </p:nvSpPr>
        <p:spPr>
          <a:xfrm xmlns:a="http://schemas.openxmlformats.org/drawingml/2006/main">
            <a:off x="548640" y="274320"/>
            <a:ext cx="1106424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1E2761"/>
              </a:buClr>
              <a:buSzPts val="2700"/>
              <a:buFont typeface="Cambria"/>
              <a:buNone/>
            </a:pPr>
            <a:r>
              <a:rPr sz="2700" b="1" i="0" u="none" cap="none">
                <a:solidFill>
                  <a:srgbClr val="1E2761"/>
                </a:solidFill>
                <a:latin typeface="Cambria"/>
                <a:ea typeface="Cambria"/>
                <a:cs typeface="Cambria"/>
              </a:rPr>
              <a:t>Recap</a:t>
            </a:r>
            <a:endParaRPr sz="2700" b="0" i="0" u="none" cap="none">
              <a:solidFill>
                <a:schemeClr val="dk1"/>
              </a:solidFill>
              <a:latin typeface="Calibri"/>
              <a:ea typeface="Calibri"/>
              <a:cs typeface="Calibri"/>
            </a:endParaRPr>
          </a:p>
        </p:txBody>
      </p:sp>
      <p:sp>
        <p:nvSpPr>
          <p:cNvPr id="118" name="Google Shape;118;p9">
            <a:extLst xmlns:a="http://schemas.openxmlformats.org/drawingml/2006/main">
              <a:ext uri="{FF2B5EF4-FFF2-40B4-BE49-F238E27FC236}">
                <a16:creationId xmlns:a16="http://schemas.microsoft.com/office/drawing/2014/main" id="{654C1B4D-49D4-4839-A372-7595F1AA0436}"/>
              </a:ext>
            </a:extLst>
          </p:cNvPr>
          <p:cNvSpPr>
            <a:spLocks xmlns:a="http://schemas.openxmlformats.org/drawingml/2006/main" noGrp="1"/>
          </p:cNvSpPr>
          <p:nvPr/>
        </p:nvSpPr>
        <p:spPr>
          <a:xfrm xmlns:a="http://schemas.openxmlformats.org/drawingml/2006/main">
            <a:off x="548640" y="841248"/>
            <a:ext cx="1106424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3B4A78"/>
              </a:buClr>
              <a:buSzPts val="1500"/>
              <a:buFont typeface="Calibri"/>
              <a:buNone/>
            </a:pPr>
            <a:r>
              <a:rPr sz="1500" b="0" i="1" u="none" cap="none">
                <a:solidFill>
                  <a:srgbClr val="3B4A78"/>
                </a:solidFill>
                <a:latin typeface="Calibri"/>
                <a:ea typeface="Calibri"/>
                <a:cs typeface="Calibri"/>
              </a:rPr>
              <a:t>What carries forward into Part 3</a:t>
            </a:r>
            <a:endParaRPr sz="1500" b="0" i="0" u="none" cap="none">
              <a:solidFill>
                <a:schemeClr val="dk1"/>
              </a:solidFill>
              <a:latin typeface="Calibri"/>
              <a:ea typeface="Calibri"/>
              <a:cs typeface="Calibri"/>
            </a:endParaRPr>
          </a:p>
        </p:txBody>
      </p:sp>
      <p:sp>
        <p:nvSpPr>
          <p:cNvPr id="119" name="Google Shape;119;p9">
            <a:extLst xmlns:a="http://schemas.openxmlformats.org/drawingml/2006/main">
              <a:ext uri="{FF2B5EF4-FFF2-40B4-BE49-F238E27FC236}">
                <a16:creationId xmlns:a16="http://schemas.microsoft.com/office/drawing/2014/main" id="{C8DAB324-0620-4705-883D-E958439A989F}"/>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20" name="Google Shape;120;p9">
            <a:extLst xmlns:a="http://schemas.openxmlformats.org/drawingml/2006/main">
              <a:ext uri="{FF2B5EF4-FFF2-40B4-BE49-F238E27FC236}">
                <a16:creationId xmlns:a16="http://schemas.microsoft.com/office/drawing/2014/main" id="{F72F940B-6447-4075-A7F4-068712B0BFE9}"/>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
        <p:nvSpPr>
          <p:cNvPr id="121" name="Google Shape;121;p9">
            <a:extLst xmlns:a="http://schemas.openxmlformats.org/drawingml/2006/main">
              <a:ext uri="{FF2B5EF4-FFF2-40B4-BE49-F238E27FC236}">
                <a16:creationId xmlns:a16="http://schemas.microsoft.com/office/drawing/2014/main" id="{E7FA56E1-3770-4771-9108-669B6D54134A}"/>
              </a:ext>
            </a:extLst>
          </p:cNvPr>
          <p:cNvSpPr>
            <a:spLocks xmlns:a="http://schemas.openxmlformats.org/drawingml/2006/main" noGrp="1"/>
          </p:cNvSpPr>
          <p:nvPr/>
        </p:nvSpPr>
        <p:spPr>
          <a:xfrm xmlns:a="http://schemas.openxmlformats.org/drawingml/2006/main">
            <a:off x="548640" y="1737360"/>
            <a:ext cx="5394960" cy="2377440"/>
          </a:xfrm>
          <a:prstGeom xmlns:a="http://schemas.openxmlformats.org/drawingml/2006/main" prst="roundRect">
            <a:avLst>
              <a:gd name="adj" fmla="val 3077"/>
            </a:avLst>
          </a:prstGeom>
          <a:solidFill xmlns:a="http://schemas.openxmlformats.org/drawingml/2006/main">
            <a:srgbClr val="1E2761"/>
          </a:solidFill>
          <a:ln xmlns:a="http://schemas.openxmlformats.org/drawingml/2006/main" w="12700" cmpd="sng">
            <a:solidFill>
              <a:srgbClr val="1E276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2" name="Google Shape;122;p9">
            <a:extLst xmlns:a="http://schemas.openxmlformats.org/drawingml/2006/main">
              <a:ext uri="{FF2B5EF4-FFF2-40B4-BE49-F238E27FC236}">
                <a16:creationId xmlns:a16="http://schemas.microsoft.com/office/drawing/2014/main" id="{B181D8D6-F22D-42D8-A47A-4A7232728B81}"/>
              </a:ext>
            </a:extLst>
          </p:cNvPr>
          <p:cNvSpPr>
            <a:spLocks xmlns:a="http://schemas.openxmlformats.org/drawingml/2006/main" noGrp="1"/>
          </p:cNvSpPr>
          <p:nvPr/>
        </p:nvSpPr>
        <p:spPr>
          <a:xfrm xmlns:a="http://schemas.openxmlformats.org/drawingml/2006/main">
            <a:off x="777240" y="190195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Key idea</a:t>
            </a:r>
            <a:endParaRPr sz="1300" b="0" i="0" u="none" cap="none">
              <a:solidFill>
                <a:schemeClr val="dk1"/>
              </a:solidFill>
              <a:latin typeface="Calibri"/>
              <a:ea typeface="Calibri"/>
              <a:cs typeface="Calibri"/>
            </a:endParaRPr>
          </a:p>
        </p:txBody>
      </p:sp>
      <p:sp>
        <p:nvSpPr>
          <p:cNvPr id="123" name="Google Shape;123;p9">
            <a:extLst xmlns:a="http://schemas.openxmlformats.org/drawingml/2006/main">
              <a:ext uri="{FF2B5EF4-FFF2-40B4-BE49-F238E27FC236}">
                <a16:creationId xmlns:a16="http://schemas.microsoft.com/office/drawing/2014/main" id="{442E0F8B-09EA-43E4-9418-7F0C233CA567}"/>
              </a:ext>
            </a:extLst>
          </p:cNvPr>
          <p:cNvSpPr>
            <a:spLocks xmlns:a="http://schemas.openxmlformats.org/drawingml/2006/main" noGrp="1"/>
          </p:cNvSpPr>
          <p:nvPr/>
        </p:nvSpPr>
        <p:spPr>
          <a:xfrm xmlns:a="http://schemas.openxmlformats.org/drawingml/2006/main">
            <a:off x="777240" y="2267712"/>
            <a:ext cx="4937760" cy="170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FFFFFF"/>
              </a:buClr>
              <a:buSzPts val="1350"/>
              <a:buFont typeface="Calibri"/>
              <a:buNone/>
            </a:pPr>
            <a:r>
              <a:rPr sz="1350" b="0" i="0" u="none" cap="none">
                <a:solidFill>
                  <a:srgbClr val="FFFFFF"/>
                </a:solidFill>
                <a:latin typeface="Calibri"/>
                <a:ea typeface="Calibri"/>
                <a:cs typeface="Calibri"/>
              </a:rPr>
              <a:t>keyPressed/keyPressed() mirror mousePressed/mousePressed() almost exactly — except a held key can trigger keyPressed() more than once, due to OS key repeat.</a:t>
            </a:r>
            <a:endParaRPr sz="1350" b="0" i="0" u="none" cap="none">
              <a:solidFill>
                <a:schemeClr val="dk1"/>
              </a:solidFill>
              <a:latin typeface="Calibri"/>
              <a:ea typeface="Calibri"/>
              <a:cs typeface="Calibri"/>
            </a:endParaRPr>
          </a:p>
        </p:txBody>
      </p:sp>
      <p:sp>
        <p:nvSpPr>
          <p:cNvPr id="124" name="Google Shape;124;p9">
            <a:extLst xmlns:a="http://schemas.openxmlformats.org/drawingml/2006/main">
              <a:ext uri="{FF2B5EF4-FFF2-40B4-BE49-F238E27FC236}">
                <a16:creationId xmlns:a16="http://schemas.microsoft.com/office/drawing/2014/main" id="{C22FEEAF-7964-4A85-B474-FB671FCB16B1}"/>
              </a:ext>
            </a:extLst>
          </p:cNvPr>
          <p:cNvSpPr>
            <a:spLocks xmlns:a="http://schemas.openxmlformats.org/drawingml/2006/main" noGrp="1"/>
          </p:cNvSpPr>
          <p:nvPr/>
        </p:nvSpPr>
        <p:spPr>
          <a:xfrm xmlns:a="http://schemas.openxmlformats.org/drawingml/2006/main">
            <a:off x="6263640" y="1737360"/>
            <a:ext cx="5394960" cy="2377440"/>
          </a:xfrm>
          <a:prstGeom xmlns:a="http://schemas.openxmlformats.org/drawingml/2006/main" prst="roundRect">
            <a:avLst>
              <a:gd name="adj" fmla="val 3077"/>
            </a:avLst>
          </a:prstGeom>
          <a:solidFill xmlns:a="http://schemas.openxmlformats.org/drawingml/2006/main">
            <a:srgbClr val="FBF2E3"/>
          </a:solidFill>
          <a:ln xmlns:a="http://schemas.openxmlformats.org/drawingml/2006/main" w="19050" cmpd="sng">
            <a:solidFill>
              <a:srgbClr val="E8A33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5" name="Google Shape;125;p9">
            <a:extLst xmlns:a="http://schemas.openxmlformats.org/drawingml/2006/main">
              <a:ext uri="{FF2B5EF4-FFF2-40B4-BE49-F238E27FC236}">
                <a16:creationId xmlns:a16="http://schemas.microsoft.com/office/drawing/2014/main" id="{A42B8BC4-329D-4C60-B678-C03B1DE2E3D9}"/>
              </a:ext>
            </a:extLst>
          </p:cNvPr>
          <p:cNvSpPr>
            <a:spLocks xmlns:a="http://schemas.openxmlformats.org/drawingml/2006/main" noGrp="1"/>
          </p:cNvSpPr>
          <p:nvPr/>
        </p:nvSpPr>
        <p:spPr>
          <a:xfrm xmlns:a="http://schemas.openxmlformats.org/drawingml/2006/main">
            <a:off x="6492240" y="1901952"/>
            <a:ext cx="493776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E8A33D"/>
              </a:buClr>
              <a:buSzPts val="1300"/>
              <a:buFont typeface="Calibri"/>
              <a:buNone/>
            </a:pPr>
            <a:r>
              <a:rPr sz="1300" b="1" i="0" u="none" cap="none">
                <a:solidFill>
                  <a:srgbClr val="E8A33D"/>
                </a:solidFill>
                <a:latin typeface="Calibri"/>
                <a:ea typeface="Calibri"/>
                <a:cs typeface="Calibri"/>
              </a:rPr>
              <a:t>Next lesson</a:t>
            </a:r>
            <a:endParaRPr sz="1300" b="0" i="0" u="none" cap="none">
              <a:solidFill>
                <a:schemeClr val="dk1"/>
              </a:solidFill>
              <a:latin typeface="Calibri"/>
              <a:ea typeface="Calibri"/>
              <a:cs typeface="Calibri"/>
            </a:endParaRPr>
          </a:p>
        </p:txBody>
      </p:sp>
      <p:sp>
        <p:nvSpPr>
          <p:cNvPr id="126" name="Google Shape;126;p9">
            <a:extLst xmlns:a="http://schemas.openxmlformats.org/drawingml/2006/main">
              <a:ext uri="{FF2B5EF4-FFF2-40B4-BE49-F238E27FC236}">
                <a16:creationId xmlns:a16="http://schemas.microsoft.com/office/drawing/2014/main" id="{663DF4F6-87AA-47FE-8E99-EC5CBF763D3D}"/>
              </a:ext>
            </a:extLst>
          </p:cNvPr>
          <p:cNvSpPr>
            <a:spLocks xmlns:a="http://schemas.openxmlformats.org/drawingml/2006/main" noGrp="1"/>
          </p:cNvSpPr>
          <p:nvPr/>
        </p:nvSpPr>
        <p:spPr>
          <a:xfrm xmlns:a="http://schemas.openxmlformats.org/drawingml/2006/main">
            <a:off x="6492240" y="2267712"/>
            <a:ext cx="4937760" cy="17099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Clr>
                <a:srgbClr val="1B1F2E"/>
              </a:buClr>
              <a:buSzPts val="1350"/>
              <a:buFont typeface="Calibri"/>
              <a:buNone/>
            </a:pPr>
            <a:r>
              <a:rPr sz="1350" b="0" i="0" u="none" cap="none">
                <a:solidFill>
                  <a:srgbClr val="1B1F2E"/>
                </a:solidFill>
                <a:latin typeface="Calibri"/>
                <a:ea typeface="Calibri"/>
                <a:cs typeface="Calibri"/>
              </a:rPr>
              <a:t>Next lesson: mouse AND keyboard, together, in one program.</a:t>
            </a:r>
            <a:endParaRPr sz="1350" b="0" i="0" u="none" cap="none">
              <a:solidFill>
                <a:schemeClr val="dk1"/>
              </a:solidFill>
              <a:latin typeface="Calibri"/>
              <a:ea typeface="Calibri"/>
              <a:cs typeface="Calibri"/>
            </a:endParaRPr>
          </a:p>
        </p:txBody>
      </p:sp>
      <p:sp>
        <p:nvSpPr>
          <p:cNvPr id="127" name="Google Shape;127;p9">
            <a:extLst xmlns:a="http://schemas.openxmlformats.org/drawingml/2006/main">
              <a:ext uri="{FF2B5EF4-FFF2-40B4-BE49-F238E27FC236}">
                <a16:creationId xmlns:a16="http://schemas.microsoft.com/office/drawing/2014/main" id="{409952F7-092D-481A-AFA0-90A3BD6950DA}"/>
              </a:ext>
            </a:extLst>
          </p:cNvPr>
          <p:cNvSpPr>
            <a:spLocks xmlns:a="http://schemas.openxmlformats.org/drawingml/2006/main" noGrp="1"/>
          </p:cNvSpPr>
          <p:nvPr/>
        </p:nvSpPr>
        <p:spPr>
          <a:xfrm xmlns:a="http://schemas.openxmlformats.org/drawingml/2006/main">
            <a:off x="548640" y="4434840"/>
            <a:ext cx="11064240" cy="1463040"/>
          </a:xfrm>
          <a:prstGeom xmlns:a="http://schemas.openxmlformats.org/drawingml/2006/main" prst="roundRect">
            <a:avLst>
              <a:gd name="adj" fmla="val 3750"/>
            </a:avLst>
          </a:prstGeom>
          <a:solidFill xmlns:a="http://schemas.openxmlformats.org/drawingml/2006/main">
            <a:srgbClr val="F4F6FB"/>
          </a:solidFill>
          <a:ln xmlns:a="http://schemas.openxmlformats.org/drawingml/2006/main" w="12700" cmpd="sng">
            <a:solidFill>
              <a:srgbClr val="E8ECFB"/>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128" name="Google Shape;128;p9">
            <a:extLst xmlns:a="http://schemas.openxmlformats.org/drawingml/2006/main">
              <a:ext uri="{FF2B5EF4-FFF2-40B4-BE49-F238E27FC236}">
                <a16:creationId xmlns:a16="http://schemas.microsoft.com/office/drawing/2014/main" id="{B1FF036D-8B3A-46CD-A309-02DB856E2DC9}"/>
              </a:ext>
            </a:extLst>
          </p:cNvPr>
          <p:cNvSpPr>
            <a:spLocks xmlns:a="http://schemas.openxmlformats.org/drawingml/2006/main" noGrp="1"/>
          </p:cNvSpPr>
          <p:nvPr/>
        </p:nvSpPr>
        <p:spPr>
          <a:xfrm xmlns:a="http://schemas.openxmlformats.org/drawingml/2006/main">
            <a:off x="822960" y="4599432"/>
            <a:ext cx="10515600" cy="11338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177800" marR="0" lvl="0" indent="-177800" algn="l">
              <a:spcBef>
                <a:spcPts val="0"/>
              </a:spcBef>
              <a:spcAft>
                <a:spcPts val="0"/>
              </a:spcAft>
              <a:buClr>
                <a:srgbClr val="1B1F2E"/>
              </a:buClr>
              <a:buSzPts val="1300"/>
              <a:buFont typeface="Calibri"/>
              <a:buChar char="•"/>
            </a:pPr>
            <a:r>
              <a:rPr sz="1300" b="0" i="0" u="none" cap="none">
                <a:solidFill>
                  <a:srgbClr val="1B1F2E"/>
                </a:solidFill>
                <a:latin typeface="Calibri"/>
                <a:ea typeface="Calibri"/>
                <a:cs typeface="Calibri"/>
              </a:rPr>
              <a:t>key stores the most recently pressed character — compare it with a single ==, just like B2.4.</a:t>
            </a:r>
            <a:endParaRPr sz="1300" b="0" i="0" u="none" cap="none">
              <a:solidFill>
                <a:schemeClr val="dk1"/>
              </a:solidFill>
              <a:latin typeface="Calibri"/>
              <a:ea typeface="Calibri"/>
              <a:cs typeface="Calibri"/>
            </a:endParaRPr>
          </a:p>
          <a:p xmlns:a="http://schemas.openxmlformats.org/drawingml/2006/main">
            <a:pPr marL="177800" marR="0" lvl="0" indent="-177800" algn="l">
              <a:spcBef>
                <a:spcPts val="600"/>
              </a:spcBef>
              <a:spcAft>
                <a:spcPts val="0"/>
              </a:spcAft>
              <a:buClr>
                <a:srgbClr val="1B1F2E"/>
              </a:buClr>
              <a:buSzPts val="1300"/>
              <a:buFont typeface="Calibri"/>
              <a:buChar char="•"/>
            </a:pPr>
            <a:r>
              <a:rPr sz="1300" b="0" i="0" u="none" cap="none">
                <a:solidFill>
                  <a:srgbClr val="1B1F2E"/>
                </a:solidFill>
                <a:latin typeface="Calibri"/>
                <a:ea typeface="Calibri"/>
                <a:cs typeface="Calibri"/>
              </a:rPr>
              <a:t>Mouse and keyboard both provide held-state variables plus event callbacks — with the keyboard-repeat caveat you just learned.</a:t>
            </a:r>
            <a:endParaRPr sz="1300" b="0" i="0" u="none" cap="none">
              <a:solidFill>
                <a:schemeClr val="dk1"/>
              </a:solidFill>
              <a:latin typeface="Calibri"/>
              <a:ea typeface="Calibri"/>
              <a:cs typeface="Calibri"/>
            </a:endParaRPr>
          </a:p>
        </p:txBody>
      </p:sp>
      <p:sp>
        <p:nvSpPr>
          <p:cNvPr id="129" name="Google Shape;129;p9">
            <a:extLst xmlns:a="http://schemas.openxmlformats.org/drawingml/2006/main">
              <a:ext uri="{FF2B5EF4-FFF2-40B4-BE49-F238E27FC236}">
                <a16:creationId xmlns:a16="http://schemas.microsoft.com/office/drawing/2014/main" id="{6B6CDF60-D5FF-4CC5-8B55-E59E6EBEF35A}"/>
              </a:ext>
            </a:extLst>
          </p:cNvPr>
          <p:cNvSpPr>
            <a:spLocks xmlns:a="http://schemas.openxmlformats.org/drawingml/2006/main" noGrp="1"/>
          </p:cNvSpPr>
          <p:nvPr/>
        </p:nvSpPr>
        <p:spPr>
          <a:xfrm xmlns:a="http://schemas.openxmlformats.org/drawingml/2006/main">
            <a:off x="548640" y="6446520"/>
            <a:ext cx="64008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spcBef>
                <a:spcPts val="0"/>
              </a:spcBef>
              <a:spcAft>
                <a:spcPts val="0"/>
              </a:spcAft>
              <a:buClr>
                <a:srgbClr val="8892B0"/>
              </a:buClr>
              <a:buSzPts val="1000"/>
              <a:buFont typeface="Calibri"/>
              <a:buNone/>
            </a:pPr>
            <a:r>
              <a:rPr sz="1000" b="0" i="1" u="none" cap="none">
                <a:solidFill>
                  <a:srgbClr val="8892B0"/>
                </a:solidFill>
                <a:latin typeface="Calibri"/>
                <a:ea typeface="Calibri"/>
                <a:cs typeface="Calibri"/>
              </a:rPr>
              <a:t>Interactivity &amp; State • </a:t>
            </a:r>
            <a:r>
              <a:rPr sz="1000" b="0" i="1" u="none" cap="none">
                <a:solidFill>
                  <a:srgbClr val="8892B0"/>
                </a:solidFill>
                <a:latin typeface="Calibri"/>
                <a:ea typeface="Calibri"/>
                <a:cs typeface="Calibri"/>
              </a:rPr>
              <a:t>Unit B</a:t>
            </a:r>
            <a:r>
              <a:rPr sz="1000" b="0" i="1" u="none" cap="none">
                <a:solidFill>
                  <a:srgbClr val="8892B0"/>
                </a:solidFill>
                <a:latin typeface="Calibri"/>
                <a:ea typeface="Calibri"/>
                <a:cs typeface="Calibri"/>
              </a:rPr>
              <a:t> • B3.1</a:t>
            </a:r>
            <a:endParaRPr sz="1000" b="0" i="0" u="none" cap="none">
              <a:solidFill>
                <a:schemeClr val="dk1"/>
              </a:solidFill>
              <a:latin typeface="Calibri"/>
              <a:ea typeface="Calibri"/>
              <a:cs typeface="Calibri"/>
            </a:endParaRPr>
          </a:p>
        </p:txBody>
      </p:sp>
      <p:sp>
        <p:nvSpPr>
          <p:cNvPr id="130" name="Google Shape;130;p9">
            <a:extLst xmlns:a="http://schemas.openxmlformats.org/drawingml/2006/main">
              <a:ext uri="{FF2B5EF4-FFF2-40B4-BE49-F238E27FC236}">
                <a16:creationId xmlns:a16="http://schemas.microsoft.com/office/drawing/2014/main" id="{F94DAEF3-144F-4697-92B0-18231AEF7EE4}"/>
              </a:ext>
            </a:extLst>
          </p:cNvPr>
          <p:cNvSpPr>
            <a:spLocks xmlns:a="http://schemas.openxmlformats.org/drawingml/2006/main" noGrp="1"/>
          </p:cNvSpPr>
          <p:nvPr/>
        </p:nvSpPr>
        <p:spPr>
          <a:xfrm xmlns:a="http://schemas.openxmlformats.org/drawingml/2006/main">
            <a:off x="7985455" y="6446520"/>
            <a:ext cx="3657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892B0"/>
              </a:buClr>
              <a:buSzPts val="1000"/>
              <a:buFont typeface="Calibri"/>
              <a:buNone/>
            </a:pPr>
            <a:r>
              <a:rPr sz="1000" b="0" i="0" u="none" cap="none">
                <a:solidFill>
                  <a:srgbClr val="8892B0"/>
                </a:solidFill>
                <a:latin typeface="Calibri"/>
                <a:ea typeface="Calibri"/>
                <a:cs typeface="Calibri"/>
              </a:rPr>
              <a:t>Part 2 of 3</a:t>
            </a:r>
            <a:endParaRPr sz="1000" b="0" i="0" u="none" cap="none">
              <a:solidFill>
                <a:schemeClr val="dk1"/>
              </a:solidFill>
              <a:latin typeface="Calibri"/>
              <a:ea typeface="Calibri"/>
              <a:cs typeface="Calibri"/>
            </a:endParaRPr>
          </a:p>
        </p:txBody>
      </p:sp>
    </p:spTree>
    <p:extLst>
      <p:ext uri="{BB962C8B-B14F-4D97-AF65-F5344CB8AC3E}">
        <p14:creationId xmlns:p14="http://schemas.microsoft.com/office/powerpoint/2010/main" val="548414916"/>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2026-08-29T15:20:11.2560000Z</dcterms:created>
  <dcterms:modified xsi:type="dcterms:W3CDTF">2026-08-29T15:20:11.2560000Z</dcterms:modified>
</coreProperties>
</file>