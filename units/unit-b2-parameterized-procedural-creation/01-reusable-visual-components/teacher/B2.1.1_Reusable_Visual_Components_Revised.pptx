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7e6c7db264503" /><Relationship Type="http://schemas.openxmlformats.org/officeDocument/2006/relationships/extended-properties" Target="/docProps/app.xml" Id="R5370a09af7e34ef4" /><Relationship Type="http://schemas.openxmlformats.org/officeDocument/2006/relationships/officeDocument" Target="/ppt/presentation.xml" Id="R3e5845048ed541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884b4eaee1492f"/>
  </p:sldMasterIdLst>
  <p:notesMasterIdLst>
    <p:notesMasterId xmlns:r="http://schemas.openxmlformats.org/officeDocument/2006/relationships" r:id="R24341c3388084d67"/>
  </p:notesMasterIdLst>
  <p:sldIdLst>
    <p:sldId xmlns:r="http://schemas.openxmlformats.org/officeDocument/2006/relationships" id="256" r:id="R8e711ac925fa4ca4"/>
    <p:sldId xmlns:r="http://schemas.openxmlformats.org/officeDocument/2006/relationships" id="257" r:id="Rbb0f107aecee4040"/>
    <p:sldId xmlns:r="http://schemas.openxmlformats.org/officeDocument/2006/relationships" id="258" r:id="Rdac7d3ed921d4719"/>
    <p:sldId xmlns:r="http://schemas.openxmlformats.org/officeDocument/2006/relationships" id="259" r:id="R1f9aaa8e280b430f"/>
    <p:sldId xmlns:r="http://schemas.openxmlformats.org/officeDocument/2006/relationships" id="260" r:id="R68cd1839374e494c"/>
    <p:sldId xmlns:r="http://schemas.openxmlformats.org/officeDocument/2006/relationships" id="261" r:id="Rbf3422eaf57948e0"/>
    <p:sldId xmlns:r="http://schemas.openxmlformats.org/officeDocument/2006/relationships" id="262" r:id="R2b55c01146f04476"/>
    <p:sldId xmlns:r="http://schemas.openxmlformats.org/officeDocument/2006/relationships" id="263" r:id="R8b8a9c85aaa24ec5"/>
    <p:sldId xmlns:r="http://schemas.openxmlformats.org/officeDocument/2006/relationships" id="264" r:id="R7431fadc318242a6"/>
    <p:sldId xmlns:r="http://schemas.openxmlformats.org/officeDocument/2006/relationships" id="265" r:id="R3e20024d95ef4a44"/>
    <p:sldId xmlns:r="http://schemas.openxmlformats.org/officeDocument/2006/relationships" id="266" r:id="R68d9090be7434a48"/>
    <p:sldId xmlns:r="http://schemas.openxmlformats.org/officeDocument/2006/relationships" id="267" r:id="R7ae8e269c9b64e0d"/>
    <p:sldId xmlns:r="http://schemas.openxmlformats.org/officeDocument/2006/relationships" id="268" r:id="R43751f3e76f14171"/>
    <p:sldId xmlns:r="http://schemas.openxmlformats.org/officeDocument/2006/relationships" id="269" r:id="R7388bd2c58564795"/>
    <p:sldId xmlns:r="http://schemas.openxmlformats.org/officeDocument/2006/relationships" id="270" r:id="R2637a922a97f4902"/>
    <p:sldId xmlns:r="http://schemas.openxmlformats.org/officeDocument/2006/relationships" id="271" r:id="Rfc788ba0655c4fd7"/>
    <p:sldId xmlns:r="http://schemas.openxmlformats.org/officeDocument/2006/relationships" id="272" r:id="R6bbbd922b1e74506"/>
    <p:sldId xmlns:r="http://schemas.openxmlformats.org/officeDocument/2006/relationships" id="273" r:id="Re21d5bdb253c4038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1844874cd1414a" /><Relationship Type="http://schemas.openxmlformats.org/officeDocument/2006/relationships/slideMaster" Target="/ppt/slideMasters/slideMaster1.xml" Id="Rcc884b4eaee1492f" /><Relationship Type="http://schemas.openxmlformats.org/officeDocument/2006/relationships/notesMaster" Target="/ppt/notesMasters/notesMaster1.xml" Id="R24341c3388084d67" /><Relationship Type="http://schemas.openxmlformats.org/officeDocument/2006/relationships/presProps" Target="/ppt/presProps.xml" Id="Rb0983f04e8124327" /><Relationship Type="http://schemas.openxmlformats.org/officeDocument/2006/relationships/tableStyles" Target="/ppt/tableStyles.xml" Id="Rd3af4356281141f3" /><Relationship Type="http://schemas.openxmlformats.org/officeDocument/2006/relationships/slide" Target="/ppt/slides/slide1.xml" Id="R8e711ac925fa4ca4" /><Relationship Type="http://schemas.openxmlformats.org/officeDocument/2006/relationships/slide" Target="/ppt/slides/slide2.xml" Id="Rbb0f107aecee4040" /><Relationship Type="http://schemas.openxmlformats.org/officeDocument/2006/relationships/slide" Target="/ppt/slides/slide3.xml" Id="Rdac7d3ed921d4719" /><Relationship Type="http://schemas.openxmlformats.org/officeDocument/2006/relationships/slide" Target="/ppt/slides/slide4.xml" Id="R1f9aaa8e280b430f" /><Relationship Type="http://schemas.openxmlformats.org/officeDocument/2006/relationships/slide" Target="/ppt/slides/slide5.xml" Id="R68cd1839374e494c" /><Relationship Type="http://schemas.openxmlformats.org/officeDocument/2006/relationships/slide" Target="/ppt/slides/slide6.xml" Id="Rbf3422eaf57948e0" /><Relationship Type="http://schemas.openxmlformats.org/officeDocument/2006/relationships/slide" Target="/ppt/slides/slide7.xml" Id="R2b55c01146f04476" /><Relationship Type="http://schemas.openxmlformats.org/officeDocument/2006/relationships/slide" Target="/ppt/slides/slide8.xml" Id="R8b8a9c85aaa24ec5" /><Relationship Type="http://schemas.openxmlformats.org/officeDocument/2006/relationships/slide" Target="/ppt/slides/slide9.xml" Id="R7431fadc318242a6" /><Relationship Type="http://schemas.openxmlformats.org/officeDocument/2006/relationships/slide" Target="/ppt/slides/slide10.xml" Id="R3e20024d95ef4a44" /><Relationship Type="http://schemas.openxmlformats.org/officeDocument/2006/relationships/slide" Target="/ppt/slides/slide11.xml" Id="R68d9090be7434a48" /><Relationship Type="http://schemas.openxmlformats.org/officeDocument/2006/relationships/slide" Target="/ppt/slides/slide12.xml" Id="R7ae8e269c9b64e0d" /><Relationship Type="http://schemas.openxmlformats.org/officeDocument/2006/relationships/slide" Target="/ppt/slides/slide13.xml" Id="R43751f3e76f14171" /><Relationship Type="http://schemas.openxmlformats.org/officeDocument/2006/relationships/slide" Target="/ppt/slides/slide14.xml" Id="R7388bd2c58564795" /><Relationship Type="http://schemas.openxmlformats.org/officeDocument/2006/relationships/slide" Target="/ppt/slides/slide15.xml" Id="R2637a922a97f4902" /><Relationship Type="http://schemas.openxmlformats.org/officeDocument/2006/relationships/slide" Target="/ppt/slides/slide16.xml" Id="Rfc788ba0655c4fd7" /><Relationship Type="http://schemas.openxmlformats.org/officeDocument/2006/relationships/slide" Target="/ppt/slides/slide17.xml" Id="R6bbbd922b1e74506" /><Relationship Type="http://schemas.openxmlformats.org/officeDocument/2006/relationships/slide" Target="/ppt/slides/slide18.xml" Id="Re21d5bdb253c40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b603da51f47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9557e6a284939" /><Relationship Type="http://schemas.openxmlformats.org/officeDocument/2006/relationships/notesMaster" Target="/ppt/notesMasters/notesMaster1.xml" Id="R4d707c402a53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5b19ba0b64679" /><Relationship Type="http://schemas.openxmlformats.org/officeDocument/2006/relationships/notesMaster" Target="/ppt/notesMasters/notesMaster1.xml" Id="R84b0ac51455d43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cee24379234035" /><Relationship Type="http://schemas.openxmlformats.org/officeDocument/2006/relationships/notesMaster" Target="/ppt/notesMasters/notesMaster1.xml" Id="Re22d7a3c67734b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c38e3250134cc1" /><Relationship Type="http://schemas.openxmlformats.org/officeDocument/2006/relationships/notesMaster" Target="/ppt/notesMasters/notesMaster1.xml" Id="R9334bc4aeb9c4e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b64a24f80d46aa" /><Relationship Type="http://schemas.openxmlformats.org/officeDocument/2006/relationships/notesMaster" Target="/ppt/notesMasters/notesMaster1.xml" Id="R9f81486c674841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39e6aca93b4254" /><Relationship Type="http://schemas.openxmlformats.org/officeDocument/2006/relationships/notesMaster" Target="/ppt/notesMasters/notesMaster1.xml" Id="R6ee4083089c54a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4d4d869177405b" /><Relationship Type="http://schemas.openxmlformats.org/officeDocument/2006/relationships/notesMaster" Target="/ppt/notesMasters/notesMaster1.xml" Id="R61a74d8ae8c340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0bbac87275423c" /><Relationship Type="http://schemas.openxmlformats.org/officeDocument/2006/relationships/notesMaster" Target="/ppt/notesMasters/notesMaster1.xml" Id="Rf90af76209bb4d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c2b13ddc7442ce" /><Relationship Type="http://schemas.openxmlformats.org/officeDocument/2006/relationships/notesMaster" Target="/ppt/notesMasters/notesMaster1.xml" Id="Rca800b162f8d48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3e9b82daab41ce" /><Relationship Type="http://schemas.openxmlformats.org/officeDocument/2006/relationships/notesMaster" Target="/ppt/notesMasters/notesMaster1.xml" Id="Rac5f11e5db554a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bd7bd7990f418c" /><Relationship Type="http://schemas.openxmlformats.org/officeDocument/2006/relationships/notesMaster" Target="/ppt/notesMasters/notesMaster1.xml" Id="Re6717e99951840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6256b330a84c02" /><Relationship Type="http://schemas.openxmlformats.org/officeDocument/2006/relationships/notesMaster" Target="/ppt/notesMasters/notesMaster1.xml" Id="Rc685762bc3a747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5a78a68bd14d39" /><Relationship Type="http://schemas.openxmlformats.org/officeDocument/2006/relationships/notesMaster" Target="/ppt/notesMasters/notesMaster1.xml" Id="Rc79ce9e65cbd42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eb91bd4dc74b0b" /><Relationship Type="http://schemas.openxmlformats.org/officeDocument/2006/relationships/notesMaster" Target="/ppt/notesMasters/notesMaster1.xml" Id="Rfd03bac97f0547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4a584e43e845e2" /><Relationship Type="http://schemas.openxmlformats.org/officeDocument/2006/relationships/notesMaster" Target="/ppt/notesMasters/notesMaster1.xml" Id="Rf9d7656dc4e541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494962516b480d" /><Relationship Type="http://schemas.openxmlformats.org/officeDocument/2006/relationships/notesMaster" Target="/ppt/notesMasters/notesMaster1.xml" Id="Rad35c4a9cfa74f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64a2d38cf64da9" /><Relationship Type="http://schemas.openxmlformats.org/officeDocument/2006/relationships/notesMaster" Target="/ppt/notesMasters/notesMaster1.xml" Id="R4d601c61f89b48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c3675e3bdb4396" /><Relationship Type="http://schemas.openxmlformats.org/officeDocument/2006/relationships/notesMaster" Target="/ppt/notesMasters/notesMaster1.xml" Id="R32afae3ff9c745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 minute. Frame the lesson: improve code organisation without changing the picture.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Retrieval: students identify whole-frame versus object-specific responsibilities.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Read the goal and success criterion; stress that identical output is evidence of a successful refactor.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Students mark the flower lines before seeing the transformation.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 minutes. Model cut, place, call. Keep statement order unchanged.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Trace the call and definition using the exact vocabulary on screen.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BlueJ checkpoint. Compare both runnable projects side by side.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Commit to a prediction before opening the double-call project.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Explain perfect overlap. Avoid saying the second call did nothing.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Model brace matching and class-level method placement.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Individual prediction, pair repair, whole-class check.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Students plan what moves; do not let them edit yet.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Independent build in ComponentSketch_BalloonStarter; use the complete project only for recovery.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 minutes. Students verify visual and structural criteria and explain the preserved behaviour.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Collect the exit ticket. Preview x/y parameters without teaching them yet.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Untimed appendix. Full flower comparison for projection or recovery.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Untimed appendix. Full balloon starter and complete methods.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Untimed appendix. Use only when a compile or output check fails.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4766070d349d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1035c751444516" /><Relationship Type="http://schemas.openxmlformats.org/officeDocument/2006/relationships/slideLayout" Target="/ppt/slideLayouts/slideLayout1.xml" Id="Rcdb106b0d40f4ce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106b0d40f4ce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28bddb19f4c70" /><Relationship Type="http://schemas.openxmlformats.org/officeDocument/2006/relationships/notesSlide" Target="/ppt/notesSlides/notesSlide1.xml" Id="Rfca8e167329d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51372649f4ba4" /><Relationship Type="http://schemas.openxmlformats.org/officeDocument/2006/relationships/notesSlide" Target="/ppt/notesSlides/notesSlide2.xml" Id="R022840bd7382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7b5f653e44e06" /><Relationship Type="http://schemas.openxmlformats.org/officeDocument/2006/relationships/notesSlide" Target="/ppt/notesSlides/notesSlide3.xml" Id="Rbc796b5c8aeb42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54168daa04cfe" /><Relationship Type="http://schemas.openxmlformats.org/officeDocument/2006/relationships/notesSlide" Target="/ppt/notesSlides/notesSlide4.xml" Id="Re16c84d4acdc44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9e96f0394c67" /><Relationship Type="http://schemas.openxmlformats.org/officeDocument/2006/relationships/notesSlide" Target="/ppt/notesSlides/notesSlide5.xml" Id="Rd3ab98fe75cb44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f5fdcc9d489a" /><Relationship Type="http://schemas.openxmlformats.org/officeDocument/2006/relationships/notesSlide" Target="/ppt/notesSlides/notesSlide6.xml" Id="R701805a6006b44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424b0cdf041cb" /><Relationship Type="http://schemas.openxmlformats.org/officeDocument/2006/relationships/notesSlide" Target="/ppt/notesSlides/notesSlide7.xml" Id="R9e8cdbace36648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71c57a0a64af2" /><Relationship Type="http://schemas.openxmlformats.org/officeDocument/2006/relationships/notesSlide" Target="/ppt/notesSlides/notesSlide8.xml" Id="R951f82bdec67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c4febc3bb4050" /><Relationship Type="http://schemas.openxmlformats.org/officeDocument/2006/relationships/notesSlide" Target="/ppt/notesSlides/notesSlide9.xml" Id="R4bce2d9a9bf645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454fcaf6b4b02" /><Relationship Type="http://schemas.openxmlformats.org/officeDocument/2006/relationships/notesSlide" Target="/ppt/notesSlides/notesSlide10.xml" Id="R6940b4ca14ec40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c60b866dd454d" /><Relationship Type="http://schemas.openxmlformats.org/officeDocument/2006/relationships/notesSlide" Target="/ppt/notesSlides/notesSlide11.xml" Id="Rcc2b4b1e7bb84c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1d84df7a6401f" /><Relationship Type="http://schemas.openxmlformats.org/officeDocument/2006/relationships/notesSlide" Target="/ppt/notesSlides/notesSlide12.xml" Id="R04d4eb94440e46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308ff964e45a2" /><Relationship Type="http://schemas.openxmlformats.org/officeDocument/2006/relationships/notesSlide" Target="/ppt/notesSlides/notesSlide13.xml" Id="R34dd56d1c7784c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ea72a553c46f1" /><Relationship Type="http://schemas.openxmlformats.org/officeDocument/2006/relationships/notesSlide" Target="/ppt/notesSlides/notesSlide14.xml" Id="Rec4e8183bdf845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3cc3293024f88" /><Relationship Type="http://schemas.openxmlformats.org/officeDocument/2006/relationships/notesSlide" Target="/ppt/notesSlides/notesSlide15.xml" Id="R8309734b3bbd4a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9ced125fb485d" /><Relationship Type="http://schemas.openxmlformats.org/officeDocument/2006/relationships/notesSlide" Target="/ppt/notesSlides/notesSlide16.xml" Id="R1f718acfda1748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0aaa9652d4c74" /><Relationship Type="http://schemas.openxmlformats.org/officeDocument/2006/relationships/notesSlide" Target="/ppt/notesSlides/notesSlide17.xml" Id="R58fb9da912a443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1acbd60e34cbd" /><Relationship Type="http://schemas.openxmlformats.org/officeDocument/2006/relationships/notesSlide" Target="/ppt/notesSlides/notesSlide18.xml" Id="Ra33af8a9ca9c47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63ECA12-1827-4C10-B6CA-39BC307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105457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PDP COMPUTER SCIENCE · B2 PARAMETERIZED &amp; PROCEDURAL CREATION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9953BD0E-F529-438F-8263-2C933C88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10545775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B2.1 (Part 1 of 3) — Reusable Visual Components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1CC84B-99BC-45FE-B798-76B870A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1054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Packaging drawing code into a custom function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22B14E3-4046-4291-A4FE-D32A2A67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DE5868A0-414C-4051-8518-96FA3D0B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7198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55C8E8F-760F-4CF6-BF6D-EDDD6667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Retrieve What You Know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51FF28B4-FE1B-4AD3-A7B3-55C86205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Connect B1 ideas to today's new use of a Java method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5A4E773-390F-43F6-8A48-CE49780C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6B1B31-FC17-4861-830D-D682D181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849FF44-A885-45AD-912A-377AACA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65E0136-5EB9-4787-8DE4-09E87EB8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From B1: draw() repeats after setup()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From B1: background(255) clears the whole canvas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From B1: fill() changes persistent drawing state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From Algorithms: a method gives a sequence of instructions a name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7D23450-8AEF-42AA-BBF0-909CFAE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F716175-1CC2-43DA-B9C3-009EADA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Think · pair · share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Which lines draw the object? Which lines control the whole frame? Today you will separate those responsibilities.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8985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55C8E8F-760F-4CF6-BF6D-EDDD6667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Today's Goal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51FF28B4-FE1B-4AD3-A7B3-55C86205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picture stays the same while the program becomes easier to read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5A4E773-390F-43F6-8A48-CE49780C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6F6B1B31-FC17-4861-830D-D682D181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849FF44-A885-45AD-912A-377AACA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D65E0136-5EB9-4787-8DE4-09E87EB8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4151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By the end, you can: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identify one multi-shape visual component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move its drawing lines into a named method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 that method from draw()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compile, run, and compare before with after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F7D23450-8AEF-42AA-BBF0-909CFAE1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F716175-1CC2-43DA-B9C3-009EADAC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Success criterion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refactored program produces the same visible object. Only the organisation of the code changes.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8985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FB345A56-36E8-406B-B5E2-26ECD4E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Find the Visual Component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959878FE-4A70-4A29-953E-52C61908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Mark the lines that work together to draw one flower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8AD8394-B727-4CC5-97A0-D1585A4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B416D503-A727-419F-BD2B-E07C513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89A0AB1E-9F9C-4F45-A013-524BEC22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Whole frame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434921A8-6C8B-4CC6-AD31-B20F657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6FC82FE4-D927-4846-996E-E373B729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200, 30, 30);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170,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230,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ellipse(170,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ellipse(230,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80698E6E-B7AC-4EAC-A46C-AE4C5AB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Your prediction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184C0589-6AEC-435C-9E6E-5DC5560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3D29CC18-BB6D-4FBE-AB2B-F228E67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Which line clears the canvas?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Which eight lines create the flower?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/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What must stay in draw() when we package the flower?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396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FB345A56-36E8-406B-B5E2-26ECD4E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Package the Flower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959878FE-4A70-4A29-953E-52C61908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Move one responsibility into drawFlower() and leave draw() in control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8AD8394-B727-4CC5-97A0-D1585A4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B416D503-A727-419F-BD2B-E07C513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89A0AB1E-9F9C-4F45-A013-524BEC22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Inline version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434921A8-6C8B-4CC6-AD31-B20F657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6FC82FE4-D927-4846-996E-E373B729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200, 30, 30);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170,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230,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ellipse(170,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ellipse(230,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80698E6E-B7AC-4EAC-A46C-AE4C5AB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Named method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184C0589-6AEC-435C-9E6E-5DC5560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3D29CC18-BB6D-4FBE-AB2B-F228E67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void drawFlower()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200, 30, 30);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170,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230,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ellipse(170,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ellipse(230,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396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98FA217E-5B58-4109-8B6F-BFF1E3D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Trace the Method Call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66CC31E2-C56A-481A-BD14-1260365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call pauses draw(), runs the named method, then returns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26DBD917-ACBD-4B49-AE5C-43C6A1F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730EC42F-D90D-41A3-B42C-86A5E0A8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7EDEAB2A-3112-4416-AD89-A7103409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1CCC37A2-EEB7-4313-812C-B750812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E526BE3F-2169-46DB-BB6E-6A110776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1206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0E62790-B40F-4C8A-A3A1-7E4E9E3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98418"/>
            <a:ext cx="4718304" cy="191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Trace aloud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Clear the canvas.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Call drawFlower().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Run every line in drawFlower().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Return to draw().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5666C2E9-8195-43C9-9849-9188B683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764B1203-0379-4628-AF30-947BAF45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Important distinction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drawFlower(); is a method call.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void drawFlower() { ... } is the method definition.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semicolon belongs on the call, not after the definition header.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2395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13935B0A-AB03-4B10-AACB-7F218096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Checkpoint: Compile and Compare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13B2FC8B-2DCA-4230-BC25-7FAF562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ComponentSketch_Inline and ComponentSketch_Flower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57B7BFE9-0407-47F8-975C-AB60B23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3C162B38-445D-470E-A082-12B3DDF9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73A00FBC-8DC2-4C7B-B89D-D124220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887E63D0-3025-43AF-946D-42F7804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void drawFlower()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// same flower lines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BB79E49C-3D1B-4C54-BB8C-04FC5B6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55778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EDE3E01E-BAC0-43EC-B249-CDDC66C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81298"/>
            <a:ext cx="5175504" cy="815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Compare fairly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the inline project first. Then run the method version. The flower should look identical.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12BE1694-55E1-409F-880B-0A925DA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EC244A6F-21B2-45A6-84C6-BC3C988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397B8542-FB7C-4934-9375-524E497F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Open ComponentSketch_Inline and run it once.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A39C07AE-4D38-4EF3-9B13-375CAE7F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8CD3DFE1-B80F-4758-BE8E-A351FD8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C2225A5C-0059-479E-ACE2-31806C2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3172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Open ComponentSketch_Flower and compile it.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CA1B77FD-6AC3-46DD-88E6-2F335C3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4B572197-E30C-443D-96BB-107E328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6859E79D-916C-411E-9EFB-76CAB5F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3756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Run main(String[] args).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6862B7A6-B918-482D-95A2-37F31245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5430779B-CA1A-4D17-85F1-E8375A0A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D9EF74C9-D8AF-44C4-A34D-AB04EE9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4340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Compare position, size, colour, and background.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BF72E1A0-CE56-40E6-BCF7-C5E67B32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55778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4C49A37D-4906-429F-A4AE-C0CFF3DC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15738"/>
            <a:ext cx="5175504" cy="76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Success looks like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Both windows show the same flower. If they differ, compare only the lines moved into drawFlower().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9057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98FA217E-5B58-4109-8B6F-BFF1E3D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Predict Two Calls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66CC31E2-C56A-481A-BD14-1260365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Does calling the same method twice create two flowers?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26DBD917-ACBD-4B49-AE5C-43C6A1F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730EC42F-D90D-41A3-B42C-86A5E0A8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7EDEAB2A-3112-4416-AD89-A7103409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1CCC37A2-EEB7-4313-812C-B750812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E526BE3F-2169-46DB-BB6E-6A110776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1206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0E62790-B40F-4C8A-A3A1-7E4E9E3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98418"/>
            <a:ext cx="4718304" cy="191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Vote before running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A. Two flowers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B. One flower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C. A compilation error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 ready to justify your choice.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5666C2E9-8195-43C9-9849-9188B683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764B1203-0379-4628-AF30-947BAF45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Hold the explanation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Both calls run the same instructions with the same hardcoded coordinates. Run ComponentSketch_DoubleCall only after everyone commits to a prediction.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2395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98FA217E-5B58-4109-8B6F-BFF1E3D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Calls Still Show One Flower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66CC31E2-C56A-481A-BD14-1260365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Both flowers occupy exactly the same pixels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26DBD917-ACBD-4B49-AE5C-43C6A1F2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730EC42F-D90D-41A3-B42C-86A5E0A8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7EDEAB2A-3112-4416-AD89-A7103409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1CCC37A2-EEB7-4313-812C-B750812B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1737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drawFlower();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drawFlower();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E526BE3F-2169-46DB-BB6E-6A110776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1206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60E62790-B40F-4C8A-A3A1-7E4E9E38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98418"/>
            <a:ext cx="4718304" cy="191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What happened?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second flower is drawn directly over the first. The program did run the method twice; the final image simply looks unchanged.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5666C2E9-8195-43C9-9849-9188B683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764B1203-0379-4628-AF30-947BAF45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 sz="13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the method solved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We no longer repeat the drawing instructions. But this method can draw only at one fixed location. Parameters will solve that limitation in B2.1.2.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2395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FB85D494-4FE3-4258-A080-FF5B4D8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Place Methods at Class Level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7">
            <a:extLst xmlns:a="http://schemas.openxmlformats.org/drawingml/2006/main">
              <a:ext uri="{FF2B5EF4-FFF2-40B4-BE49-F238E27FC236}">
                <a16:creationId xmlns:a16="http://schemas.microsoft.com/office/drawing/2014/main" id="{242A415E-6FDD-41C2-BD60-465733B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draw() and drawFlower() are separate methods inside the same class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3ACB3B41-D74E-47DC-B4AE-DFCF185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65D1576B-8EAE-43A6-BA07-436B55E2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3B47398B-2EB0-4AD8-AC6E-8E3488DF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9DAE6629-5579-4392-83CB-5175943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283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ourier New"/>
              <a:buNone/>
            </a:pPr>
            <a:r>
              <a:rPr sz="13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void drawFlower()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// flower drawing lines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D798A7A9-B0EF-466E-9A6F-9712D953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EF656B0A-13C4-421C-BA14-4645FB1D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191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Same class, not nested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Close draw() with } before starting drawFlower(). Java does not allow us to define drawFlower() inside draw().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D48C23C4-8D51-4B45-AEED-205893B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03320"/>
            <a:ext cx="5605272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B917F9D-1258-466A-82C4-3CDC32E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44138"/>
            <a:ext cx="5202936" cy="186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About public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Keep settings(), setup(), and draw() public in our Processing template. A helper such as drawFlower() can use no access modifier in this course.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3800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FB85D494-4FE3-4258-A080-FF5B4D8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Spot the Braces Error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7">
            <a:extLst xmlns:a="http://schemas.openxmlformats.org/drawingml/2006/main">
              <a:ext uri="{FF2B5EF4-FFF2-40B4-BE49-F238E27FC236}">
                <a16:creationId xmlns:a16="http://schemas.microsoft.com/office/drawing/2014/main" id="{242A415E-6FDD-41C2-BD60-465733BB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One missing brace accidentally tries to nest drawFlower() inside draw()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3ACB3B41-D74E-47DC-B4AE-DFCF185F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65D1576B-8EAE-43A6-BA07-436B55E2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3B47398B-2EB0-4AD8-AC6E-8E3488DF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1206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9DAE6629-5579-4392-83CB-5175943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663440" cy="283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300"/>
              <a:buFont typeface="Courier New"/>
              <a:buNone/>
            </a:pPr>
            <a:r>
              <a:rPr sz="130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// missing } here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void drawFlower()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200, 30, 30);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D798A7A9-B0EF-466E-9A6F-9712D953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5605272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EF656B0A-13C4-421C-BA14-4645FB1D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512418"/>
            <a:ext cx="5202936" cy="191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Predict the compiler's response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Will this run, compile with a warning, or fail to compile? Point to the exact structural problem.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D48C23C4-8D51-4B45-AEED-205893BC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03320"/>
            <a:ext cx="5605272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4B917F9D-1258-466A-82C4-3CDC32E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844138"/>
            <a:ext cx="5202936" cy="186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Repair rule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Match each opening { with a closing }. Finish draw() first; then define drawFlower() at class level. Indentation helps you see the structure.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38005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13935B0A-AB03-4B10-AACB-7F218096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Plan the Balloon Refactor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13B2FC8B-2DCA-4230-BC25-7FAF562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Decide what moves before editing any code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57B7BFE9-0407-47F8-975C-AB60B23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3C162B38-445D-470E-A082-12B3DDF9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73A00FBC-8DC2-4C7B-B89D-D124220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887E63D0-3025-43AF-946D-42F7804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fill(150);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150, 60,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rect(197, 180, 6, 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BB79E49C-3D1B-4C54-BB8C-04FC5B6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55778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EDE3E01E-BAC0-43EC-B249-CDDC66C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81298"/>
            <a:ext cx="5175504" cy="815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Keep in draw()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background(255) controls the whole frame. It is not part of the balloon component.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12BE1694-55E1-409F-880B-0A925DA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EC244A6F-21B2-45A6-84C6-BC3C988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397B8542-FB7C-4934-9375-524E497F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Underline the four lines that draw the balloon.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A39C07AE-4D38-4EF3-9B13-375CAE7F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8CD3DFE1-B80F-4758-BE8E-A351FD8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C2225A5C-0059-479E-ACE2-31806C2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3172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Name the new method drawBalloon().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CA1B77FD-6AC3-46DD-88E6-2F335C3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4B572197-E30C-443D-96BB-107E328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6859E79D-916C-411E-9EFB-76CAB5F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3756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Choose where the call will replace the moved lines.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6862B7A6-B918-482D-95A2-37F31245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5430779B-CA1A-4D17-85F1-E8375A0A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D9EF74C9-D8AF-44C4-A34D-AB04EE9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4340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Predict what must stay visually unchanged.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BF72E1A0-CE56-40E6-BCF7-C5E67B32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55778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4C49A37D-4906-429F-A4AE-C0CFF3DC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15738"/>
            <a:ext cx="5175504" cy="76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Plan first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method should contain two fill() calls, one ellipse(), and one rect().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90574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8">
            <a:extLst xmlns:a="http://schemas.openxmlformats.org/drawingml/2006/main">
              <a:ext uri="{FF2B5EF4-FFF2-40B4-BE49-F238E27FC236}">
                <a16:creationId xmlns:a16="http://schemas.microsoft.com/office/drawing/2014/main" id="{13935B0A-AB03-4B10-AACB-7F218096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Turn: Package the Balloon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8">
            <a:extLst xmlns:a="http://schemas.openxmlformats.org/drawingml/2006/main">
              <a:ext uri="{FF2B5EF4-FFF2-40B4-BE49-F238E27FC236}">
                <a16:creationId xmlns:a16="http://schemas.microsoft.com/office/drawing/2014/main" id="{13B2FC8B-2DCA-4230-BC25-7FAF5622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Edit ComponentSketch_BalloonStarter, then verify the result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8">
            <a:extLst xmlns:a="http://schemas.openxmlformats.org/drawingml/2006/main">
              <a:ext uri="{FF2B5EF4-FFF2-40B4-BE49-F238E27FC236}">
                <a16:creationId xmlns:a16="http://schemas.microsoft.com/office/drawing/2014/main" id="{57B7BFE9-0407-47F8-975C-AB60B23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3C162B38-445D-470E-A082-12B3DDF9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73A00FBC-8DC2-4C7B-B89D-D124220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557784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887E63D0-3025-43AF-946D-42F7804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51206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fill(150);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150, 60, 60);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rect(197, 180, 6, 80);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BB79E49C-3D1B-4C54-BB8C-04FC5B6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0"/>
            <a:ext cx="55778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EDE3E01E-BAC0-43EC-B249-CDDC66CC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81298"/>
            <a:ext cx="5175504" cy="815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Watch out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Move complete statements. Do not move background(255), and do not leave a second copy of the balloon lines in draw().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12BE1694-55E1-409F-880B-0A925DA5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EC244A6F-21B2-45A6-84C6-BC3C988E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716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397B8542-FB7C-4934-9375-524E497F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Create void drawBalloon() below draw().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A39C07AE-4D38-4EF3-9B13-375CAE7F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8CD3DFE1-B80F-4758-BE8E-A351FD8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774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C2225A5C-0059-479E-ACE2-31806C2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33172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Move the four balloon drawing lines into it.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CA1B77FD-6AC3-46DD-88E6-2F335C3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4B572197-E30C-443D-96BB-107E328E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32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6859E79D-916C-411E-9EFB-76CAB5F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33756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Call drawBalloon(); after background(255).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6862B7A6-B918-482D-95A2-37F31245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5430779B-CA1A-4D17-85F1-E8375A0A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8">
            <a:extLst xmlns:a="http://schemas.openxmlformats.org/drawingml/2006/main">
              <a:ext uri="{FF2B5EF4-FFF2-40B4-BE49-F238E27FC236}">
                <a16:creationId xmlns:a16="http://schemas.microsoft.com/office/drawing/2014/main" id="{D9EF74C9-D8AF-44C4-A34D-AB04EE9F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343400"/>
            <a:ext cx="464515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Compile, run, and compare with the starter.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8">
            <a:extLst xmlns:a="http://schemas.openxmlformats.org/drawingml/2006/main">
              <a:ext uri="{FF2B5EF4-FFF2-40B4-BE49-F238E27FC236}">
                <a16:creationId xmlns:a16="http://schemas.microsoft.com/office/drawing/2014/main" id="{BF72E1A0-CE56-40E6-BCF7-C5E67B32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55778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extLst xmlns:a="http://schemas.openxmlformats.org/drawingml/2006/main">
              <a:ext uri="{FF2B5EF4-FFF2-40B4-BE49-F238E27FC236}">
                <a16:creationId xmlns:a16="http://schemas.microsoft.com/office/drawing/2014/main" id="{4C49A37D-4906-429F-A4AE-C0CFF3DC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15738"/>
            <a:ext cx="5175504" cy="76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Success looks like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balloon appears at the same position, produced by one call from draw().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9057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673BCA28-57EB-4257-B7DD-490A2C1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Verify More Than “It Runs”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8A1FC1C8-3582-4623-8B3C-79EE856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evidence to show the refactor preserved behaviour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B4196880-9DBB-47FF-BED3-83552D5B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6C1731F9-87F7-453C-8827-7734D72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F19DB77D-861F-41DA-973D-49D36993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28AC7440-1A73-44FD-A3CF-7E63901D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Output matches the starter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gray circle centred at (200, 150)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black 6 × 80 string begins at y = 180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Structure matches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background(255) remains in draw()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draw() calls drawBalloon() once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drawBalloon() is below draw()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D2950556-367B-45E0-9148-FF170DD4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694944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3093F4F4-010A-45F2-B9EA-C3361F27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12818"/>
            <a:ext cx="6547104" cy="998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Explain to a partner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changed in the code? What did not change on the canvas?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F932857E-7502-4B41-B1A3-3BB233A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4B746BD-5F73-46B1-96E5-C5726F3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Strong explanation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“I moved the four balloon drawing statements into drawBalloon() and replaced them with one call. The output stayed the same because the same statements still run in the same order.”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422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673BCA28-57EB-4257-B7DD-490A2C1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Exit Ticket: Name, Call, Verify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8A1FC1C8-3582-4623-8B3C-79EE856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Show that you can package one visual responsibility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B4196880-9DBB-47FF-BED3-83552D5B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6C1731F9-87F7-453C-8827-7734D72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F19DB77D-861F-41DA-973D-49D36993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28AC7440-1A73-44FD-A3CF-7E63901D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What is the difference between a method call and a method definition?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Why must drawFlower() be outside draw()?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Which line should usually stay in draw(): background(255) or ellipse(...)? Why?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What evidence shows a refactor preserved behaviour?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D2950556-367B-45E0-9148-FF170DD4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694944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3093F4F4-010A-45F2-B9EA-C3361F27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12818"/>
            <a:ext cx="6547104" cy="998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Next: B2.1.2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Add x and y parameters so different calls can place the same component in different locations.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F932857E-7502-4B41-B1A3-3BB233A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4B746BD-5F73-46B1-96E5-C5726F3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custom drawing method gives one visual responsibility a clear name. Write the drawing steps once, call the method where that component belongs, and verify the picture still matches.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422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FB345A56-36E8-406B-B5E2-26ECD4E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Flower Programs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959878FE-4A70-4A29-953E-52C61908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Complete code used for the inline-to-method comparison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8AD8394-B727-4CC5-97A0-D1585A4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B416D503-A727-419F-BD2B-E07C513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89A0AB1E-9F9C-4F45-A013-524BEC22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Inline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434921A8-6C8B-4CC6-AD31-B20F657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6FC82FE4-D927-4846-996E-E373B729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200, 30, 30);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170,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230,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ellipse(170,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ellipse(230,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80698E6E-B7AC-4EAC-A46C-AE4C5AB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With drawFlower()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184C0589-6AEC-435C-9E6E-5DC5560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3D29CC18-BB6D-4FBE-AB2B-F228E67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drawFlower();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void drawFlower()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200, 30, 30);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fill(200);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170,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230,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ellipse(170,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ellipse(230, 200, 20, 20);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3969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FB345A56-36E8-406B-B5E2-26ECD4EF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Balloon Programs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959878FE-4A70-4A29-953E-52C61908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Starter and completed versions of the construct task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B8AD8394-B727-4CC5-97A0-D1585A47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B416D503-A727-419F-BD2B-E07C513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89A0AB1E-9F9C-4F45-A013-524BEC22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Starter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434921A8-6C8B-4CC6-AD31-B20F657F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6FC82FE4-D927-4846-996E-E373B729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fill(150);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150, 60, 60);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rect(197, 180, 6, 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80698E6E-B7AC-4EAC-A46C-AE4C5AB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32588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sz="15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Complete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184C0589-6AEC-435C-9E6E-5DC5560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664208"/>
            <a:ext cx="5394960" cy="416052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3D29CC18-BB6D-4FBE-AB2B-F228E67A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1847088"/>
            <a:ext cx="4937760" cy="379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 void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drawBalloon();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/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void drawBalloon()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fill(150);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  ellipse(200, 150, 60, 60);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rect(197, 180, 6, 80);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73969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673BCA28-57EB-4257-B7DD-490A2C1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94415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900"/>
              <a:buFont typeface="Cambria"/>
              <a:buNone/>
            </a:pPr>
            <a:r>
              <a:rPr sz="29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Appendix: Recovery Guide</a:t>
            </a:r>
            <a:endParaRPr sz="2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8A1FC1C8-3582-4623-8B3C-79EE856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9441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Use the compiler message and the last successful checkpoint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B4196880-9DBB-47FF-BED3-83552D5B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B Creative Programming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6C1731F9-87F7-453C-8827-7734D72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B2.1 (Part 1 of 3) · Reusable Visual Components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F19DB77D-861F-41DA-973D-49D36993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694944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28AC7440-1A73-44FD-A3CF-7E63901D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649224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Method “not found”: check spelling, capitals, and 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Brace error: close draw() first and match every brace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Canvas differs: compare moved statements and order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28600" marR="0" lvl="0" indent="-228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Keep background(255) in draw()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D2950556-367B-45E0-9148-FF170DD4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694944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270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extLst xmlns:a="http://schemas.openxmlformats.org/drawingml/2006/main">
              <a:ext uri="{FF2B5EF4-FFF2-40B4-BE49-F238E27FC236}">
                <a16:creationId xmlns:a16="http://schemas.microsoft.com/office/drawing/2014/main" id="{3093F4F4-010A-45F2-B9EA-C3361F27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12818"/>
            <a:ext cx="6547104" cy="998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Fast reset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Open the matching complete project, compare one section at a time, then return to the student's file.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9">
            <a:extLst xmlns:a="http://schemas.openxmlformats.org/drawingml/2006/main">
              <a:ext uri="{FF2B5EF4-FFF2-40B4-BE49-F238E27FC236}">
                <a16:creationId xmlns:a16="http://schemas.microsoft.com/office/drawing/2014/main" id="{F932857E-7502-4B41-B1A3-3BB233A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71600"/>
            <a:ext cx="3867912" cy="4480560"/>
          </a:xfrm>
          <a:prstGeom xmlns:a="http://schemas.openxmlformats.org/drawingml/2006/main" prst="roundRect">
            <a:avLst>
              <a:gd name="adj" fmla="val 18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>
            <a:extLst xmlns:a="http://schemas.openxmlformats.org/drawingml/2006/main">
              <a:ext uri="{FF2B5EF4-FFF2-40B4-BE49-F238E27FC236}">
                <a16:creationId xmlns:a16="http://schemas.microsoft.com/office/drawing/2014/main" id="{44B746BD-5F73-46B1-96E5-C5726F3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512418"/>
            <a:ext cx="3465576" cy="419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Teacher check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Compile first. Run only after the class tile is clear of errors. A successful compile does not prove the output matches—finish with a visual comparison.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4422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2026-08-29T05:24:47.9940000Z</dcterms:created>
  <dcterms:modified xsi:type="dcterms:W3CDTF">2026-08-29T05:24:47.9940000Z</dcterms:modified>
</coreProperties>
</file>