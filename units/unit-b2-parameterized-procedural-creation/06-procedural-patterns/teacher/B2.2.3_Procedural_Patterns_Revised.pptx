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f8f2f73d8145cf" /><Relationship Type="http://schemas.openxmlformats.org/officeDocument/2006/relationships/extended-properties" Target="/docProps/app.xml" Id="R6734850498fc4b0b" /><Relationship Type="http://schemas.openxmlformats.org/officeDocument/2006/relationships/officeDocument" Target="/ppt/presentation.xml" Id="R86c9aac9603645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9a1963038346e9"/>
  </p:sldMasterIdLst>
  <p:notesMasterIdLst>
    <p:notesMasterId xmlns:r="http://schemas.openxmlformats.org/officeDocument/2006/relationships" r:id="R39c29a740c514a8b"/>
  </p:notesMasterIdLst>
  <p:sldIdLst>
    <p:sldId xmlns:r="http://schemas.openxmlformats.org/officeDocument/2006/relationships" id="256" r:id="R75fa417bd69b4741"/>
    <p:sldId xmlns:r="http://schemas.openxmlformats.org/officeDocument/2006/relationships" id="257" r:id="R4a56aa502f6b4cbd"/>
    <p:sldId xmlns:r="http://schemas.openxmlformats.org/officeDocument/2006/relationships" id="258" r:id="R67b0784509484f3f"/>
    <p:sldId xmlns:r="http://schemas.openxmlformats.org/officeDocument/2006/relationships" id="259" r:id="R5d42ebb8dc244470"/>
    <p:sldId xmlns:r="http://schemas.openxmlformats.org/officeDocument/2006/relationships" id="260" r:id="R4646a97fbad24b73"/>
    <p:sldId xmlns:r="http://schemas.openxmlformats.org/officeDocument/2006/relationships" id="261" r:id="R62c283fdcfb6408b"/>
    <p:sldId xmlns:r="http://schemas.openxmlformats.org/officeDocument/2006/relationships" id="262" r:id="R060c24268fe041d3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98274eeb9a428c" /><Relationship Type="http://schemas.openxmlformats.org/officeDocument/2006/relationships/slideMaster" Target="/ppt/slideMasters/slideMaster1.xml" Id="R869a1963038346e9" /><Relationship Type="http://schemas.openxmlformats.org/officeDocument/2006/relationships/notesMaster" Target="/ppt/notesMasters/notesMaster1.xml" Id="R39c29a740c514a8b" /><Relationship Type="http://schemas.openxmlformats.org/officeDocument/2006/relationships/presProps" Target="/ppt/presProps.xml" Id="R1141c5485f724941" /><Relationship Type="http://schemas.openxmlformats.org/officeDocument/2006/relationships/tableStyles" Target="/ppt/tableStyles.xml" Id="Re4385378d3a74c2c" /><Relationship Type="http://schemas.openxmlformats.org/officeDocument/2006/relationships/slide" Target="/ppt/slides/slide1.xml" Id="R75fa417bd69b4741" /><Relationship Type="http://schemas.openxmlformats.org/officeDocument/2006/relationships/slide" Target="/ppt/slides/slide2.xml" Id="R4a56aa502f6b4cbd" /><Relationship Type="http://schemas.openxmlformats.org/officeDocument/2006/relationships/slide" Target="/ppt/slides/slide3.xml" Id="R67b0784509484f3f" /><Relationship Type="http://schemas.openxmlformats.org/officeDocument/2006/relationships/slide" Target="/ppt/slides/slide4.xml" Id="R5d42ebb8dc244470" /><Relationship Type="http://schemas.openxmlformats.org/officeDocument/2006/relationships/slide" Target="/ppt/slides/slide5.xml" Id="R4646a97fbad24b73" /><Relationship Type="http://schemas.openxmlformats.org/officeDocument/2006/relationships/slide" Target="/ppt/slides/slide6.xml" Id="R62c283fdcfb6408b" /><Relationship Type="http://schemas.openxmlformats.org/officeDocument/2006/relationships/slide" Target="/ppt/slides/slide7.xml" Id="R060c24268fe041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db4a179b9544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3ab08f4bac4c64" /><Relationship Type="http://schemas.openxmlformats.org/officeDocument/2006/relationships/notesMaster" Target="/ppt/notesMasters/notesMaster1.xml" Id="R93c07fc447664b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26313ca89448b4" /><Relationship Type="http://schemas.openxmlformats.org/officeDocument/2006/relationships/notesMaster" Target="/ppt/notesMasters/notesMaster1.xml" Id="R45ff284b597d40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37855750984deb" /><Relationship Type="http://schemas.openxmlformats.org/officeDocument/2006/relationships/notesMaster" Target="/ppt/notesMasters/notesMaster1.xml" Id="Ra92dd0f7735a47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1d2bb382ae446e" /><Relationship Type="http://schemas.openxmlformats.org/officeDocument/2006/relationships/notesMaster" Target="/ppt/notesMasters/notesMaster1.xml" Id="R9d954fcd72c344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d28fe01b6d4d6b" /><Relationship Type="http://schemas.openxmlformats.org/officeDocument/2006/relationships/notesMaster" Target="/ppt/notesMasters/notesMaster1.xml" Id="Rdfdad6b7d8864b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7994d2864445fb" /><Relationship Type="http://schemas.openxmlformats.org/officeDocument/2006/relationships/notesMaster" Target="/ppt/notesMasters/notesMaster1.xml" Id="Rcc2d5c2cbed249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eb4f351e3a4640" /><Relationship Type="http://schemas.openxmlformats.org/officeDocument/2006/relationships/notesMaster" Target="/ppt/notesMasters/notesMaster1.xml" Id="R8ff624676c7940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Define a procedural pattern as repeated structure whose properties follow a traceable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Retrieve the nested-grid mechanism and identify the second variable available inside the body.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Add a row-based size rule. Compute size from row before calling the component; trace each row’s value.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Read the output as evidence: constant size across a row, predictable growth between rows.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Distinguish a fixed value, a row-dependent rule, and a rule using both row and column. Nothing here is random.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first change the growth rule, then design a new rule using one or both loop variables. Require a written prediction.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state the rule in words and point to the expression that implements it.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2d796753d4cb0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5433444d184346" /><Relationship Type="http://schemas.openxmlformats.org/officeDocument/2006/relationships/slideLayout" Target="/ppt/slideLayouts/slideLayout1.xml" Id="R370af0722a4c46e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af0722a4c46e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8b8bf7a454391" /><Relationship Type="http://schemas.openxmlformats.org/officeDocument/2006/relationships/notesSlide" Target="/ppt/notesSlides/notesSlide1.xml" Id="Ra36a11b19a944d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33027c57f4706" /><Relationship Type="http://schemas.openxmlformats.org/officeDocument/2006/relationships/notesSlide" Target="/ppt/notesSlides/notesSlide2.xml" Id="Rf9f72993cd0d4e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918cbbe4e47fa" /><Relationship Type="http://schemas.openxmlformats.org/officeDocument/2006/relationships/notesSlide" Target="/ppt/notesSlides/notesSlide3.xml" Id="Radc5855dd9634e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4b260b5c646eb" /><Relationship Type="http://schemas.openxmlformats.org/officeDocument/2006/relationships/notesSlide" Target="/ppt/notesSlides/notesSlide4.xml" Id="Rdebe50be0a1147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13b4d867f4896" /><Relationship Type="http://schemas.openxmlformats.org/officeDocument/2006/relationships/notesSlide" Target="/ppt/notesSlides/notesSlide5.xml" Id="R18c0fee12ae047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85f8930ab4791" /><Relationship Type="http://schemas.openxmlformats.org/officeDocument/2006/relationships/notesSlide" Target="/ppt/notesSlides/notesSlide6.xml" Id="R758e12de5a1a44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f9265542e44d4" /><Relationship Type="http://schemas.openxmlformats.org/officeDocument/2006/relationships/notesSlide" Target="/ppt/notesSlides/notesSlide7.xml" Id="R05ac30db8acd47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756FEB45-8330-484B-8AAF-E6332943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B2.2  ·  Parameterized &amp; Procedural Creation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57C8759D-AB89-4A4B-A2AD-F1B5922C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Procedural Patterns: Grids with Varying Parameters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84F9EC6F-E584-43C3-9E7C-D387107B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Two loop variables can drive more than position — turning a uniform grid into a pattern.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B1783C89-348D-47D5-82E6-65A5B5A5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7F546853-C2B5-4A64-A579-78881996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6228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7FB3A692-CD46-4E0F-9074-8229202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Two Ideas, Ready to Combine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B16F606F-0A38-4207-92CA-20B861A8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 and Part 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5B6C82EC-1198-4CBC-8A44-46FAE66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5E999A01-7A95-4134-97AD-9D823C30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27F40779-8739-4F08-8B03-4B065A8E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9496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9E7DBB67-E2CE-4BE5-800B-7E8DBD81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64792"/>
            <a:ext cx="4846320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From Part 1: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custom function packages drawing code; a loop variable can feed its parameters.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6FFBE15-B9EB-4F42-A53E-91431F0F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9496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34A735EC-E4BC-4D2A-8AC2-0D1EB962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64792"/>
            <a:ext cx="4846320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From Part 2: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nested loop (row, col) generates every position in a grid.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A8F205BC-AAE0-473C-9CF6-B5516472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1106424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896D042A-9669-43E1-8949-BDABB61C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D6DBACCA-4F83-4AA4-83E5-8639AD61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36592"/>
            <a:ext cx="10607040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So far every cell in a grid looks identical. What if row or col also controlled something besides position — like size? That would turn the uniform grid into a systematically varying pattern.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75B6BFDF-63FA-475C-97AC-F533628F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4BD589DB-10F5-41BD-B80A-B8588A47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3248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B0FDD468-B74B-41B7-8FB2-656D2C69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Combining Nesting with Another Configurable Property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F7DF7464-7784-4512-BB3D-DA111174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row and col drive position; row also drives size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9282521F-E525-40ED-8112-88D4020C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AEA6553D-AC0F-489F-AB8F-A9E7F72B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41ED643D-3B65-4844-8D06-EED0547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859842BF-CF67-4641-A6D2-D5696ED3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779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row = 0; row &lt; 4; row++)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col = 0; col &lt; 4; col++)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50 + col * 90;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 = 50 + row * 90;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 = 15 + row * 8;   </a:t>
            </a:r>
            <a:r>
              <a:rPr sz="140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size grows down the rows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drawShape(x, y, s);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0E8A770D-F21F-4C92-A424-5FF96084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310896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EBFB0671-677C-44C6-B374-CE5B239D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What's new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5AB0AA8C-F378-40B5-B83D-E92E13F2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2441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 is computed from row alone — a third value derived from the loop variables, feeding a third parameter. col still drives x; row now drives both y and 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A8F9C066-832A-44A2-AB0D-B940C3C1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110642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69CD57FF-8666-44AF-AC27-628913D1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2"/>
            <a:ext cx="106070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This turns a uniform grid into a systematically varying procedural pattern — a traceable rule (size tied to row), not every cell being identical.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1E94D52F-5F4E-4328-9CB2-757C9E4B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7234FA9F-530C-49A5-930D-FE4BF480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4988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FBE9AD46-8ACF-4A5D-9A9D-277FE2E9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This Produces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66CAC983-3670-4F70-A903-64E52F48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Size grows row by row — deliberate, not random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E3079C2C-D6CA-402F-BCF4-22D79129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EC265AA5-C7CB-4D49-83B5-3B1A6898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604467D0-AECB-4A18-B456-8C1592D2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691640"/>
            <a:ext cx="832104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AA70D812-61B1-4238-A57D-DC3DAC8A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351" y="1964246"/>
            <a:ext cx="312039" cy="31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167D3A05-6A23-4E24-92B1-815EBC1E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585" y="1964246"/>
            <a:ext cx="312039" cy="31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20BDD75F-E307-45DE-8E7E-458BE9F7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818" y="1964246"/>
            <a:ext cx="312039" cy="31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1DE88A3A-38B1-4F63-A916-C89D5FC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053" y="1964246"/>
            <a:ext cx="312039" cy="31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C31A32A4-D800-4AF8-93B0-D8F5D3F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140" y="2652560"/>
            <a:ext cx="478460" cy="478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59043849-6DEE-4BDB-8E50-EE3167F8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374" y="2652560"/>
            <a:ext cx="478460" cy="478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D6EB4570-3D1F-4D20-A142-E691DFAB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608" y="2652560"/>
            <a:ext cx="478460" cy="478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6F468577-59E2-4BF3-8372-FB9A4961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842" y="2652560"/>
            <a:ext cx="478460" cy="478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192E6EFE-49CB-49A7-96A1-102532FF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930" y="3340875"/>
            <a:ext cx="644881" cy="6448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FB2B49AC-4C3B-42AA-AED5-6E199186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164" y="3340875"/>
            <a:ext cx="644881" cy="6448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C11208BC-21E4-4A08-BAFF-93B70A06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398" y="3340875"/>
            <a:ext cx="644881" cy="6448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2E7F636B-FAA8-4778-9DD2-07624DA8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632" y="3340875"/>
            <a:ext cx="644881" cy="6448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5C446F6B-CB92-4E4B-B76E-74B729BC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719" y="4029189"/>
            <a:ext cx="811301" cy="8113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630F419A-C440-474C-9E1F-75AAA2B7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953" y="4029189"/>
            <a:ext cx="811301" cy="8113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31D2B339-4C5B-46E2-A992-40864543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187" y="4029189"/>
            <a:ext cx="811301" cy="8113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9A5D3EFD-EF83-401A-BEEB-46CDEF4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21" y="4029189"/>
            <a:ext cx="811301" cy="81130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2A58F03F-8A14-4563-8F02-DF283C5E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193792"/>
            <a:ext cx="83210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400 × 400 canvas (to scale)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E94C967F-6237-421E-842B-A77E7F0D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AACC0F9E-4E80-43EF-92FB-78FB0E7C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8364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BFF01C81-3F26-4646-9F15-8E7381FD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EF922CFF-C997-4B0E-82B6-C32AD591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steps: predict, then design your own rule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FADBF23D-1D0E-4071-B997-B3A2FA04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CEEDBCDA-45E8-436D-A5F5-CF0A94E3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97A95CDA-3075-431B-81B7-5CB2779D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4C87CA96-9487-480B-BDBF-CE16DF4F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—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5F951466-A795-42AB-A06B-601B6C9C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core example ties size to row (s = 15 + row * 8). Before running it, sketch (on paper or in words) what the grid will look like: which row has the smallest shapes? Which row has the largest? Do shapes in the same row share the same size? Then check your prediction against the rendered output.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4648FDE0-A759-406C-BF4A-4D32D0A6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3D63A5FE-1F83-4E61-8CD7-6811B0FC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2 — 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CA378EB8-5E6F-4BB4-859E-E3A042DD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Design your own systematic size rule using row, col, or both — your choice. For example: size could grow with col instead of row, or combine both (s = 15 + row * 4 + col * 4).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the complete nested loop yourself, decide the rule, and be ready to explain why your grid looks the way it does.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DD32AEC0-5F44-4ED2-9DB7-C950C24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F15A3C24-7107-4826-9825-E6948ED6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3345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76545B82-48EC-42B0-B3FB-8DB29F00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Why a Rule, Not Just a Value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EF6D5B58-A840-4CFE-9AD2-BB406670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difference between a fixed number and a loop-variable-driven rule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F1A89264-77E2-423F-B450-16D170DD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943AD464-D059-4021-AC53-7D43C772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53A51E4D-CEEF-4AC4-952B-5EDC3290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106424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005D736B-C937-4A7C-88A3-0D12541D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56232"/>
            <a:ext cx="10515600" cy="539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Fixed value: 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drawShape(x, y, 40)   —   Every shape is the same size — uniform grid, no size variation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E1E82988-3835-4620-932F-BEFCD5AE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6424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4FD70CC4-B93E-4DC9-9451-5F003064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62072"/>
            <a:ext cx="10515600" cy="539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Tied to row: 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drawShape(x, y, 15 + row*8)   —   Size changes predictably down the grid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B40E1B2D-6FAD-4ECA-8CA1-259F0088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1106424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00809ACB-3476-477D-B5F3-602C7B81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67912"/>
            <a:ext cx="10515600" cy="539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1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Tied to both:  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drawShape(x, y, 15+row*4+col*4)   —   Size changes across two axes at once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8">
            <a:extLst xmlns:a="http://schemas.openxmlformats.org/drawingml/2006/main">
              <a:ext uri="{FF2B5EF4-FFF2-40B4-BE49-F238E27FC236}">
                <a16:creationId xmlns:a16="http://schemas.microsoft.com/office/drawing/2014/main" id="{10C7114E-30BD-4DC6-A287-36B66FE9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110642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>
            <a:extLst xmlns:a="http://schemas.openxmlformats.org/drawingml/2006/main">
              <a:ext uri="{FF2B5EF4-FFF2-40B4-BE49-F238E27FC236}">
                <a16:creationId xmlns:a16="http://schemas.microsoft.com/office/drawing/2014/main" id="{56C4D5BA-505C-4403-A6C3-42F2670E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2"/>
            <a:ext cx="106070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None of this is random — B2.3 introduces randomness next. Everything here is systematic and traceable: given row and col, you can always predict the exact size.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8">
            <a:extLst xmlns:a="http://schemas.openxmlformats.org/drawingml/2006/main">
              <a:ext uri="{FF2B5EF4-FFF2-40B4-BE49-F238E27FC236}">
                <a16:creationId xmlns:a16="http://schemas.microsoft.com/office/drawing/2014/main" id="{2C8095E5-EFA2-4AD5-906E-88B2DAA3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8">
            <a:extLst xmlns:a="http://schemas.openxmlformats.org/drawingml/2006/main">
              <a:ext uri="{FF2B5EF4-FFF2-40B4-BE49-F238E27FC236}">
                <a16:creationId xmlns:a16="http://schemas.microsoft.com/office/drawing/2014/main" id="{9E504780-B88D-4631-A34D-937CDB85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9286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47FDE5C2-E36C-48BE-A681-80D10334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03E9B516-38B4-45C4-ABC1-8D26F88F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B2.2 complete — what carries forward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7F4B4B74-CB85-48CD-BF00-09A38C1A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01F90D9F-8F5B-422C-BC30-AE5F86E7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6794CD57-705C-4728-83E0-01D1FF6A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0979A2F7-DF86-4FDF-A7E0-DBB11D73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9">
            <a:extLst xmlns:a="http://schemas.openxmlformats.org/drawingml/2006/main">
              <a:ext uri="{FF2B5EF4-FFF2-40B4-BE49-F238E27FC236}">
                <a16:creationId xmlns:a16="http://schemas.microsoft.com/office/drawing/2014/main" id="{4215A55A-36D9-4A3D-8B6E-E4C09F10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Two loop variables together are enough to describe a whole grid — and, combined with a custom function, enough to describe a whole procedural pattern.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D6DE22D4-C4E1-4694-8234-EA107A52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58FF3503-A871-4B2C-A954-436A4879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A648AD41-329E-47AD-83AF-C4D82086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B2.3 introduces randomness — controlled variation instead of systematic, row/col-driven variation. The structure stays the same; the source of change does not.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F9A447FC-D42A-4225-9728-04DA356C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>
            <a:extLst xmlns:a="http://schemas.openxmlformats.org/drawingml/2006/main">
              <a:ext uri="{FF2B5EF4-FFF2-40B4-BE49-F238E27FC236}">
                <a16:creationId xmlns:a16="http://schemas.microsoft.com/office/drawing/2014/main" id="{2E23A7F0-F85D-43A9-9E82-CBE00A7E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Function + loop + nested loop now all stack together.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uniform grid becomes a systematically varying pattern when a parameter follows a traceable rule beyond just position.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39751484-29F7-408E-BDB8-41CF9AFC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Google Shape;140;p9">
            <a:extLst xmlns:a="http://schemas.openxmlformats.org/drawingml/2006/main">
              <a:ext uri="{FF2B5EF4-FFF2-40B4-BE49-F238E27FC236}">
                <a16:creationId xmlns:a16="http://schemas.microsoft.com/office/drawing/2014/main" id="{B32961EA-591B-443F-A602-D4C1B541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3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51130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2026-08-29T05:48:50.7490000Z</dcterms:created>
  <dcterms:modified xsi:type="dcterms:W3CDTF">2026-08-29T05:48:50.7490000Z</dcterms:modified>
</coreProperties>
</file>