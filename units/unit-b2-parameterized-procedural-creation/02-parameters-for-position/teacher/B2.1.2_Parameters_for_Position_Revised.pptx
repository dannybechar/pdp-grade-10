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bc3c0225c45dd" /><Relationship Type="http://schemas.openxmlformats.org/officeDocument/2006/relationships/extended-properties" Target="/docProps/app.xml" Id="Re1add40fdfa04bcb" /><Relationship Type="http://schemas.openxmlformats.org/officeDocument/2006/relationships/officeDocument" Target="/ppt/presentation.xml" Id="R6c6c9a05df12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d405abfa6470a"/>
  </p:sldMasterIdLst>
  <p:notesMasterIdLst>
    <p:notesMasterId xmlns:r="http://schemas.openxmlformats.org/officeDocument/2006/relationships" r:id="Rbaad3b04b2004b72"/>
  </p:notesMasterIdLst>
  <p:sldIdLst>
    <p:sldId xmlns:r="http://schemas.openxmlformats.org/officeDocument/2006/relationships" id="256" r:id="Rec69faf83e574d20"/>
    <p:sldId xmlns:r="http://schemas.openxmlformats.org/officeDocument/2006/relationships" id="257" r:id="R3f0813f1be8e47b6"/>
    <p:sldId xmlns:r="http://schemas.openxmlformats.org/officeDocument/2006/relationships" id="258" r:id="R0b7f1b03fb944595"/>
    <p:sldId xmlns:r="http://schemas.openxmlformats.org/officeDocument/2006/relationships" id="259" r:id="R6ff4cad434ea487d"/>
    <p:sldId xmlns:r="http://schemas.openxmlformats.org/officeDocument/2006/relationships" id="260" r:id="R3c524d37b1c1436d"/>
    <p:sldId xmlns:r="http://schemas.openxmlformats.org/officeDocument/2006/relationships" id="261" r:id="R25961dc03bf04d49"/>
    <p:sldId xmlns:r="http://schemas.openxmlformats.org/officeDocument/2006/relationships" id="262" r:id="R941b7ed11c1b41aa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8b409318de4024" /><Relationship Type="http://schemas.openxmlformats.org/officeDocument/2006/relationships/slideMaster" Target="/ppt/slideMasters/slideMaster1.xml" Id="Ra92d405abfa6470a" /><Relationship Type="http://schemas.openxmlformats.org/officeDocument/2006/relationships/notesMaster" Target="/ppt/notesMasters/notesMaster1.xml" Id="Rbaad3b04b2004b72" /><Relationship Type="http://schemas.openxmlformats.org/officeDocument/2006/relationships/presProps" Target="/ppt/presProps.xml" Id="R506e2cac5f3b40c6" /><Relationship Type="http://schemas.openxmlformats.org/officeDocument/2006/relationships/tableStyles" Target="/ppt/tableStyles.xml" Id="Rbb79a2c0dedf47f2" /><Relationship Type="http://schemas.openxmlformats.org/officeDocument/2006/relationships/slide" Target="/ppt/slides/slide1.xml" Id="Rec69faf83e574d20" /><Relationship Type="http://schemas.openxmlformats.org/officeDocument/2006/relationships/slide" Target="/ppt/slides/slide2.xml" Id="R3f0813f1be8e47b6" /><Relationship Type="http://schemas.openxmlformats.org/officeDocument/2006/relationships/slide" Target="/ppt/slides/slide3.xml" Id="R0b7f1b03fb944595" /><Relationship Type="http://schemas.openxmlformats.org/officeDocument/2006/relationships/slide" Target="/ppt/slides/slide4.xml" Id="R6ff4cad434ea487d" /><Relationship Type="http://schemas.openxmlformats.org/officeDocument/2006/relationships/slide" Target="/ppt/slides/slide5.xml" Id="R3c524d37b1c1436d" /><Relationship Type="http://schemas.openxmlformats.org/officeDocument/2006/relationships/slide" Target="/ppt/slides/slide6.xml" Id="R25961dc03bf04d49" /><Relationship Type="http://schemas.openxmlformats.org/officeDocument/2006/relationships/slide" Target="/ppt/slides/slide7.xml" Id="R941b7ed11c1b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195c814d1a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9fcbd50a14105" /><Relationship Type="http://schemas.openxmlformats.org/officeDocument/2006/relationships/notesMaster" Target="/ppt/notesMasters/notesMaster1.xml" Id="R0fc47b56ca2648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d429ed6b248bf" /><Relationship Type="http://schemas.openxmlformats.org/officeDocument/2006/relationships/notesMaster" Target="/ppt/notesMasters/notesMaster1.xml" Id="Rb11733360c494e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dbd4343794cdb" /><Relationship Type="http://schemas.openxmlformats.org/officeDocument/2006/relationships/notesMaster" Target="/ppt/notesMasters/notesMaster1.xml" Id="R418dc93e7529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8c11b8a3174496" /><Relationship Type="http://schemas.openxmlformats.org/officeDocument/2006/relationships/notesMaster" Target="/ppt/notesMasters/notesMaster1.xml" Id="Rf69c5d31a05a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e48c3b5404009" /><Relationship Type="http://schemas.openxmlformats.org/officeDocument/2006/relationships/notesMaster" Target="/ppt/notesMasters/notesMaster1.xml" Id="R49b155982c674f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bb9e90458940cb" /><Relationship Type="http://schemas.openxmlformats.org/officeDocument/2006/relationships/notesMaster" Target="/ppt/notesMasters/notesMaster1.xml" Id="R6d7ab406eb1443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b64d5aa4164deb" /><Relationship Type="http://schemas.openxmlformats.org/officeDocument/2006/relationships/notesMaster" Target="/ppt/notesMasters/notesMaster1.xml" Id="Rabf9ae6a2db4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Reconnect to B2.1.1: the named component is reusable but still fixed at one coordinate. Ask students to predict today’s limitation before revealing x and 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distinguish parameters in a definition from arguments in a call. Expected response: hardcoded coordinates make every call overlap.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the transformation one coordinate at a time. Keep size values fixed. Stress that x and y represent the flower centre and that each petal uses a signed 30-pixel offset.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Trace all three calls before running. Students should state the centre of each flower and identify which code is reused unchanged.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Address the misconception that parameters remove duplication: the function already did that; parameters make each call configurable.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Construct task. Preserve the balloon string offset with rect(x - 3, y + 30, 6, 80). Compile after changing the definition and again after changing every call.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students explain definition versus arguments and predict how changing one call affects only that flower.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5fd7ebbea409f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d0b8b181d495d" /><Relationship Type="http://schemas.openxmlformats.org/officeDocument/2006/relationships/slideLayout" Target="/ppt/slideLayouts/slideLayout1.xml" Id="R6f2a042f24b04e1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2a042f24b04e1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68036d114979" /><Relationship Type="http://schemas.openxmlformats.org/officeDocument/2006/relationships/notesSlide" Target="/ppt/notesSlides/notesSlide1.xml" Id="Re98db33e6aec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743b79a1345e1" /><Relationship Type="http://schemas.openxmlformats.org/officeDocument/2006/relationships/notesSlide" Target="/ppt/notesSlides/notesSlide2.xml" Id="Rd661de7023b1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40ef96f684f69" /><Relationship Type="http://schemas.openxmlformats.org/officeDocument/2006/relationships/notesSlide" Target="/ppt/notesSlides/notesSlide3.xml" Id="R227d54b8eb5145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04cc47d24375" /><Relationship Type="http://schemas.openxmlformats.org/officeDocument/2006/relationships/notesSlide" Target="/ppt/notesSlides/notesSlide4.xml" Id="Rc6341192e4da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9c6ae4dc4e33" /><Relationship Type="http://schemas.openxmlformats.org/officeDocument/2006/relationships/notesSlide" Target="/ppt/notesSlides/notesSlide5.xml" Id="R5712b2943e6346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7f33b689e4bd0" /><Relationship Type="http://schemas.openxmlformats.org/officeDocument/2006/relationships/notesSlide" Target="/ppt/notesSlides/notesSlide6.xml" Id="R6b9c1ca790294e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c2fc763b0400d" /><Relationship Type="http://schemas.openxmlformats.org/officeDocument/2006/relationships/notesSlide" Target="/ppt/notesSlides/notesSlide7.xml" Id="R7f69d0df8e4945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A05158E7-9858-4EED-A52C-B06520E2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B2 PARAMETERIZED &amp; PROCEDURAL CREATION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84F8326-38F7-4DAA-B4B1-538688F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4577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B2.1 (Part 2 of 3) — Parameters for Position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98761C2-83CB-40BB-88C1-371D830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Making one component placeable anywhere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C397CAC-A4A7-4392-9BA0-4988730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BF7B245-6E0A-400D-968B-39F70C18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7537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C0AA152-DF9B-4AC2-9330-31071BF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3D788AE-25B1-4382-B2A9-063EE0E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— where today picks up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E7681470-02AC-4AFF-9943-FA0CC58E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871857A1-DCF6-4B22-AF1C-6B37EA47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BBBA73A-9F22-4F9A-B612-236AB8F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AAE0158-FEE6-460A-825B-B6D4B12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 custom function packages a drawing sequence — call it from draw() instead of retyping it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Our parameterless drawFlower() always draws the same result, because every value inside it is hardcoded — calling it twice just overlaps identically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From Algorithms: parameters are already fluent — you know how to add them to a function's signature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New today: applying parameters specifically to POSITION, so separate calls can place the same component differently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A34E5EAC-2610-4AAD-984A-C1571DD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89CFB85B-8E90-47AC-A0D8-2E09E76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focus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Today you'll give it x and y parameters. Once the function is parameterized, every call can place it somewhere different, without changing the function's body again for each new call.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212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F887540E-DB49-4A8F-90FC-34DF884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Adding Position Parameters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BB2A4AA1-57F2-47D0-A70C-F1A469EC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a fixed spot to a configurable one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2621E401-DCB2-45D9-8A57-601A489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CFA2F66A-D905-4BCB-BB10-96443EE6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824E447-9826-4E5C-9242-C25A3162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Before — fixed position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E2A5D4BA-726E-4A94-B26E-27B0BAE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1998934-1F9E-4244-952B-7D7657F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drawFlower()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(80);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(200, 200, 30, 30);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(200, 170,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(200, 230,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(170, 200,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(230, 200,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EE063DF1-BEA1-4E29-9E56-4881F8D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After — parameterized position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35EF5993-C680-4830-98FD-7F78DC97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FE0986E7-D54C-40FA-9FF3-FD339CB5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00"/>
              <a:buFont typeface="Courier New"/>
              <a:buNone/>
            </a:pP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drawFlower(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y) {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(80);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y, 30, 30);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y-30,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y+30,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(x-30, y,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(x+30, y, 20, 20);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sz="12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FEACE096-24DC-4C70-BF09-386D47D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9167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A3174E6D-5391-4C4E-AD02-AE4FBBE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10689336" cy="1135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changed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flower now uses (x, y) as its center. The original 200 coordinates became x or y; 170 and 230 became offsets from that center — y-30 and y+30 (or x-30/x+30). The 30 and 20 size values stayed fixed, so the flower keeps the same shape while its position becomes configurable.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7818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B115D038-CA7A-4D09-9807-37BC9EC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Multiple Calls, Multiple Positions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9AB93D58-6B66-46D5-B778-DD5DE793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function, three different arguments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5D58455A-266F-43C5-96E7-C88664CF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17778D46-03AF-4575-B283-9F89DF6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FE875E21-5A17-4032-A80C-CBDECD7C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9B7DE8C5-3CD1-42D1-A372-590E5C2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draw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background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(255);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drawFlower(100, 100);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drawFlower(300, 100);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drawFlower(200, 300);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6DC48041-427F-4C17-A727-E34F722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557784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EAF08CEA-E49D-4614-9CE9-2698F7E5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89858"/>
            <a:ext cx="5175504" cy="2004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appears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flowers, each in a different spot: upper-left, upper-right, and lower-center. Same function, same shape, called three times with three different (x, y) arguments — no drawing code repeated anywhere.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F8A3AF4-53DD-4B24-9752-8A161D3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5239512" cy="466344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E2DC12F6-5994-4919-B9D5-DACF677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512418"/>
            <a:ext cx="4837176" cy="4381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Notice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drawFlower()'s body never changed between these three calls. Only the arguments did. This is the entire point of a parameter: one definition, many configurable results — each call decides its own x and y, and the function does the same work at whatever position it's given.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3118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F5E856F5-924B-44C5-8E2B-CD885D7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Function vs. Parameters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426C2FE1-A09A-4C0A-9645-9401EC3E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different problems, two different solutions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7E92B35C-B817-4983-8557-ABF0C469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77A3F836-D1FE-4FDB-B615-172BC7BD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19EB6E37-EAA0-4EC4-9808-8F88EFC3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847F56E9-130C-4E71-B247-E49540F6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12418"/>
            <a:ext cx="4992624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the function already solved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Calling drawFlower() twice, even without parameters, never duplicated its drawing code — that's what functions solve on their own. Part 1's actual limitation wasn't repeated code; it was a function that could only ever draw in one place, because its position was hardcoded inside it.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8F2CF463-C88B-45A6-96C2-077208C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A40BDF2-09B6-4274-8FF7-DEE0A9C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12418"/>
            <a:ext cx="4992624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parameters add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Parameters don't solve duplication a second time — that job was already done. They let separate calls configure the SAME function differently, here giving each call its own position.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 → removes duplicated implementation.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Parameters → make that implementation configurable.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952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1AB10523-4A3B-4EAA-AB7F-72FDF43F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Parameterize It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3AA00D06-4AB0-42B4-B469-F4CE5ED7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Construct task — give your Part 1 function a position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E6D84E71-10AD-4BE7-B6C9-128B4E8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104E4243-DB7F-4585-9DE5-C84A1CA4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550B41C6-4682-4D34-9F82-D5EE5FF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C9791A57-432B-46CE-9F2D-4F587CB0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drawBalloon()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(200, 150,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rect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(197, 180, 6,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5AFE17A3-C50B-45E8-BEB5-CAC8C9B4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842A26A8-1775-4E12-89A1-1A9E31B6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8A2E9522-3131-4E75-94A7-D72348E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x, y parameters to drawBalloon()'s signature.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4B8FFD86-C150-472B-B367-FB13EAFB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5A7AEBEA-0829-4144-815D-E278C16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5740C43C-30C3-4793-9A8A-FBD74F7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3172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(x, y) as the balloon's center — the same point the ellipse already uses. Replace the fixed coordinates with expressions based on x and y, keeping the original offset between the balloon and its string.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CCFAF51A-D172-4FFC-9F6A-EC85083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DEFC9764-E1E6-414F-9978-18DE28A1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9207F434-9582-48BF-A2E7-A3F52D7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3756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drawBalloon() three times with three different (x, y) arguments.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7DDD167F-FFB1-46D8-90BF-28DFA13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8901B258-6D00-4F35-A4FA-7BAF608D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A345B806-6CC2-4254-B4AF-B3D2AC03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4340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it. Confirm three separate balloons appear in three different places.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8A1E70AA-1C01-4857-B7FF-7FBCE198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57784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CD0BE664-9486-42BF-8732-79521FAE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06978"/>
            <a:ext cx="5175504" cy="227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Success looks like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balloons, each placed exactly where you called drawBalloon() to put it — same function, same shape, three different positions.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all three balloons overlap in one spot, check that the position numbers inside the function body actually changed to x and y — not just the parameter list.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772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2B7E0234-DB04-4625-95B8-8003027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Parameters for Position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952A6936-B5DD-4DBD-96FF-C599FE8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you should be able to do now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BED4A735-592B-4F69-94C8-8C7E115D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3640C08A-0473-4378-A98F-86E29B16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2 of 3) · Parameters for Position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345E67A2-C553-4E80-8C7C-FAB6C87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A4F53954-9700-4FC1-8854-650DF7CF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x, y parameters to a custom function's signature and use them in place of hardcoded numbers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the same function multiple times with different x, y arguments to place a component at different locations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Explain the difference between what a function alone solves (not repeating code) and what parameters add (placing separate calls differently)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43485520-EBC2-41AF-A804-9232C0AF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694944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9EF730CE-CE6C-4933-8E7C-D38EFFF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6547104" cy="99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Next: B2.1 (Part 3 of 3)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Position is only one property. Next lesson adds a second one — size — so the same function can place AND resize its component, combining two configurable properties together.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15B4BB4E-78D3-4841-8D61-BE00D815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9FF7857B-5535-4093-809E-ECFD2AB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function removes duplicated code. Parameters make that function configurable. Today, position was the property — but the same idea works for size, appearance, or anything else you decide to parameterize.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9789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2026-08-29T05:48:33.9780000Z</dcterms:created>
  <dcterms:modified xsi:type="dcterms:W3CDTF">2026-08-29T05:48:33.9780000Z</dcterms:modified>
</coreProperties>
</file>