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ad34e3316e4cc3" /><Relationship Type="http://schemas.openxmlformats.org/officeDocument/2006/relationships/extended-properties" Target="/docProps/app.xml" Id="Rc14808e56ae84e62" /><Relationship Type="http://schemas.openxmlformats.org/officeDocument/2006/relationships/officeDocument" Target="/ppt/presentation.xml" Id="Re666c443589d4c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a045d1d0214b37"/>
  </p:sldMasterIdLst>
  <p:notesMasterIdLst>
    <p:notesMasterId xmlns:r="http://schemas.openxmlformats.org/officeDocument/2006/relationships" r:id="R78e7da89dfe04552"/>
  </p:notesMasterIdLst>
  <p:sldIdLst>
    <p:sldId xmlns:r="http://schemas.openxmlformats.org/officeDocument/2006/relationships" id="256" r:id="Rfd52b147c1eb409a"/>
    <p:sldId xmlns:r="http://schemas.openxmlformats.org/officeDocument/2006/relationships" id="257" r:id="R5e36118a0b7c4e0b"/>
    <p:sldId xmlns:r="http://schemas.openxmlformats.org/officeDocument/2006/relationships" id="258" r:id="Rb27217346f814ddb"/>
    <p:sldId xmlns:r="http://schemas.openxmlformats.org/officeDocument/2006/relationships" id="259" r:id="R9fe5281613534beb"/>
    <p:sldId xmlns:r="http://schemas.openxmlformats.org/officeDocument/2006/relationships" id="260" r:id="R3ba0cb45e7af4396"/>
    <p:sldId xmlns:r="http://schemas.openxmlformats.org/officeDocument/2006/relationships" id="261" r:id="R861f4e43bb63472c"/>
    <p:sldId xmlns:r="http://schemas.openxmlformats.org/officeDocument/2006/relationships" id="262" r:id="Ra808c90f15ac4076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380a140fb14344" /><Relationship Type="http://schemas.openxmlformats.org/officeDocument/2006/relationships/slideMaster" Target="/ppt/slideMasters/slideMaster1.xml" Id="R15a045d1d0214b37" /><Relationship Type="http://schemas.openxmlformats.org/officeDocument/2006/relationships/notesMaster" Target="/ppt/notesMasters/notesMaster1.xml" Id="R78e7da89dfe04552" /><Relationship Type="http://schemas.openxmlformats.org/officeDocument/2006/relationships/presProps" Target="/ppt/presProps.xml" Id="Rb2cb2b07ed274d9a" /><Relationship Type="http://schemas.openxmlformats.org/officeDocument/2006/relationships/tableStyles" Target="/ppt/tableStyles.xml" Id="R05f83a4f25b645a1" /><Relationship Type="http://schemas.openxmlformats.org/officeDocument/2006/relationships/slide" Target="/ppt/slides/slide1.xml" Id="Rfd52b147c1eb409a" /><Relationship Type="http://schemas.openxmlformats.org/officeDocument/2006/relationships/slide" Target="/ppt/slides/slide2.xml" Id="R5e36118a0b7c4e0b" /><Relationship Type="http://schemas.openxmlformats.org/officeDocument/2006/relationships/slide" Target="/ppt/slides/slide3.xml" Id="Rb27217346f814ddb" /><Relationship Type="http://schemas.openxmlformats.org/officeDocument/2006/relationships/slide" Target="/ppt/slides/slide4.xml" Id="R9fe5281613534beb" /><Relationship Type="http://schemas.openxmlformats.org/officeDocument/2006/relationships/slide" Target="/ppt/slides/slide5.xml" Id="R3ba0cb45e7af4396" /><Relationship Type="http://schemas.openxmlformats.org/officeDocument/2006/relationships/slide" Target="/ppt/slides/slide6.xml" Id="R861f4e43bb63472c" /><Relationship Type="http://schemas.openxmlformats.org/officeDocument/2006/relationships/slide" Target="/ppt/slides/slide7.xml" Id="Ra808c90f15ac40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1c2138c1374f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548bbee7954a91" /><Relationship Type="http://schemas.openxmlformats.org/officeDocument/2006/relationships/notesMaster" Target="/ppt/notesMasters/notesMaster1.xml" Id="R266354cc329b4e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05ac13959041cb" /><Relationship Type="http://schemas.openxmlformats.org/officeDocument/2006/relationships/notesMaster" Target="/ppt/notesMasters/notesMaster1.xml" Id="R0f7c26a52fd544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a256bb72e84062" /><Relationship Type="http://schemas.openxmlformats.org/officeDocument/2006/relationships/notesMaster" Target="/ppt/notesMasters/notesMaster1.xml" Id="Rc8ee5398177e45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a412c4c1e1463d" /><Relationship Type="http://schemas.openxmlformats.org/officeDocument/2006/relationships/notesMaster" Target="/ppt/notesMasters/notesMaster1.xml" Id="Rd8c0c66a7bb74e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901207c59f4028" /><Relationship Type="http://schemas.openxmlformats.org/officeDocument/2006/relationships/notesMaster" Target="/ppt/notesMasters/notesMaster1.xml" Id="R9bc8bcc826ee46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60ab5ea61e4c9d" /><Relationship Type="http://schemas.openxmlformats.org/officeDocument/2006/relationships/notesMaster" Target="/ppt/notesMasters/notesMaster1.xml" Id="R11cd698cb4d34e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834b1c13ab4528" /><Relationship Type="http://schemas.openxmlformats.org/officeDocument/2006/relationships/notesMaster" Target="/ppt/notesMasters/notesMaster1.xml" Id="Re9c46f8b3e914b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Connect repeated visual structure to the counted-loop pattern students already know.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Retrieval: a parameterized method packages one shape; different arguments already place separate calls.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 minutes. Replace four manual calls with one for loop. Derive x = 50 + i * 90 and trace i before running.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Complete the trace table. Clarify that the update i++ happens after the body and that i &lt; 4 produces four iterations: 0, 1, 2, 3.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Compare the rendered row with the trace. Count shapes and check the first and last centres against the canvas width.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 minutes. Guided modification followed by construct task. Require a prediction of count and spacing before compile/run.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identify the loop variable, bound, and spacing expression.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f392ea9624c28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71949de61b457e" /><Relationship Type="http://schemas.openxmlformats.org/officeDocument/2006/relationships/slideLayout" Target="/ppt/slideLayouts/slideLayout1.xml" Id="Ree96969815d34a9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96969815d34a9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2d792d2ae458f" /><Relationship Type="http://schemas.openxmlformats.org/officeDocument/2006/relationships/notesSlide" Target="/ppt/notesSlides/notesSlide1.xml" Id="R3f14bfa9beec44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b76ce2def4c78" /><Relationship Type="http://schemas.openxmlformats.org/officeDocument/2006/relationships/notesSlide" Target="/ppt/notesSlides/notesSlide2.xml" Id="R47d61021b46e47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f0e1d86924728" /><Relationship Type="http://schemas.openxmlformats.org/officeDocument/2006/relationships/notesSlide" Target="/ppt/notesSlides/notesSlide3.xml" Id="R889113c17ab64c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415e2af1c4bfa" /><Relationship Type="http://schemas.openxmlformats.org/officeDocument/2006/relationships/notesSlide" Target="/ppt/notesSlides/notesSlide4.xml" Id="R0b2388aa38344e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3d2b4f77943af" /><Relationship Type="http://schemas.openxmlformats.org/officeDocument/2006/relationships/notesSlide" Target="/ppt/notesSlides/notesSlide5.xml" Id="R8de759f425cc4a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0886d0f6f4f09" /><Relationship Type="http://schemas.openxmlformats.org/officeDocument/2006/relationships/notesSlide" Target="/ppt/notesSlides/notesSlide6.xml" Id="R8243de0f1ea048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41f8e0d844008" /><Relationship Type="http://schemas.openxmlformats.org/officeDocument/2006/relationships/notesSlide" Target="/ppt/notesSlides/notesSlide7.xml" Id="Rdb3ee733492641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438A4E50-9878-4971-87E3-37A82D31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B2.2  ·  Parameterized &amp; Procedural Creation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1463D14B-16CB-4D97-9454-4AB69F4D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06040"/>
            <a:ext cx="10515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Repeated Structures with a Single Loop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A3A82711-A275-49B4-9C96-24465CCB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98755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Using a counted loop to generate a row of visual elements — the loop variable feeds the position.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D4820B1C-5765-41EF-96B5-4B644B8A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CC53A901-C0F0-411B-AD07-734AAE9C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4987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727A7DD7-63F1-4543-A379-31F1FBD7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Recap: Custom Functions from B2.1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37185BCB-C5FC-48B5-AB97-9A87F17F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One reusable visual component, built with parameters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2A562CCE-D8FB-489E-808D-BF28FD9E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80B2091B-A95A-4DE4-91A4-8A47EBAD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D562DA77-1BC4-438B-BF18-11B85FD5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48640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0755F1FA-AD3F-4D24-918A-DD414209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5029200" cy="1773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500"/>
              <a:buFont typeface="Courier New"/>
              <a:buNone/>
            </a:pP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drawShape(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x, 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y, 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s) {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ellipse(x, y, s, s);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23A13869-9166-4906-883F-D6D1A824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0200"/>
            <a:ext cx="5212080" cy="210312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BABA1BC9-3B1E-45F9-80B7-BCD8FC83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764792"/>
            <a:ext cx="4663440" cy="1773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 custom function packages drawing code once.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Parameters (x, y, s) make it configurable —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different calls, different results, same code.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8519395F-701C-47B4-BA55-F4031DB0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11064240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78ACC52D-CAC1-442D-A9A1-78223F00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Remember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FB5BEA40-B883-45A9-9EF6-3D3C10FD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45152"/>
            <a:ext cx="10607040" cy="1069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Calling drawShape(60, 200, 40) and drawShape(150, 200, 40) reuses the same function twice with different arguments — no drawing code is duplicated. This lesson asks: what if we need to make many calls like this, following a rule?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82F929AD-3BE8-4820-AFEB-D77991DA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66B10E28-76ED-415E-B1D0-FA86CD68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21279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34EAC5D0-B0C7-4208-AB41-37B5B740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From Repeated Calls to a Loop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102FCE4C-1EDB-4E50-8342-02F6AB97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Before: four separate calls  →  After: one counted loop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05542F93-3170-451F-B5E2-D5FE0CEF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5405B11E-EDFF-44DE-9B07-23E8FE7D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92B1EEC4-D061-4024-B1A7-2C709D8E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BEFORE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CC92BB64-3385-4D92-B58C-BDF91826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10512"/>
            <a:ext cx="5394960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4B25B2CF-F2DD-40E3-A803-2FA019D4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75104"/>
            <a:ext cx="4937760" cy="2505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drawShape(50, 200, 40);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drawShape(140, 200, 40);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drawShape(230, 200, 40);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drawShape(320, 200, 40);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6AFEE947-B7C6-4BDE-B91B-27105E6B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6304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AFTER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0DA8980E-B1C4-42FA-BCB9-BA53489C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10512"/>
            <a:ext cx="5394960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F4837FFD-A1A0-47E7-893C-D6D97750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75104"/>
            <a:ext cx="4937760" cy="2505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0; i &lt; 4; i++)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drawShape(50 + i * 90, 200, 40);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5CE1A9C2-6723-43C1-B51F-DE2C00BB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1106424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EE09AEF5-E8F2-4579-BD69-D441D91D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56632"/>
            <a:ext cx="1060704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Function → packages repeated implementation.   Loop → generates repeated invocations that follow a rule.   The manual calls above use different arguments each time — they're repetitive, not literal duplicates. The two ideas stack.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9B5382BB-54F6-4A6B-AF8B-0C5F45A3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42289519-B81F-4249-BF67-40BF840F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797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07D512D7-C3D1-4B22-AC12-33E4D3CF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Tracing the Loop Variable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D5969768-9A8B-41E8-85EE-C6E9125F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Each pass through the loop, i changes — and so does the x it feeds in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8EE9E196-DD36-4162-A0D0-08FA7168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FB0F436F-971F-4CE8-9FC6-4B4792CE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002D44D7-3BB9-4F07-8259-2421C5E1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20063A37-91D9-4717-AEB0-B3E57BFC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B34BD100-04AD-452E-AF91-9EDCB694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4592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ourier New"/>
              <a:buNone/>
            </a:pPr>
            <a:r>
              <a:rPr sz="1500" b="1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i = 0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702C3F72-1917-4A08-829F-0C6DF4A2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4592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x = 50 + 0 × 90 = 50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F3661AD3-CA97-4FCE-9BC1-51A015C8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>
            <a:extLst xmlns:a="http://schemas.openxmlformats.org/drawingml/2006/main">
              <a:ext uri="{FF2B5EF4-FFF2-40B4-BE49-F238E27FC236}">
                <a16:creationId xmlns:a16="http://schemas.microsoft.com/office/drawing/2014/main" id="{EB0AB5F3-8763-4176-841C-E6A9FFFD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6">
            <a:extLst xmlns:a="http://schemas.openxmlformats.org/drawingml/2006/main">
              <a:ext uri="{FF2B5EF4-FFF2-40B4-BE49-F238E27FC236}">
                <a16:creationId xmlns:a16="http://schemas.microsoft.com/office/drawing/2014/main" id="{04AA37C3-45DE-4355-B28B-EA3D444B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2316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ourier New"/>
              <a:buNone/>
            </a:pPr>
            <a:r>
              <a:rPr sz="1500" b="1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i = 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6">
            <a:extLst xmlns:a="http://schemas.openxmlformats.org/drawingml/2006/main">
              <a:ext uri="{FF2B5EF4-FFF2-40B4-BE49-F238E27FC236}">
                <a16:creationId xmlns:a16="http://schemas.microsoft.com/office/drawing/2014/main" id="{D3C4E8C0-1C2D-4CC0-B976-7CC4F389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42316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x = 50 + 1 × 90 = 140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0386C661-EC62-4386-828B-EEC1777C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461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8729EC3D-5877-473F-8187-1F7D0F50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46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B83BF1B6-F299-49C4-94C2-EDF48B1D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04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ourier New"/>
              <a:buNone/>
            </a:pPr>
            <a:r>
              <a:rPr sz="1500" b="1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i = 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1B718D82-4437-44A4-8216-45E4500E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20040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x = 50 + 2 × 90 = 230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3B40D2C7-ED9C-4B96-BF76-308A60E6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33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2A8A3251-E5B2-4EA3-BFEA-4AE53514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33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631B4905-E471-4690-A27D-D82FBE79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7764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ourier New"/>
              <a:buNone/>
            </a:pPr>
            <a:r>
              <a:rPr sz="1500" b="1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i = 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6">
            <a:extLst xmlns:a="http://schemas.openxmlformats.org/drawingml/2006/main">
              <a:ext uri="{FF2B5EF4-FFF2-40B4-BE49-F238E27FC236}">
                <a16:creationId xmlns:a16="http://schemas.microsoft.com/office/drawing/2014/main" id="{91F6609F-7A1C-49D7-A1DE-4F56E276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97764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x = 50 + 3 × 90 = 320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Google Shape;83;p6">
            <a:extLst xmlns:a="http://schemas.openxmlformats.org/drawingml/2006/main">
              <a:ext uri="{FF2B5EF4-FFF2-40B4-BE49-F238E27FC236}">
                <a16:creationId xmlns:a16="http://schemas.microsoft.com/office/drawing/2014/main" id="{18096EA4-C0DD-4221-88A6-79A63955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600200"/>
            <a:ext cx="4206240" cy="32004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>
            <a:extLst xmlns:a="http://schemas.openxmlformats.org/drawingml/2006/main">
              <a:ext uri="{FF2B5EF4-FFF2-40B4-BE49-F238E27FC236}">
                <a16:creationId xmlns:a16="http://schemas.microsoft.com/office/drawing/2014/main" id="{4001858F-A802-4BF2-AE99-C252C3B9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64792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Loop variable as input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6">
            <a:extLst xmlns:a="http://schemas.openxmlformats.org/drawingml/2006/main">
              <a:ext uri="{FF2B5EF4-FFF2-40B4-BE49-F238E27FC236}">
                <a16:creationId xmlns:a16="http://schemas.microsoft.com/office/drawing/2014/main" id="{F215A50B-F5BB-46D8-9B22-85F3D490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130552"/>
            <a:ext cx="3749040" cy="253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 loop variable i doesn't just count — it's used directly in the arithmetic that produces each shape's x position. That's the whole mechanism behind "loop variables used as input to position" from the syllabus.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6">
            <a:extLst xmlns:a="http://schemas.openxmlformats.org/drawingml/2006/main">
              <a:ext uri="{FF2B5EF4-FFF2-40B4-BE49-F238E27FC236}">
                <a16:creationId xmlns:a16="http://schemas.microsoft.com/office/drawing/2014/main" id="{69167932-C01D-42CD-9D84-4AB570B8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6">
            <a:extLst xmlns:a="http://schemas.openxmlformats.org/drawingml/2006/main">
              <a:ext uri="{FF2B5EF4-FFF2-40B4-BE49-F238E27FC236}">
                <a16:creationId xmlns:a16="http://schemas.microsoft.com/office/drawing/2014/main" id="{E93CA605-CEE0-4255-8C76-D0836026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50004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Google Shape;93;p7">
            <a:extLst xmlns:a="http://schemas.openxmlformats.org/drawingml/2006/main">
              <a:ext uri="{FF2B5EF4-FFF2-40B4-BE49-F238E27FC236}">
                <a16:creationId xmlns:a16="http://schemas.microsoft.com/office/drawing/2014/main" id="{5CFF1E65-3284-40A3-8735-CE4DF436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This Produces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7">
            <a:extLst xmlns:a="http://schemas.openxmlformats.org/drawingml/2006/main">
              <a:ext uri="{FF2B5EF4-FFF2-40B4-BE49-F238E27FC236}">
                <a16:creationId xmlns:a16="http://schemas.microsoft.com/office/drawing/2014/main" id="{FCA9D126-3218-41D1-8F7D-DDA08CE0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Four shapes, evenly spaced, generated by one loop — not four separate lines of code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7">
            <a:extLst xmlns:a="http://schemas.openxmlformats.org/drawingml/2006/main">
              <a:ext uri="{FF2B5EF4-FFF2-40B4-BE49-F238E27FC236}">
                <a16:creationId xmlns:a16="http://schemas.microsoft.com/office/drawing/2014/main" id="{9E8E5A92-825E-4F1C-9573-A76F295A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7">
            <a:extLst xmlns:a="http://schemas.openxmlformats.org/drawingml/2006/main">
              <a:ext uri="{FF2B5EF4-FFF2-40B4-BE49-F238E27FC236}">
                <a16:creationId xmlns:a16="http://schemas.microsoft.com/office/drawing/2014/main" id="{0537C1C9-9A1F-4D52-956E-1DDCF394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7">
            <a:extLst xmlns:a="http://schemas.openxmlformats.org/drawingml/2006/main">
              <a:ext uri="{FF2B5EF4-FFF2-40B4-BE49-F238E27FC236}">
                <a16:creationId xmlns:a16="http://schemas.microsoft.com/office/drawing/2014/main" id="{54183259-4CD2-4939-9080-C90DA8CD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737360"/>
            <a:ext cx="868680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>
            <a:extLst xmlns:a="http://schemas.openxmlformats.org/drawingml/2006/main">
              <a:ext uri="{FF2B5EF4-FFF2-40B4-BE49-F238E27FC236}">
                <a16:creationId xmlns:a16="http://schemas.microsoft.com/office/drawing/2014/main" id="{915CAEC7-39D9-4207-BFFD-5DBD279F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70" y="30632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>
            <a:extLst xmlns:a="http://schemas.openxmlformats.org/drawingml/2006/main">
              <a:ext uri="{FF2B5EF4-FFF2-40B4-BE49-F238E27FC236}">
                <a16:creationId xmlns:a16="http://schemas.microsoft.com/office/drawing/2014/main" id="{9865F068-893D-427C-B882-E89EBEC0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32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>
            <a:extLst xmlns:a="http://schemas.openxmlformats.org/drawingml/2006/main">
              <a:ext uri="{FF2B5EF4-FFF2-40B4-BE49-F238E27FC236}">
                <a16:creationId xmlns:a16="http://schemas.microsoft.com/office/drawing/2014/main" id="{93534186-48EB-4122-A786-898347C2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230" y="30632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>
            <a:extLst xmlns:a="http://schemas.openxmlformats.org/drawingml/2006/main">
              <a:ext uri="{FF2B5EF4-FFF2-40B4-BE49-F238E27FC236}">
                <a16:creationId xmlns:a16="http://schemas.microsoft.com/office/drawing/2014/main" id="{0A8788FC-D4D8-4C8C-BA4F-457666C8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0632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>
            <a:extLst xmlns:a="http://schemas.openxmlformats.org/drawingml/2006/main">
              <a:ext uri="{FF2B5EF4-FFF2-40B4-BE49-F238E27FC236}">
                <a16:creationId xmlns:a16="http://schemas.microsoft.com/office/drawing/2014/main" id="{CD6CBDBE-C130-4259-870D-63103BA9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074920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400 × 400 canvas (to scale)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7">
            <a:extLst xmlns:a="http://schemas.openxmlformats.org/drawingml/2006/main">
              <a:ext uri="{FF2B5EF4-FFF2-40B4-BE49-F238E27FC236}">
                <a16:creationId xmlns:a16="http://schemas.microsoft.com/office/drawing/2014/main" id="{27965000-9933-40B7-BD35-06695D2F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7">
            <a:extLst xmlns:a="http://schemas.openxmlformats.org/drawingml/2006/main">
              <a:ext uri="{FF2B5EF4-FFF2-40B4-BE49-F238E27FC236}">
                <a16:creationId xmlns:a16="http://schemas.microsoft.com/office/drawing/2014/main" id="{BD37F6D6-73F0-4A9F-9B76-1FC75DFD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84971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0C52B6F1-DB21-48F4-8EF5-D5C405CC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A014873D-3BC0-4CFF-A21B-7486D2B2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Two steps: adjust, then construct from scratch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8">
            <a:extLst xmlns:a="http://schemas.openxmlformats.org/drawingml/2006/main">
              <a:ext uri="{FF2B5EF4-FFF2-40B4-BE49-F238E27FC236}">
                <a16:creationId xmlns:a16="http://schemas.microsoft.com/office/drawing/2014/main" id="{03F26D04-CA8F-4F03-AC93-D1243DA2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8">
            <a:extLst xmlns:a="http://schemas.openxmlformats.org/drawingml/2006/main">
              <a:ext uri="{FF2B5EF4-FFF2-40B4-BE49-F238E27FC236}">
                <a16:creationId xmlns:a16="http://schemas.microsoft.com/office/drawing/2014/main" id="{8B35A816-F08B-43CF-AA8A-3E356FFC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8">
            <a:extLst xmlns:a="http://schemas.openxmlformats.org/drawingml/2006/main">
              <a:ext uri="{FF2B5EF4-FFF2-40B4-BE49-F238E27FC236}">
                <a16:creationId xmlns:a16="http://schemas.microsoft.com/office/drawing/2014/main" id="{6513CBFD-15BA-4964-8E90-621BCBB9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39496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>
            <a:extLst xmlns:a="http://schemas.openxmlformats.org/drawingml/2006/main">
              <a:ext uri="{FF2B5EF4-FFF2-40B4-BE49-F238E27FC236}">
                <a16:creationId xmlns:a16="http://schemas.microsoft.com/office/drawing/2014/main" id="{D4F73C3E-30C8-4D1A-BFAC-EBF9A092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1 — Guided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8">
            <a:extLst xmlns:a="http://schemas.openxmlformats.org/drawingml/2006/main">
              <a:ext uri="{FF2B5EF4-FFF2-40B4-BE49-F238E27FC236}">
                <a16:creationId xmlns:a16="http://schemas.microsoft.com/office/drawing/2014/main" id="{5828F01D-BCAD-43AE-A4BE-6E384FD4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0552"/>
            <a:ext cx="4937760" cy="3447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Modify the loop's bound and spacing so it produces a row of 6 shapes instead of 4, evenly spaced across the full 400-pixel canvas width. Keep every shape the same size.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Hint: if you want 6 evenly spaced shapes starting near x = 30, what should the spacing value multiplying i be?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8">
            <a:extLst xmlns:a="http://schemas.openxmlformats.org/drawingml/2006/main">
              <a:ext uri="{FF2B5EF4-FFF2-40B4-BE49-F238E27FC236}">
                <a16:creationId xmlns:a16="http://schemas.microsoft.com/office/drawing/2014/main" id="{E927D7E8-7B21-479E-8FCF-AE9DF7D6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39496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>
            <a:extLst xmlns:a="http://schemas.openxmlformats.org/drawingml/2006/main">
              <a:ext uri="{FF2B5EF4-FFF2-40B4-BE49-F238E27FC236}">
                <a16:creationId xmlns:a16="http://schemas.microsoft.com/office/drawing/2014/main" id="{897E383F-258D-43E6-BE57-C6800DA0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6479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2 — Construct It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8">
            <a:extLst xmlns:a="http://schemas.openxmlformats.org/drawingml/2006/main">
              <a:ext uri="{FF2B5EF4-FFF2-40B4-BE49-F238E27FC236}">
                <a16:creationId xmlns:a16="http://schemas.microsoft.com/office/drawing/2014/main" id="{37EDDCD7-9D4D-4329-8652-420EAF35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30552"/>
            <a:ext cx="4937760" cy="3447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You're given three manual calls: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drawShape(80, 300, 30);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drawShape(160, 300, 30);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drawShape(240, 300, 30);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a single for loop that produces exactly this row — don't just describe it, write the working loop with the correct bound, start value, and spacing.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8">
            <a:extLst xmlns:a="http://schemas.openxmlformats.org/drawingml/2006/main">
              <a:ext uri="{FF2B5EF4-FFF2-40B4-BE49-F238E27FC236}">
                <a16:creationId xmlns:a16="http://schemas.microsoft.com/office/drawing/2014/main" id="{ED3A72C2-24DB-43FE-88FA-CFC26899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8">
            <a:extLst xmlns:a="http://schemas.openxmlformats.org/drawingml/2006/main">
              <a:ext uri="{FF2B5EF4-FFF2-40B4-BE49-F238E27FC236}">
                <a16:creationId xmlns:a16="http://schemas.microsoft.com/office/drawing/2014/main" id="{C6642308-5C1D-4769-9E98-178C3602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34679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Google Shape;127;p9">
            <a:extLst xmlns:a="http://schemas.openxmlformats.org/drawingml/2006/main">
              <a:ext uri="{FF2B5EF4-FFF2-40B4-BE49-F238E27FC236}">
                <a16:creationId xmlns:a16="http://schemas.microsoft.com/office/drawing/2014/main" id="{6A01F521-F52C-4EEF-BBE5-51A6E02A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Google Shape;128;p9">
            <a:extLst xmlns:a="http://schemas.openxmlformats.org/drawingml/2006/main">
              <a:ext uri="{FF2B5EF4-FFF2-40B4-BE49-F238E27FC236}">
                <a16:creationId xmlns:a16="http://schemas.microsoft.com/office/drawing/2014/main" id="{03783974-6CDB-42CD-A342-F9A073A5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What carries forward into Part 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" name="Google Shape;129;p9">
            <a:extLst xmlns:a="http://schemas.openxmlformats.org/drawingml/2006/main">
              <a:ext uri="{FF2B5EF4-FFF2-40B4-BE49-F238E27FC236}">
                <a16:creationId xmlns:a16="http://schemas.microsoft.com/office/drawing/2014/main" id="{BF43CCEA-BB86-4AC8-8621-8AACD7F7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9">
            <a:extLst xmlns:a="http://schemas.openxmlformats.org/drawingml/2006/main">
              <a:ext uri="{FF2B5EF4-FFF2-40B4-BE49-F238E27FC236}">
                <a16:creationId xmlns:a16="http://schemas.microsoft.com/office/drawing/2014/main" id="{D2490599-88AD-4DD2-9CE3-EAEB60D7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" name="Google Shape;131;p9">
            <a:extLst xmlns:a="http://schemas.openxmlformats.org/drawingml/2006/main">
              <a:ext uri="{FF2B5EF4-FFF2-40B4-BE49-F238E27FC236}">
                <a16:creationId xmlns:a16="http://schemas.microsoft.com/office/drawing/2014/main" id="{52FD0F68-4692-44C1-BF13-643E1FCC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>
            <a:extLst xmlns:a="http://schemas.openxmlformats.org/drawingml/2006/main">
              <a:ext uri="{FF2B5EF4-FFF2-40B4-BE49-F238E27FC236}">
                <a16:creationId xmlns:a16="http://schemas.microsoft.com/office/drawing/2014/main" id="{B7AF0B8F-B942-476D-A2DD-F66CF5E1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3" name="Google Shape;133;p9">
            <a:extLst xmlns:a="http://schemas.openxmlformats.org/drawingml/2006/main">
              <a:ext uri="{FF2B5EF4-FFF2-40B4-BE49-F238E27FC236}">
                <a16:creationId xmlns:a16="http://schemas.microsoft.com/office/drawing/2014/main" id="{5DD81FB9-E924-403D-B5DB-BE041130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loop variable can feed directly into a function's parameters. One loop, one line of logic, many results — as long as each result follows the same rule.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4" name="Google Shape;134;p9">
            <a:extLst xmlns:a="http://schemas.openxmlformats.org/drawingml/2006/main">
              <a:ext uri="{FF2B5EF4-FFF2-40B4-BE49-F238E27FC236}">
                <a16:creationId xmlns:a16="http://schemas.microsoft.com/office/drawing/2014/main" id="{B4D463D5-B372-45F0-945E-BB7B6427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>
            <a:extLst xmlns:a="http://schemas.openxmlformats.org/drawingml/2006/main">
              <a:ext uri="{FF2B5EF4-FFF2-40B4-BE49-F238E27FC236}">
                <a16:creationId xmlns:a16="http://schemas.microsoft.com/office/drawing/2014/main" id="{41633893-848E-4D03-AA0E-33731B82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Next lesson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9">
            <a:extLst xmlns:a="http://schemas.openxmlformats.org/drawingml/2006/main">
              <a:ext uri="{FF2B5EF4-FFF2-40B4-BE49-F238E27FC236}">
                <a16:creationId xmlns:a16="http://schemas.microsoft.com/office/drawing/2014/main" id="{E87F34AE-C637-41DE-A27C-519D3C87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What if we want rows AND columns — a genuine grid, not just one row? Part 2 introduces nested loops: a loop inside a loop.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9">
            <a:extLst xmlns:a="http://schemas.openxmlformats.org/drawingml/2006/main">
              <a:ext uri="{FF2B5EF4-FFF2-40B4-BE49-F238E27FC236}">
                <a16:creationId xmlns:a16="http://schemas.microsoft.com/office/drawing/2014/main" id="{4C6861F5-7209-4373-BF0F-4FB80B60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1064240" cy="146304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>
            <a:extLst xmlns:a="http://schemas.openxmlformats.org/drawingml/2006/main">
              <a:ext uri="{FF2B5EF4-FFF2-40B4-BE49-F238E27FC236}">
                <a16:creationId xmlns:a16="http://schemas.microsoft.com/office/drawing/2014/main" id="{BC678A51-4DBE-46BA-AFD7-800170F2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99432"/>
            <a:ext cx="10515600" cy="1133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In this example, one loop varies x along one axis, producing a row.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 loop variable is not just a counter — it's usable data, fed straight into arithmetic.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9" name="Google Shape;139;p9">
            <a:extLst xmlns:a="http://schemas.openxmlformats.org/drawingml/2006/main">
              <a:ext uri="{FF2B5EF4-FFF2-40B4-BE49-F238E27FC236}">
                <a16:creationId xmlns:a16="http://schemas.microsoft.com/office/drawing/2014/main" id="{4925E4A3-600E-4FE2-AD3D-7712BCA5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9">
            <a:extLst xmlns:a="http://schemas.openxmlformats.org/drawingml/2006/main">
              <a:ext uri="{FF2B5EF4-FFF2-40B4-BE49-F238E27FC236}">
                <a16:creationId xmlns:a16="http://schemas.microsoft.com/office/drawing/2014/main" id="{39084A75-4098-4DF3-92B2-A7B74448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259283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2026-08-29T05:48:43.2010000Z</dcterms:created>
  <dcterms:modified xsi:type="dcterms:W3CDTF">2026-08-29T05:48:43.2010000Z</dcterms:modified>
</coreProperties>
</file>