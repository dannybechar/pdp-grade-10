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228209b844f6e" /><Relationship Type="http://schemas.openxmlformats.org/officeDocument/2006/relationships/extended-properties" Target="/docProps/app.xml" Id="Rad7192773f6d4398" /><Relationship Type="http://schemas.openxmlformats.org/officeDocument/2006/relationships/officeDocument" Target="/ppt/presentation.xml" Id="Rb45829dc6c164e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d45742da914571"/>
  </p:sldMasterIdLst>
  <p:notesMasterIdLst>
    <p:notesMasterId xmlns:r="http://schemas.openxmlformats.org/officeDocument/2006/relationships" r:id="Rdf6cfd54002d454f"/>
  </p:notesMasterIdLst>
  <p:sldIdLst>
    <p:sldId xmlns:r="http://schemas.openxmlformats.org/officeDocument/2006/relationships" id="256" r:id="R148f713de0874313"/>
    <p:sldId xmlns:r="http://schemas.openxmlformats.org/officeDocument/2006/relationships" id="257" r:id="R1dc6e45a95024ad7"/>
    <p:sldId xmlns:r="http://schemas.openxmlformats.org/officeDocument/2006/relationships" id="258" r:id="Re01c366301494b5c"/>
    <p:sldId xmlns:r="http://schemas.openxmlformats.org/officeDocument/2006/relationships" id="259" r:id="Rf70927f59c7c4dec"/>
    <p:sldId xmlns:r="http://schemas.openxmlformats.org/officeDocument/2006/relationships" id="260" r:id="R781e0816adeb4a0a"/>
    <p:sldId xmlns:r="http://schemas.openxmlformats.org/officeDocument/2006/relationships" id="261" r:id="Re55afdf60817408e"/>
    <p:sldId xmlns:r="http://schemas.openxmlformats.org/officeDocument/2006/relationships" id="262" r:id="R7d2b97e5667a4a7b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fff477df7409f" /><Relationship Type="http://schemas.openxmlformats.org/officeDocument/2006/relationships/slideMaster" Target="/ppt/slideMasters/slideMaster1.xml" Id="R25d45742da914571" /><Relationship Type="http://schemas.openxmlformats.org/officeDocument/2006/relationships/notesMaster" Target="/ppt/notesMasters/notesMaster1.xml" Id="Rdf6cfd54002d454f" /><Relationship Type="http://schemas.openxmlformats.org/officeDocument/2006/relationships/presProps" Target="/ppt/presProps.xml" Id="Rb590f395cbcf41b1" /><Relationship Type="http://schemas.openxmlformats.org/officeDocument/2006/relationships/tableStyles" Target="/ppt/tableStyles.xml" Id="R84cb27f6ffd6478d" /><Relationship Type="http://schemas.openxmlformats.org/officeDocument/2006/relationships/slide" Target="/ppt/slides/slide1.xml" Id="R148f713de0874313" /><Relationship Type="http://schemas.openxmlformats.org/officeDocument/2006/relationships/slide" Target="/ppt/slides/slide2.xml" Id="R1dc6e45a95024ad7" /><Relationship Type="http://schemas.openxmlformats.org/officeDocument/2006/relationships/slide" Target="/ppt/slides/slide3.xml" Id="Re01c366301494b5c" /><Relationship Type="http://schemas.openxmlformats.org/officeDocument/2006/relationships/slide" Target="/ppt/slides/slide4.xml" Id="Rf70927f59c7c4dec" /><Relationship Type="http://schemas.openxmlformats.org/officeDocument/2006/relationships/slide" Target="/ppt/slides/slide5.xml" Id="R781e0816adeb4a0a" /><Relationship Type="http://schemas.openxmlformats.org/officeDocument/2006/relationships/slide" Target="/ppt/slides/slide6.xml" Id="Re55afdf60817408e" /><Relationship Type="http://schemas.openxmlformats.org/officeDocument/2006/relationships/slide" Target="/ppt/slides/slide7.xml" Id="R7d2b97e5667a4a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c8ac0631eb47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c7473755474034" /><Relationship Type="http://schemas.openxmlformats.org/officeDocument/2006/relationships/notesMaster" Target="/ppt/notesMasters/notesMaster1.xml" Id="R15c0065d64b147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0c9f4c408a466b" /><Relationship Type="http://schemas.openxmlformats.org/officeDocument/2006/relationships/notesMaster" Target="/ppt/notesMasters/notesMaster1.xml" Id="R6620b9f3a10049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7df60e71a542d5" /><Relationship Type="http://schemas.openxmlformats.org/officeDocument/2006/relationships/notesMaster" Target="/ppt/notesMasters/notesMaster1.xml" Id="Raf39faf7aa2441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f02189a6224bf8" /><Relationship Type="http://schemas.openxmlformats.org/officeDocument/2006/relationships/notesMaster" Target="/ppt/notesMasters/notesMaster1.xml" Id="R5aad0dc2a90b41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0e9f601054ac3" /><Relationship Type="http://schemas.openxmlformats.org/officeDocument/2006/relationships/notesMaster" Target="/ppt/notesMasters/notesMaster1.xml" Id="Rb3661aff2360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85df2cac444615" /><Relationship Type="http://schemas.openxmlformats.org/officeDocument/2006/relationships/notesMaster" Target="/ppt/notesMasters/notesMaster1.xml" Id="R458623acb73847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9ecb479ff7475f" /><Relationship Type="http://schemas.openxmlformats.org/officeDocument/2006/relationships/notesMaster" Target="/ppt/notesMasters/notesMaster1.xml" Id="R6bdb28e96a9b46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Begin with one row and ask what must repeat to create several rows.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one loop varies x while y remains fixed. Students identify the property that a second loop must vary.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10 minutes. Convert copied rows to nested loops. Outer row loop chooses y; inner column loop completes every x position for that 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Predict a 3 × 3 grid, then verify count as rows × columns. Keep the diagram tied to loop bounds.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Trace execution order: the entire inner loop finishes before the outer loop advances once.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 minutes. Students modify bounds, predict total shapes, then construct a different rectangular grid from scratch.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why swapping loop nesting changes order but not this static final image.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19b15f2474e35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0156f806804bfe" /><Relationship Type="http://schemas.openxmlformats.org/officeDocument/2006/relationships/slideLayout" Target="/ppt/slideLayouts/slideLayout1.xml" Id="Rae7f230d2f2643a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f230d2f2643a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4ee7e26e5403d" /><Relationship Type="http://schemas.openxmlformats.org/officeDocument/2006/relationships/notesSlide" Target="/ppt/notesSlides/notesSlide1.xml" Id="Ra7335fb7be144b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dacde0037472a" /><Relationship Type="http://schemas.openxmlformats.org/officeDocument/2006/relationships/notesSlide" Target="/ppt/notesSlides/notesSlide2.xml" Id="Ra98101dbb7c94d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00bc87e194602" /><Relationship Type="http://schemas.openxmlformats.org/officeDocument/2006/relationships/notesSlide" Target="/ppt/notesSlides/notesSlide3.xml" Id="Rdc544c4abd64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d1ed9ee714352" /><Relationship Type="http://schemas.openxmlformats.org/officeDocument/2006/relationships/notesSlide" Target="/ppt/notesSlides/notesSlide4.xml" Id="Ra479abe6b2344f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9163ec5ec4cec" /><Relationship Type="http://schemas.openxmlformats.org/officeDocument/2006/relationships/notesSlide" Target="/ppt/notesSlides/notesSlide5.xml" Id="R1ca1793b29d74c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ad3a8c55b4a77" /><Relationship Type="http://schemas.openxmlformats.org/officeDocument/2006/relationships/notesSlide" Target="/ppt/notesSlides/notesSlide6.xml" Id="R0824af3461eb43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36a04f37c4056" /><Relationship Type="http://schemas.openxmlformats.org/officeDocument/2006/relationships/notesSlide" Target="/ppt/notesSlides/notesSlide7.xml" Id="R672410b17e5943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DD0BCF9-AA68-4F99-8F8E-C232F3A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600"/>
              <a:buFont typeface="Calibri"/>
              <a:buNone/>
            </a:pPr>
            <a:r>
              <a:rPr sz="16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B2.2  ·  Parameterized &amp; Procedural Creation</a:t>
            </a:r>
            <a:endParaRPr sz="16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073BAEB4-8183-48D8-B63A-9F8C706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06040"/>
            <a:ext cx="10515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Nested Loops: From Rows to Grids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4EC94F4-86EB-44A9-9EB2-2D8BF2C3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77640"/>
            <a:ext cx="98755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1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loop inside a loop — the outer loop advances rows, the inner loop advances columns.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9364ACAE-B97D-402A-90F4-A3EB7C33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8917961-CC08-4428-B02F-802BC2A9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8686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B1A5FDA9-141D-4FA5-85B4-A2F2DF5A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One Loop, One Row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0AC0C9CC-D7DC-4764-84ED-70481FB0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1: a loop variable feeding a single position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426D9385-8217-46BD-81AA-F3AF14B6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9B3468B-4CBA-4F2B-98DD-9F5D6060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0788EDF-D07E-42FD-A820-67982E8B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48640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F5C0D705-4E4D-42EC-87B4-9701CB8F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5029200" cy="149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500"/>
              <a:buFont typeface="Courier New"/>
              <a:buNone/>
            </a:pP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5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i = 0; i &lt; 4; i++) {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drawShape(50 + i * 90, 200, 40);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ourier New"/>
              <a:buNone/>
            </a:pPr>
            <a:r>
              <a:rPr sz="15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5B69F1B7-B7B2-4ED5-AFC2-5102D64F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5212080" cy="18288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ABC2DC3-5175-4B8F-A592-8AD4995F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64792"/>
            <a:ext cx="4663440" cy="149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One loop variable, one axis.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result: a single row of shapes.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389F61D6-4BD3-43E9-8A03-8B36DCAD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11064240" cy="210312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A155E647-6BA6-481F-99DB-4550ABEA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452E44C2-E9B0-4EF0-9932-FA3FAB44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10607040" cy="143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row only varies position along x. What if we also want to repeat that row itself, several times, at different y values — a genuine grid with rows AND columns?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9BA6A34C-B037-45D9-9CB7-FE5385F4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F444F18D-AFCA-4DB7-90AC-63E82504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5278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F14DAE2B-8EB3-4262-BE2A-8D8693E7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Copy-Pasted Rows to a Nested Loop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A1A1ECE0-EBA9-44F3-B8E0-008233CC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Before: one loop per row, copy-pasted  →  After: a loop inside a loop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0BAF1FCF-724B-4CFB-9C8C-7590BA78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6089266B-0544-4604-8839-9011C36B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051E6618-96D0-42C9-BFF9-041F19B4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BEFORE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296F7C41-FD72-4F94-A170-947358E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19072"/>
            <a:ext cx="539496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6CCFA2C-50D5-41C7-B5F1-7A309059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83664"/>
            <a:ext cx="493776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Row 0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col = 0; col &lt; 3; col++)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ellipse(60 + col * 80, 60, 20, 20);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Row 1 — copy-pasted, y changed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col = 0; col &lt; 3; col++)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ellipse(60 + col * 80, 140, 20, 20);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7DD3A3B5-D9EA-4E4A-8EBD-B9562BE4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41732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sz="12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AFTER</a:t>
            </a:r>
            <a:endParaRPr sz="1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20FB33F1-086A-4086-860F-A8E8EAA8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19072"/>
            <a:ext cx="5394960" cy="301752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35A88289-F6E5-4834-9AB5-064B2F95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83664"/>
            <a:ext cx="4937760" cy="2688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300"/>
              <a:buFont typeface="Courier New"/>
              <a:buNone/>
            </a:pP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row = 0; row &lt; 3; row++)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col = 0; col &lt; 3; col++) {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x = 60 + col * 80;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3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y = 60 + row * 80;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ellipse(x, y, 20, 20);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urier New"/>
              <a:buNone/>
            </a:pPr>
            <a:r>
              <a:rPr sz="13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31B24AA6-4773-4A5B-8A14-E552E24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92040"/>
            <a:ext cx="11064240" cy="105156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96E7D525-03CC-40AD-A4E4-3322E649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56632"/>
            <a:ext cx="106070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"Before" pattern only shows 2 of what would need to be 3 copy-pasted blocks (and more for bigger grids). Nesting removes that copy-paste entirely: the outer loop becomes the thing that used to be repeated by hand.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AB9F0418-3804-4000-B39E-19A4F0AD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8A6F420E-61C8-4D0F-B611-6D9CCE13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3153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3ABD3522-3A8D-4677-8A06-7A874994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a Nested Loop Produces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70581878-3377-44E4-9340-16D76EDD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3×3 grid — nine positions from two loop variables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8BAF0044-57B5-4BB3-9078-8F7A1905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FE6B60CA-6600-4ADB-BBB6-3E465CB4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774113CE-9762-4B68-87AA-E8AF8488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691640"/>
            <a:ext cx="7772400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8892B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68E406F8-BB5D-4E5D-81CA-9DD9C4B7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032657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6724A9B9-09A4-497E-81D5-3711627B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032657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2E3A5735-3E6B-4329-BC01-4FAA65A5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032657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2772565D-DF09-45C1-BBB9-B709766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828723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BD8C9A13-AD71-4CC0-A2D2-203AC4E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828723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7B19CF14-8D8F-413F-8CBF-59DAC2DD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828723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>
            <a:extLst xmlns:a="http://schemas.openxmlformats.org/drawingml/2006/main">
              <a:ext uri="{FF2B5EF4-FFF2-40B4-BE49-F238E27FC236}">
                <a16:creationId xmlns:a16="http://schemas.microsoft.com/office/drawing/2014/main" id="{E783A664-4B9D-4E66-94F9-B1EB9771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624789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>
            <a:extLst xmlns:a="http://schemas.openxmlformats.org/drawingml/2006/main">
              <a:ext uri="{FF2B5EF4-FFF2-40B4-BE49-F238E27FC236}">
                <a16:creationId xmlns:a16="http://schemas.microsoft.com/office/drawing/2014/main" id="{EAED200D-D43D-44EF-8F0C-12EFD9FF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624789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>
            <a:extLst xmlns:a="http://schemas.openxmlformats.org/drawingml/2006/main">
              <a:ext uri="{FF2B5EF4-FFF2-40B4-BE49-F238E27FC236}">
                <a16:creationId xmlns:a16="http://schemas.microsoft.com/office/drawing/2014/main" id="{F3AC2760-02FE-452C-AB5F-D2BC266D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3624789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>
            <a:extLst xmlns:a="http://schemas.openxmlformats.org/drawingml/2006/main">
              <a:ext uri="{FF2B5EF4-FFF2-40B4-BE49-F238E27FC236}">
                <a16:creationId xmlns:a16="http://schemas.microsoft.com/office/drawing/2014/main" id="{93FE972F-C869-4B39-9059-79C215A6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148072"/>
            <a:ext cx="7772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340 × 340 region shown (to scale)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483B0B41-F2E5-40F2-9039-E876A37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A99E2692-DCED-4B2A-A3F2-2806F8FF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4700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9F81F66C-F08D-4660-834A-F3196EB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Tracing the Execution Order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6DFA585A-4E49-42F7-AA34-4F5356CB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The inner loop completes fully before the outer loop advances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AD9DCD20-254E-48B9-8538-1AE6BE70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7">
            <a:extLst xmlns:a="http://schemas.openxmlformats.org/drawingml/2006/main">
              <a:ext uri="{FF2B5EF4-FFF2-40B4-BE49-F238E27FC236}">
                <a16:creationId xmlns:a16="http://schemas.microsoft.com/office/drawing/2014/main" id="{9D004343-9C1A-4798-941C-D904300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7">
            <a:extLst xmlns:a="http://schemas.openxmlformats.org/drawingml/2006/main">
              <a:ext uri="{FF2B5EF4-FFF2-40B4-BE49-F238E27FC236}">
                <a16:creationId xmlns:a16="http://schemas.microsoft.com/office/drawing/2014/main" id="{1B859649-0C76-46A7-B772-233776E8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1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7">
            <a:extLst xmlns:a="http://schemas.openxmlformats.org/drawingml/2006/main">
              <a:ext uri="{FF2B5EF4-FFF2-40B4-BE49-F238E27FC236}">
                <a16:creationId xmlns:a16="http://schemas.microsoft.com/office/drawing/2014/main" id="{613A0E79-935A-43E6-B68C-1316EC2B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645920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row=0, col=0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7">
            <a:extLst xmlns:a="http://schemas.openxmlformats.org/drawingml/2006/main">
              <a:ext uri="{FF2B5EF4-FFF2-40B4-BE49-F238E27FC236}">
                <a16:creationId xmlns:a16="http://schemas.microsoft.com/office/drawing/2014/main" id="{257FB27E-225F-470F-820C-8A42C8A6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645920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(60, 60)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7">
            <a:extLst xmlns:a="http://schemas.openxmlformats.org/drawingml/2006/main">
              <a:ext uri="{FF2B5EF4-FFF2-40B4-BE49-F238E27FC236}">
                <a16:creationId xmlns:a16="http://schemas.microsoft.com/office/drawing/2014/main" id="{95D51FD6-AAF7-462F-9FD9-DC7C753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75104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2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7">
            <a:extLst xmlns:a="http://schemas.openxmlformats.org/drawingml/2006/main">
              <a:ext uri="{FF2B5EF4-FFF2-40B4-BE49-F238E27FC236}">
                <a16:creationId xmlns:a16="http://schemas.microsoft.com/office/drawing/2014/main" id="{82E83B36-5970-4ABD-95E8-EAC7771F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75104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row=0, col=1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7">
            <a:extLst xmlns:a="http://schemas.openxmlformats.org/drawingml/2006/main">
              <a:ext uri="{FF2B5EF4-FFF2-40B4-BE49-F238E27FC236}">
                <a16:creationId xmlns:a16="http://schemas.microsoft.com/office/drawing/2014/main" id="{4990FC21-F55B-492D-A5C3-A0197874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975104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(140, 60)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7">
            <a:extLst xmlns:a="http://schemas.openxmlformats.org/drawingml/2006/main">
              <a:ext uri="{FF2B5EF4-FFF2-40B4-BE49-F238E27FC236}">
                <a16:creationId xmlns:a16="http://schemas.microsoft.com/office/drawing/2014/main" id="{C7AB6E04-0C43-44C1-A6AD-C4FC7BA9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04288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3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7">
            <a:extLst xmlns:a="http://schemas.openxmlformats.org/drawingml/2006/main">
              <a:ext uri="{FF2B5EF4-FFF2-40B4-BE49-F238E27FC236}">
                <a16:creationId xmlns:a16="http://schemas.microsoft.com/office/drawing/2014/main" id="{58274EF3-7803-436E-8FC2-14046B07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row=0, col=2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7">
            <a:extLst xmlns:a="http://schemas.openxmlformats.org/drawingml/2006/main">
              <a:ext uri="{FF2B5EF4-FFF2-40B4-BE49-F238E27FC236}">
                <a16:creationId xmlns:a16="http://schemas.microsoft.com/office/drawing/2014/main" id="{97CB7E3D-7B5E-4119-9BA2-F8007A58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30428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(220, 60)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7">
            <a:extLst xmlns:a="http://schemas.openxmlformats.org/drawingml/2006/main">
              <a:ext uri="{FF2B5EF4-FFF2-40B4-BE49-F238E27FC236}">
                <a16:creationId xmlns:a16="http://schemas.microsoft.com/office/drawing/2014/main" id="{3F21398E-C94E-4045-9B40-8B5804DF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33472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4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7">
            <a:extLst xmlns:a="http://schemas.openxmlformats.org/drawingml/2006/main">
              <a:ext uri="{FF2B5EF4-FFF2-40B4-BE49-F238E27FC236}">
                <a16:creationId xmlns:a16="http://schemas.microsoft.com/office/drawing/2014/main" id="{245EE874-AA40-4408-9F5F-1CDE1FA7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33472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row=1, col=0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7">
            <a:extLst xmlns:a="http://schemas.openxmlformats.org/drawingml/2006/main">
              <a:ext uri="{FF2B5EF4-FFF2-40B4-BE49-F238E27FC236}">
                <a16:creationId xmlns:a16="http://schemas.microsoft.com/office/drawing/2014/main" id="{33A2A71B-907A-4F16-93CF-F346EC65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633472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(60, 140)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" name="Google Shape;101;p7">
            <a:extLst xmlns:a="http://schemas.openxmlformats.org/drawingml/2006/main">
              <a:ext uri="{FF2B5EF4-FFF2-40B4-BE49-F238E27FC236}">
                <a16:creationId xmlns:a16="http://schemas.microsoft.com/office/drawing/2014/main" id="{761DA474-33A0-4799-B64A-F8B30BAE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62656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5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7">
            <a:extLst xmlns:a="http://schemas.openxmlformats.org/drawingml/2006/main">
              <a:ext uri="{FF2B5EF4-FFF2-40B4-BE49-F238E27FC236}">
                <a16:creationId xmlns:a16="http://schemas.microsoft.com/office/drawing/2014/main" id="{A3B6745A-87D7-4E44-9C77-D83D31D3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62656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row=1, col=1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7">
            <a:extLst xmlns:a="http://schemas.openxmlformats.org/drawingml/2006/main">
              <a:ext uri="{FF2B5EF4-FFF2-40B4-BE49-F238E27FC236}">
                <a16:creationId xmlns:a16="http://schemas.microsoft.com/office/drawing/2014/main" id="{CB8B08EF-7C7A-43F9-A2E2-06FD4DAD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962656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(140, 140)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7">
            <a:extLst xmlns:a="http://schemas.openxmlformats.org/drawingml/2006/main">
              <a:ext uri="{FF2B5EF4-FFF2-40B4-BE49-F238E27FC236}">
                <a16:creationId xmlns:a16="http://schemas.microsoft.com/office/drawing/2014/main" id="{A48D9D02-E733-46F5-80BA-AFA5C5AF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6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7">
            <a:extLst xmlns:a="http://schemas.openxmlformats.org/drawingml/2006/main">
              <a:ext uri="{FF2B5EF4-FFF2-40B4-BE49-F238E27FC236}">
                <a16:creationId xmlns:a16="http://schemas.microsoft.com/office/drawing/2014/main" id="{92129141-04D5-4F4B-84AB-EF17E49A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291840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row=1, col=2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7">
            <a:extLst xmlns:a="http://schemas.openxmlformats.org/drawingml/2006/main">
              <a:ext uri="{FF2B5EF4-FFF2-40B4-BE49-F238E27FC236}">
                <a16:creationId xmlns:a16="http://schemas.microsoft.com/office/drawing/2014/main" id="{91CDB88C-EA7B-4C63-BD13-4CC81B39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291840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(220, 140)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23A2B48B-2D43-4B63-BD49-18251C41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21024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7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3D08F9AE-AEB2-4964-8C18-9A0D5A8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621024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row=2, col=0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AE8CAA46-76D8-4B98-978D-B5EA2CD1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621024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(60, 220)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77C49CB3-3256-4711-878E-81DCF747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50208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8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065BF851-D4A2-4D5B-A637-A544DE1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50208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row=2, col=1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7">
            <a:extLst xmlns:a="http://schemas.openxmlformats.org/drawingml/2006/main">
              <a:ext uri="{FF2B5EF4-FFF2-40B4-BE49-F238E27FC236}">
                <a16:creationId xmlns:a16="http://schemas.microsoft.com/office/drawing/2014/main" id="{B976364F-27BB-4429-8686-7963B9E2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950208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(140, 220)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7D723261-F92F-46E2-A9E6-CC73008C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92"/>
            <a:ext cx="4572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9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10A8B1A4-BC0D-4D7E-870B-78355CB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279392"/>
            <a:ext cx="24688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row=2, col=2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7DF1BFFB-5E6F-4F41-B34D-8503A9F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279392"/>
            <a:ext cx="182880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3B4A78"/>
                </a:solidFill>
                <a:latin typeface="Courier New"/>
                <a:ea typeface="Courier New"/>
                <a:cs typeface="Courier New"/>
              </a:rPr>
              <a:t>(220, 220)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CF4079A4-D6AA-49BF-A657-32EECA2B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600200"/>
            <a:ext cx="484632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78AD7430-8F2E-43BF-B5C2-2021DEAE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64792"/>
            <a:ext cx="43891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For this rectangular grid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02779762-3E60-417B-BD1D-4AAA874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130552"/>
            <a:ext cx="4389120" cy="253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Total cells = number of rows × number of columns → 3 × 3 = 9.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works because every row here has the same number of columns. It's a property of this kind of fixed-rectangular nested loop — not a general rule for every nested loop you'll ever see.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2E9C0AC4-3E9E-4B63-B81E-C85D68C7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B9E8B172-392F-4726-8490-D43A3330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0973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013EDEB7-A772-4BF4-AFD6-85409850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1F4B91E9-B230-4058-8C67-33EEC8F0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Two steps: adjust the grid, then build one from scratch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AC83D59B-0EDF-4A7C-9C7F-0DC88A70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E5ECB0A1-6AD0-40F2-A9D6-D043C4D5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6948319B-63E5-4D57-ACF1-020ED07D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>
            <a:extLst xmlns:a="http://schemas.openxmlformats.org/drawingml/2006/main">
              <a:ext uri="{FF2B5EF4-FFF2-40B4-BE49-F238E27FC236}">
                <a16:creationId xmlns:a16="http://schemas.microsoft.com/office/drawing/2014/main" id="{29914E98-C24B-4775-9878-DCEA020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—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A97805EC-B018-4BA8-85A7-9A0849B9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Change the loop bounds so the grid produces 4 rows and 5 columns instead of 3×3.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Before running it, predict: how many total shapes will this draw? Check your prediction against the rendered output.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F110BA10-2289-4BBC-96C0-31FE54A9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00200"/>
            <a:ext cx="5394960" cy="411480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CDC108D2-6FA5-4717-806E-3CE34AF1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2 — Construct It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8EE4E324-8F05-44E6-BC37-B9020852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130552"/>
            <a:ext cx="4937760" cy="3447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a complete nested loop from scratch that draws a 3×6 grid (3 rows, 6 columns) of shapes.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Choose your own spacing so the whole grid fits inside a 400×400 canvas with a comfortable margin — don't just copy the bounds from Step 1.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9BD93B60-7D93-454C-8663-90584234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C3606C5F-9F37-4078-9224-87A4ED71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21147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9">
            <a:extLst xmlns:a="http://schemas.openxmlformats.org/drawingml/2006/main">
              <a:ext uri="{FF2B5EF4-FFF2-40B4-BE49-F238E27FC236}">
                <a16:creationId xmlns:a16="http://schemas.microsoft.com/office/drawing/2014/main" id="{78C87886-78BB-4502-914F-561732F7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11064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" name="Google Shape;144;p9">
            <a:extLst xmlns:a="http://schemas.openxmlformats.org/drawingml/2006/main">
              <a:ext uri="{FF2B5EF4-FFF2-40B4-BE49-F238E27FC236}">
                <a16:creationId xmlns:a16="http://schemas.microsoft.com/office/drawing/2014/main" id="{B54E678D-676F-4CAE-A375-74605EA6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41248"/>
            <a:ext cx="11064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carries forward into Part 3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5" name="Google Shape;145;p9">
            <a:extLst xmlns:a="http://schemas.openxmlformats.org/drawingml/2006/main">
              <a:ext uri="{FF2B5EF4-FFF2-40B4-BE49-F238E27FC236}">
                <a16:creationId xmlns:a16="http://schemas.microsoft.com/office/drawing/2014/main" id="{A1BF47E4-7C5C-47B9-B19D-5AE60A43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9">
            <a:extLst xmlns:a="http://schemas.openxmlformats.org/drawingml/2006/main">
              <a:ext uri="{FF2B5EF4-FFF2-40B4-BE49-F238E27FC236}">
                <a16:creationId xmlns:a16="http://schemas.microsoft.com/office/drawing/2014/main" id="{49154F69-78CA-441F-923D-9C3A7F03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7" name="Google Shape;147;p9">
            <a:extLst xmlns:a="http://schemas.openxmlformats.org/drawingml/2006/main">
              <a:ext uri="{FF2B5EF4-FFF2-40B4-BE49-F238E27FC236}">
                <a16:creationId xmlns:a16="http://schemas.microsoft.com/office/drawing/2014/main" id="{6E65F2DC-0D94-4358-87BB-FCFB8657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1E276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>
            <a:extLst xmlns:a="http://schemas.openxmlformats.org/drawingml/2006/main">
              <a:ext uri="{FF2B5EF4-FFF2-40B4-BE49-F238E27FC236}">
                <a16:creationId xmlns:a16="http://schemas.microsoft.com/office/drawing/2014/main" id="{0B6ACC9A-E8CC-491B-A5D6-3F839A9B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9" name="Google Shape;149;p9">
            <a:extLst xmlns:a="http://schemas.openxmlformats.org/drawingml/2006/main">
              <a:ext uri="{FF2B5EF4-FFF2-40B4-BE49-F238E27FC236}">
                <a16:creationId xmlns:a16="http://schemas.microsoft.com/office/drawing/2014/main" id="{BF5068B0-9AD6-45BF-93C9-3768B2D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Two loop variables — one outer, one inner — are enough to describe every position in a grid. The inner loop finishes completely before the outer loop moves 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0" name="Google Shape;150;p9">
            <a:extLst xmlns:a="http://schemas.openxmlformats.org/drawingml/2006/main">
              <a:ext uri="{FF2B5EF4-FFF2-40B4-BE49-F238E27FC236}">
                <a16:creationId xmlns:a16="http://schemas.microsoft.com/office/drawing/2014/main" id="{0586EF7D-7FBB-4169-BCC8-AC54A7B9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237744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9050" cmpd="sng">
            <a:solidFill>
              <a:srgbClr val="E8A33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AC499C4D-62C8-4A5F-B2E1-5967B4DD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195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Next lesson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ECFB512C-A32C-4A67-AC53-6C86E332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67712"/>
            <a:ext cx="4937760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Right now every cell in the grid looks the same. Part 3 makes the grid feel like a deliberate pattern by having another configurable property — like size — vary systematically too, alongside position.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3C04564F-40B3-43FA-B4E5-843B3FB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34840"/>
            <a:ext cx="1106424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21EC61A2-4DC8-466D-A87C-125F6A18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99432"/>
            <a:ext cx="10515600" cy="1133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77800" marR="0" lvl="0" indent="-1778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Nesting = a complete loop inside another loop's body.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7800" marR="0" lvl="0" indent="-1778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row and col together can drive both x and y at once.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7DC3022A-8932-430B-91D8-AB92891C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44652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Creative Programming • 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1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 • B2.2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278B5891-EAFF-49E1-B89E-8C288FA7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5455" y="64465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8030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2026-08-29T05:48:47.6860000Z</dcterms:created>
  <dcterms:modified xsi:type="dcterms:W3CDTF">2026-08-29T05:48:47.6860000Z</dcterms:modified>
</coreProperties>
</file>