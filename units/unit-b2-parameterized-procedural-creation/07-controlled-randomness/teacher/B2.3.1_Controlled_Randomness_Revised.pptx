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aa80fd8a794ff3" /><Relationship Type="http://schemas.openxmlformats.org/officeDocument/2006/relationships/extended-properties" Target="/docProps/app.xml" Id="Rb129416870ba423e" /><Relationship Type="http://schemas.openxmlformats.org/officeDocument/2006/relationships/officeDocument" Target="/ppt/presentation.xml" Id="R605869ba19db49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6394adec3b4258"/>
  </p:sldMasterIdLst>
  <p:notesMasterIdLst>
    <p:notesMasterId xmlns:r="http://schemas.openxmlformats.org/officeDocument/2006/relationships" r:id="R7bf14c4cb7bf4d25"/>
  </p:notesMasterIdLst>
  <p:sldIdLst>
    <p:sldId xmlns:r="http://schemas.openxmlformats.org/officeDocument/2006/relationships" id="256" r:id="Rb78476807ecf4871"/>
    <p:sldId xmlns:r="http://schemas.openxmlformats.org/officeDocument/2006/relationships" id="257" r:id="Rd2d349c5bc3149a9"/>
    <p:sldId xmlns:r="http://schemas.openxmlformats.org/officeDocument/2006/relationships" id="258" r:id="R29669fc538454d6e"/>
    <p:sldId xmlns:r="http://schemas.openxmlformats.org/officeDocument/2006/relationships" id="259" r:id="R72e24b2866944e9f"/>
    <p:sldId xmlns:r="http://schemas.openxmlformats.org/officeDocument/2006/relationships" id="260" r:id="R3c79c19fa60445ed"/>
    <p:sldId xmlns:r="http://schemas.openxmlformats.org/officeDocument/2006/relationships" id="261" r:id="Rfaf81727388445d2"/>
    <p:sldId xmlns:r="http://schemas.openxmlformats.org/officeDocument/2006/relationships" id="262" r:id="Rfc519d32ae7d42c5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b5860e0023492f" /><Relationship Type="http://schemas.openxmlformats.org/officeDocument/2006/relationships/slideMaster" Target="/ppt/slideMasters/slideMaster1.xml" Id="R6d6394adec3b4258" /><Relationship Type="http://schemas.openxmlformats.org/officeDocument/2006/relationships/notesMaster" Target="/ppt/notesMasters/notesMaster1.xml" Id="R7bf14c4cb7bf4d25" /><Relationship Type="http://schemas.openxmlformats.org/officeDocument/2006/relationships/presProps" Target="/ppt/presProps.xml" Id="R95c533a7ea724f93" /><Relationship Type="http://schemas.openxmlformats.org/officeDocument/2006/relationships/tableStyles" Target="/ppt/tableStyles.xml" Id="Rd9f51cdda2c949bc" /><Relationship Type="http://schemas.openxmlformats.org/officeDocument/2006/relationships/slide" Target="/ppt/slides/slide1.xml" Id="Rb78476807ecf4871" /><Relationship Type="http://schemas.openxmlformats.org/officeDocument/2006/relationships/slide" Target="/ppt/slides/slide2.xml" Id="Rd2d349c5bc3149a9" /><Relationship Type="http://schemas.openxmlformats.org/officeDocument/2006/relationships/slide" Target="/ppt/slides/slide3.xml" Id="R29669fc538454d6e" /><Relationship Type="http://schemas.openxmlformats.org/officeDocument/2006/relationships/slide" Target="/ppt/slides/slide4.xml" Id="R72e24b2866944e9f" /><Relationship Type="http://schemas.openxmlformats.org/officeDocument/2006/relationships/slide" Target="/ppt/slides/slide5.xml" Id="R3c79c19fa60445ed" /><Relationship Type="http://schemas.openxmlformats.org/officeDocument/2006/relationships/slide" Target="/ppt/slides/slide6.xml" Id="Rfaf81727388445d2" /><Relationship Type="http://schemas.openxmlformats.org/officeDocument/2006/relationships/slide" Target="/ppt/slides/slide7.xml" Id="Rfc519d32ae7d42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6d100401b04d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c8d473129548b8" /><Relationship Type="http://schemas.openxmlformats.org/officeDocument/2006/relationships/notesMaster" Target="/ppt/notesMasters/notesMaster1.xml" Id="R6e65ed47aa4649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c5663c0fd4673" /><Relationship Type="http://schemas.openxmlformats.org/officeDocument/2006/relationships/notesMaster" Target="/ppt/notesMasters/notesMaster1.xml" Id="R2608b73976e841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6edb164aba4133" /><Relationship Type="http://schemas.openxmlformats.org/officeDocument/2006/relationships/notesMaster" Target="/ppt/notesMasters/notesMaster1.xml" Id="R2316d45f8e6649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c3bcb2481f4fd3" /><Relationship Type="http://schemas.openxmlformats.org/officeDocument/2006/relationships/notesMaster" Target="/ppt/notesMasters/notesMaster1.xml" Id="Rd7ad7f6926f741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6e911742894504" /><Relationship Type="http://schemas.openxmlformats.org/officeDocument/2006/relationships/notesMaster" Target="/ppt/notesMasters/notesMaster1.xml" Id="R77a99a5dd2eb4b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f20f4d514b4a28" /><Relationship Type="http://schemas.openxmlformats.org/officeDocument/2006/relationships/notesMaster" Target="/ppt/notesMasters/notesMaster1.xml" Id="R62d601ff33f94f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f0e5db1884540" /><Relationship Type="http://schemas.openxmlformats.org/officeDocument/2006/relationships/notesMaster" Target="/ppt/notesMasters/notesMaster1.xml" Id="R5b7c4aff118745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Contrast a systematic loop-variable rule with a value selected randomly inside deliberate bounds.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the loop controls count; random() controls selected properties. Other properties remain fixed unless changed explicitly.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Model random position and cast deliberately where an int is required. Explain lower-inclusive and upper-exclusive behaviour without overloading notation.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Extend to size and grayscale. Keep ranges safe enough that shapes remain visible and mostly within the canvas.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Use the output to discuss bounds: large radius near an edge can clip even when its centre is inside the canvas.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tighten one range, predict the effect, then construct their own controlled ranges for count, position, size, and shade.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separate what the loop guarantees from what random() varies.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587e801a94407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34c253f3da4152" /><Relationship Type="http://schemas.openxmlformats.org/officeDocument/2006/relationships/slideLayout" Target="/ppt/slideLayouts/slideLayout1.xml" Id="R5bd84e2f17c2495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d84e2f17c2495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22dfd2cf54259" /><Relationship Type="http://schemas.openxmlformats.org/officeDocument/2006/relationships/notesSlide" Target="/ppt/notesSlides/notesSlide1.xml" Id="Rb4a502051a62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78bba8a4b4a8c" /><Relationship Type="http://schemas.openxmlformats.org/officeDocument/2006/relationships/notesSlide" Target="/ppt/notesSlides/notesSlide2.xml" Id="Rbaeeea91a8754f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6b20377654c69" /><Relationship Type="http://schemas.openxmlformats.org/officeDocument/2006/relationships/notesSlide" Target="/ppt/notesSlides/notesSlide3.xml" Id="R11ac3cc30f5e44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0b232caeb40e5" /><Relationship Type="http://schemas.openxmlformats.org/officeDocument/2006/relationships/notesSlide" Target="/ppt/notesSlides/notesSlide4.xml" Id="R255504a8ed5146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9cc8029174721" /><Relationship Type="http://schemas.openxmlformats.org/officeDocument/2006/relationships/notesSlide" Target="/ppt/notesSlides/notesSlide5.xml" Id="R2d937bb05ae34f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13526e7b94252" /><Relationship Type="http://schemas.openxmlformats.org/officeDocument/2006/relationships/notesSlide" Target="/ppt/notesSlides/notesSlide6.xml" Id="R216118a6555c42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488a9de2f45a3" /><Relationship Type="http://schemas.openxmlformats.org/officeDocument/2006/relationships/notesSlide" Target="/ppt/notesSlides/notesSlide7.xml" Id="R9baf996041524c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19CD64A8-37FF-462E-AAF8-26E359A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B2.3  ·  Parameterized &amp; Procedural Creation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9A7A774B-542A-41E9-8B37-2AF7C6B6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Random Values Within Controlled Ranges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01F8A9AA-73A9-4721-A392-242E3A48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Using random(low, high) to vary position, size, and colour — deliberately, within bounds you choose.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EB0F8E73-9AF8-47A0-8988-E5BC387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CA4D156-8D75-4EAE-A660-AB33FE9D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7402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BB716A71-0A30-4484-B700-06B719FF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Two Familiar Threads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81C1C5EF-862D-423E-B1D4-868635D4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B2.1 and B2.2 — about to be varied differently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D5E6353-32C8-4E8F-A082-E764ADB6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BCF50C7E-570F-4E1A-9721-2DD0E051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A496E821-FA59-45E4-944F-BE946368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48640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36001BFD-9C04-4B32-8792-71B515B6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5029200" cy="1773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drawShape(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x,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y,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ellipse(x, y, s, s);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9E34CEE-E0F4-4B82-BA07-EE66DC81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521208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1EAA3220-AC31-4ED1-A5F0-F404BE45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64792"/>
            <a:ext cx="4663440" cy="1773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custom function packages drawing code.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loop can generate several calls to it.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Values we deliberately varied followed systematic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rules (often a loop variable) — others stayed fixed.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773B4705-1355-48D8-B9B0-2212F63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1106424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39E8B28E-85A5-4ADD-8D98-459D93C8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shift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EB3BE9DB-02F4-4622-8155-D6B8250B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45152"/>
            <a:ext cx="10607040" cy="1069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What if a value isn't determined by a systematic loop-variable rule, but is chosen randomly — within bounds we still control? random(low, high) does exactly that.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6B7E81E0-4F13-4BA9-8484-F01D741C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A5AEC2D2-F21A-4D80-9F14-D73D84B8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033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EAC00A72-E6F6-4349-ADB8-A9E3618B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Random Position, Within Bounds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75E1A8F0-000E-4993-B02B-1A2B39AD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random(low, high) returns a float — casting it to int makes it usable here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DBA49E8E-7C60-4D83-BCD5-BE8E3CD2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18554BF8-8BAC-4E48-A80B-97AD6287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792FD40F-C812-45A7-9D4A-2B564701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B3487307-FF3F-4FEB-AE30-E3061180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6; i++)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random(40, 360);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 =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random(40, 360);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drawShape(x, y, 30);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2CBEB9C-CF0D-4DB4-B2A2-B02E530A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B6D050D3-7D1E-4D43-B0F8-DCA30D54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Quick technical note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0E69ED4D-E0D1-4864-BC86-5E624DE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235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random(40, 360) always returns a float, in the range 40 up to (but not including) 360. Since x and y are int here, (int) converts it — an ordinary Java cast, the same kind you'd use anywhere a float needs to become an int.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382154AE-C474-4136-AFE5-A2211D0D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110642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17CD66A2-520D-4C41-9AB9-7198198B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65192"/>
            <a:ext cx="10607040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Every value here — x, y — is chosen independently at random, each time the loop runs. size stays fixed at 30 for now.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51E7E15E-9B66-4F60-BCBE-83781DAE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88484169-224B-4F58-8CE5-EFB1EECD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2523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B17A9281-3C6A-42B4-9305-010AFAD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Extending Randomness to Size and Colour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BA9693A0-13F2-45E3-A9B8-EFAFEB1D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Random size and grayscale, each within its own controlled range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5795F0D8-9E61-4BFB-85E1-CD3A7E7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C82B78DB-E2F9-4009-B00F-7DFBE54D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F5C0EBF9-1140-49D0-BC58-6B2085A8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F551361D-64ED-48F6-A52D-3A7BC9E5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50"/>
              <a:buFont typeface="Courier New"/>
              <a:buNone/>
            </a:pP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(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random(40, 360);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50"/>
              <a:buFont typeface="Courier New"/>
              <a:buNone/>
            </a:pP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 = (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random(40, 360);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50"/>
              <a:buFont typeface="Courier New"/>
              <a:buNone/>
            </a:pP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 = (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random(15, 50);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50"/>
              <a:buFont typeface="Courier New"/>
              <a:buNone/>
            </a:pP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g = (</a:t>
            </a:r>
            <a:r>
              <a:rPr sz="14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random(50, 230);  </a:t>
            </a:r>
            <a:r>
              <a:rPr sz="145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grayscale value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fill(g);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ourier New"/>
              <a:buNone/>
            </a:pPr>
            <a:r>
              <a:rPr sz="14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drawShape(x, y, s);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03D785B6-7DB5-4656-A11C-47236B0D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51F8C060-37A1-4712-B3B0-5197D0F9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Still grayscale only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CF156426-3000-4EF8-B02C-431309A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235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g is fed straight into fill(int) — the same grayscale pattern used throughout this course. No RGB, no color datatype. Just a random choice of grayscale value, kept away from pure black/white extremes (50-229, not the full 0-255 range).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4ECA7A06-AA04-4734-969A-5B3F32EF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AE550686-032F-448C-83AA-9C542ED5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3605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416F83AA-312C-479C-A519-C1B57CFB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This Produces — and Why the Bounds Matter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9D70BB22-5BE0-4870-BFDF-732DB157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Runs usually look different, but every shape stays fully on-canvas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C5262E27-FB91-4315-B45D-CDEE5B82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7029802C-0EF0-4F46-A3D6-68091EA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376D24DC-3B8E-4E31-9DD1-7F479220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45920"/>
            <a:ext cx="5486400" cy="4297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69FAA6CD-92E9-4E65-998B-1A403F6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964" y="2462022"/>
            <a:ext cx="301752" cy="301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71EA85BF-126E-45F5-8415-AC3B3D17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50542"/>
            <a:ext cx="480060" cy="480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563B64F0-536B-4B46-9DA4-FE7FDB8F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156" y="5175504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A47D3225-6E8E-4739-9D1D-A8187506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48920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719CEAFF-EA7C-49F2-AA66-F4E856D3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16509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4CD9385C-03DC-4E05-BA0C-501789E1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41528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8366AC97-ADBE-4445-9D4D-6CE0D5F9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9893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One run (to scale, 400×400)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DF25D0EC-8771-40B4-9D35-3D6CF7C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45920"/>
            <a:ext cx="4663440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EF8A6004-18D5-4A89-9FEB-562AD6BD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10512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Why 40 and 360, not 0 and 400?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69B7FA54-3B82-435A-8B4F-2D0F6FBF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76272"/>
            <a:ext cx="4206240" cy="3630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largest possible shape here has size up to 49 (random(15, 50) is exclusive of 50) — radius about 24.5. A shape centred at x=359 (the largest x random(40,360) can produce) still has its right edge at 359+24.5 ≈ 383.5, safely on a 400-wide canvas. Centred near x=0 or x=400, it would clip.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This bound is specific to a size-up-to-49 shape on THIS canvas — a bigger shape, or a smaller canvas, would need different bounds. "Controlled" means chosen for a reason, not copied from an example.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5DBAAD2D-A861-4604-BE91-F43B994E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C9ECF83E-7595-4BAC-8851-B3D0D48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2253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0613E824-F093-4E4C-9866-22BB1417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A8EB6444-43D1-4FC1-AC7F-E74367BD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steps: adjust the bounds, then design your own ranges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FEC5F2D2-EAD5-466B-A4D1-90CD5B4A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4AC81F12-C409-40F6-941C-A01C6B0C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407CEC8E-15C7-44C2-9DF7-3C4F3B1D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441122C9-C01B-4F70-94F7-4BEE0C9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—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5CF12B23-0856-4CC2-A8B1-AF0491F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Change the position bounds so all 6 shapes generate only within a 250×250 region in the top-left corner of the canvas, instead of across the full canvas.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Explain in your own words what had to change, and why those specific new numbers keep shapes fully inside that smaller region.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F47FFB71-A89F-49CE-B0E6-3FCCFBB6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12823CCF-98B1-4A23-A620-72DB7AE9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2 — 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54F8A3ED-2C87-45BE-9F4B-F564258F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a complete loop from scratch that draws 8 shapes with: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• random size, in a range you choose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• random grayscale fill, in a range you choose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• position that is NOT random — evenly spaced along one row instead.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 choose both ranges. Be ready to justify why your bounds keep every shape sensible.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AAD00C37-F785-4D9D-87E4-DD73421A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313C883F-BAFF-45DB-A7AA-BAC586EC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8955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A6937FC3-16C2-4915-996C-A0FD933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9EAC264D-EDAE-4FF3-80F2-0A36BBBB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carries forward into Part 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AE658368-16C5-4BA3-8DDF-17157E3A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5FCF551D-65D9-4E9E-8166-B0F18231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BC208B48-F4FA-4E49-8507-4F3059E7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3B36E1D7-4B96-48A1-AA4B-ECA70002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4B58AF88-1C9D-4713-BF9E-EF08C0B6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random(low, high) returns a float within a range you choose; casting with (int) makes it usable wherever this project's code expects an int. Choosing the range is a design decision, not just syntax.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7D867A72-E297-47F1-BA3C-150757B0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31F7490E-6B8C-4A8C-8411-C5A9F1AA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DD99BFD2-0F27-47C4-8DEA-588CFD8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Every time this code runs, it looks different — but is it really unpredictable? Part 2 looks at what stays the same across runs, and what a program's "structure" really means.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1E1D04DE-A4DF-450F-B144-D466F348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FBC21165-6A18-4926-A6EA-31930D7C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random() always returns float — (int) converts it when needed.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controlled range is chosen for a specific reason, not copied from an example.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0EFA5262-E944-49E1-B337-62EAF2A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718F1CF9-33F2-4F42-9E7A-1B7C569F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15636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2026-08-29T05:48:53.6210000Z</dcterms:created>
  <dcterms:modified xsi:type="dcterms:W3CDTF">2026-08-29T05:48:53.6210000Z</dcterms:modified>
</coreProperties>
</file>