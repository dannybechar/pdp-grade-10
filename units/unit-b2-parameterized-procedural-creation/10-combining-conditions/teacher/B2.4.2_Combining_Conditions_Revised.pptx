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917d2a72024e62" /><Relationship Type="http://schemas.openxmlformats.org/officeDocument/2006/relationships/extended-properties" Target="/docProps/app.xml" Id="R92ca58dc04084e78" /><Relationship Type="http://schemas.openxmlformats.org/officeDocument/2006/relationships/officeDocument" Target="/ppt/presentation.xml" Id="R0c792a6a95c34f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fe3adcf07b4f52"/>
  </p:sldMasterIdLst>
  <p:notesMasterIdLst>
    <p:notesMasterId xmlns:r="http://schemas.openxmlformats.org/officeDocument/2006/relationships" r:id="Rf730fcbe7aec4224"/>
  </p:notesMasterIdLst>
  <p:sldIdLst>
    <p:sldId xmlns:r="http://schemas.openxmlformats.org/officeDocument/2006/relationships" id="256" r:id="R51a3164e279b4784"/>
    <p:sldId xmlns:r="http://schemas.openxmlformats.org/officeDocument/2006/relationships" id="257" r:id="R25d48ea735a24f53"/>
    <p:sldId xmlns:r="http://schemas.openxmlformats.org/officeDocument/2006/relationships" id="258" r:id="Rc680cdb6f77b4c8c"/>
    <p:sldId xmlns:r="http://schemas.openxmlformats.org/officeDocument/2006/relationships" id="259" r:id="Rd3a7a2f2ab9a408e"/>
    <p:sldId xmlns:r="http://schemas.openxmlformats.org/officeDocument/2006/relationships" id="260" r:id="R5f5cfd2f83884661"/>
    <p:sldId xmlns:r="http://schemas.openxmlformats.org/officeDocument/2006/relationships" id="261" r:id="Rdbcdede0e89b4493"/>
    <p:sldId xmlns:r="http://schemas.openxmlformats.org/officeDocument/2006/relationships" id="262" r:id="Rd343397a06af4bfe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235a23f7454a90" /><Relationship Type="http://schemas.openxmlformats.org/officeDocument/2006/relationships/slideMaster" Target="/ppt/slideMasters/slideMaster1.xml" Id="R1afe3adcf07b4f52" /><Relationship Type="http://schemas.openxmlformats.org/officeDocument/2006/relationships/notesMaster" Target="/ppt/notesMasters/notesMaster1.xml" Id="Rf730fcbe7aec4224" /><Relationship Type="http://schemas.openxmlformats.org/officeDocument/2006/relationships/presProps" Target="/ppt/presProps.xml" Id="Rf9b72791917941db" /><Relationship Type="http://schemas.openxmlformats.org/officeDocument/2006/relationships/tableStyles" Target="/ppt/tableStyles.xml" Id="Rc54b217b02d743af" /><Relationship Type="http://schemas.openxmlformats.org/officeDocument/2006/relationships/slide" Target="/ppt/slides/slide1.xml" Id="R51a3164e279b4784" /><Relationship Type="http://schemas.openxmlformats.org/officeDocument/2006/relationships/slide" Target="/ppt/slides/slide2.xml" Id="R25d48ea735a24f53" /><Relationship Type="http://schemas.openxmlformats.org/officeDocument/2006/relationships/slide" Target="/ppt/slides/slide3.xml" Id="Rc680cdb6f77b4c8c" /><Relationship Type="http://schemas.openxmlformats.org/officeDocument/2006/relationships/slide" Target="/ppt/slides/slide4.xml" Id="Rd3a7a2f2ab9a408e" /><Relationship Type="http://schemas.openxmlformats.org/officeDocument/2006/relationships/slide" Target="/ppt/slides/slide5.xml" Id="R5f5cfd2f83884661" /><Relationship Type="http://schemas.openxmlformats.org/officeDocument/2006/relationships/slide" Target="/ppt/slides/slide6.xml" Id="Rdbcdede0e89b4493" /><Relationship Type="http://schemas.openxmlformats.org/officeDocument/2006/relationships/slide" Target="/ppt/slides/slide7.xml" Id="Rd343397a06af4b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f5f7494d434d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bcabc29f844a76" /><Relationship Type="http://schemas.openxmlformats.org/officeDocument/2006/relationships/notesMaster" Target="/ppt/notesMasters/notesMaster1.xml" Id="R8ad7792aa0914c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4aaab047934b51" /><Relationship Type="http://schemas.openxmlformats.org/officeDocument/2006/relationships/notesMaster" Target="/ppt/notesMasters/notesMaster1.xml" Id="R498f6e8a6ab642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50272ce28c45cd" /><Relationship Type="http://schemas.openxmlformats.org/officeDocument/2006/relationships/notesMaster" Target="/ppt/notesMasters/notesMaster1.xml" Id="R97ddcc086a9f49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4f1071a9984486" /><Relationship Type="http://schemas.openxmlformats.org/officeDocument/2006/relationships/notesMaster" Target="/ppt/notesMasters/notesMaster1.xml" Id="Rb92ee232015941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cfaac130e94dee" /><Relationship Type="http://schemas.openxmlformats.org/officeDocument/2006/relationships/notesMaster" Target="/ppt/notesMasters/notesMaster1.xml" Id="R822a93c4a63847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7f69bbf2fe42c7" /><Relationship Type="http://schemas.openxmlformats.org/officeDocument/2006/relationships/notesMaster" Target="/ppt/notesMasters/notesMaster1.xml" Id="R56797436d35f41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84d30b0def4597" /><Relationship Type="http://schemas.openxmlformats.org/officeDocument/2006/relationships/notesMaster" Target="/ppt/notesMasters/notesMaster1.xml" Id="R39510573e8844b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Frame the lesson as composition: function, loop, randomness, and condition each keep one clear responsibility.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Retrieval: conditions may inspect position or another supplied value; they need not generate that value.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Trace drawMarker(x, y, value). The helper chooses fill from value and then draws at the supplied position.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Call the same function from a loop. Identify what the loop controls, what random() supplies, and what the condition decides.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Unstack the program into B2.1 function, B2.2 loop, B2.3 random value, and B2.4 condition.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Students construct a combined program and justify which behaviour is controlled versus variable. Compile at each integration step.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Final unit exit check: explain the role of each mechanism and one safe modification.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791f0814b4b93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65ac23bfe74ed3" /><Relationship Type="http://schemas.openxmlformats.org/officeDocument/2006/relationships/slideLayout" Target="/ppt/slideLayouts/slideLayout1.xml" Id="R6c011a731ff5450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011a731ff5450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3af33b7744982" /><Relationship Type="http://schemas.openxmlformats.org/officeDocument/2006/relationships/notesSlide" Target="/ppt/notesSlides/notesSlide1.xml" Id="R6490c05ef9754f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317ce217c4c9f" /><Relationship Type="http://schemas.openxmlformats.org/officeDocument/2006/relationships/notesSlide" Target="/ppt/notesSlides/notesSlide2.xml" Id="Rfde988708df747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94ea2eac943d3" /><Relationship Type="http://schemas.openxmlformats.org/officeDocument/2006/relationships/notesSlide" Target="/ppt/notesSlides/notesSlide3.xml" Id="Ra3a04b0271a943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cc5a79fd74425" /><Relationship Type="http://schemas.openxmlformats.org/officeDocument/2006/relationships/notesSlide" Target="/ppt/notesSlides/notesSlide4.xml" Id="Rf467a52fbe6b48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4d3566f9844ce" /><Relationship Type="http://schemas.openxmlformats.org/officeDocument/2006/relationships/notesSlide" Target="/ppt/notesSlides/notesSlide5.xml" Id="R3df6f4d7460a42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bb4a3bb7440c4" /><Relationship Type="http://schemas.openxmlformats.org/officeDocument/2006/relationships/notesSlide" Target="/ppt/notesSlides/notesSlide6.xml" Id="R75899cd48bb944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715fcf8114b1e" /><Relationship Type="http://schemas.openxmlformats.org/officeDocument/2006/relationships/notesSlide" Target="/ppt/notesSlides/notesSlide7.xml" Id="Rfa791865087541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8FE387F-C123-4506-A79C-14DC8B25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B2.4  ·  Parameterized &amp; Procedural Creation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7D242A2C-D4B3-4C8B-981C-28532EE4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Combining Conditions with Loops and Functions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BA0B9EEC-287C-498B-AAEF-AF6D55F3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One continuous example: a function, a loop, a random value, and a condition — working together.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905F7CA9-5048-4E49-90A3-5136CAD9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C603E085-6E75-4BDE-BE4C-775E1D1D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5078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196A4E45-8E55-4169-A19F-F2C26FE7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Conditions on Values You Already Have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2C8FD9A9-1284-4667-A12D-A9506EBF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4FB0E23F-7DFC-41C8-88EA-17D132A4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28223407-C564-47BD-A916-EAA5C651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A1688F3E-088A-4AE0-BD6A-118CB4E1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92D94FF0-A320-4CBB-BA71-50DDDBA7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64792"/>
            <a:ext cx="10515600" cy="1682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condition can check position (Part 1: x &lt; 220 changed fill).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condition can check a loop counter (Part 1: i &lt; 3 changed position).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Same mechanism every time: if/else on a single comparison.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B6039050-DD02-4BEC-95C3-E32B183D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110642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71BF7403-D380-4EB9-A0DB-823E5E07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0507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19265685-0311-4AFB-B8EF-CD1435FB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10607040" cy="1344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if the condition is INSIDE a function, so the function itself decides how to behave? And what if what it's checking is a value from B2.3 — not fixed, not predictable in advance, but still controlled? One example builds up to both.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02A53788-3B0E-4303-BB1A-3742E0E4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D0ECDAEC-37C9-499A-B5AB-978C3028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0322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B84942F3-4926-440E-8F36-8FB0E4D2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Condition Inside a Function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73C4AA3A-61C4-491D-8AF8-F3103BB2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Called with fixed values first, so the effect is easy to see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5CE2C1FF-FD14-43BB-A88C-7A2D18E1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F9E26BB7-7F2C-4B1E-B4A9-6BC52C9E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5B2E0639-A3F5-4A09-986C-88EBEEDD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7A479E66-F43E-4C39-99ED-C755B849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231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50"/>
              <a:buFont typeface="Courier New"/>
              <a:buNone/>
            </a:pP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drawMarker(</a:t>
            </a: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x, </a:t>
            </a: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y, </a:t>
            </a: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value) {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ourier New"/>
              <a:buNone/>
            </a:pP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(value &gt; 50) {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ourier New"/>
              <a:buNone/>
            </a:pP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fill(80);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ourier New"/>
              <a:buNone/>
            </a:pP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 </a:t>
            </a: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{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ourier New"/>
              <a:buNone/>
            </a:pP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fill(200);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ourier New"/>
              <a:buNone/>
            </a:pP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ourier New"/>
              <a:buNone/>
            </a:pP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y, 30, 30);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ourier New"/>
              <a:buNone/>
            </a:pP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4A3FC027-1251-47ED-8F57-ACC38D0A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B718B7F2-3BE8-4DA8-A390-4EA75BF5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Two calls, two results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338EEF09-2D94-49CC-A308-41FD9D6B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189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drawMarker(100, 100, 70) draws dark.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drawMarker(100, 100, 20) draws light.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function decides its own fill by checking the value it was given — the condition lives inside the function, not outside it.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E6008019-7E16-436E-B82B-2A57D31E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7D80A28B-C74D-4B89-98ED-86499FC2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9432"/>
            <a:ext cx="10607040" cy="1115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This already satisfies "combinations of conditions with functions." The drawMarker(x, y, value) call itself stays the same. Next, only the source of value changes.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2402467B-502A-4922-9469-C49BF08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24D76E11-78D8-4D85-AFB5-C8D2BF70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0211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DACFBA35-DFD0-4382-B81E-9402F4E9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Same Function, Now Called From a Loop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DB6BA453-1CCF-48F0-8445-9AF9B309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value is random this time — the function itself is completely unchanged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7490C80F-3575-4836-A208-164EC779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6F30235C-7581-4712-8FF8-1F98B554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9DA7C87C-42EB-4713-B06D-F67DED69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48D1666F-89F4-477F-BA0C-B95C85DC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04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6; i++) {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v = 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random(0, 100);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drawMarker(40 + i * 60, 200, v);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E58FD7B3-C0D3-40B0-8837-A5D410C2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7BB1C691-6434-4F81-BC05-9C17BDF7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changed — and what didn't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141A9C05-F0FB-42AE-B023-37D2A344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drawMarker's code: unchanged.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condition inside it: unchanged.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What's new: v is random each call, so which branch runs is controlled (still exactly light or dark) but not predictable in advance.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667C41E8-B658-46C2-977A-CE2B5259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11064240" cy="164592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BAE7AD06-8538-4301-BB8A-F1E0DADB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10607040" cy="1344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This one loop now satisfies "combinations of conditions with loops" too — a loop calling a condition-bearing function IS a loop+condition combination, without needing a second, separate example.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ECDF63D8-BA23-40A5-A15A-49393FF8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23A336AF-D456-4468-9706-5975D1C6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1155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D53C19CD-9F06-494F-B9BD-9546B451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What's Actually Stacked Here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95827561-7CF9-42D3-A06A-39B2BBE6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Four B2 lessons, one piece of code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B61D163C-C717-420B-BA00-04AC8368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17BD1AB4-538C-42CD-8E7C-2EEF1B18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5F120314-8B20-4324-8215-427FF3CC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11064240" cy="8229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F5FD4486-3D05-42CA-8CDD-A49EBDF2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10512"/>
            <a:ext cx="1051560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1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B2.1 — Custom function:  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drawMarker(x, y, value) packages the drawing logic.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420EA456-B78C-4084-9D42-F6755C44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11064240" cy="8229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B1C92C6A-BF6B-47AB-9F95-EDD07EDF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70632"/>
            <a:ext cx="1051560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1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B2.2 — Loop:  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for (int i = 0; i &lt; 6; i++) calls it six times.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C99E6478-97B6-4229-B03E-FC7CF3D6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11064240" cy="8229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5BEF493E-25BE-4E14-8FD4-97DAF0E1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30752"/>
            <a:ext cx="1051560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1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B2.3 — Random value:  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(int) random(0, 100) generates v, within a controlled range.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B9125AB8-281C-467F-BEFF-D9D7476E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11064240" cy="8229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2D993A67-90FC-4C65-8C59-E93ED768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90872"/>
            <a:ext cx="1051560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1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B2.4 — Condition:  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if (value &gt; 50) decides which fill drawMarker uses.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AFD3619F-FCA1-40D1-8350-B74C42B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106424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1A77F75F-DC5A-4428-A69B-6885543A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96712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One sentence, not a full example: this works the same way if the loop is nested (B2.2) — conditions combine with loops whether the loop is single or nested.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7DD007A6-A58C-499F-8D0A-CAA8B60F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0E503826-BC11-46A2-AD12-C63B9AF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5964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E7F84F9D-8288-4FD2-B557-DEF965AE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0F3B159E-46A8-4B93-939B-70F536C5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Build the whole stack yourself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BA845916-2177-4E66-980E-A6C07A6C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6CA6E7FF-9E1C-4B8A-BAF5-F93360DF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9E764E00-FFBC-4D4C-A452-8A384C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extLst xmlns:a="http://schemas.openxmlformats.org/drawingml/2006/main">
              <a:ext uri="{FF2B5EF4-FFF2-40B4-BE49-F238E27FC236}">
                <a16:creationId xmlns:a16="http://schemas.microsoft.com/office/drawing/2014/main" id="{5371041B-48CB-4092-A2FB-A382BD94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Construct It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8">
            <a:extLst xmlns:a="http://schemas.openxmlformats.org/drawingml/2006/main">
              <a:ext uri="{FF2B5EF4-FFF2-40B4-BE49-F238E27FC236}">
                <a16:creationId xmlns:a16="http://schemas.microsoft.com/office/drawing/2014/main" id="{88284877-BB3E-41F5-AEC5-14D0B6AF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10607040" cy="2441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a complete program that combines: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• a custom function with a condition inside it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• a loop that calls it several times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• a random value (in a range you choose) feeding the condition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 choose the threshold and what the two outcomes change — fill, size, or another property. If you vary colour, keep it grayscale.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8">
            <a:extLst xmlns:a="http://schemas.openxmlformats.org/drawingml/2006/main">
              <a:ext uri="{FF2B5EF4-FFF2-40B4-BE49-F238E27FC236}">
                <a16:creationId xmlns:a16="http://schemas.microsoft.com/office/drawing/2014/main" id="{EC709961-343E-4922-A7F6-3BA700BD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1106424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4522EADE-6959-40BE-8C80-C81A9E1B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1091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Then explain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434C368D-AAF5-4264-9103-EFB524FC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76672"/>
            <a:ext cx="1060704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In your own words: why is the result "controlled" rather than fully random? What, exactly, does your code still decide — and what does chance decide?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AE81A9FE-25F2-4A88-A0DC-E77AE548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1F561DCB-7EC7-4CDB-A39D-66C8CFD7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7822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131DDC9E-17D7-4E7C-AE70-A9CFF143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0B2BEF32-8D8C-4398-881B-559711D5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B2 complete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5BABCEB3-E32B-4B51-9CB6-4CD728DD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9">
            <a:extLst xmlns:a="http://schemas.openxmlformats.org/drawingml/2006/main">
              <a:ext uri="{FF2B5EF4-FFF2-40B4-BE49-F238E27FC236}">
                <a16:creationId xmlns:a16="http://schemas.microsoft.com/office/drawing/2014/main" id="{FB1D0B7F-47D7-45EE-A60A-F4B3E692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9940E9CB-20E6-4AF4-8642-83EA2934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>
            <a:extLst xmlns:a="http://schemas.openxmlformats.org/drawingml/2006/main">
              <a:ext uri="{FF2B5EF4-FFF2-40B4-BE49-F238E27FC236}">
                <a16:creationId xmlns:a16="http://schemas.microsoft.com/office/drawing/2014/main" id="{BA78CB6F-CB90-4977-80AD-3145939E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9">
            <a:extLst xmlns:a="http://schemas.openxmlformats.org/drawingml/2006/main">
              <a:ext uri="{FF2B5EF4-FFF2-40B4-BE49-F238E27FC236}">
                <a16:creationId xmlns:a16="http://schemas.microsoft.com/office/drawing/2014/main" id="{FCE317BF-B7D9-4E75-B2BF-75034CB1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condition inside a function, called from a loop, with a value that's sometimes random — these four tools were each learned separately, but they can now be composed together using the same rules you already know — no new mechanism is needed just to combine them.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9">
            <a:extLst xmlns:a="http://schemas.openxmlformats.org/drawingml/2006/main">
              <a:ext uri="{FF2B5EF4-FFF2-40B4-BE49-F238E27FC236}">
                <a16:creationId xmlns:a16="http://schemas.microsoft.com/office/drawing/2014/main" id="{08016353-99B3-41C4-BD57-766E978D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>
            <a:extLst xmlns:a="http://schemas.openxmlformats.org/drawingml/2006/main">
              <a:ext uri="{FF2B5EF4-FFF2-40B4-BE49-F238E27FC236}">
                <a16:creationId xmlns:a16="http://schemas.microsoft.com/office/drawing/2014/main" id="{31891CAB-7820-4775-B815-665C184E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What's next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9">
            <a:extLst xmlns:a="http://schemas.openxmlformats.org/drawingml/2006/main">
              <a:ext uri="{FF2B5EF4-FFF2-40B4-BE49-F238E27FC236}">
                <a16:creationId xmlns:a16="http://schemas.microsoft.com/office/drawing/2014/main" id="{78946191-B288-4FD9-A354-D06665FB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B3 shifts focus entirely: from generating visuals on their own, to responding to real mouse and keyboard input from the person using the program.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F8144BCC-5E88-4019-94D3-4DC06646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1DD28C9E-6744-4714-A3E0-ABC2D647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9432"/>
            <a:ext cx="10515600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Functions, loops, randomness, and conditions: all of B2's tools, ready to combine.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condition inside a function lets the function vary its behavior based on the value passed to it.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77A45453-77F1-4F93-B8F8-E1CD334A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56930CAC-F5DB-464F-AEA1-17E7CA13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061643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2026-08-29T05:49:01.4880000Z</dcterms:created>
  <dcterms:modified xsi:type="dcterms:W3CDTF">2026-08-29T05:49:01.4880000Z</dcterms:modified>
</coreProperties>
</file>