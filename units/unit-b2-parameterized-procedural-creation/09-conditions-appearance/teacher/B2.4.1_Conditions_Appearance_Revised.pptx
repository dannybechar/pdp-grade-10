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5de25c0c5a4d00" /><Relationship Type="http://schemas.openxmlformats.org/officeDocument/2006/relationships/extended-properties" Target="/docProps/app.xml" Id="Rc34e6c306e3a4724" /><Relationship Type="http://schemas.openxmlformats.org/officeDocument/2006/relationships/officeDocument" Target="/ppt/presentation.xml" Id="R6dabd40e6f3641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50a9cffcf1438a"/>
  </p:sldMasterIdLst>
  <p:notesMasterIdLst>
    <p:notesMasterId xmlns:r="http://schemas.openxmlformats.org/officeDocument/2006/relationships" r:id="R8b88942e9c1f4ab3"/>
  </p:notesMasterIdLst>
  <p:sldIdLst>
    <p:sldId xmlns:r="http://schemas.openxmlformats.org/officeDocument/2006/relationships" id="256" r:id="R63340b4ebc77482a"/>
    <p:sldId xmlns:r="http://schemas.openxmlformats.org/officeDocument/2006/relationships" id="257" r:id="R4d7aeb7d972f4c30"/>
    <p:sldId xmlns:r="http://schemas.openxmlformats.org/officeDocument/2006/relationships" id="258" r:id="Re9bc23d340cb49a7"/>
    <p:sldId xmlns:r="http://schemas.openxmlformats.org/officeDocument/2006/relationships" id="259" r:id="Rcc3cc52cdbb345e2"/>
    <p:sldId xmlns:r="http://schemas.openxmlformats.org/officeDocument/2006/relationships" id="260" r:id="Ra06ab706e0b246db"/>
    <p:sldId xmlns:r="http://schemas.openxmlformats.org/officeDocument/2006/relationships" id="261" r:id="R26131532ac45452b"/>
    <p:sldId xmlns:r="http://schemas.openxmlformats.org/officeDocument/2006/relationships" id="262" r:id="R39a0b1c14aa74000"/>
  </p:sldIdLst>
  <p:sldSz cx="1219167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0cfb1b11f54aee" /><Relationship Type="http://schemas.openxmlformats.org/officeDocument/2006/relationships/slideMaster" Target="/ppt/slideMasters/slideMaster1.xml" Id="R1350a9cffcf1438a" /><Relationship Type="http://schemas.openxmlformats.org/officeDocument/2006/relationships/notesMaster" Target="/ppt/notesMasters/notesMaster1.xml" Id="R8b88942e9c1f4ab3" /><Relationship Type="http://schemas.openxmlformats.org/officeDocument/2006/relationships/presProps" Target="/ppt/presProps.xml" Id="R58c384e27cef42e9" /><Relationship Type="http://schemas.openxmlformats.org/officeDocument/2006/relationships/tableStyles" Target="/ppt/tableStyles.xml" Id="R2dff93f5a63444a4" /><Relationship Type="http://schemas.openxmlformats.org/officeDocument/2006/relationships/slide" Target="/ppt/slides/slide1.xml" Id="R63340b4ebc77482a" /><Relationship Type="http://schemas.openxmlformats.org/officeDocument/2006/relationships/slide" Target="/ppt/slides/slide2.xml" Id="R4d7aeb7d972f4c30" /><Relationship Type="http://schemas.openxmlformats.org/officeDocument/2006/relationships/slide" Target="/ppt/slides/slide3.xml" Id="Re9bc23d340cb49a7" /><Relationship Type="http://schemas.openxmlformats.org/officeDocument/2006/relationships/slide" Target="/ppt/slides/slide4.xml" Id="Rcc3cc52cdbb345e2" /><Relationship Type="http://schemas.openxmlformats.org/officeDocument/2006/relationships/slide" Target="/ppt/slides/slide5.xml" Id="Ra06ab706e0b246db" /><Relationship Type="http://schemas.openxmlformats.org/officeDocument/2006/relationships/slide" Target="/ppt/slides/slide6.xml" Id="R26131532ac45452b" /><Relationship Type="http://schemas.openxmlformats.org/officeDocument/2006/relationships/slide" Target="/ppt/slides/slide7.xml" Id="R39a0b1c14aa7400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77c3d96f28a4a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2688e7e3584e2b" /><Relationship Type="http://schemas.openxmlformats.org/officeDocument/2006/relationships/notesMaster" Target="/ppt/notesMasters/notesMaster1.xml" Id="R0a314d638aee47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46042f423234a4d" /><Relationship Type="http://schemas.openxmlformats.org/officeDocument/2006/relationships/notesMaster" Target="/ppt/notesMasters/notesMaster1.xml" Id="R196f63d6aced4e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da951f7a4814276" /><Relationship Type="http://schemas.openxmlformats.org/officeDocument/2006/relationships/notesMaster" Target="/ppt/notesMasters/notesMaster1.xml" Id="R9c03aaf1b5d94c6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3a9a2743dc341a4" /><Relationship Type="http://schemas.openxmlformats.org/officeDocument/2006/relationships/notesMaster" Target="/ppt/notesMasters/notesMaster1.xml" Id="R30d80f0ae19249d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ea9d71498454104" /><Relationship Type="http://schemas.openxmlformats.org/officeDocument/2006/relationships/notesMaster" Target="/ppt/notesMasters/notesMaster1.xml" Id="Rdbb419ad62174d6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056b67f7b764483" /><Relationship Type="http://schemas.openxmlformats.org/officeDocument/2006/relationships/notesMaster" Target="/ppt/notesMasters/notesMaster1.xml" Id="R3b89c4897b8143c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3bf4e4ed8164506" /><Relationship Type="http://schemas.openxmlformats.org/officeDocument/2006/relationships/notesMaster" Target="/ppt/notesMasters/notesMaster1.xml" Id="R7612549b117344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2 minutes. Reconnect to familiar if/else syntax and focus on its new role inside generated visuals.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5 minutes. Retrieval: one Boolean expression chooses exactly one branch. Ask students to identify the threshold and the two outcomes.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10 minutes. Model a position condition. Evaluate the condition for sample x values before discussing colour.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6 minutes. Model a loop-counter condition. Check the boundary carefully: i &lt; 3 affects indices 0, 1, and 2 only.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5 minutes. Compare both outputs. Same control structure; different inspected value and different visible property.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14 minutes. Students modify a threshold, predict affected shapes, then design a condition that varies fill, size, or position.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3 minutes. Exit check: name the condition, both branches, and the first value that takes the else branch.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a654073d624e39" /></Relationships>
</file>

<file path=ppt/slideLayouts/slideLayout1.xml><?xml version="1.0" encoding="utf-8"?>
<p:sldLayout xmlns:p="http://schemas.openxmlformats.org/presentationml/2006/main" matchingName="DEFAULT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e0026640384e82" /><Relationship Type="http://schemas.openxmlformats.org/officeDocument/2006/relationships/slideLayout" Target="/ppt/slideLayouts/slideLayout1.xml" Id="Rd25ac0c1ee8840ba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5ac0c1ee8840ba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7dea0acedf42db" /><Relationship Type="http://schemas.openxmlformats.org/officeDocument/2006/relationships/notesSlide" Target="/ppt/notesSlides/notesSlide1.xml" Id="R2c1b93ae240c444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1db2fab21844af" /><Relationship Type="http://schemas.openxmlformats.org/officeDocument/2006/relationships/notesSlide" Target="/ppt/notesSlides/notesSlide2.xml" Id="R52434a1ee24b4ae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ee7e4a1c954789" /><Relationship Type="http://schemas.openxmlformats.org/officeDocument/2006/relationships/notesSlide" Target="/ppt/notesSlides/notesSlide3.xml" Id="Re1f390e4c3244c2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d5c70ef7794b88" /><Relationship Type="http://schemas.openxmlformats.org/officeDocument/2006/relationships/notesSlide" Target="/ppt/notesSlides/notesSlide4.xml" Id="Rda8ae09efc52421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92dafe68fc4be8" /><Relationship Type="http://schemas.openxmlformats.org/officeDocument/2006/relationships/notesSlide" Target="/ppt/notesSlides/notesSlide5.xml" Id="R60eb884a796d407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772b93ac004ec4" /><Relationship Type="http://schemas.openxmlformats.org/officeDocument/2006/relationships/notesSlide" Target="/ppt/notesSlides/notesSlide6.xml" Id="R809369dfd87a4c3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489a8a19a9422d" /><Relationship Type="http://schemas.openxmlformats.org/officeDocument/2006/relationships/notesSlide" Target="/ppt/notesSlides/notesSlide7.xml" Id="R2c67746a234743a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94283859-1393-4A40-A977-C6DBCB2CF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48840"/>
            <a:ext cx="1051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600"/>
              <a:buFont typeface="Calibri"/>
              <a:buNone/>
            </a:pPr>
            <a:r>
              <a:rPr sz="16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B2.4  ·  Parameterized &amp; Procedural Creation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Google Shape;17;p3">
            <a:extLst xmlns:a="http://schemas.openxmlformats.org/drawingml/2006/main">
              <a:ext uri="{FF2B5EF4-FFF2-40B4-BE49-F238E27FC236}">
                <a16:creationId xmlns:a16="http://schemas.microsoft.com/office/drawing/2014/main" id="{07E9A0FB-7272-48DB-A161-BD1E5E72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606040"/>
            <a:ext cx="10515600" cy="1463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sz="40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Conditions That Vary Appearance or Behaviour</a:t>
            </a:r>
            <a:endParaRPr sz="4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7C76A664-49DD-4705-86C7-36865E1D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977640"/>
            <a:ext cx="987552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sz="1800" b="0" i="1" u="none" cap="none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Using a single condition to make a variable or a position change what gets drawn.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Google Shape;19;p3">
            <a:extLst xmlns:a="http://schemas.openxmlformats.org/drawingml/2006/main">
              <a:ext uri="{FF2B5EF4-FFF2-40B4-BE49-F238E27FC236}">
                <a16:creationId xmlns:a16="http://schemas.microsoft.com/office/drawing/2014/main" id="{C9177F35-EA99-4FC3-B9E4-B13D3A08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B2.4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830C68F4-A0CD-4FBB-92B1-FBDCD29B8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1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579307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5C30943F-1D8B-4CAC-B66A-E63A08BF0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700"/>
              <a:buFont typeface="Cambria"/>
              <a:buNone/>
            </a:pPr>
            <a:r>
              <a:rPr sz="27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Quick Recap: A Tool You Already Have</a:t>
            </a:r>
            <a:endParaRPr sz="27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97E2E65E-8FC5-429F-9664-8DCEE7EE3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if/else — already fluent, no re-teaching needed here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F1EF0EB2-2F8D-48ED-B421-23DD7BFE3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B2.4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1F5B231F-DEE3-4102-9BCB-717D1D16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1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4754B6C0-8CB1-47E8-B08C-E4CD0EDE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6949440" cy="219456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F96EDA61-D233-4470-910F-E31DA79B2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64792"/>
            <a:ext cx="6492240" cy="18653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500"/>
              <a:buFont typeface="Courier New"/>
              <a:buNone/>
            </a:pPr>
            <a:r>
              <a:rPr sz="15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if</a:t>
            </a:r>
            <a:r>
              <a:rPr sz="15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(x &lt; 220) {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ourier New"/>
              <a:buNone/>
            </a:pPr>
            <a:r>
              <a:rPr sz="15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500" b="0" i="1" u="none" cap="none">
                <a:solidFill>
                  <a:srgbClr val="8892B0"/>
                </a:solidFill>
                <a:latin typeface="Courier New"/>
                <a:ea typeface="Courier New"/>
                <a:cs typeface="Courier New"/>
              </a:rPr>
              <a:t>// do this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ourier New"/>
              <a:buNone/>
            </a:pPr>
            <a:r>
              <a:rPr sz="15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 </a:t>
            </a:r>
            <a:r>
              <a:rPr sz="15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else</a:t>
            </a:r>
            <a:r>
              <a:rPr sz="15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{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ourier New"/>
              <a:buNone/>
            </a:pPr>
            <a:r>
              <a:rPr sz="15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500" b="0" i="1" u="none" cap="none">
                <a:solidFill>
                  <a:srgbClr val="8892B0"/>
                </a:solidFill>
                <a:latin typeface="Courier New"/>
                <a:ea typeface="Courier New"/>
                <a:cs typeface="Courier New"/>
              </a:rPr>
              <a:t>// do this instead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ourier New"/>
              <a:buNone/>
            </a:pPr>
            <a:r>
              <a:rPr sz="15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B0C60DA3-A0F0-4253-84DE-CA4A9D679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1600200"/>
            <a:ext cx="3931920" cy="219456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43A426D7-4711-41A3-A417-AF2B705B6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1764792"/>
            <a:ext cx="347472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Already known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" name="Google Shape;34;p4">
            <a:extLst xmlns:a="http://schemas.openxmlformats.org/drawingml/2006/main">
              <a:ext uri="{FF2B5EF4-FFF2-40B4-BE49-F238E27FC236}">
                <a16:creationId xmlns:a16="http://schemas.microsoft.com/office/drawing/2014/main" id="{E37E29A5-CE0E-4458-9EC5-254BCF355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2130552"/>
            <a:ext cx="3474720" cy="1527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Single conditions and comparisons are Algorithms content — this lesson doesn't re-teach the syntax. What's new is USING a condition to vary what a creative program draws.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" name="Google Shape;35;p4">
            <a:extLst xmlns:a="http://schemas.openxmlformats.org/drawingml/2006/main">
              <a:ext uri="{FF2B5EF4-FFF2-40B4-BE49-F238E27FC236}">
                <a16:creationId xmlns:a16="http://schemas.microsoft.com/office/drawing/2014/main" id="{7E4AC890-2279-4C8D-8A9D-A5B708D5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23360"/>
            <a:ext cx="11064240" cy="18288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>
            <a:extLst xmlns:a="http://schemas.openxmlformats.org/drawingml/2006/main">
              <a:ext uri="{FF2B5EF4-FFF2-40B4-BE49-F238E27FC236}">
                <a16:creationId xmlns:a16="http://schemas.microsoft.com/office/drawing/2014/main" id="{91226DE4-5F25-4A17-A13A-7659CCCBA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187952"/>
            <a:ext cx="106070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One boundary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" name="Google Shape;37;p4">
            <a:extLst xmlns:a="http://schemas.openxmlformats.org/drawingml/2006/main">
              <a:ext uri="{FF2B5EF4-FFF2-40B4-BE49-F238E27FC236}">
                <a16:creationId xmlns:a16="http://schemas.microsoft.com/office/drawing/2014/main" id="{17CF8D99-D32E-4AE9-814F-2655306F0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553712"/>
            <a:ext cx="10607040" cy="1161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Every condition in this lesson is a single comparison (x &lt; 220, i &lt; 3, value &gt; 50). No &amp;&amp; or ||, no % — combining several conditions with AND/OR isn't assumed known, and isn't needed for anything here.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8" name="Google Shape;38;p4">
            <a:extLst xmlns:a="http://schemas.openxmlformats.org/drawingml/2006/main">
              <a:ext uri="{FF2B5EF4-FFF2-40B4-BE49-F238E27FC236}">
                <a16:creationId xmlns:a16="http://schemas.microsoft.com/office/drawing/2014/main" id="{4179EA69-508F-4BD8-BB94-12B436FA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B2.4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" name="Google Shape;39;p4">
            <a:extLst xmlns:a="http://schemas.openxmlformats.org/drawingml/2006/main">
              <a:ext uri="{FF2B5EF4-FFF2-40B4-BE49-F238E27FC236}">
                <a16:creationId xmlns:a16="http://schemas.microsoft.com/office/drawing/2014/main" id="{3480D7C0-3C8B-4EED-965A-62A40F9B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1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833233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5">
            <a:extLst xmlns:a="http://schemas.openxmlformats.org/drawingml/2006/main">
              <a:ext uri="{FF2B5EF4-FFF2-40B4-BE49-F238E27FC236}">
                <a16:creationId xmlns:a16="http://schemas.microsoft.com/office/drawing/2014/main" id="{F9E38847-48C5-4F85-863B-F09D638A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700"/>
              <a:buFont typeface="Cambria"/>
              <a:buNone/>
            </a:pPr>
            <a:r>
              <a:rPr sz="27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A Condition on Position</a:t>
            </a:r>
            <a:endParaRPr sz="27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6" name="Google Shape;46;p5">
            <a:extLst xmlns:a="http://schemas.openxmlformats.org/drawingml/2006/main">
              <a:ext uri="{FF2B5EF4-FFF2-40B4-BE49-F238E27FC236}">
                <a16:creationId xmlns:a16="http://schemas.microsoft.com/office/drawing/2014/main" id="{308B9BB5-496F-42C1-8A4E-AF1E7D956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The threshold check uses the same x the loop already produces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7" name="Google Shape;47;p5">
            <a:extLst xmlns:a="http://schemas.openxmlformats.org/drawingml/2006/main">
              <a:ext uri="{FF2B5EF4-FFF2-40B4-BE49-F238E27FC236}">
                <a16:creationId xmlns:a16="http://schemas.microsoft.com/office/drawing/2014/main" id="{694E64FA-3BE8-4AC0-83B4-830E0932B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B2.4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8" name="Google Shape;48;p5">
            <a:extLst xmlns:a="http://schemas.openxmlformats.org/drawingml/2006/main">
              <a:ext uri="{FF2B5EF4-FFF2-40B4-BE49-F238E27FC236}">
                <a16:creationId xmlns:a16="http://schemas.microsoft.com/office/drawing/2014/main" id="{DF3E5995-AE37-4B41-AD75-74C01895A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1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9" name="Google Shape;49;p5">
            <a:extLst xmlns:a="http://schemas.openxmlformats.org/drawingml/2006/main">
              <a:ext uri="{FF2B5EF4-FFF2-40B4-BE49-F238E27FC236}">
                <a16:creationId xmlns:a16="http://schemas.microsoft.com/office/drawing/2014/main" id="{2320D5FF-A190-484F-9CBB-DDD77F0F6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6949440" cy="301752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5">
            <a:extLst xmlns:a="http://schemas.openxmlformats.org/drawingml/2006/main">
              <a:ext uri="{FF2B5EF4-FFF2-40B4-BE49-F238E27FC236}">
                <a16:creationId xmlns:a16="http://schemas.microsoft.com/office/drawing/2014/main" id="{C185B693-F8D9-4D6C-BA2E-6B91754D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64792"/>
            <a:ext cx="6492240" cy="2688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400"/>
              <a:buFont typeface="Courier New"/>
              <a:buNone/>
            </a:pPr>
            <a:r>
              <a:rPr sz="14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for</a:t>
            </a: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(</a:t>
            </a:r>
            <a:r>
              <a:rPr sz="14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i = 0; i &lt; 6; i++) {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ourier New"/>
              <a:buNone/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4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x = 40 + i * 60;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ourier New"/>
              <a:buNone/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4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if</a:t>
            </a: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(x &lt; 220) {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ourier New"/>
              <a:buNone/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fill(200);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ourier New"/>
              <a:buNone/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} </a:t>
            </a:r>
            <a:r>
              <a:rPr sz="14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else</a:t>
            </a: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{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ourier New"/>
              <a:buNone/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fill(80);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ourier New"/>
              <a:buNone/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}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ourier New"/>
              <a:buNone/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drawShape(x, 200, 30);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ourier New"/>
              <a:buNone/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1" name="Google Shape;51;p5">
            <a:extLst xmlns:a="http://schemas.openxmlformats.org/drawingml/2006/main">
              <a:ext uri="{FF2B5EF4-FFF2-40B4-BE49-F238E27FC236}">
                <a16:creationId xmlns:a16="http://schemas.microsoft.com/office/drawing/2014/main" id="{2E2D6A21-0EFB-4603-B1E5-E6B36375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1600200"/>
            <a:ext cx="3931920" cy="301752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">
            <a:extLst xmlns:a="http://schemas.openxmlformats.org/drawingml/2006/main">
              <a:ext uri="{FF2B5EF4-FFF2-40B4-BE49-F238E27FC236}">
                <a16:creationId xmlns:a16="http://schemas.microsoft.com/office/drawing/2014/main" id="{5CF9D6D7-A3B2-40C4-885D-7F5FE7A60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1764792"/>
            <a:ext cx="347472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What's new here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3" name="Google Shape;53;p5">
            <a:extLst xmlns:a="http://schemas.openxmlformats.org/drawingml/2006/main">
              <a:ext uri="{FF2B5EF4-FFF2-40B4-BE49-F238E27FC236}">
                <a16:creationId xmlns:a16="http://schemas.microsoft.com/office/drawing/2014/main" id="{2787DA4B-0DCD-41F6-A759-CBF7C2C43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2130552"/>
            <a:ext cx="3474720" cy="2350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The loop variable still decides WHERE each shape goes (that's B2.2). The condition decides something separate — fill — based on comparing that same x to a threshold.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4" name="Google Shape;54;p5">
            <a:extLst xmlns:a="http://schemas.openxmlformats.org/drawingml/2006/main">
              <a:ext uri="{FF2B5EF4-FFF2-40B4-BE49-F238E27FC236}">
                <a16:creationId xmlns:a16="http://schemas.microsoft.com/office/drawing/2014/main" id="{34FE106C-1A07-4A1F-A22A-FE680066C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B2.4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5" name="Google Shape;55;p5">
            <a:extLst xmlns:a="http://schemas.openxmlformats.org/drawingml/2006/main">
              <a:ext uri="{FF2B5EF4-FFF2-40B4-BE49-F238E27FC236}">
                <a16:creationId xmlns:a16="http://schemas.microsoft.com/office/drawing/2014/main" id="{3092B932-819C-461C-9DCA-A4544AA1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1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231619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Google Shape;61;p6">
            <a:extLst xmlns:a="http://schemas.openxmlformats.org/drawingml/2006/main">
              <a:ext uri="{FF2B5EF4-FFF2-40B4-BE49-F238E27FC236}">
                <a16:creationId xmlns:a16="http://schemas.microsoft.com/office/drawing/2014/main" id="{64A23A83-B8A1-4B39-9C4F-6B06480B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700"/>
              <a:buFont typeface="Cambria"/>
              <a:buNone/>
            </a:pPr>
            <a:r>
              <a:rPr sz="27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A Condition on the Loop Counter</a:t>
            </a:r>
            <a:endParaRPr sz="27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2" name="Google Shape;62;p6">
            <a:extLst xmlns:a="http://schemas.openxmlformats.org/drawingml/2006/main">
              <a:ext uri="{FF2B5EF4-FFF2-40B4-BE49-F238E27FC236}">
                <a16:creationId xmlns:a16="http://schemas.microsoft.com/office/drawing/2014/main" id="{A60528C3-3A46-41B3-999B-2EB13F38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This time the condition changes WHERE, not just appearance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3" name="Google Shape;63;p6">
            <a:extLst xmlns:a="http://schemas.openxmlformats.org/drawingml/2006/main">
              <a:ext uri="{FF2B5EF4-FFF2-40B4-BE49-F238E27FC236}">
                <a16:creationId xmlns:a16="http://schemas.microsoft.com/office/drawing/2014/main" id="{6FC2DDEF-3CC6-42DE-A899-638418823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B2.4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4" name="Google Shape;64;p6">
            <a:extLst xmlns:a="http://schemas.openxmlformats.org/drawingml/2006/main">
              <a:ext uri="{FF2B5EF4-FFF2-40B4-BE49-F238E27FC236}">
                <a16:creationId xmlns:a16="http://schemas.microsoft.com/office/drawing/2014/main" id="{4FF2CB94-B35D-4E64-9E7E-70E848D37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1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5" name="Google Shape;65;p6">
            <a:extLst xmlns:a="http://schemas.openxmlformats.org/drawingml/2006/main">
              <a:ext uri="{FF2B5EF4-FFF2-40B4-BE49-F238E27FC236}">
                <a16:creationId xmlns:a16="http://schemas.microsoft.com/office/drawing/2014/main" id="{FBDDDABE-CD7F-45A1-93F4-0A20A5A9D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6949440" cy="301752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>
            <a:extLst xmlns:a="http://schemas.openxmlformats.org/drawingml/2006/main">
              <a:ext uri="{FF2B5EF4-FFF2-40B4-BE49-F238E27FC236}">
                <a16:creationId xmlns:a16="http://schemas.microsoft.com/office/drawing/2014/main" id="{AF53A092-4DBD-49AB-AAD1-1CCA6889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64792"/>
            <a:ext cx="6492240" cy="2688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400"/>
              <a:buFont typeface="Courier New"/>
              <a:buNone/>
            </a:pPr>
            <a:r>
              <a:rPr sz="14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for</a:t>
            </a: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(</a:t>
            </a:r>
            <a:r>
              <a:rPr sz="14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i = 0; i &lt; 6; i++) {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ourier New"/>
              <a:buNone/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4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if</a:t>
            </a: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(i &lt; 3) {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ourier New"/>
              <a:buNone/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drawShape(40 + i * 60, 150, 25);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ourier New"/>
              <a:buNone/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} </a:t>
            </a:r>
            <a:r>
              <a:rPr sz="14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else</a:t>
            </a: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{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ourier New"/>
              <a:buNone/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drawShape(40 + i * 60, 250, 25);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ourier New"/>
              <a:buNone/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}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ourier New"/>
              <a:buNone/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7" name="Google Shape;67;p6">
            <a:extLst xmlns:a="http://schemas.openxmlformats.org/drawingml/2006/main">
              <a:ext uri="{FF2B5EF4-FFF2-40B4-BE49-F238E27FC236}">
                <a16:creationId xmlns:a16="http://schemas.microsoft.com/office/drawing/2014/main" id="{C4F190DD-71E8-4595-9772-0E96723A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1600200"/>
            <a:ext cx="3931920" cy="301752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>
            <a:extLst xmlns:a="http://schemas.openxmlformats.org/drawingml/2006/main">
              <a:ext uri="{FF2B5EF4-FFF2-40B4-BE49-F238E27FC236}">
                <a16:creationId xmlns:a16="http://schemas.microsoft.com/office/drawing/2014/main" id="{21BA2B42-9ABE-4661-AB70-23590915E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1764792"/>
            <a:ext cx="347472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Check the geometry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9" name="Google Shape;69;p6">
            <a:extLst xmlns:a="http://schemas.openxmlformats.org/drawingml/2006/main">
              <a:ext uri="{FF2B5EF4-FFF2-40B4-BE49-F238E27FC236}">
                <a16:creationId xmlns:a16="http://schemas.microsoft.com/office/drawing/2014/main" id="{A1325416-EAD0-4AAC-9D05-C24DE565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2130552"/>
            <a:ext cx="3474720" cy="2350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i=0,1,2 → x=40,100,160 on the upper row. i=3,4,5 → x=220,280,340 on the lower row. The two rows are offset in x, not aligned into a shared-column grid — look closely at the render on the next slide.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0" name="Google Shape;70;p6">
            <a:extLst xmlns:a="http://schemas.openxmlformats.org/drawingml/2006/main">
              <a:ext uri="{FF2B5EF4-FFF2-40B4-BE49-F238E27FC236}">
                <a16:creationId xmlns:a16="http://schemas.microsoft.com/office/drawing/2014/main" id="{B7077091-E72C-4ED0-9841-8703ACDB8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B2.4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1" name="Google Shape;71;p6">
            <a:extLst xmlns:a="http://schemas.openxmlformats.org/drawingml/2006/main">
              <a:ext uri="{FF2B5EF4-FFF2-40B4-BE49-F238E27FC236}">
                <a16:creationId xmlns:a16="http://schemas.microsoft.com/office/drawing/2014/main" id="{7A5450B5-C931-4BFC-A562-ABF432F7F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1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156042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7" name="Google Shape;77;p7">
            <a:extLst xmlns:a="http://schemas.openxmlformats.org/drawingml/2006/main">
              <a:ext uri="{FF2B5EF4-FFF2-40B4-BE49-F238E27FC236}">
                <a16:creationId xmlns:a16="http://schemas.microsoft.com/office/drawing/2014/main" id="{53055E86-07AD-4C06-9D41-E54B590D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700"/>
              <a:buFont typeface="Cambria"/>
              <a:buNone/>
            </a:pPr>
            <a:r>
              <a:rPr sz="27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What Both Examples Produce</a:t>
            </a:r>
            <a:endParaRPr sz="27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8" name="Google Shape;78;p7">
            <a:extLst xmlns:a="http://schemas.openxmlformats.org/drawingml/2006/main">
              <a:ext uri="{FF2B5EF4-FFF2-40B4-BE49-F238E27FC236}">
                <a16:creationId xmlns:a16="http://schemas.microsoft.com/office/drawing/2014/main" id="{E7E44CFD-41AD-47D0-8818-B9195215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Same tool, two different effects — appearance vs. position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9" name="Google Shape;79;p7">
            <a:extLst xmlns:a="http://schemas.openxmlformats.org/drawingml/2006/main">
              <a:ext uri="{FF2B5EF4-FFF2-40B4-BE49-F238E27FC236}">
                <a16:creationId xmlns:a16="http://schemas.microsoft.com/office/drawing/2014/main" id="{840C08C5-FA22-47BB-B6F4-F57CB4DF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B2.4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0" name="Google Shape;80;p7">
            <a:extLst xmlns:a="http://schemas.openxmlformats.org/drawingml/2006/main">
              <a:ext uri="{FF2B5EF4-FFF2-40B4-BE49-F238E27FC236}">
                <a16:creationId xmlns:a16="http://schemas.microsoft.com/office/drawing/2014/main" id="{1D72479A-0A3C-4263-9273-79C830977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1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1" name="Google Shape;81;p7">
            <a:extLst xmlns:a="http://schemas.openxmlformats.org/drawingml/2006/main">
              <a:ext uri="{FF2B5EF4-FFF2-40B4-BE49-F238E27FC236}">
                <a16:creationId xmlns:a16="http://schemas.microsoft.com/office/drawing/2014/main" id="{0FA0F7F8-AC4A-488C-AC52-9F231B7B9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539496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8892B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7">
            <a:extLst xmlns:a="http://schemas.openxmlformats.org/drawingml/2006/main">
              <a:ext uri="{FF2B5EF4-FFF2-40B4-BE49-F238E27FC236}">
                <a16:creationId xmlns:a16="http://schemas.microsoft.com/office/drawing/2014/main" id="{C15D2EBC-9112-48A4-9FDF-CF4944650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495169"/>
            <a:ext cx="404622" cy="4046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9525" cmpd="sng">
            <a:solidFill>
              <a:srgbClr val="8892B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7">
            <a:extLst xmlns:a="http://schemas.openxmlformats.org/drawingml/2006/main">
              <a:ext uri="{FF2B5EF4-FFF2-40B4-BE49-F238E27FC236}">
                <a16:creationId xmlns:a16="http://schemas.microsoft.com/office/drawing/2014/main" id="{F50D7F81-2F97-4AE5-8A8C-13A884A0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069" y="2495169"/>
            <a:ext cx="404622" cy="4046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9525" cmpd="sng">
            <a:solidFill>
              <a:srgbClr val="8892B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7">
            <a:extLst xmlns:a="http://schemas.openxmlformats.org/drawingml/2006/main">
              <a:ext uri="{FF2B5EF4-FFF2-40B4-BE49-F238E27FC236}">
                <a16:creationId xmlns:a16="http://schemas.microsoft.com/office/drawing/2014/main" id="{E97C48E6-45AB-4B8E-A609-0B58B6B56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4313" y="2495169"/>
            <a:ext cx="404622" cy="4046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9525" cmpd="sng">
            <a:solidFill>
              <a:srgbClr val="8892B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7">
            <a:extLst xmlns:a="http://schemas.openxmlformats.org/drawingml/2006/main">
              <a:ext uri="{FF2B5EF4-FFF2-40B4-BE49-F238E27FC236}">
                <a16:creationId xmlns:a16="http://schemas.microsoft.com/office/drawing/2014/main" id="{56DD0235-D51A-4ADA-8C61-3F235E65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3557" y="2495169"/>
            <a:ext cx="404622" cy="4046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05050"/>
          </a:solidFill>
          <a:ln xmlns:a="http://schemas.openxmlformats.org/drawingml/2006/main" w="9525" cmpd="sng">
            <a:solidFill>
              <a:srgbClr val="8892B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7">
            <a:extLst xmlns:a="http://schemas.openxmlformats.org/drawingml/2006/main">
              <a:ext uri="{FF2B5EF4-FFF2-40B4-BE49-F238E27FC236}">
                <a16:creationId xmlns:a16="http://schemas.microsoft.com/office/drawing/2014/main" id="{E2B30259-7222-4A5A-81E2-CA0C96BD4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2801" y="2495169"/>
            <a:ext cx="404622" cy="4046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05050"/>
          </a:solidFill>
          <a:ln xmlns:a="http://schemas.openxmlformats.org/drawingml/2006/main" w="9525" cmpd="sng">
            <a:solidFill>
              <a:srgbClr val="8892B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7">
            <a:extLst xmlns:a="http://schemas.openxmlformats.org/drawingml/2006/main">
              <a:ext uri="{FF2B5EF4-FFF2-40B4-BE49-F238E27FC236}">
                <a16:creationId xmlns:a16="http://schemas.microsoft.com/office/drawing/2014/main" id="{78314A7C-65F1-4948-9A46-FF9EEB740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2045" y="2495169"/>
            <a:ext cx="404622" cy="4046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05050"/>
          </a:solidFill>
          <a:ln xmlns:a="http://schemas.openxmlformats.org/drawingml/2006/main" w="9525" cmpd="sng">
            <a:solidFill>
              <a:srgbClr val="8892B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7">
            <a:extLst xmlns:a="http://schemas.openxmlformats.org/drawingml/2006/main">
              <a:ext uri="{FF2B5EF4-FFF2-40B4-BE49-F238E27FC236}">
                <a16:creationId xmlns:a16="http://schemas.microsoft.com/office/drawing/2014/main" id="{15C1E6F2-A58B-4094-B969-08D6FDE46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76472"/>
            <a:ext cx="539496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Position example: fill changes at x=220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9" name="Google Shape;89;p7">
            <a:extLst xmlns:a="http://schemas.openxmlformats.org/drawingml/2006/main">
              <a:ext uri="{FF2B5EF4-FFF2-40B4-BE49-F238E27FC236}">
                <a16:creationId xmlns:a16="http://schemas.microsoft.com/office/drawing/2014/main" id="{49E894EF-E761-45CC-B593-FF77ED12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691640"/>
            <a:ext cx="539496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8892B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7">
            <a:extLst xmlns:a="http://schemas.openxmlformats.org/drawingml/2006/main">
              <a:ext uri="{FF2B5EF4-FFF2-40B4-BE49-F238E27FC236}">
                <a16:creationId xmlns:a16="http://schemas.microsoft.com/office/drawing/2014/main" id="{297709A2-146A-4E9B-A236-9EF4DDF6A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4543" y="2277428"/>
            <a:ext cx="337185" cy="3371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9525" cmpd="sng">
            <a:solidFill>
              <a:srgbClr val="8892B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7">
            <a:extLst xmlns:a="http://schemas.openxmlformats.org/drawingml/2006/main">
              <a:ext uri="{FF2B5EF4-FFF2-40B4-BE49-F238E27FC236}">
                <a16:creationId xmlns:a16="http://schemas.microsoft.com/office/drawing/2014/main" id="{BC64D649-7F49-4536-9C28-124ACB5E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3788" y="2277428"/>
            <a:ext cx="337185" cy="3371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9525" cmpd="sng">
            <a:solidFill>
              <a:srgbClr val="8892B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7">
            <a:extLst xmlns:a="http://schemas.openxmlformats.org/drawingml/2006/main">
              <a:ext uri="{FF2B5EF4-FFF2-40B4-BE49-F238E27FC236}">
                <a16:creationId xmlns:a16="http://schemas.microsoft.com/office/drawing/2014/main" id="{1D100A29-4275-4C6D-8235-0FB35B276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3032" y="2277428"/>
            <a:ext cx="337185" cy="3371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9525" cmpd="sng">
            <a:solidFill>
              <a:srgbClr val="8892B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7">
            <a:extLst xmlns:a="http://schemas.openxmlformats.org/drawingml/2006/main">
              <a:ext uri="{FF2B5EF4-FFF2-40B4-BE49-F238E27FC236}">
                <a16:creationId xmlns:a16="http://schemas.microsoft.com/office/drawing/2014/main" id="{C5FAF306-F69D-46A0-8C4E-C69736ADE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2276" y="2780348"/>
            <a:ext cx="337185" cy="3371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9525" cmpd="sng">
            <a:solidFill>
              <a:srgbClr val="8892B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7">
            <a:extLst xmlns:a="http://schemas.openxmlformats.org/drawingml/2006/main">
              <a:ext uri="{FF2B5EF4-FFF2-40B4-BE49-F238E27FC236}">
                <a16:creationId xmlns:a16="http://schemas.microsoft.com/office/drawing/2014/main" id="{7F1F8CC3-1BF4-4203-951F-D01A1DB90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1520" y="2780348"/>
            <a:ext cx="337185" cy="3371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9525" cmpd="sng">
            <a:solidFill>
              <a:srgbClr val="8892B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7">
            <a:extLst xmlns:a="http://schemas.openxmlformats.org/drawingml/2006/main">
              <a:ext uri="{FF2B5EF4-FFF2-40B4-BE49-F238E27FC236}">
                <a16:creationId xmlns:a16="http://schemas.microsoft.com/office/drawing/2014/main" id="{8A343B56-34B5-4736-8363-969C0904E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0764" y="2780348"/>
            <a:ext cx="337185" cy="3371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9525" cmpd="sng">
            <a:solidFill>
              <a:srgbClr val="8892B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7">
            <a:extLst xmlns:a="http://schemas.openxmlformats.org/drawingml/2006/main">
              <a:ext uri="{FF2B5EF4-FFF2-40B4-BE49-F238E27FC236}">
                <a16:creationId xmlns:a16="http://schemas.microsoft.com/office/drawing/2014/main" id="{A0DCDD85-5A98-400E-91C7-6C56A676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776472"/>
            <a:ext cx="539496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Variable example: position changes at i=3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7" name="Google Shape;97;p7">
            <a:extLst xmlns:a="http://schemas.openxmlformats.org/drawingml/2006/main">
              <a:ext uri="{FF2B5EF4-FFF2-40B4-BE49-F238E27FC236}">
                <a16:creationId xmlns:a16="http://schemas.microsoft.com/office/drawing/2014/main" id="{B87382FC-2C58-4B69-83D1-A1B6E81A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97680"/>
            <a:ext cx="11064240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7">
            <a:extLst xmlns:a="http://schemas.openxmlformats.org/drawingml/2006/main">
              <a:ext uri="{FF2B5EF4-FFF2-40B4-BE49-F238E27FC236}">
                <a16:creationId xmlns:a16="http://schemas.microsoft.com/office/drawing/2014/main" id="{5DC7046A-8B64-4DE2-AEC4-15BB6760E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462272"/>
            <a:ext cx="10607040" cy="1252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Same condition mechanism (if/else on a threshold), two different targets: one example changes fill, the other changes position. A condition can be used to vary many different properties — you choose which one.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9" name="Google Shape;99;p7">
            <a:extLst xmlns:a="http://schemas.openxmlformats.org/drawingml/2006/main">
              <a:ext uri="{FF2B5EF4-FFF2-40B4-BE49-F238E27FC236}">
                <a16:creationId xmlns:a16="http://schemas.microsoft.com/office/drawing/2014/main" id="{D8157727-4D0B-4264-93ED-1BA19ECBC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B2.4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0" name="Google Shape;100;p7">
            <a:extLst xmlns:a="http://schemas.openxmlformats.org/drawingml/2006/main">
              <a:ext uri="{FF2B5EF4-FFF2-40B4-BE49-F238E27FC236}">
                <a16:creationId xmlns:a16="http://schemas.microsoft.com/office/drawing/2014/main" id="{700BECE7-46C4-43BE-B023-C4655FE10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1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398040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Google Shape;106;p8">
            <a:extLst xmlns:a="http://schemas.openxmlformats.org/drawingml/2006/main">
              <a:ext uri="{FF2B5EF4-FFF2-40B4-BE49-F238E27FC236}">
                <a16:creationId xmlns:a16="http://schemas.microsoft.com/office/drawing/2014/main" id="{A4487568-D346-4F00-A968-D45CB29B4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700"/>
              <a:buFont typeface="Cambria"/>
              <a:buNone/>
            </a:pPr>
            <a:r>
              <a:rPr sz="27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Your Turn</a:t>
            </a:r>
            <a:endParaRPr sz="27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" name="Google Shape;107;p8">
            <a:extLst xmlns:a="http://schemas.openxmlformats.org/drawingml/2006/main">
              <a:ext uri="{FF2B5EF4-FFF2-40B4-BE49-F238E27FC236}">
                <a16:creationId xmlns:a16="http://schemas.microsoft.com/office/drawing/2014/main" id="{FA13A459-C242-45EC-80EB-89DFC12A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Two steps: predict, then design your own condition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8" name="Google Shape;108;p8">
            <a:extLst xmlns:a="http://schemas.openxmlformats.org/drawingml/2006/main">
              <a:ext uri="{FF2B5EF4-FFF2-40B4-BE49-F238E27FC236}">
                <a16:creationId xmlns:a16="http://schemas.microsoft.com/office/drawing/2014/main" id="{016FFEF0-66F9-4182-AD5D-5EEFD68E7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B2.4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9" name="Google Shape;109;p8">
            <a:extLst xmlns:a="http://schemas.openxmlformats.org/drawingml/2006/main">
              <a:ext uri="{FF2B5EF4-FFF2-40B4-BE49-F238E27FC236}">
                <a16:creationId xmlns:a16="http://schemas.microsoft.com/office/drawing/2014/main" id="{E3914662-557A-4A01-848B-1D858863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1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0" name="Google Shape;110;p8">
            <a:extLst xmlns:a="http://schemas.openxmlformats.org/drawingml/2006/main">
              <a:ext uri="{FF2B5EF4-FFF2-40B4-BE49-F238E27FC236}">
                <a16:creationId xmlns:a16="http://schemas.microsoft.com/office/drawing/2014/main" id="{A68A09E9-40ED-4873-A88B-C0AFB74E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5394960" cy="411480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8">
            <a:extLst xmlns:a="http://schemas.openxmlformats.org/drawingml/2006/main">
              <a:ext uri="{FF2B5EF4-FFF2-40B4-BE49-F238E27FC236}">
                <a16:creationId xmlns:a16="http://schemas.microsoft.com/office/drawing/2014/main" id="{BD998053-3230-4025-B453-87B543D50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64792"/>
            <a:ext cx="49377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Step 1 — Guided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2" name="Google Shape;112;p8">
            <a:extLst xmlns:a="http://schemas.openxmlformats.org/drawingml/2006/main">
              <a:ext uri="{FF2B5EF4-FFF2-40B4-BE49-F238E27FC236}">
                <a16:creationId xmlns:a16="http://schemas.microsoft.com/office/drawing/2014/main" id="{98A70006-D74D-4147-BD65-130C264F3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0552"/>
            <a:ext cx="4937760" cy="3447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Change the position-threshold example's cutoff from 220 to a different value of your choosing.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Before running it, predict exactly which shapes will be light and which will be dark with your new cutoff — then check.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3" name="Google Shape;113;p8">
            <a:extLst xmlns:a="http://schemas.openxmlformats.org/drawingml/2006/main">
              <a:ext uri="{FF2B5EF4-FFF2-40B4-BE49-F238E27FC236}">
                <a16:creationId xmlns:a16="http://schemas.microsoft.com/office/drawing/2014/main" id="{B70644D5-3FB8-499B-B52E-8F77E700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600200"/>
            <a:ext cx="5394960" cy="411480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8">
            <a:extLst xmlns:a="http://schemas.openxmlformats.org/drawingml/2006/main">
              <a:ext uri="{FF2B5EF4-FFF2-40B4-BE49-F238E27FC236}">
                <a16:creationId xmlns:a16="http://schemas.microsoft.com/office/drawing/2014/main" id="{A5458B71-1775-44AB-8A71-681F45E00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764792"/>
            <a:ext cx="49377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Step 2 — Construct It Yourself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5" name="Google Shape;115;p8">
            <a:extLst xmlns:a="http://schemas.openxmlformats.org/drawingml/2006/main">
              <a:ext uri="{FF2B5EF4-FFF2-40B4-BE49-F238E27FC236}">
                <a16:creationId xmlns:a16="http://schemas.microsoft.com/office/drawing/2014/main" id="{0D68F59D-3881-4EA5-9F1D-011497164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130552"/>
            <a:ext cx="4937760" cy="3447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Create six shapes where a condition makes the first three differ from the last three.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You choose whether the condition changes fill, size, or position — any of the three is a valid, complete answer. Write the whole loop yourself, including the condition.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6" name="Google Shape;116;p8">
            <a:extLst xmlns:a="http://schemas.openxmlformats.org/drawingml/2006/main">
              <a:ext uri="{FF2B5EF4-FFF2-40B4-BE49-F238E27FC236}">
                <a16:creationId xmlns:a16="http://schemas.microsoft.com/office/drawing/2014/main" id="{D9BFF09F-5E9E-440E-8714-68A002AF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B2.4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7" name="Google Shape;117;p8">
            <a:extLst xmlns:a="http://schemas.openxmlformats.org/drawingml/2006/main">
              <a:ext uri="{FF2B5EF4-FFF2-40B4-BE49-F238E27FC236}">
                <a16:creationId xmlns:a16="http://schemas.microsoft.com/office/drawing/2014/main" id="{0AB1AA8F-6153-44F8-A619-FF621229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1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031513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3" name="Google Shape;123;p9">
            <a:extLst xmlns:a="http://schemas.openxmlformats.org/drawingml/2006/main">
              <a:ext uri="{FF2B5EF4-FFF2-40B4-BE49-F238E27FC236}">
                <a16:creationId xmlns:a16="http://schemas.microsoft.com/office/drawing/2014/main" id="{32FA4C57-A4AC-498F-B0C9-65256584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700"/>
              <a:buFont typeface="Cambria"/>
              <a:buNone/>
            </a:pPr>
            <a:r>
              <a:rPr sz="27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Recap</a:t>
            </a:r>
            <a:endParaRPr sz="27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4" name="Google Shape;124;p9">
            <a:extLst xmlns:a="http://schemas.openxmlformats.org/drawingml/2006/main">
              <a:ext uri="{FF2B5EF4-FFF2-40B4-BE49-F238E27FC236}">
                <a16:creationId xmlns:a16="http://schemas.microsoft.com/office/drawing/2014/main" id="{1A9C0B0D-4D18-4241-BBD0-6A3B5F8B6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What carries forward into Part 2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5" name="Google Shape;125;p9">
            <a:extLst xmlns:a="http://schemas.openxmlformats.org/drawingml/2006/main">
              <a:ext uri="{FF2B5EF4-FFF2-40B4-BE49-F238E27FC236}">
                <a16:creationId xmlns:a16="http://schemas.microsoft.com/office/drawing/2014/main" id="{F4CC0F58-20F5-4A1B-ACFE-1EA368C8C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B2.4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6" name="Google Shape;126;p9">
            <a:extLst xmlns:a="http://schemas.openxmlformats.org/drawingml/2006/main">
              <a:ext uri="{FF2B5EF4-FFF2-40B4-BE49-F238E27FC236}">
                <a16:creationId xmlns:a16="http://schemas.microsoft.com/office/drawing/2014/main" id="{2BEFD241-D2E6-4123-9ED2-A0D287F5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1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7" name="Google Shape;127;p9">
            <a:extLst xmlns:a="http://schemas.openxmlformats.org/drawingml/2006/main">
              <a:ext uri="{FF2B5EF4-FFF2-40B4-BE49-F238E27FC236}">
                <a16:creationId xmlns:a16="http://schemas.microsoft.com/office/drawing/2014/main" id="{B76CD231-5D35-4DE6-BD6B-417A457CF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5394960" cy="237744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9">
            <a:extLst xmlns:a="http://schemas.openxmlformats.org/drawingml/2006/main">
              <a:ext uri="{FF2B5EF4-FFF2-40B4-BE49-F238E27FC236}">
                <a16:creationId xmlns:a16="http://schemas.microsoft.com/office/drawing/2014/main" id="{A6C474E5-7F2F-494C-BB16-8ED70E11C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01952"/>
            <a:ext cx="49377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Key idea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9" name="Google Shape;129;p9">
            <a:extLst xmlns:a="http://schemas.openxmlformats.org/drawingml/2006/main">
              <a:ext uri="{FF2B5EF4-FFF2-40B4-BE49-F238E27FC236}">
                <a16:creationId xmlns:a16="http://schemas.microsoft.com/office/drawing/2014/main" id="{354AD992-B9C7-4E83-B3D3-CF07B7B2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67712"/>
            <a:ext cx="4937760" cy="1709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 condition can check many kinds of values you already have — position, a loop counter, anything — and use it to change a completely different property. The condition and the thing it checks don't have to be the same thing.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0" name="Google Shape;130;p9">
            <a:extLst xmlns:a="http://schemas.openxmlformats.org/drawingml/2006/main">
              <a:ext uri="{FF2B5EF4-FFF2-40B4-BE49-F238E27FC236}">
                <a16:creationId xmlns:a16="http://schemas.microsoft.com/office/drawing/2014/main" id="{F1F8E633-6175-41BE-A472-33CAC9D3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737360"/>
            <a:ext cx="5394960" cy="237744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9">
            <a:extLst xmlns:a="http://schemas.openxmlformats.org/drawingml/2006/main">
              <a:ext uri="{FF2B5EF4-FFF2-40B4-BE49-F238E27FC236}">
                <a16:creationId xmlns:a16="http://schemas.microsoft.com/office/drawing/2014/main" id="{AFC6F020-DFE8-4DBF-99C3-F79CA03A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901952"/>
            <a:ext cx="49377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Next lesson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2" name="Google Shape;132;p9">
            <a:extLst xmlns:a="http://schemas.openxmlformats.org/drawingml/2006/main">
              <a:ext uri="{FF2B5EF4-FFF2-40B4-BE49-F238E27FC236}">
                <a16:creationId xmlns:a16="http://schemas.microsoft.com/office/drawing/2014/main" id="{6A57EF63-4C7C-4D11-8C88-D1CD0B90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267712"/>
            <a:ext cx="4937760" cy="1709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Next lesson: conditions inside functions, and conditions that react to generated values.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3" name="Google Shape;133;p9">
            <a:extLst xmlns:a="http://schemas.openxmlformats.org/drawingml/2006/main">
              <a:ext uri="{FF2B5EF4-FFF2-40B4-BE49-F238E27FC236}">
                <a16:creationId xmlns:a16="http://schemas.microsoft.com/office/drawing/2014/main" id="{B0343F37-298C-47FD-A8AA-905F7E40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434840"/>
            <a:ext cx="11064240" cy="146304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9">
            <a:extLst xmlns:a="http://schemas.openxmlformats.org/drawingml/2006/main">
              <a:ext uri="{FF2B5EF4-FFF2-40B4-BE49-F238E27FC236}">
                <a16:creationId xmlns:a16="http://schemas.microsoft.com/office/drawing/2014/main" id="{CBF5BB1A-983F-4A4B-8FD2-BEF6200C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599432"/>
            <a:ext cx="10515600" cy="11338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177800" marR="0" lvl="0" indent="-17780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A single if/else, applied inside a loop, is already enough for real procedural variation.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77800" marR="0" lvl="0" indent="-177800" algn="l">
              <a:spcBef>
                <a:spcPts val="60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What a condition checks and what it changes can be two completely different properties.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5" name="Google Shape;135;p9">
            <a:extLst xmlns:a="http://schemas.openxmlformats.org/drawingml/2006/main">
              <a:ext uri="{FF2B5EF4-FFF2-40B4-BE49-F238E27FC236}">
                <a16:creationId xmlns:a16="http://schemas.microsoft.com/office/drawing/2014/main" id="{38C2BF39-18EB-4D46-988E-B722F750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B2.4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6" name="Google Shape;136;p9">
            <a:extLst xmlns:a="http://schemas.openxmlformats.org/drawingml/2006/main">
              <a:ext uri="{FF2B5EF4-FFF2-40B4-BE49-F238E27FC236}">
                <a16:creationId xmlns:a16="http://schemas.microsoft.com/office/drawing/2014/main" id="{B06608C2-DC6F-41A5-A2EC-B477AC16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1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563979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2026-08-29T05:48:59.1010000Z</dcterms:created>
  <dcterms:modified xsi:type="dcterms:W3CDTF">2026-08-29T05:48:59.1010000Z</dcterms:modified>
</coreProperties>
</file>