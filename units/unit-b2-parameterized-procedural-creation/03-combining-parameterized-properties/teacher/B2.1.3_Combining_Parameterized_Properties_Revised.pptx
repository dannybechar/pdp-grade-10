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0fd30b2824b31" /><Relationship Type="http://schemas.openxmlformats.org/officeDocument/2006/relationships/extended-properties" Target="/docProps/app.xml" Id="R6918fd0d367541d6" /><Relationship Type="http://schemas.openxmlformats.org/officeDocument/2006/relationships/officeDocument" Target="/ppt/presentation.xml" Id="R78c5a1483d504c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c6cc02bc4849b5"/>
  </p:sldMasterIdLst>
  <p:notesMasterIdLst>
    <p:notesMasterId xmlns:r="http://schemas.openxmlformats.org/officeDocument/2006/relationships" r:id="Rf21e295cdc314e9c"/>
  </p:notesMasterIdLst>
  <p:sldIdLst>
    <p:sldId xmlns:r="http://schemas.openxmlformats.org/officeDocument/2006/relationships" id="256" r:id="Ra506df40f8704272"/>
    <p:sldId xmlns:r="http://schemas.openxmlformats.org/officeDocument/2006/relationships" id="257" r:id="R7080a456e2b8466b"/>
    <p:sldId xmlns:r="http://schemas.openxmlformats.org/officeDocument/2006/relationships" id="258" r:id="R281789cf60a244ed"/>
    <p:sldId xmlns:r="http://schemas.openxmlformats.org/officeDocument/2006/relationships" id="259" r:id="Rcbad06fd790541ed"/>
    <p:sldId xmlns:r="http://schemas.openxmlformats.org/officeDocument/2006/relationships" id="260" r:id="R978df9cfe7714197"/>
    <p:sldId xmlns:r="http://schemas.openxmlformats.org/officeDocument/2006/relationships" id="261" r:id="Rcc74b5b5cbae4592"/>
    <p:sldId xmlns:r="http://schemas.openxmlformats.org/officeDocument/2006/relationships" id="262" r:id="R6037cac564354419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0f05929e34f2e" /><Relationship Type="http://schemas.openxmlformats.org/officeDocument/2006/relationships/slideMaster" Target="/ppt/slideMasters/slideMaster1.xml" Id="Reec6cc02bc4849b5" /><Relationship Type="http://schemas.openxmlformats.org/officeDocument/2006/relationships/notesMaster" Target="/ppt/notesMasters/notesMaster1.xml" Id="Rf21e295cdc314e9c" /><Relationship Type="http://schemas.openxmlformats.org/officeDocument/2006/relationships/presProps" Target="/ppt/presProps.xml" Id="Rb4a7345ed6264f1c" /><Relationship Type="http://schemas.openxmlformats.org/officeDocument/2006/relationships/tableStyles" Target="/ppt/tableStyles.xml" Id="R70b031b1982a4d96" /><Relationship Type="http://schemas.openxmlformats.org/officeDocument/2006/relationships/slide" Target="/ppt/slides/slide1.xml" Id="Ra506df40f8704272" /><Relationship Type="http://schemas.openxmlformats.org/officeDocument/2006/relationships/slide" Target="/ppt/slides/slide2.xml" Id="R7080a456e2b8466b" /><Relationship Type="http://schemas.openxmlformats.org/officeDocument/2006/relationships/slide" Target="/ppt/slides/slide3.xml" Id="R281789cf60a244ed" /><Relationship Type="http://schemas.openxmlformats.org/officeDocument/2006/relationships/slide" Target="/ppt/slides/slide4.xml" Id="Rcbad06fd790541ed" /><Relationship Type="http://schemas.openxmlformats.org/officeDocument/2006/relationships/slide" Target="/ppt/slides/slide5.xml" Id="R978df9cfe7714197" /><Relationship Type="http://schemas.openxmlformats.org/officeDocument/2006/relationships/slide" Target="/ppt/slides/slide6.xml" Id="Rcc74b5b5cbae4592" /><Relationship Type="http://schemas.openxmlformats.org/officeDocument/2006/relationships/slide" Target="/ppt/slides/slide7.xml" Id="R6037cac56435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b137d638c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e138c6333421a" /><Relationship Type="http://schemas.openxmlformats.org/officeDocument/2006/relationships/notesMaster" Target="/ppt/notesMasters/notesMaster1.xml" Id="Re1a4fdaf6f6f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f2409043924999" /><Relationship Type="http://schemas.openxmlformats.org/officeDocument/2006/relationships/notesMaster" Target="/ppt/notesMasters/notesMaster1.xml" Id="R4ed6bcdf254d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81a5e39f74f29" /><Relationship Type="http://schemas.openxmlformats.org/officeDocument/2006/relationships/notesMaster" Target="/ppt/notesMasters/notesMaster1.xml" Id="R1a080e754cc048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36da2f7cc740a5" /><Relationship Type="http://schemas.openxmlformats.org/officeDocument/2006/relationships/notesMaster" Target="/ppt/notesMasters/notesMaster1.xml" Id="Rc67d629d4a43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08aacbd0284adb" /><Relationship Type="http://schemas.openxmlformats.org/officeDocument/2006/relationships/notesMaster" Target="/ppt/notesMasters/notesMaster1.xml" Id="R3659219f9c1841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4252fdbd6c423d" /><Relationship Type="http://schemas.openxmlformats.org/officeDocument/2006/relationships/notesMaster" Target="/ppt/notesMasters/notesMaster1.xml" Id="R9a00d29e6120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9d7c6c46744cd2" /><Relationship Type="http://schemas.openxmlformats.org/officeDocument/2006/relationships/notesMaster" Target="/ppt/notesMasters/notesMaster1.xml" Id="R41d491bf83724e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the lesson: one method can expose more than one configurable property without introducing a new mechanism.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position already uses x and y. Ask which constants control size and which offsets must scale with that size.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adding size. Use a radius derived from size so petal offsets grow proportionally; avoid leaving a fixed 30-pixel offset when the flower changes size.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Trace the garden calls. For each call, identify centre and size before predicting the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Emphasize parameter order. A call compiles when types match even if semantically different float arguments are accidentally swapped.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Construct task: parameterize balloon position and size while keeping its proportions. Students compile after the signature, body, and calls are synchronized.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adding another property does not change how parameters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5c162545543b1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3463c46e7418d" /><Relationship Type="http://schemas.openxmlformats.org/officeDocument/2006/relationships/slideLayout" Target="/ppt/slideLayouts/slideLayout1.xml" Id="Rfaf966ff706e496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966ff706e496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4c698784c4e9d" /><Relationship Type="http://schemas.openxmlformats.org/officeDocument/2006/relationships/notesSlide" Target="/ppt/notesSlides/notesSlide1.xml" Id="R5960746708144c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3713b99f5477c" /><Relationship Type="http://schemas.openxmlformats.org/officeDocument/2006/relationships/notesSlide" Target="/ppt/notesSlides/notesSlide2.xml" Id="R7e614704cc67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dea52b53e40c8" /><Relationship Type="http://schemas.openxmlformats.org/officeDocument/2006/relationships/notesSlide" Target="/ppt/notesSlides/notesSlide3.xml" Id="R39b62cbf937c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e196de0445dd" /><Relationship Type="http://schemas.openxmlformats.org/officeDocument/2006/relationships/notesSlide" Target="/ppt/notesSlides/notesSlide4.xml" Id="R6aaf6f36fe96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0fda07fa4292" /><Relationship Type="http://schemas.openxmlformats.org/officeDocument/2006/relationships/notesSlide" Target="/ppt/notesSlides/notesSlide5.xml" Id="R38ae599bb6ec42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94ae53fd443e" /><Relationship Type="http://schemas.openxmlformats.org/officeDocument/2006/relationships/notesSlide" Target="/ppt/notesSlides/notesSlide6.xml" Id="Ra05ae7b270e547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60791e4bf4072" /><Relationship Type="http://schemas.openxmlformats.org/officeDocument/2006/relationships/notesSlide" Target="/ppt/notesSlides/notesSlide7.xml" Id="R3ae1abaaaa8640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0215D076-EFBA-490B-A05F-FBE57058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B2 PARAMETERIZED &amp; PROCEDURAL CREATION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FE33B1D7-5697-4854-BA81-AE1E03B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4577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B2.1 (Part 3 of 3) — Combining Parameterized Properties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85D90746-D561-4C43-BF5A-03EAAF6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One function, two configurable properties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CBC823F-D1C2-43DC-941B-140C7673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072196CF-FA95-4AE2-B0F4-B4EA9A4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317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6F8B32A-6ADC-4A02-8DE8-E9C6001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DA0478D8-030E-4DD4-B344-D0DB5A5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Parts 1–2 — what today combines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118805D6-3F3A-4167-8A5C-415DB72A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D4D5A583-F445-4026-ACBA-2B421BC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FB8F8D0-454E-46F2-A200-BE529017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8CF2F4E9-2949-40E4-827D-7C00D02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Part 1: a custom function packages a drawing sequence — call it from draw() instead of retyping it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Part 2: parameters make that function configurable — x, y let separate calls place it differently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Function → removes duplicated implementation. Parameters → make that implementation configurable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New today: a second configurable property alongside position — the same mechanism, used twice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10C982D2-330A-4FD6-B1E5-4621A929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875DAE0-B440-4076-8D51-7353E1B3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focus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 far, drawFlower(x, y) controls WHERE the flower appears. Today it also controls HOW BIG — one more parameter, no new mechanism. The same idea that worked once works again.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2944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AF3C6265-E519-461A-A46C-6903859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Adding a Second Property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63DE5EC9-C630-4ACF-B9EA-6A384B2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Position stays; size joins it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65BB8FA1-31ED-4EB1-9A2F-583C132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F1C76101-673D-4C7C-B90D-AE051820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912B3D2-41DE-47B7-9FAD-C43EA3F2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Before — position only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6AB1F7F-9D95-4891-A24E-FE974A1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D8ACCFF-3E64-4EE0-82AC-62CD9BD1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drawFlower(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(80);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y, 30, 30);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y-30,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y+30,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(x-30, y,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(x+30, y,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23343A7B-B948-45CA-818D-756C5D7A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After — position and size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41F991B4-AE7E-4F76-A426-BEFCFED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B20D6991-FC0B-4E79-BC9B-25B1E368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drawFlower(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y,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(80);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y, s, s);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(200);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petalSize = s - 10;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y-s, petalSize, petalSize);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y+s, petalSize, petalSize);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(x-s, y, petalSize, petalSize);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(x+s, y, petalSize, petalSize);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31638701-B280-4CDC-9C07-F5BB9A6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11091672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4ADE7C95-5AAB-4637-B5E4-3681DF42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38498"/>
            <a:ext cx="10689336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changed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Both the center's diameter and the petal offset were 30 in the original flower — a choice, not a rule — so here they're controlled by the same parameter, s. Each petal's size becomes s - 10, another chosen relationship: a step smaller than the center, same as before. When s = 30, this produces exactly Part 2's flower: petalSize = 20, offset = 30.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45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AA9C8F46-329F-402C-8125-046F22F9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Garden of Flowers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C1B25E82-3A69-4EA0-B2D1-5CBF8DD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function, varied position AND size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0944FFF8-869B-4D5D-ABA9-E5DE55A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4D99FBB6-F5AB-4329-AF4C-D326153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E6119BB6-0BEC-42D6-B18B-3F2C600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92E524F3-5078-45AB-B68C-3B57A114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draw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background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drawFlower(80, 80, 20);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drawFlower(320, 100, 35);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drawFlower(150, 300, 25);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drawFlower(320, 300, 15);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D369EB4-290B-47B6-B0F8-0AB6C85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55778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C70D2272-4BCC-4CFF-A3B4-786A799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438498"/>
            <a:ext cx="5175504" cy="1410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appears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Four flowers, each a different size, each in a different spot — a small one upper-left, a large one upper-right, and two more of yet different sizes below. One function, four calls, four independent combinations of position and size.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A05B02F4-4FB4-4266-8771-7FACA3AA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5239512" cy="461772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386093F4-E82A-4428-B139-6625D5DE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512418"/>
            <a:ext cx="4837176" cy="4336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Notice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Nothing about drawFlower()'s body changed between these four calls — only the arguments did. Adding another parameter didn't complicate calling the function; it just gave each call one more thing to decide. This scales: adding yet another parameter beyond s would work exactly the same way.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3934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6749E39F-5FB1-4C17-A5E6-D3131CF2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Properties, No New Mechanism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7F4515F6-9C1F-4565-ACC4-75A038A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same idea, used twice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745059B8-8EE2-4D52-BA65-B622F5A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526568F2-87BB-4C70-88D2-DD28186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07C03295-386E-4788-9F3B-C9E99C41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D0E51C17-0CFF-445D-9941-774A2BF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12418"/>
            <a:ext cx="4992624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What's actually new here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Nothing mechanically. Part 2 already established that a parameter lets separate calls configure a function differently. Today's only change is having parameters configure two different properties at once, instead of one. There's no new rule to learn — just the same rule, applied again.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9B4E1AC9-475B-48CB-9869-D44ED75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7160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88996769-3E16-4A0D-BC7A-74FD3A4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12418"/>
            <a:ext cx="4992624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Stretch: appearance too?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 could add a shade parameter and call fill(shade) inside the function. It works — but remember fill() is persistent style state (from B1): whatever shade the function last set stays active after it returns, affecting anything drawn afterward. Position and size don't have this caveat, which is why they're today's main example.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5254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8CF82BF3-0BD3-41AF-859D-547192A6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Combine It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6387E1F2-31BE-4D2F-8CB1-AE50FC9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Construct task — give your balloon a size too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8AD02239-0862-49DF-9D54-A5025CE7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076C74AA-2002-4F85-BCB9-74D14715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AFB49D58-545E-4EDF-B931-A73B074B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9E357718-EEC4-4C22-B7F1-68BD11E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drawBalloon(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x,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float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(150);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ellipse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(x, y,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fill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rect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(x-3, y+30, 6,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129B57BE-D769-435D-B8BA-DE291D6A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E75CB6FB-0B5E-417E-ADA4-982FF030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2B57B60F-8085-4506-96BD-4835114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4645152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a third parameter, s, to drawBalloon()'s signature — alongside your existing x, y.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80433076-2831-4972-9A71-253E13C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3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294F2064-BD7C-4C48-A8BF-97361540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3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F91E4300-E551-4F35-B625-DD0BE236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77440"/>
            <a:ext cx="4645152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Replace the balloon's 60 (diameter), 30 (string offset), AND 80 (string length) with expressions using s, preserving the same relationships they had when s = 60.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BB0FEE6-791B-4B14-801A-88886AAD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4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E449665F-A913-4DD8-81E6-490CF174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4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65DA7417-F85D-4052-B25F-CC603CE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429000"/>
            <a:ext cx="4645152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drawBalloon() at least three times with different x, y, AND s combinations.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79A7E9D9-BCF3-4056-91D0-E518F14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3743901A-0D93-450D-8AFF-66ADC0EF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0EA4E76C-A77E-48EB-A892-4BA03C9F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480560"/>
            <a:ext cx="4645152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it. Confirm you see balloons of different sizes in different places.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83264082-F1E9-4A58-910C-324AB99E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57784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005B4641-4538-45F8-B626-3059F207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06978"/>
            <a:ext cx="5175504" cy="2278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Success looks like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several balloons that are visibly different sizes AND in different places — not just the same balloon copy-pasted, and not just one property changing while the other stays fixed.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every balloon is the same size, check that the diameter and string-offset numbers inside the function body actually changed to use 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4581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14075AFC-31B9-46CB-8B6E-1DC13185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Recap: B2.1 Complete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A8B7AA89-4F8B-4777-A432-D3483C7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you should be able to do now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E7C054D1-F70E-4D7B-A40E-A897719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2483D6EC-D213-457A-AD14-A5C5DEB0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3 of 3) · Combining Parameterized Properties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9E33CC9C-F442-4A55-A7CA-16732962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29184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02492F7D-FE70-4FA2-A323-839C930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962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Package a drawing sequence into a custom function and call it from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position parameters so separate calls place a component differently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another parameter (like size) to control a second property, without breaking the first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a function repeatedly with varied argument combinations to produce a coherent, varied result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11AC777D-2ACB-43D9-B7C2-1889D6F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694944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2CE38DBA-E2F7-4C78-8016-8C60420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49978"/>
            <a:ext cx="6547104" cy="8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Next: B2.2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You've been calling functions by hand, once per line. B2.2 introduces loops — so a function can be called many times without writing each call yourself.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3C749743-1365-48E8-A963-9CF53EF3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0609A21C-FFE6-4DCD-AEEA-364BA273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br/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function removes duplicated code. Parameters make it configurable. Nothing stops you from parameterizing more than one property — each new parameter just gives calls one more thing to decide, using the exact same mechanism every time.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204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2026-08-29T05:48:38.7190000Z</dcterms:created>
  <dcterms:modified xsi:type="dcterms:W3CDTF">2026-08-29T05:48:38.7190000Z</dcterms:modified>
</coreProperties>
</file>