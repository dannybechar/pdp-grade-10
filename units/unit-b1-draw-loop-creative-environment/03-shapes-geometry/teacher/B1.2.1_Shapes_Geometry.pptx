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d3169e24994b70" /><Relationship Type="http://schemas.openxmlformats.org/officeDocument/2006/relationships/extended-properties" Target="/docProps/app.xml" Id="Rebcbb1838c6d4ec8" /><Relationship Type="http://schemas.openxmlformats.org/officeDocument/2006/relationships/officeDocument" Target="/ppt/presentation.xml" Id="Rb241ffef4d394e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16e59e4a394ce3"/>
  </p:sldMasterIdLst>
  <p:notesMasterIdLst>
    <p:notesMasterId xmlns:r="http://schemas.openxmlformats.org/officeDocument/2006/relationships" r:id="Rc54e5f34dcdf4197"/>
  </p:notesMasterIdLst>
  <p:sldIdLst>
    <p:sldId xmlns:r="http://schemas.openxmlformats.org/officeDocument/2006/relationships" id="256" r:id="Re1feb299d51a4db9"/>
    <p:sldId xmlns:r="http://schemas.openxmlformats.org/officeDocument/2006/relationships" id="257" r:id="R33ab7a2f3a3e4da8"/>
    <p:sldId xmlns:r="http://schemas.openxmlformats.org/officeDocument/2006/relationships" id="258" r:id="Ra9d470907fb84acc"/>
    <p:sldId xmlns:r="http://schemas.openxmlformats.org/officeDocument/2006/relationships" id="259" r:id="Rcd64d356cb114593"/>
    <p:sldId xmlns:r="http://schemas.openxmlformats.org/officeDocument/2006/relationships" id="260" r:id="R90936adba1da4391"/>
    <p:sldId xmlns:r="http://schemas.openxmlformats.org/officeDocument/2006/relationships" id="261" r:id="Rb427db9c88b649b5"/>
    <p:sldId xmlns:r="http://schemas.openxmlformats.org/officeDocument/2006/relationships" id="262" r:id="Rf8593ac4a59f4da1"/>
    <p:sldId xmlns:r="http://schemas.openxmlformats.org/officeDocument/2006/relationships" id="263" r:id="Ra3b0ef7058064f9d"/>
    <p:sldId xmlns:r="http://schemas.openxmlformats.org/officeDocument/2006/relationships" id="264" r:id="R2d1b00af3b6a40af"/>
    <p:sldId xmlns:r="http://schemas.openxmlformats.org/officeDocument/2006/relationships" id="265" r:id="R449451c703784c76"/>
    <p:sldId xmlns:r="http://schemas.openxmlformats.org/officeDocument/2006/relationships" id="266" r:id="R991f2ce15a9f4bd9"/>
    <p:sldId xmlns:r="http://schemas.openxmlformats.org/officeDocument/2006/relationships" id="267" r:id="R62d64cdd9f1b4f81"/>
    <p:sldId xmlns:r="http://schemas.openxmlformats.org/officeDocument/2006/relationships" id="268" r:id="R42df869430274ed5"/>
    <p:sldId xmlns:r="http://schemas.openxmlformats.org/officeDocument/2006/relationships" id="269" r:id="R5d17588a22f044b6"/>
    <p:sldId xmlns:r="http://schemas.openxmlformats.org/officeDocument/2006/relationships" id="270" r:id="Rc1bee4469ef94678"/>
    <p:sldId xmlns:r="http://schemas.openxmlformats.org/officeDocument/2006/relationships" id="271" r:id="Rf5f171d41aa647b6"/>
    <p:sldId xmlns:r="http://schemas.openxmlformats.org/officeDocument/2006/relationships" id="272" r:id="R066907c9fe864ab1"/>
    <p:sldId xmlns:r="http://schemas.openxmlformats.org/officeDocument/2006/relationships" id="273" r:id="Rad5f9e26085b4270"/>
    <p:sldId xmlns:r="http://schemas.openxmlformats.org/officeDocument/2006/relationships" id="274" r:id="R38105f0c400e45d0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800b6daf344590" /><Relationship Type="http://schemas.openxmlformats.org/officeDocument/2006/relationships/slideMaster" Target="/ppt/slideMasters/slideMaster1.xml" Id="Rcd16e59e4a394ce3" /><Relationship Type="http://schemas.openxmlformats.org/officeDocument/2006/relationships/notesMaster" Target="/ppt/notesMasters/notesMaster1.xml" Id="Rc54e5f34dcdf4197" /><Relationship Type="http://schemas.openxmlformats.org/officeDocument/2006/relationships/presProps" Target="/ppt/presProps.xml" Id="Rdd13a7e10bb448f1" /><Relationship Type="http://schemas.openxmlformats.org/officeDocument/2006/relationships/tableStyles" Target="/ppt/tableStyles.xml" Id="Ra78636e57efd484f" /><Relationship Type="http://schemas.openxmlformats.org/officeDocument/2006/relationships/slide" Target="/ppt/slides/slide1.xml" Id="Re1feb299d51a4db9" /><Relationship Type="http://schemas.openxmlformats.org/officeDocument/2006/relationships/slide" Target="/ppt/slides/slide2.xml" Id="R33ab7a2f3a3e4da8" /><Relationship Type="http://schemas.openxmlformats.org/officeDocument/2006/relationships/slide" Target="/ppt/slides/slide3.xml" Id="Ra9d470907fb84acc" /><Relationship Type="http://schemas.openxmlformats.org/officeDocument/2006/relationships/slide" Target="/ppt/slides/slide4.xml" Id="Rcd64d356cb114593" /><Relationship Type="http://schemas.openxmlformats.org/officeDocument/2006/relationships/slide" Target="/ppt/slides/slide5.xml" Id="R90936adba1da4391" /><Relationship Type="http://schemas.openxmlformats.org/officeDocument/2006/relationships/slide" Target="/ppt/slides/slide6.xml" Id="Rb427db9c88b649b5" /><Relationship Type="http://schemas.openxmlformats.org/officeDocument/2006/relationships/slide" Target="/ppt/slides/slide7.xml" Id="Rf8593ac4a59f4da1" /><Relationship Type="http://schemas.openxmlformats.org/officeDocument/2006/relationships/slide" Target="/ppt/slides/slide8.xml" Id="Ra3b0ef7058064f9d" /><Relationship Type="http://schemas.openxmlformats.org/officeDocument/2006/relationships/slide" Target="/ppt/slides/slide9.xml" Id="R2d1b00af3b6a40af" /><Relationship Type="http://schemas.openxmlformats.org/officeDocument/2006/relationships/slide" Target="/ppt/slides/slide10.xml" Id="R449451c703784c76" /><Relationship Type="http://schemas.openxmlformats.org/officeDocument/2006/relationships/slide" Target="/ppt/slides/slide11.xml" Id="R991f2ce15a9f4bd9" /><Relationship Type="http://schemas.openxmlformats.org/officeDocument/2006/relationships/slide" Target="/ppt/slides/slide12.xml" Id="R62d64cdd9f1b4f81" /><Relationship Type="http://schemas.openxmlformats.org/officeDocument/2006/relationships/slide" Target="/ppt/slides/slide13.xml" Id="R42df869430274ed5" /><Relationship Type="http://schemas.openxmlformats.org/officeDocument/2006/relationships/slide" Target="/ppt/slides/slide14.xml" Id="R5d17588a22f044b6" /><Relationship Type="http://schemas.openxmlformats.org/officeDocument/2006/relationships/slide" Target="/ppt/slides/slide15.xml" Id="Rc1bee4469ef94678" /><Relationship Type="http://schemas.openxmlformats.org/officeDocument/2006/relationships/slide" Target="/ppt/slides/slide16.xml" Id="Rf5f171d41aa647b6" /><Relationship Type="http://schemas.openxmlformats.org/officeDocument/2006/relationships/slide" Target="/ppt/slides/slide17.xml" Id="R066907c9fe864ab1" /><Relationship Type="http://schemas.openxmlformats.org/officeDocument/2006/relationships/slide" Target="/ppt/slides/slide18.xml" Id="Rad5f9e26085b4270" /><Relationship Type="http://schemas.openxmlformats.org/officeDocument/2006/relationships/slide" Target="/ppt/slides/slide19.xml" Id="R38105f0c400e45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ae93017f1e44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3f8abc702842ea" /><Relationship Type="http://schemas.openxmlformats.org/officeDocument/2006/relationships/notesMaster" Target="/ppt/notesMasters/notesMaster1.xml" Id="R7686be7fafe542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f230c30d8d4d7b" /><Relationship Type="http://schemas.openxmlformats.org/officeDocument/2006/relationships/notesMaster" Target="/ppt/notesMasters/notesMaster1.xml" Id="R61d1d7df3bcb4b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b2d934a3094780" /><Relationship Type="http://schemas.openxmlformats.org/officeDocument/2006/relationships/notesMaster" Target="/ppt/notesMasters/notesMaster1.xml" Id="R460c65358afe46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fe7d800d524a65" /><Relationship Type="http://schemas.openxmlformats.org/officeDocument/2006/relationships/notesMaster" Target="/ppt/notesMasters/notesMaster1.xml" Id="R099173a260d645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989306da5404f" /><Relationship Type="http://schemas.openxmlformats.org/officeDocument/2006/relationships/notesMaster" Target="/ppt/notesMasters/notesMaster1.xml" Id="Rdd100fec58b448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436cef952c479a" /><Relationship Type="http://schemas.openxmlformats.org/officeDocument/2006/relationships/notesMaster" Target="/ppt/notesMasters/notesMaster1.xml" Id="R0481d56112c947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ec14396b62437f" /><Relationship Type="http://schemas.openxmlformats.org/officeDocument/2006/relationships/notesMaster" Target="/ppt/notesMasters/notesMaster1.xml" Id="Re2691edd31a44c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a88633c20041fc" /><Relationship Type="http://schemas.openxmlformats.org/officeDocument/2006/relationships/notesMaster" Target="/ppt/notesMasters/notesMaster1.xml" Id="R2673d37546d844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87f540c4b14a93" /><Relationship Type="http://schemas.openxmlformats.org/officeDocument/2006/relationships/notesMaster" Target="/ppt/notesMasters/notesMaster1.xml" Id="Rd6833159989849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fcf03f83e0404c" /><Relationship Type="http://schemas.openxmlformats.org/officeDocument/2006/relationships/notesMaster" Target="/ppt/notesMasters/notesMaster1.xml" Id="Rce0956f3abad4f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d3ce9359d14527" /><Relationship Type="http://schemas.openxmlformats.org/officeDocument/2006/relationships/notesMaster" Target="/ppt/notesMasters/notesMaster1.xml" Id="Rdd9aebcba4384e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026c5c9b7341e1" /><Relationship Type="http://schemas.openxmlformats.org/officeDocument/2006/relationships/notesMaster" Target="/ppt/notesMasters/notesMaster1.xml" Id="R064aaf02c58346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3e4f0b5c984e1e" /><Relationship Type="http://schemas.openxmlformats.org/officeDocument/2006/relationships/notesMaster" Target="/ppt/notesMasters/notesMaster1.xml" Id="R7a99d682bb264a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61e65e8ff34c84" /><Relationship Type="http://schemas.openxmlformats.org/officeDocument/2006/relationships/notesMaster" Target="/ppt/notesMasters/notesMaster1.xml" Id="Ra3aaeba77c7a4e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67e492131f4aef" /><Relationship Type="http://schemas.openxmlformats.org/officeDocument/2006/relationships/notesMaster" Target="/ppt/notesMasters/notesMaster1.xml" Id="R720b0342a19e42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bdcefabc594adf" /><Relationship Type="http://schemas.openxmlformats.org/officeDocument/2006/relationships/notesMaster" Target="/ppt/notesMasters/notesMaster1.xml" Id="R7ef583d7689745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5010705d024855" /><Relationship Type="http://schemas.openxmlformats.org/officeDocument/2006/relationships/notesMaster" Target="/ppt/notesMasters/notesMaster1.xml" Id="R5df9f8926d4849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b7d1a2f4a948a0" /><Relationship Type="http://schemas.openxmlformats.org/officeDocument/2006/relationships/notesMaster" Target="/ppt/notesMasters/notesMaster1.xml" Id="Rb147d1be38814b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92cab37c77410e" /><Relationship Type="http://schemas.openxmlformats.org/officeDocument/2006/relationships/notesMaster" Target="/ppt/notesMasters/notesMaster1.xml" Id="Rd0e3d9fb7c3843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MOVE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finish line: “Today you will turn coordinate specifications into a rectangle, an ellipse, and a line. You will predict each result before BlueJ shows it.”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BlueJ and Processing environment should already be working from onboarding.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RETRIEVAL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answer aloud or with a partner before the answers are discussed.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origin is top-left. x increases right; y increases down. settings() configures the canvas in our BlueJ/PApplet class. setup() runs once; draw() can repeat. ellipse() uses its center by default.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https://processing.org/reference/setup_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https://processing.org/reference/draw_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THE LESSON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success criteria. Emphasize the routine: read the function name, group the numbers into pairs, predict the geometry, then run.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CHECK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Ask: “What evidence will show that your prediction was correct?” Expected: the reference point, dimensions, or endpoints match the specification.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THIS TOGETHER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 the clicks and pause until every student sees a class tile named ShapesSketch.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CHECK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Project folder: B1_2_1_Shapes_Geometry. Class: ShapesSketch. Spelling matters because the main() method will use the same class name.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THIS TOGETHER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Paste the shell, compile, close the editor, right-click ShapesSketch, and run void main(String[] args). Accept the default argument.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blank light-gray 400 × 300 sketch opens. Close it before editing.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TROUBLESHOOT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If PApplet is unresolved, confirm that core-4.5.6.jar says Loaded in BlueJ Preferences → Libraries. Restart BlueJ after changing libraries.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https://processing.org/reference/size_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rect(100, 100, 150, 80) as two chunks: corner (100, 100), then size 150 × 80. Trace right 150 and down 80 on the diagram.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PRECISION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CORNER is the default rectMode. Later code can change the mode, so say “by default” rather than presenting the corner rule as permanent.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What are the far edges? Expected: x = 250 and y = 180.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https://processing.org/reference/rectMode_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CHECKPOINT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replace setup(), predict the corner and far edges, then compile and run.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upper-left corner is (100, 100). The rectangle is 150 pixels wide and 80 pixels tall.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COMMON ERROR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may expect (100, 100) to be the center because of ellipse(). Return to the function name before discussing the numbers.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https://processing.org/reference/rectMode_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COMPARE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trace the same first pair in both calls. rect() begins at the point; ellipse() is balanced around the point.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LANGUAGE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“The numbers did not change. The primitive changed, so the reference point changed.”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OPTIONAL DEMO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Run the ShapesSketch_Compare project. Ask which shape extends left and above (150, 150).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https://processing.org/reference/rectMode_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https://processing.org/reference/ellipseMode_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3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Group the four arguments into two coordinate pairs. Mark the first endpoint, mark the second, then connect them.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Which endpoint is lower? Expected: (60, 260), because a larger y value is lower on the canvas.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PREVIEW ONLY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strokeWeight() controls thickness and stroke() controls colour, but appearance is taught next lesson.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CHECKPOINT 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replace setup(), predict the line direction, compile, and run.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line rises toward the right. Both endpoints should match the displayed coordinate pairs.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CHECK FOR UNDERSTANDING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which number they would change to move only the second endpoint downward. Expected: y2, the fourth argument.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4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PREDICT BEFORE RUNNING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sketch a 300 × 300 canvas and plot: rectangle corner and size, ellipse center and size, then line endpoints. Do not reveal a finished diagram.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PAIR EXPLANATION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Each student must explain one primitive using reference-point vocabulary.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THEN CHECK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Compile and run the ShapesSketch_Predict program or paste the shown methods into ShapesSketch.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6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INDEPENDENT CONSTRUCTION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Students translate the specifications into calls. The preview is a target, not code to copy.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SUCCESS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rect(50, 50, 100, 60); ellipse(300, 80, 70, 70); line(50, 220, 350, 220);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SUPPORT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Prompt with meaning, not answers: “Which primitive? What is its reference point? Which pair comes first?”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EXTENSION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Change one number, predict the exact effect, and test. Do not introduce fill() or stroke() yet.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PEER CHECK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Partners inspect one another's calls and require an explanation of every argument. If a correction is needed, change one value at a time and rerun.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LISTEN FOR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Accurate use of corner, center, width, height, and endpoint.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2 minutes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RECAP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Point to a primitive; students respond with its parameter model. Keep “by default” attached to rect and ellipse reference points.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BRIDGE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Preview that the next lesson changes appearance. A line has no interior, so fill() does not affect it; stroke() does.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https://processing.org/reference/rectMode_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https://processing.org/reference/ellipseMode_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TIME: 1 minute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EXIT TICKET ANSWERS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The rectangle's upper-left corner by default.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The ellipse's center by default.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line(10, 20, 90, 20);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The third argument, width: 80.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COLLECT EVIDENCE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Check the running scene, saved project, and one correct verbal explanation.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APPENDIX — NOT PART OF THE 45-MINUTE TIMELINE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this complete program only for recovery or comparison. It matches the ShapesSketch_Starter repository project.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https://processing.org/reference/background_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APPENDIX — NOT PART OF THE 45-MINUTE TIMELINE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this program to demonstrate that identical arguments can produce different placement when the primitive's default reference point differs.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https://processing.org/reference/rectMode_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https://processing.org/reference/ellipseMode_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APPENDIX — NOT PART OF THE 45-MINUTE TIMELINE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the verified recovery solution for the final construction task. Ask students to explain every number before using it as a finished answer.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APPENDIX — NOT PART OF THE 45-MINUTE TIMELINE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left side for Java/BlueJ compile problems and the right side for a program that runs but draws the wrong geometry.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most efficient debugging question is: “What does this argument mean for this primitive?”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https://processing.github.io/processing4-javadocs/processing/core/PApplet.html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https://processing.org/reference/settings_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https://processing.org/reference/rect_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https://processing.org/reference/ellipse_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https://processing.org/reference/line_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3f5fb2aa44db1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264e0dbde44648" /><Relationship Type="http://schemas.openxmlformats.org/officeDocument/2006/relationships/slideLayout" Target="/ppt/slideLayouts/slideLayout1.xml" Id="R0f26c5dbf4884e6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26c5dbf4884e6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f11eafe204cc1" /><Relationship Type="http://schemas.openxmlformats.org/officeDocument/2006/relationships/notesSlide" Target="/ppt/notesSlides/notesSlide1.xml" Id="R508de21f0b6946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c31adbb684fdd" /><Relationship Type="http://schemas.openxmlformats.org/officeDocument/2006/relationships/notesSlide" Target="/ppt/notesSlides/notesSlide2.xml" Id="Red56598d87ad44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03d561613425f" /><Relationship Type="http://schemas.openxmlformats.org/officeDocument/2006/relationships/notesSlide" Target="/ppt/notesSlides/notesSlide3.xml" Id="R232254793acd48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5837e203e4746" /><Relationship Type="http://schemas.openxmlformats.org/officeDocument/2006/relationships/notesSlide" Target="/ppt/notesSlides/notesSlide4.xml" Id="Rb595f39cb20145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45ff955ed42b7" /><Relationship Type="http://schemas.openxmlformats.org/officeDocument/2006/relationships/notesSlide" Target="/ppt/notesSlides/notesSlide5.xml" Id="Rda7aedf273b142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94c7c1f3c49ee" /><Relationship Type="http://schemas.openxmlformats.org/officeDocument/2006/relationships/notesSlide" Target="/ppt/notesSlides/notesSlide6.xml" Id="R9d527b9a5a9d46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2a4e439fc4bfa" /><Relationship Type="http://schemas.openxmlformats.org/officeDocument/2006/relationships/notesSlide" Target="/ppt/notesSlides/notesSlide7.xml" Id="R43d1fe8eb7f246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80a58e5ca4f76" /><Relationship Type="http://schemas.openxmlformats.org/officeDocument/2006/relationships/notesSlide" Target="/ppt/notesSlides/notesSlide8.xml" Id="R78fa825f94fe4e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ca460e925461e" /><Relationship Type="http://schemas.openxmlformats.org/officeDocument/2006/relationships/notesSlide" Target="/ppt/notesSlides/notesSlide9.xml" Id="Rad3daa52ea9c46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18f1087bc40dd" /><Relationship Type="http://schemas.openxmlformats.org/officeDocument/2006/relationships/notesSlide" Target="/ppt/notesSlides/notesSlide10.xml" Id="R19cd08fa66eb43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19078d6a14cc6" /><Relationship Type="http://schemas.openxmlformats.org/officeDocument/2006/relationships/notesSlide" Target="/ppt/notesSlides/notesSlide11.xml" Id="Ra65bc35304c14d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61b94fa3a4325" /><Relationship Type="http://schemas.openxmlformats.org/officeDocument/2006/relationships/notesSlide" Target="/ppt/notesSlides/notesSlide12.xml" Id="Re43dcbf91eaf48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81921541c4d5c" /><Relationship Type="http://schemas.openxmlformats.org/officeDocument/2006/relationships/notesSlide" Target="/ppt/notesSlides/notesSlide13.xml" Id="R05f7f43405d046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a3ee2d82146e9" /><Relationship Type="http://schemas.openxmlformats.org/officeDocument/2006/relationships/notesSlide" Target="/ppt/notesSlides/notesSlide14.xml" Id="R362b157fb6704d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ab27d49cd4a37" /><Relationship Type="http://schemas.openxmlformats.org/officeDocument/2006/relationships/notesSlide" Target="/ppt/notesSlides/notesSlide15.xml" Id="Rae8f6d579eb949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9d879309f4db2" /><Relationship Type="http://schemas.openxmlformats.org/officeDocument/2006/relationships/notesSlide" Target="/ppt/notesSlides/notesSlide16.xml" Id="Rfa2f1bab8f8b4e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a3ff2246442a0" /><Relationship Type="http://schemas.openxmlformats.org/officeDocument/2006/relationships/notesSlide" Target="/ppt/notesSlides/notesSlide17.xml" Id="Raa1bb22f1b634d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f5f62f6254b42" /><Relationship Type="http://schemas.openxmlformats.org/officeDocument/2006/relationships/notesSlide" Target="/ppt/notesSlides/notesSlide18.xml" Id="Re3311127f454452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ff7d3af724a84" /><Relationship Type="http://schemas.openxmlformats.org/officeDocument/2006/relationships/notesSlide" Target="/ppt/notesSlides/notesSlide19.xml" Id="R14ce42c4d4964b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8F1020DF-E05D-4FD8-B74C-A2701E58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PDP COMPUTER SCIENCE · B1 THE DRAW LOOP &amp; CREATIVE ENVIRONMENT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CEAA25BD-C383-48E3-B73A-99845EE0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  <a:defRPr sz="4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B1.2.1 — Shapes &amp; Geometry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09618339-5D76-46CC-8D43-8EC689FB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  <a:defRPr sz="1800" i="1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Turn coordinates into rectangles, ellipses, and lines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6F87D6BF-A53B-4F77-B36F-810AAEED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B5AF1B0C-E249-48FD-9C55-CF6E4625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707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E57321A-CCE7-46CA-B899-90EAA73D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Retrieve What You Already Know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25F565D7-DE12-411D-BC98-0B8A3DAB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the previous lessons before adding new primitives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B4C1229-5399-4E96-8DFB-CFFF1ED8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271AB4D3-13A4-44CD-90C6-1CB2BAA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561DF088-5372-4ECD-9ED6-7D15EB5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3631F3C4-7E5F-4331-8811-ACEDE400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Where is the origin of a Processing canvas?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Which way do x and y increase?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Which method configures the canvas in our BlueJ class?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Which method runs once, and which can repeat?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  What does (x, y) mean in ellipse(x, y, w, h)?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7288330-25A7-47B6-BA86-66312C6A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610985D-8AA3-4808-B4FF-0B8EB4AB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Partner check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23ADBB87-DAD2-4CF8-914E-BC6D02F0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Point to the top-left corner of an imaginary canvas. Move your finger to show increasing x, then increasing y.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Finish this sentence: “For ellipse(), the first pair gives the shape's ______ by default.”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5717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E57321A-CCE7-46CA-B899-90EAA73D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Today's Mission: Decode Shape Calls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25F565D7-DE12-411D-BC98-0B8A3DAB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Read the numbers, predict the geometry, then verify it in BlueJ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B4C1229-5399-4E96-8DFB-CFFF1ED8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271AB4D3-13A4-44CD-90C6-1CB2BAA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561DF088-5372-4ECD-9ED6-7D15EB5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3631F3C4-7E5F-4331-8811-ACEDE400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By the end, you can: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draw rectangles with rect(x, y, w, h)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draw lines with line(x1, y1, x2, y2)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explain the default reference point for each primitive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predict a shape before running the program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7288330-25A7-47B6-BA86-66312C6A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610985D-8AA3-4808-B4FF-0B8EB4AB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counts as success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23ADBB87-DAD2-4CF8-914E-BC6D02F0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BlueJ class compiles and opens a 400 × 300 sketch.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rectangle, ellipse, and line match the given specifications.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 can explain what every number in one shape call controls.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571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E57321A-CCE7-46CA-B899-90EAA73D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Start the Lesson Project in BlueJ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25F565D7-DE12-411D-BC98-0B8A3DAB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one class for every checkpoint today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B4C1229-5399-4E96-8DFB-CFFF1ED8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271AB4D3-13A4-44CD-90C6-1CB2BAA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561DF088-5372-4ECD-9ED6-7D15EB5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3631F3C4-7E5F-4331-8811-ACEDE400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Project → New Project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B1_2_1_Shapes_Geometry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Save it in your course workspace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Click OK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7288330-25A7-47B6-BA86-66312C6A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610985D-8AA3-4808-B4FF-0B8EB4AB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Create the class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23ADBB87-DAD2-4CF8-914E-BC6D02F0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Click New Class…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Name: ShapesSketch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Leave Class selected; click OK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Open the editor and replace the template on the next slide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571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856B59A0-4CD5-40B6-83B5-098E4571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Paste, Compile, and Run the Shell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5A8A69FB-EA7B-44EF-AD54-F0FAF6AC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Prove the class works before adding geometry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A76DF0A0-EA42-48DB-B7CC-3EC9BCA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6A5E5F7D-CC72-4E09-876E-402EC596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83B10C0D-A927-4738-BFB5-389B794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3BBF2FB9-003A-4588-BFA0-79BF2E0F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ShapesSketch extends PApplet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void settings() { size(400, 300);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void setup() { background(240);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void draw() {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static void main(String[] args)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PApplet.main("ShapesSketch");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86EA8CFF-270B-453C-B02D-EF78DA1C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91138AA1-50BA-4F97-AC27-90FBB81D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71558D5D-25E3-474E-A1BA-79A7745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9028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Replace the generated class with the complete shell above.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94D93DB8-6580-48B0-8064-47705DC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7D87A135-72EF-4100-AE03-4759D56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727CC268-BD40-4783-B5FD-61F17D4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0468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Compile. Close the editor. Right-click ShapesSketch and run void main(String[] args).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7C305129-CEC5-42A5-8A77-5A4814D6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3566160" cy="356616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E7430A4C-ACFD-4CB3-8DB4-9A97DE8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4630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Expected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642171E1-869B-42B5-AE7E-F40E86C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5720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400 px wide × 300 px tall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8BA07FE1-078F-4DA0-A1D0-0A55A10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74920"/>
            <a:ext cx="35661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537471E4-B333-46D3-9E4C-8C01A364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276088"/>
            <a:ext cx="30540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blank 400 × 300 window opens. PApplet unresolved? Check core-4.5.6.jar is Loaded in Preferences → Libraries.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7409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ADECFCF5-7A09-46E1-BC06-0816EF48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Four Numbers Build One Rectangle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E9F36D9E-6127-40EA-B049-D72DEE1C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rect(x, y, width, height)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2E308FA4-9828-44F9-B971-97FD5B1B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F0E84ACB-0195-4705-B8CF-25E3BC7F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DAF0BAED-15E2-43F4-830B-3CC9B583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804BC2B6-3BA4-4CEC-854C-35E841C9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1700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background(240);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rect(100, 100, 150, 80);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79600934-F3EF-42A4-BE88-A44D0095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5577840" cy="265176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BBA39E28-9907-4E1E-B23E-3D2B66B0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587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The first pair is a corner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8B6A72E8-1751-42E8-99AC-61F3619D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24528"/>
            <a:ext cx="5065776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By default, (100, 100) is the rectangle's upper-left corner. From that point, the rectangle extends 150 pixels right and 80 pixels down.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Read it aloud: “corner, then size.”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BE3030D4-CF05-451D-8704-5CC039C9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25880"/>
            <a:ext cx="4114800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50;p5"/>
          <p:cNvCxnSpPr/>
          <p:nvPr/>
        </p:nvCxnSpPr>
        <p:spPr>
          <a:xfrm xmlns:a="http://schemas.openxmlformats.org/drawingml/2006/main">
            <a:off x="7612380" y="1325880"/>
            <a:ext cx="0" cy="4114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51;p5"/>
          <p:cNvCxnSpPr/>
          <p:nvPr/>
        </p:nvCxnSpPr>
        <p:spPr>
          <a:xfrm xmlns:a="http://schemas.openxmlformats.org/drawingml/2006/main">
            <a:off x="6583680" y="2354580"/>
            <a:ext cx="41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52;p5"/>
          <p:cNvCxnSpPr/>
          <p:nvPr/>
        </p:nvCxnSpPr>
        <p:spPr>
          <a:xfrm xmlns:a="http://schemas.openxmlformats.org/drawingml/2006/main">
            <a:off x="8641080" y="1325880"/>
            <a:ext cx="0" cy="4114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" name="Google Shape;53;p5"/>
          <p:cNvCxnSpPr/>
          <p:nvPr/>
        </p:nvCxnSpPr>
        <p:spPr>
          <a:xfrm xmlns:a="http://schemas.openxmlformats.org/drawingml/2006/main">
            <a:off x="6583680" y="3383280"/>
            <a:ext cx="41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54;p5"/>
          <p:cNvCxnSpPr/>
          <p:nvPr/>
        </p:nvCxnSpPr>
        <p:spPr>
          <a:xfrm xmlns:a="http://schemas.openxmlformats.org/drawingml/2006/main">
            <a:off x="9669780" y="1325880"/>
            <a:ext cx="0" cy="4114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55;p5"/>
          <p:cNvCxnSpPr/>
          <p:nvPr/>
        </p:nvCxnSpPr>
        <p:spPr>
          <a:xfrm xmlns:a="http://schemas.openxmlformats.org/drawingml/2006/main">
            <a:off x="6583680" y="4411980"/>
            <a:ext cx="41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DCB374F0-F076-4B73-8A85-063196C4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380" y="2354580"/>
            <a:ext cx="154305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332055AE-6EFB-4BAB-B3C6-C47874E2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04" y="231800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A90FC388-E861-4163-9D2C-F2709496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882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  <a:defRPr sz="1100">
                <a:solidFill>
                  <a:srgbClr val="3B4A78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(100, 100) — corner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7483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ADECFCF5-7A09-46E1-BC06-0816EF48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Checkpoint 1: Build the Rectangle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E9F36D9E-6127-40EA-B049-D72DEE1C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Predict its corner and size before you run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2E308FA4-9828-44F9-B971-97FD5B1B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F0E84ACB-0195-4705-B8CF-25E3BC7F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DAF0BAED-15E2-43F4-830B-3CC9B583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804BC2B6-3BA4-4CEC-854C-35E841C9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1700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background(240);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rect(100, 100, 150, 80);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79600934-F3EF-42A4-BE88-A44D0095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5577840" cy="265176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BBA39E28-9907-4E1E-B23E-3D2B66B0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587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Compile → Run → Check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8B6A72E8-1751-42E8-99AC-61F3619D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24528"/>
            <a:ext cx="5065776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Replace setup() in ShapesSketch with the code above. Before compiling, point to where (100, 100) should appear.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Success: the rectangle begins at that point, reaches x = 250, and reaches y = 180.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BE3030D4-CF05-451D-8704-5CC039C9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25880"/>
            <a:ext cx="4114800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50;p5"/>
          <p:cNvCxnSpPr/>
          <p:nvPr/>
        </p:nvCxnSpPr>
        <p:spPr>
          <a:xfrm xmlns:a="http://schemas.openxmlformats.org/drawingml/2006/main">
            <a:off x="7612380" y="1325880"/>
            <a:ext cx="0" cy="4114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51;p5"/>
          <p:cNvCxnSpPr/>
          <p:nvPr/>
        </p:nvCxnSpPr>
        <p:spPr>
          <a:xfrm xmlns:a="http://schemas.openxmlformats.org/drawingml/2006/main">
            <a:off x="6583680" y="2354580"/>
            <a:ext cx="41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52;p5"/>
          <p:cNvCxnSpPr/>
          <p:nvPr/>
        </p:nvCxnSpPr>
        <p:spPr>
          <a:xfrm xmlns:a="http://schemas.openxmlformats.org/drawingml/2006/main">
            <a:off x="8641080" y="1325880"/>
            <a:ext cx="0" cy="4114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" name="Google Shape;53;p5"/>
          <p:cNvCxnSpPr/>
          <p:nvPr/>
        </p:nvCxnSpPr>
        <p:spPr>
          <a:xfrm xmlns:a="http://schemas.openxmlformats.org/drawingml/2006/main">
            <a:off x="6583680" y="3383280"/>
            <a:ext cx="41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54;p5"/>
          <p:cNvCxnSpPr/>
          <p:nvPr/>
        </p:nvCxnSpPr>
        <p:spPr>
          <a:xfrm xmlns:a="http://schemas.openxmlformats.org/drawingml/2006/main">
            <a:off x="9669780" y="1325880"/>
            <a:ext cx="0" cy="4114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55;p5"/>
          <p:cNvCxnSpPr/>
          <p:nvPr/>
        </p:nvCxnSpPr>
        <p:spPr>
          <a:xfrm xmlns:a="http://schemas.openxmlformats.org/drawingml/2006/main">
            <a:off x="6583680" y="4411980"/>
            <a:ext cx="411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EC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DCB374F0-F076-4B73-8A85-063196C4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380" y="2354580"/>
            <a:ext cx="154305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332055AE-6EFB-4BAB-B3C6-C47874E2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04" y="231800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A90FC388-E861-4163-9D2C-F2709496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882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  <a:defRPr sz="1100">
                <a:solidFill>
                  <a:srgbClr val="3B4A78"/>
                </a:solidFill>
                <a:latin typeface="Courier New"/>
                <a:ea typeface="Courier New"/>
                <a:cs typeface="Courier New"/>
              </a:defRPr>
            </a:pPr>
            <a:r>
              <a:rPr sz="110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(100, 100) — corner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7483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68FC18EF-037D-413B-9DF6-15B0A98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Same (x, y) Can Mean Different Places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D857FDA2-3381-441D-9104-B1527A59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rect() uses CORNER; ellipse() uses CENTER by default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4F2BF1FB-2877-4857-AF4E-3D0109D3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68707153-722C-4C9E-AEBF-47A8CC1A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87CEBA8F-7CBC-44BB-8E1F-F3D2BCF2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11064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1C52279B-35C3-4C74-85DE-B96AB200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10515600" cy="969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rect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(150, 150, 60, 60);   </a:t>
            </a:r>
            <a:r>
              <a:rPr sz="150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top-left corner at (150, 150)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(150, 150, 60, 60);</a:t>
            </a:r>
            <a:r>
              <a:rPr sz="150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 // center at (150, 150)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736C43D6-83FC-4982-B748-59B86C97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5349240" cy="292608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46A647EB-7752-46F9-A885-3C8867F4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0896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rect() — CORNER default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49CBD128-551A-408A-AD9B-3DF7E883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" y="4366260"/>
            <a:ext cx="301752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CBB89F20-9F02-44AE-869D-9C4AA2D9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084" y="432968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07551BAC-3873-4193-991B-66E1B1C7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" y="422910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(150, 150)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EE3D4192-0F0F-4B58-9837-CE766D5D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94960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marked point is the shape's corner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DA11F938-50AB-4356-A8FD-6447E67A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971800"/>
            <a:ext cx="5349240" cy="292608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3DEFBE84-47F8-4D57-9EA4-F18A2757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0896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ellipse() — CENTER default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82AADAE1-0C21-4643-AB47-51BF4EE4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4215384"/>
            <a:ext cx="301752" cy="301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3C8"/>
          </a:solidFill>
          <a:ln xmlns:a="http://schemas.openxmlformats.org/drawingml/2006/main"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F176EFF1-D4C1-4195-B974-FF60204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084" y="432968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316149C4-0C40-4A28-AE8A-C6535E5D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422910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(150, 150)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CFB334CF-FB3D-4CB3-8300-390B8067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394960"/>
            <a:ext cx="4800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sz="115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marked point is the shape's center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0538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0A89FE63-DFED-4882-B218-7B2EEFD9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Line Is Defined by Two Endpoints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C0592C9B-F407-438F-9C3A-DAA4A003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line(x1, y1, x2, y2)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A3B8FB26-53C7-485B-8095-489ED910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52B9A050-5FE7-4ECB-8F0A-5DD885A8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335FC8D2-81FC-46D3-B7CD-3B789DE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68ACF441-BD66-4D53-A85D-8FE5F02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1700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background(240);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line(60, 260, 260, 60);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682C2200-8449-4E4A-B78C-E650FDA2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5577840" cy="265176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84CA9DDD-6DFF-4E24-A129-082351BA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587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Two points, not a position and size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21CE18F8-8E31-489C-91A5-721C0280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24528"/>
            <a:ext cx="5065776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first pair is one endpoint: (60, 260). The second pair is the other endpoint: (260, 60).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distance and direction between those points determine the line. There are no width and height parameters.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40C19EA2-B3DD-4997-85BE-F825BB45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25880"/>
            <a:ext cx="4114800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97;p7"/>
          <p:cNvCxnSpPr/>
          <p:nvPr/>
        </p:nvCxnSpPr>
        <p:spPr>
          <a:xfrm xmlns:a="http://schemas.openxmlformats.org/drawingml/2006/main">
            <a:off x="7200900" y="1943100"/>
            <a:ext cx="2057400" cy="2057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9D315D02-ABE4-4530-BB8E-80D1F07D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0" y="39547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0724EFE0-AE3C-403B-B2E4-F0F54FCA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400050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(60, 260)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78427858-CFDB-46A8-97CA-EE137219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580" y="18973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9AB4AB4E-08DE-4A72-9F27-B013944E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166878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(260, 60)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4858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0A89FE63-DFED-4882-B218-7B2EEFD9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Checkpoint 2: Add and Verify the Line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C0592C9B-F407-438F-9C3A-DAA4A003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Read both endpoints before you run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A3B8FB26-53C7-485B-8095-489ED910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52B9A050-5FE7-4ECB-8F0A-5DD885A8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335FC8D2-81FC-46D3-B7CD-3B789DE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778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68ACF441-BD66-4D53-A85D-8FE5F02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27048"/>
            <a:ext cx="5029200" cy="1700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background(240);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line(60, 260, 260, 60);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682C2200-8449-4E4A-B78C-E650FDA2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5577840" cy="265176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84CA9DDD-6DFF-4E24-A129-082351BA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58768"/>
            <a:ext cx="50657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Compile → Run → Check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21CE18F8-8E31-489C-91A5-721C0280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24528"/>
            <a:ext cx="5065776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Replace setup() with the code above. Predict which endpoint will be lower on the canvas.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Success: the line rises from near the lower-left toward the upper-right because y values get smaller as you move upward.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40C19EA2-B3DD-4997-85BE-F825BB45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325880"/>
            <a:ext cx="4114800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97;p7"/>
          <p:cNvCxnSpPr/>
          <p:nvPr/>
        </p:nvCxnSpPr>
        <p:spPr>
          <a:xfrm xmlns:a="http://schemas.openxmlformats.org/drawingml/2006/main">
            <a:off x="7200900" y="1943100"/>
            <a:ext cx="2057400" cy="205740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9D315D02-ABE4-4530-BB8E-80D1F07D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0" y="39547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0724EFE0-AE3C-403B-B2E4-F0F54FCA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400050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(60, 260)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78427858-CFDB-46A8-97CA-EE137219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580" y="18973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9AB4AB4E-08DE-4A72-9F27-B013944E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166878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(260, 60)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48587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856B59A0-4CD5-40B6-83B5-098E4571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Predict the Whole Scene Before You Run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5A8A69FB-EA7B-44EF-AD54-F0FAF6AC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Mark every reference point, size, and endpoint first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A76DF0A0-EA42-48DB-B7CC-3EC9BCA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6A5E5F7D-CC72-4E09-876E-402EC596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83B10C0D-A927-4738-BFB5-389B794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3BBF2FB9-003A-4588-BFA0-79BF2E0F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</a:t>
            </a: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settings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size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(300, 300);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</a:t>
            </a: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setup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rect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(40, 40, 80, 80);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ellipse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(240, 80, 80, 80);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E8A33D"/>
                </a:solidFill>
                <a:latin typeface="Courier New"/>
                <a:ea typeface="Courier New"/>
                <a:cs typeface="Courier New"/>
              </a:rPr>
              <a:t>  line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(40, 240, 280, 240);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86EA8CFF-270B-453C-B02D-EF78DA1C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91138AA1-50BA-4F97-AC27-90FBB81D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71558D5D-25E3-474E-A1BA-79A7745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9028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 paper, sketch a 300×300 box. Mark the rect's full size and corner, the ellipse's full size and center, and the line's two endpoints.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94D93DB8-6580-48B0-8064-47705DC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7D87A135-72EF-4100-AE03-4759D56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727CC268-BD40-4783-B5FD-61F17D4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0468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the sketch and check your prediction.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7C305129-CEC5-42A5-8A77-5A4814D6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3566160" cy="356616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E7430A4C-ACFD-4CB3-8DB4-9A97DE8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4630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(0, 0)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642171E1-869B-42B5-AE7E-F40E86C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5720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300 px wide × 300 px tall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8BA07FE1-078F-4DA0-A1D0-0A55A10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74920"/>
            <a:ext cx="35661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537471E4-B333-46D3-9E4C-8C01A364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276088"/>
            <a:ext cx="30540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Blank on purpose — plot the sizes, corner, center, and endpoints yourself before checking the code.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74096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CA3C3EBD-38F2-4012-A841-E2D700F7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Checkpoint 3: Build the Complete Scene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1EACC339-BBC1-46C0-BEE1-198BD8A0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Translate specifications into three correct calls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42124799-2C07-4203-9588-D507DCC6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9">
            <a:extLst xmlns:a="http://schemas.openxmlformats.org/drawingml/2006/main">
              <a:ext uri="{FF2B5EF4-FFF2-40B4-BE49-F238E27FC236}">
                <a16:creationId xmlns:a16="http://schemas.microsoft.com/office/drawing/2014/main" id="{F0630F2F-BFAA-4DFB-AF10-E281FEAC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9">
            <a:extLst xmlns:a="http://schemas.openxmlformats.org/drawingml/2006/main">
              <a:ext uri="{FF2B5EF4-FFF2-40B4-BE49-F238E27FC236}">
                <a16:creationId xmlns:a16="http://schemas.microsoft.com/office/drawing/2014/main" id="{28E87899-79CE-4686-992D-D6C3B7FE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>
            <a:extLst xmlns:a="http://schemas.openxmlformats.org/drawingml/2006/main">
              <a:ext uri="{FF2B5EF4-FFF2-40B4-BE49-F238E27FC236}">
                <a16:creationId xmlns:a16="http://schemas.microsoft.com/office/drawing/2014/main" id="{DB5EDB6B-01EB-47FF-8DE5-BD36D837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E77BDA24-BA03-423D-8AF8-0ADDC32B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34416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Return to ShapesSketch and keep a 400 × 300 canvas.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FECEB7B6-8E38-4FA5-94E3-85A3B1C1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>
            <a:extLst xmlns:a="http://schemas.openxmlformats.org/drawingml/2006/main">
              <a:ext uri="{FF2B5EF4-FFF2-40B4-BE49-F238E27FC236}">
                <a16:creationId xmlns:a16="http://schemas.microsoft.com/office/drawing/2014/main" id="{F7301123-AD22-4679-B021-8B7EA856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9">
            <a:extLst xmlns:a="http://schemas.openxmlformats.org/drawingml/2006/main">
              <a:ext uri="{FF2B5EF4-FFF2-40B4-BE49-F238E27FC236}">
                <a16:creationId xmlns:a16="http://schemas.microsoft.com/office/drawing/2014/main" id="{7120E754-B77D-4BE4-9C14-CC09BE76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5000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a rectangle with its top-left corner at (50, 50), 100 wide and 60 tall. Write the call yourself — predict its position before running.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5B35CBBA-DFE9-4B6B-B7B1-FEBD3545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5D4AB41E-CADA-4518-846D-C5091D9B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6E657D1C-D006-4243-A6CA-46E82C1C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5584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an ellipse centered at (300, 80), 70 wide and 70 tall. Predict, then check.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7A772E1B-B0EB-4ACE-B074-FF430EBE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520AE6CD-2C1A-49A1-8AF6-F144FD57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8F53ED06-B9B1-4AC9-ABCB-7B10B62D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61688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a line from (50, 220) to (350, 220). Predict the endpoints, then run and check everything together.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3380A652-342B-4FBD-8B70-A849CC5E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557784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>
            <a:extLst xmlns:a="http://schemas.openxmlformats.org/drawingml/2006/main">
              <a:ext uri="{FF2B5EF4-FFF2-40B4-BE49-F238E27FC236}">
                <a16:creationId xmlns:a16="http://schemas.microsoft.com/office/drawing/2014/main" id="{F1A2A5D4-6FCB-487C-85A4-608F6800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96128"/>
            <a:ext cx="506577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Success looks like: one rectangle, one circle, and one horizontal line in the specified positions. You write each rect(), ellipse(), and line() call yourself.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9">
            <a:extLst xmlns:a="http://schemas.openxmlformats.org/drawingml/2006/main">
              <a:ext uri="{FF2B5EF4-FFF2-40B4-BE49-F238E27FC236}">
                <a16:creationId xmlns:a16="http://schemas.microsoft.com/office/drawing/2014/main" id="{89FA40F1-090A-40E6-9292-BB8FF022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325880"/>
            <a:ext cx="5166360" cy="3874770"/>
          </a:xfrm>
          <a:prstGeom xmlns:a="http://schemas.openxmlformats.org/drawingml/2006/main" prst="roundRect">
            <a:avLst>
              <a:gd name="adj" fmla="val 94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905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>
            <a:extLst xmlns:a="http://schemas.openxmlformats.org/drawingml/2006/main">
              <a:ext uri="{FF2B5EF4-FFF2-40B4-BE49-F238E27FC236}">
                <a16:creationId xmlns:a16="http://schemas.microsoft.com/office/drawing/2014/main" id="{0B7C1F2B-9384-46D7-B678-40063907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1971675"/>
            <a:ext cx="1291590" cy="7749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>
            <a:extLst xmlns:a="http://schemas.openxmlformats.org/drawingml/2006/main">
              <a:ext uri="{FF2B5EF4-FFF2-40B4-BE49-F238E27FC236}">
                <a16:creationId xmlns:a16="http://schemas.microsoft.com/office/drawing/2014/main" id="{E9751372-8A09-4F0E-9470-1994947D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953" y="1907096"/>
            <a:ext cx="904113" cy="904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0FF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" name="Google Shape;150;p9"/>
          <p:cNvCxnSpPr/>
          <p:nvPr/>
        </p:nvCxnSpPr>
        <p:spPr>
          <a:xfrm xmlns:a="http://schemas.openxmlformats.org/drawingml/2006/main">
            <a:off x="7138035" y="4167378"/>
            <a:ext cx="3874770" cy="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2C818FFD-7D25-4C83-B77C-62D4CFD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429250"/>
            <a:ext cx="516636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A9616EB0-F623-499A-983F-F247ECF5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5630418"/>
            <a:ext cx="465429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400 × 300 canvas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DD3968AD-C135-4305-84E1-EADFB03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5996178"/>
            <a:ext cx="4654296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25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Match the geometry in this preview. The colours are only labels for clarity; appearance controls are taught in the next lesson.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04274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E57321A-CCE7-46CA-B899-90EAA73D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Peer Check: Find the Geometry Bug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25F565D7-DE12-411D-BC98-0B8A3DAB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Check meanings before changing numbers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B4C1229-5399-4E96-8DFB-CFFF1ED8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271AB4D3-13A4-44CD-90C6-1CB2BAA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561DF088-5372-4ECD-9ED6-7D15EB5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3631F3C4-7E5F-4331-8811-ACEDE400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Check your partner's program in this order: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Canvas is 400 × 300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rect(): corner (50, 50), size 100 × 60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ellipse(): center (300, 80), size 70 × 70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line(): endpoints (50, 220) and (350, 220)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  Class name and main() both say ShapesSketch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7288330-25A7-47B6-BA86-66312C6A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610985D-8AA3-4808-B4FF-0B8EB4AB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Explain one call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23ADBB87-DAD2-4CF8-914E-BC6D02F0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Point to one shape call and say what every number means.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If the result is wrong, change one value at a time, compile again, and describe what moved or resized.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Do not paste the answer yet—diagnose it.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5717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Google Shape;159;p10">
            <a:extLst xmlns:a="http://schemas.openxmlformats.org/drawingml/2006/main">
              <a:ext uri="{FF2B5EF4-FFF2-40B4-BE49-F238E27FC236}">
                <a16:creationId xmlns:a16="http://schemas.microsoft.com/office/drawing/2014/main" id="{2EB3254C-593D-475B-A7D2-3E8F8B48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Reference Points Control Placement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10">
            <a:extLst xmlns:a="http://schemas.openxmlformats.org/drawingml/2006/main">
              <a:ext uri="{FF2B5EF4-FFF2-40B4-BE49-F238E27FC236}">
                <a16:creationId xmlns:a16="http://schemas.microsoft.com/office/drawing/2014/main" id="{AFFF996C-E470-48B3-86E6-90D916A9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Say what each group of numbers means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10">
            <a:extLst xmlns:a="http://schemas.openxmlformats.org/drawingml/2006/main">
              <a:ext uri="{FF2B5EF4-FFF2-40B4-BE49-F238E27FC236}">
                <a16:creationId xmlns:a16="http://schemas.microsoft.com/office/drawing/2014/main" id="{3B658FE5-ED3C-4EE7-B7C8-5465DF84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10">
            <a:extLst xmlns:a="http://schemas.openxmlformats.org/drawingml/2006/main">
              <a:ext uri="{FF2B5EF4-FFF2-40B4-BE49-F238E27FC236}">
                <a16:creationId xmlns:a16="http://schemas.microsoft.com/office/drawing/2014/main" id="{D77586E9-E2E4-4AC8-A869-304BDCC6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10">
            <a:extLst xmlns:a="http://schemas.openxmlformats.org/drawingml/2006/main">
              <a:ext uri="{FF2B5EF4-FFF2-40B4-BE49-F238E27FC236}">
                <a16:creationId xmlns:a16="http://schemas.microsoft.com/office/drawing/2014/main" id="{426EBA8D-444B-4F7A-99F3-2AE32410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48640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>
            <a:extLst xmlns:a="http://schemas.openxmlformats.org/drawingml/2006/main">
              <a:ext uri="{FF2B5EF4-FFF2-40B4-BE49-F238E27FC236}">
                <a16:creationId xmlns:a16="http://schemas.microsoft.com/office/drawing/2014/main" id="{DCE95831-144F-4FBD-9B74-0B32F72A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90472"/>
            <a:ext cx="502920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rect(x, y, w, h): upper-left corner + size by default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ellipse(x, y, w, h): center + size by default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line(x1, y1, x2, y2): endpoint + endpoint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Predict first; compile and run to test the prediction</a:t>
            </a:r>
          </a:p>
        </p:txBody>
      </p:sp>
      <p:sp>
        <p:nvSpPr>
          <p:cNvPr id="165" name="Google Shape;165;p10">
            <a:extLst xmlns:a="http://schemas.openxmlformats.org/drawingml/2006/main">
              <a:ext uri="{FF2B5EF4-FFF2-40B4-BE49-F238E27FC236}">
                <a16:creationId xmlns:a16="http://schemas.microsoft.com/office/drawing/2014/main" id="{AB451589-06B7-4AB9-B03D-B2AFA9AC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548640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>
            <a:extLst xmlns:a="http://schemas.openxmlformats.org/drawingml/2006/main">
              <a:ext uri="{FF2B5EF4-FFF2-40B4-BE49-F238E27FC236}">
                <a16:creationId xmlns:a16="http://schemas.microsoft.com/office/drawing/2014/main" id="{D86454D9-8508-4A0D-BE79-7A1FDF68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73168"/>
            <a:ext cx="49743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10">
            <a:extLst xmlns:a="http://schemas.openxmlformats.org/drawingml/2006/main">
              <a:ext uri="{FF2B5EF4-FFF2-40B4-BE49-F238E27FC236}">
                <a16:creationId xmlns:a16="http://schemas.microsoft.com/office/drawing/2014/main" id="{16C4BC4D-6FF1-40D2-A9E5-AA38420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138928"/>
            <a:ext cx="497433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 every shape shares the same reference point — always check what (x, y) means for the specific primitive you're using.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" name="Google Shape;168;p10">
            <a:extLst xmlns:a="http://schemas.openxmlformats.org/drawingml/2006/main">
              <a:ext uri="{FF2B5EF4-FFF2-40B4-BE49-F238E27FC236}">
                <a16:creationId xmlns:a16="http://schemas.microsoft.com/office/drawing/2014/main" id="{E544AB9D-70EE-4D5A-B684-C693CE0E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25880"/>
            <a:ext cx="5349240" cy="466344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>
            <a:extLst xmlns:a="http://schemas.openxmlformats.org/drawingml/2006/main">
              <a:ext uri="{FF2B5EF4-FFF2-40B4-BE49-F238E27FC236}">
                <a16:creationId xmlns:a16="http://schemas.microsoft.com/office/drawing/2014/main" id="{677DED49-335A-4F6D-810C-CA1279F4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2704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Next: Control How Shapes Look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10">
            <a:extLst xmlns:a="http://schemas.openxmlformats.org/drawingml/2006/main">
              <a:ext uri="{FF2B5EF4-FFF2-40B4-BE49-F238E27FC236}">
                <a16:creationId xmlns:a16="http://schemas.microsoft.com/office/drawing/2014/main" id="{379F41AC-3553-4993-99B4-9618A4D4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92808"/>
            <a:ext cx="4837176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 can now control where primitives appear and how large they are. Next you will control fill, outline, colour, and line thickness.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One important exception is waiting: fill() cannot colour a line because a line has no interior; stroke() controls it.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75891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E57321A-CCE7-46CA-B899-90EAA73D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Exit Ticket: Read the Geometry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25F565D7-DE12-411D-BC98-0B8A3DAB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Answer without running another program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B4C1229-5399-4E96-8DFB-CFFF1ED8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271AB4D3-13A4-44CD-90C6-1CB2BAA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561DF088-5372-4ECD-9ED6-7D15EB5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3631F3C4-7E5F-4331-8811-ACEDE400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 In rect(40, 50, 80, 30), what does (40, 50) mean?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 In ellipse(40, 50, 80, 30), what does it mean?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 Which call draws a line from (10, 20) to (90, 20)?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  Which value would you change to make the rectangle wider?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7288330-25A7-47B6-BA86-66312C6A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610985D-8AA3-4808-B4FF-0B8EB4AB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Show your evidence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23ADBB87-DAD2-4CF8-914E-BC6D02F0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A successful compile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The complete three-shape scene running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One sentence using the words corner, center, or endpoint correctly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4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Your ShapesSketch project saved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5717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856B59A0-4CD5-40B6-83B5-098E4571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Complete Starter Shell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5A8A69FB-EA7B-44EF-AD54-F0FAF6AC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before the first rectangle checkpoint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A76DF0A0-EA42-48DB-B7CC-3EC9BCA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6A5E5F7D-CC72-4E09-876E-402EC596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83B10C0D-A927-4738-BFB5-389B794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3BBF2FB9-003A-4588-BFA0-79BF2E0F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import processing.core.PApplet;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class ShapesSketch extends PApplet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void settings() { size(400, 300);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void setup() { background(240);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void draw() {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public static void main(String[] args)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  PApplet.main("ShapesSketch");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86EA8CFF-270B-453C-B02D-EF78DA1C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91138AA1-50BA-4F97-AC27-90FBB81D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71558D5D-25E3-474E-A1BA-79A7745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9028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Paste the shell into a BlueJ class named ShapesSketch.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94D93DB8-6580-48B0-8064-47705DC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7D87A135-72EF-4100-AE03-4759D56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727CC268-BD40-4783-B5FD-61F17D4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0468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 blank light-gray 400 × 300 sketch should open.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7C305129-CEC5-42A5-8A77-5A4814D6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3566160" cy="356616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E7430A4C-ACFD-4CB3-8DB4-9A97DE8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4630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Complete program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642171E1-869B-42B5-AE7E-F40E86C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5720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Compile → Run → Observe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8BA07FE1-078F-4DA0-A1D0-0A55A10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74920"/>
            <a:ext cx="35661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537471E4-B333-46D3-9E4C-8C01A364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276088"/>
            <a:ext cx="30540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Recovery only: compare this with your code, fix the problem, then return to the checkpoint.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74096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856B59A0-4CD5-40B6-83B5-098E4571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Comparison Methods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5A8A69FB-EA7B-44EF-AD54-F0FAF6AC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Replace the three methods in the complete shell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A76DF0A0-EA42-48DB-B7CC-3EC9BCA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6A5E5F7D-CC72-4E09-876E-402EC596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83B10C0D-A927-4738-BFB5-389B794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3BBF2FB9-003A-4588-BFA0-79BF2E0F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settings()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size(400, 300);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background(240);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rect(150, 150, 60, 60);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ellipse(150, 150, 60, 60);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draw() {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86EA8CFF-270B-453C-B02D-EF78DA1C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91138AA1-50BA-4F97-AC27-90FBB81D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71558D5D-25E3-474E-A1BA-79A7745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9028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Use these methods with the class shell on slide 16.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94D93DB8-6580-48B0-8064-47705DC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7D87A135-72EF-4100-AE03-4759D56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727CC268-BD40-4783-B5FD-61F17D4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0468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rectangle starts at the shared point; the ellipse is centered there.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7C305129-CEC5-42A5-8A77-5A4814D6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3566160" cy="356616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E7430A4C-ACFD-4CB3-8DB4-9A97DE8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4630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Complete program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642171E1-869B-42B5-AE7E-F40E86C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5720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Compile → Run → Observe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8BA07FE1-078F-4DA0-A1D0-0A55A10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74920"/>
            <a:ext cx="35661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537471E4-B333-46D3-9E4C-8C01A364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276088"/>
            <a:ext cx="30540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Recovery only: compare this with your code, fix the problem, then return to the checkpoint.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74096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856B59A0-4CD5-40B6-83B5-098E4571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Construction Methods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5A8A69FB-EA7B-44EF-AD54-F0FAF6AC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Replace the three methods in the complete shell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A76DF0A0-EA42-48DB-B7CC-3EC9BCA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6A5E5F7D-CC72-4E09-876E-402EC596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83B10C0D-A927-4738-BFB5-389B794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3BBF2FB9-003A-4588-BFA0-79BF2E0F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4572000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settings() { size(400, 300);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setup()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background(240);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rect(50, 50, 100, 60);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ellipse(300, 80, 70, 70);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line(50, 220, 350, 220);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  <a:defRPr sz="1300" i="0">
                <a:solidFill>
                  <a:srgbClr val="CADCFC"/>
                </a:solidFill>
                <a:latin typeface="Courier New"/>
                <a:ea typeface="Courier New"/>
                <a:cs typeface="Courier New"/>
              </a:defRPr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public void draw() {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86EA8CFF-270B-453C-B02D-EF78DA1C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91138AA1-50BA-4F97-AC27-90FBB81D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71558D5D-25E3-474E-A1BA-79A7745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9028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Use these methods with the class shell on slide 16.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94D93DB8-6580-48B0-8064-47705DC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7D87A135-72EF-4100-AE03-4759D56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727CC268-BD40-4783-B5FD-61F17D4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0468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 every argument before treating the scene as complete.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7C305129-CEC5-42A5-8A77-5A4814D6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3566160" cy="356616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E7430A4C-ACFD-4CB3-8DB4-9A97DE8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4630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Complete program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642171E1-869B-42B5-AE7E-F40E86C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5720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50"/>
              <a:buFont typeface="Courier New"/>
              <a:buNone/>
            </a:pPr>
            <a:r>
              <a:rPr sz="10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Compile → Run → Observe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8BA07FE1-078F-4DA0-A1D0-0A55A10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74920"/>
            <a:ext cx="356616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537471E4-B333-46D3-9E4C-8C01A364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276088"/>
            <a:ext cx="3054096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Recovery only: compare this with your code, fix the problem, then return to the checkpoint.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74096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E57321A-CCE7-46CA-B899-90EAA73D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  <a:defRPr sz="290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If It Doesn't Work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25F565D7-DE12-411D-BC98-0B8A3DAB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  <a:defRPr sz="1500" i="1">
                <a:solidFill>
                  <a:srgbClr val="3B4A78"/>
                </a:solidFill>
                <a:latin typeface="Calibri"/>
                <a:ea typeface="Calibri"/>
                <a:cs typeface="Calibri"/>
              </a:defRPr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Check syntax first, then geometry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B4C1229-5399-4E96-8DFB-CFFF1ED8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271AB4D3-13A4-44CD-90C6-1CB2BAA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4465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  <a:defRPr sz="1100">
                <a:solidFill>
                  <a:srgbClr val="8892B0"/>
                </a:solidFill>
                <a:latin typeface="Calibri"/>
                <a:ea typeface="Calibri"/>
                <a:cs typeface="Calibri"/>
              </a:defRPr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B1.2.1 · Shapes &amp; Geometry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561DF088-5372-4ECD-9ED6-7D15EB5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3631F3C4-7E5F-4331-8811-ACEDE400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51206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 problem?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import processing.core.PApplet;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Class name is ShapesSketch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main() names ShapesSketch exactly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Every call ends with a semicolon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Parentheses and braces are paired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7288330-25A7-47B6-BA86-66312C6A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49240" cy="448056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D610985D-8AA3-4808-B4FF-0B8EB4AB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572768"/>
            <a:ext cx="48371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  <a:defRPr sz="1400" b="1">
                <a:solidFill>
                  <a:srgbClr val="E8A33D"/>
                </a:solidFill>
                <a:latin typeface="Calibri"/>
                <a:ea typeface="Calibri"/>
                <a:cs typeface="Calibri"/>
              </a:defRPr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The program runs, but a shape is wrong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23ADBB87-DAD2-4CF8-914E-BC6D02F0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938528"/>
            <a:ext cx="4837176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Rectangle shifted? Check its upper-left corner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Ellipse shifted? Check its center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Wrong size? Check width, then height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Wrong line? Check both endpoint pairs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  <a:defRPr sz="1300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Window wrong? Check size(400, 300) in settings()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571773"/>
      </p:ext>
    </p:extLst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2026-08-25T13:14:18.2790000Z</dcterms:created>
  <dcterms:modified xsi:type="dcterms:W3CDTF">2026-08-25T13:14:18.2790000Z</dcterms:modified>
</coreProperties>
</file>