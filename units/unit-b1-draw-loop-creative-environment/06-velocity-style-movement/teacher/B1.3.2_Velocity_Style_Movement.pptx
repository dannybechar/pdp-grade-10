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c3f702ce204e98" /><Relationship Type="http://schemas.openxmlformats.org/officeDocument/2006/relationships/extended-properties" Target="/docProps/app.xml" Id="Rf5d99c050e134cbc" /><Relationship Type="http://schemas.openxmlformats.org/officeDocument/2006/relationships/officeDocument" Target="/ppt/presentation.xml" Id="Rb881086245d24c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eeaec66ac14496"/>
  </p:sldMasterIdLst>
  <p:notesMasterIdLst>
    <p:notesMasterId xmlns:r="http://schemas.openxmlformats.org/officeDocument/2006/relationships" r:id="R06fa45cefaf64c32"/>
  </p:notesMasterIdLst>
  <p:sldIdLst>
    <p:sldId xmlns:r="http://schemas.openxmlformats.org/officeDocument/2006/relationships" id="256" r:id="R4ea90c2866fc4377"/>
    <p:sldId xmlns:r="http://schemas.openxmlformats.org/officeDocument/2006/relationships" id="257" r:id="R3a42ac8a9aba46f8"/>
    <p:sldId xmlns:r="http://schemas.openxmlformats.org/officeDocument/2006/relationships" id="258" r:id="R33e070fbf93a4bcf"/>
    <p:sldId xmlns:r="http://schemas.openxmlformats.org/officeDocument/2006/relationships" id="259" r:id="Ra5e6fd7b66274206"/>
    <p:sldId xmlns:r="http://schemas.openxmlformats.org/officeDocument/2006/relationships" id="260" r:id="Rf91e72b2bb424975"/>
    <p:sldId xmlns:r="http://schemas.openxmlformats.org/officeDocument/2006/relationships" id="261" r:id="Rf0a0aee438304d3e"/>
    <p:sldId xmlns:r="http://schemas.openxmlformats.org/officeDocument/2006/relationships" id="262" r:id="Ra2bbec4572794014"/>
    <p:sldId xmlns:r="http://schemas.openxmlformats.org/officeDocument/2006/relationships" id="263" r:id="R71bf436835624e1d"/>
    <p:sldId xmlns:r="http://schemas.openxmlformats.org/officeDocument/2006/relationships" id="264" r:id="Rb55571d606dd4f00"/>
    <p:sldId xmlns:r="http://schemas.openxmlformats.org/officeDocument/2006/relationships" id="265" r:id="R5605a4a5295f42a2"/>
    <p:sldId xmlns:r="http://schemas.openxmlformats.org/officeDocument/2006/relationships" id="266" r:id="R7e57e168d116483c"/>
    <p:sldId xmlns:r="http://schemas.openxmlformats.org/officeDocument/2006/relationships" id="267" r:id="R58400e738f604a74"/>
    <p:sldId xmlns:r="http://schemas.openxmlformats.org/officeDocument/2006/relationships" id="268" r:id="R830246b1fc014df9"/>
    <p:sldId xmlns:r="http://schemas.openxmlformats.org/officeDocument/2006/relationships" id="269" r:id="R5b7685ae8bdb46e2"/>
    <p:sldId xmlns:r="http://schemas.openxmlformats.org/officeDocument/2006/relationships" id="270" r:id="R21a755c71e1d4046"/>
    <p:sldId xmlns:r="http://schemas.openxmlformats.org/officeDocument/2006/relationships" id="271" r:id="R49dcc9c8471a4c24"/>
    <p:sldId xmlns:r="http://schemas.openxmlformats.org/officeDocument/2006/relationships" id="272" r:id="Rac0b0ee4b1b34875"/>
    <p:sldId xmlns:r="http://schemas.openxmlformats.org/officeDocument/2006/relationships" id="273" r:id="R6672c12baad341e2"/>
    <p:sldId xmlns:r="http://schemas.openxmlformats.org/officeDocument/2006/relationships" id="274" r:id="R79e4d5e539e44e43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fe1bfec40b4cad" /><Relationship Type="http://schemas.openxmlformats.org/officeDocument/2006/relationships/slideMaster" Target="/ppt/slideMasters/slideMaster1.xml" Id="R69eeaec66ac14496" /><Relationship Type="http://schemas.openxmlformats.org/officeDocument/2006/relationships/notesMaster" Target="/ppt/notesMasters/notesMaster1.xml" Id="R06fa45cefaf64c32" /><Relationship Type="http://schemas.openxmlformats.org/officeDocument/2006/relationships/presProps" Target="/ppt/presProps.xml" Id="R0a282bdbab8647ad" /><Relationship Type="http://schemas.openxmlformats.org/officeDocument/2006/relationships/tableStyles" Target="/ppt/tableStyles.xml" Id="Rf2ca94c5553341f3" /><Relationship Type="http://schemas.openxmlformats.org/officeDocument/2006/relationships/slide" Target="/ppt/slides/slide1.xml" Id="R4ea90c2866fc4377" /><Relationship Type="http://schemas.openxmlformats.org/officeDocument/2006/relationships/slide" Target="/ppt/slides/slide2.xml" Id="R3a42ac8a9aba46f8" /><Relationship Type="http://schemas.openxmlformats.org/officeDocument/2006/relationships/slide" Target="/ppt/slides/slide3.xml" Id="R33e070fbf93a4bcf" /><Relationship Type="http://schemas.openxmlformats.org/officeDocument/2006/relationships/slide" Target="/ppt/slides/slide4.xml" Id="Ra5e6fd7b66274206" /><Relationship Type="http://schemas.openxmlformats.org/officeDocument/2006/relationships/slide" Target="/ppt/slides/slide5.xml" Id="Rf91e72b2bb424975" /><Relationship Type="http://schemas.openxmlformats.org/officeDocument/2006/relationships/slide" Target="/ppt/slides/slide6.xml" Id="Rf0a0aee438304d3e" /><Relationship Type="http://schemas.openxmlformats.org/officeDocument/2006/relationships/slide" Target="/ppt/slides/slide7.xml" Id="Ra2bbec4572794014" /><Relationship Type="http://schemas.openxmlformats.org/officeDocument/2006/relationships/slide" Target="/ppt/slides/slide8.xml" Id="R71bf436835624e1d" /><Relationship Type="http://schemas.openxmlformats.org/officeDocument/2006/relationships/slide" Target="/ppt/slides/slide9.xml" Id="Rb55571d606dd4f00" /><Relationship Type="http://schemas.openxmlformats.org/officeDocument/2006/relationships/slide" Target="/ppt/slides/slide10.xml" Id="R5605a4a5295f42a2" /><Relationship Type="http://schemas.openxmlformats.org/officeDocument/2006/relationships/slide" Target="/ppt/slides/slide11.xml" Id="R7e57e168d116483c" /><Relationship Type="http://schemas.openxmlformats.org/officeDocument/2006/relationships/slide" Target="/ppt/slides/slide12.xml" Id="R58400e738f604a74" /><Relationship Type="http://schemas.openxmlformats.org/officeDocument/2006/relationships/slide" Target="/ppt/slides/slide13.xml" Id="R830246b1fc014df9" /><Relationship Type="http://schemas.openxmlformats.org/officeDocument/2006/relationships/slide" Target="/ppt/slides/slide14.xml" Id="R5b7685ae8bdb46e2" /><Relationship Type="http://schemas.openxmlformats.org/officeDocument/2006/relationships/slide" Target="/ppt/slides/slide15.xml" Id="R21a755c71e1d4046" /><Relationship Type="http://schemas.openxmlformats.org/officeDocument/2006/relationships/slide" Target="/ppt/slides/slide16.xml" Id="R49dcc9c8471a4c24" /><Relationship Type="http://schemas.openxmlformats.org/officeDocument/2006/relationships/slide" Target="/ppt/slides/slide17.xml" Id="Rac0b0ee4b1b34875" /><Relationship Type="http://schemas.openxmlformats.org/officeDocument/2006/relationships/slide" Target="/ppt/slides/slide18.xml" Id="R6672c12baad341e2" /><Relationship Type="http://schemas.openxmlformats.org/officeDocument/2006/relationships/slide" Target="/ppt/slides/slide19.xml" Id="R79e4d5e539e44e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b68c3e65fc4d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5aea1a4ad241cd" /><Relationship Type="http://schemas.openxmlformats.org/officeDocument/2006/relationships/notesMaster" Target="/ppt/notesMasters/notesMaster1.xml" Id="R0265d250508046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29a04d515e4383" /><Relationship Type="http://schemas.openxmlformats.org/officeDocument/2006/relationships/notesMaster" Target="/ppt/notesMasters/notesMaster1.xml" Id="Rf068b674e29446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3a09a542c143f7" /><Relationship Type="http://schemas.openxmlformats.org/officeDocument/2006/relationships/notesMaster" Target="/ppt/notesMasters/notesMaster1.xml" Id="R34c43f91786e44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cf678cb3904a6a" /><Relationship Type="http://schemas.openxmlformats.org/officeDocument/2006/relationships/notesMaster" Target="/ppt/notesMasters/notesMaster1.xml" Id="R63eafe00193740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5169cd85924b0e" /><Relationship Type="http://schemas.openxmlformats.org/officeDocument/2006/relationships/notesMaster" Target="/ppt/notesMasters/notesMaster1.xml" Id="R2b93d94b444843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421f72b9224645" /><Relationship Type="http://schemas.openxmlformats.org/officeDocument/2006/relationships/notesMaster" Target="/ppt/notesMasters/notesMaster1.xml" Id="Rfa90d51f79724d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221b283a3d4314" /><Relationship Type="http://schemas.openxmlformats.org/officeDocument/2006/relationships/notesMaster" Target="/ppt/notesMasters/notesMaster1.xml" Id="Rfa09d8ad450043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c16a605a994ce7" /><Relationship Type="http://schemas.openxmlformats.org/officeDocument/2006/relationships/notesMaster" Target="/ppt/notesMasters/notesMaster1.xml" Id="R31dc15e817d84c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7c8ea1f78141a8" /><Relationship Type="http://schemas.openxmlformats.org/officeDocument/2006/relationships/notesMaster" Target="/ppt/notesMasters/notesMaster1.xml" Id="R0e64566c61e244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ed17c3a2e743d5" /><Relationship Type="http://schemas.openxmlformats.org/officeDocument/2006/relationships/notesMaster" Target="/ppt/notesMasters/notesMaster1.xml" Id="R60cb9ca5ddf642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875650f2034c1a" /><Relationship Type="http://schemas.openxmlformats.org/officeDocument/2006/relationships/notesMaster" Target="/ppt/notesMasters/notesMaster1.xml" Id="Rd51356476f2a47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6724f959df4bb4" /><Relationship Type="http://schemas.openxmlformats.org/officeDocument/2006/relationships/notesMaster" Target="/ppt/notesMasters/notesMaster1.xml" Id="Rde703a76c88f4f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5eb3eaa98045c2" /><Relationship Type="http://schemas.openxmlformats.org/officeDocument/2006/relationships/notesMaster" Target="/ppt/notesMasters/notesMaster1.xml" Id="R6a2359dee4764c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f4c774c9354e2a" /><Relationship Type="http://schemas.openxmlformats.org/officeDocument/2006/relationships/notesMaster" Target="/ppt/notesMasters/notesMaster1.xml" Id="R315b99cbc8ad48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e5d0ab34804f1f" /><Relationship Type="http://schemas.openxmlformats.org/officeDocument/2006/relationships/notesMaster" Target="/ppt/notesMasters/notesMaster1.xml" Id="Ra701bf23abf14e1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948dffad84419f" /><Relationship Type="http://schemas.openxmlformats.org/officeDocument/2006/relationships/notesMaster" Target="/ppt/notesMasters/notesMaster1.xml" Id="R2049ba7f8001432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472689465674239" /><Relationship Type="http://schemas.openxmlformats.org/officeDocument/2006/relationships/notesMaster" Target="/ppt/notesMasters/notesMaster1.xml" Id="Ree98fee61a284f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7fc375f0ae44297" /><Relationship Type="http://schemas.openxmlformats.org/officeDocument/2006/relationships/notesMaster" Target="/ppt/notesMasters/notesMaster1.xml" Id="R6d450b082b724d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24624a80ec04ace" /><Relationship Type="http://schemas.openxmlformats.org/officeDocument/2006/relationships/notesMaster" Target="/ppt/notesMasters/notesMaster1.xml" Id="Rc3e729f85abc4e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1 minute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State the finish line: “Today one persistent position will change on every draw() call, and a signed value will control direction.”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recognize this as Part 1’s update mechanism applied to position.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 all four retrieval questions before revealing explanations. Connect the centered growing circle to canvas coverage.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changing value must be declared in the class; assignment reads the old value on the right; drawing accumulates unless cleared; the larger opaque circle covered the smaller centered one.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2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 the success criteria. Emphasize prediction and explanation, not only watching an animation.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know the final program needs persistent position, signed per-frame change, a drawing call, and deliberate frame clearing.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Model the clicks and pause until each student has a BlueJ tile named VelocitySketch.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Project: B1_3_2_Velocity_Movement. Class: VelocitySketch.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TROUBLESHOOTING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Spelling matters because the Java file, public class, and PApplet.main() string must match.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Paste both panels in order. Compile and run before adding movement.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blank white 400 × 300 window opens. frameRate(30) requests a convenient visible pace; the actual rate may be lower.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https://processing.org/reference/size_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https://processing.org/reference/frameRate_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Point to x, vx, the update, and ellipse() in that order. Ask which x appears first.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x and vx persist. Frame 1 stores 53, then ellipse() uses 53. vx is signed horizontal change per frame; its magnitude is 3 pixels per frame.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LANGUAGE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“horizontal velocity” or “signed change per frame.” Speed is the nonnegative magnitude.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trace independently before revealing the right panel. Insist on update-before-draw order.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Visible centers are 53, 56, 59, and 62. If ellipse() came first, the visible sequence would begin at 50.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Trace each axis with a finger. Remind students that Processing’s y-coordinate increases downward.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Positive vx: right; negative vx: left; positive vy: down; negative vy: up. vy = -4 moves up because y decreases.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MISCONCEPTION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 not transfer the usual classroom graph orientation to the screen y-axis.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Run the trail version first. Ask what line is absent from draw(), then compare the clean version.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Calling background() once in setup() leaves old positions. Calling it first in draw() clears before the new position is drawn.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commit both direction and frame-4 x before running. Require a frame-by-frame trace.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Left; x values 97, 94, 91, 88. Magnitude is 3 pixels per frame.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supplied verified projects. Compare only one meaningful change at a time.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Trail retains old positions; Clean clears them; Left decreases x. Leaving the canvas is expected because edge logic is out of scope.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6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Release students to construct from Starter. Ask for the first visible x before the first run. Keep appendix slide 16 hidden unless recovery is needed.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first visible center is 32. One orange circle moves right without a trail.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TROUBLESHOOTING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Scan declaration, background placement, update, and ellipse arguments in that order.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2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predict every change before running. Separate sign, magnitude, and initial position.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vx = 6 moves right faster per frame; vx = -2 moves left by 2; x = 350 changes only the starting location. frameRate() requests call frequency, not the +vx arithmetic.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https://processing.org/reference/frameRate_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1 minute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partner points; the other explains. Diagnose the trail with the smallest edit.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Move background(255) from setup() to the first line of draw().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1 minute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answer independently in one concise response.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Frame 3 shows x = 68: 80 → 76 → 72 → 68. It moves left. background() clears the previous picture before drawing the new position.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Use as needed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Reveal only after an attempt. Compare each complete line with the construction steps.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circle moves right by 2 pixels per draw() call with clean frame clearing.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https://processing.org/reference/frameRate_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Use as needed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to demonstrate that a trail is an expected consequence of cumulative drawing, not failed movement.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Old orange positions remain because background() ran only once.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Use as needed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Trace y = 260, then 258, 256, and 254. Connect decreasing screen y to upward movement.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blue circle moves upward by 2 pixels per frame.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Use as needed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Diagnose one category at a time: BlueJ/library, declaration, clearing, update, drawing arguments, then expected edge behavior.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identify a specific line and explain the smallest correction before editing.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5d354f6904dee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e0e9f7b1544f90" /><Relationship Type="http://schemas.openxmlformats.org/officeDocument/2006/relationships/slideLayout" Target="/ppt/slideLayouts/slideLayout1.xml" Id="Ra4cd5f2905384b8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cd5f2905384b8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311afb37b4c66" /><Relationship Type="http://schemas.openxmlformats.org/officeDocument/2006/relationships/notesSlide" Target="/ppt/notesSlides/notesSlide1.xml" Id="Rf53fca460f9247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cb23e80d34e89" /><Relationship Type="http://schemas.openxmlformats.org/officeDocument/2006/relationships/notesSlide" Target="/ppt/notesSlides/notesSlide2.xml" Id="R3f8ef1fe333e41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93d0198fd4b72" /><Relationship Type="http://schemas.openxmlformats.org/officeDocument/2006/relationships/notesSlide" Target="/ppt/notesSlides/notesSlide3.xml" Id="R27c5ce855b2948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cef6ef2b246d2" /><Relationship Type="http://schemas.openxmlformats.org/officeDocument/2006/relationships/notesSlide" Target="/ppt/notesSlides/notesSlide4.xml" Id="R55716261b6f54b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c24cc52e84186" /><Relationship Type="http://schemas.openxmlformats.org/officeDocument/2006/relationships/notesSlide" Target="/ppt/notesSlides/notesSlide5.xml" Id="R72cb43a96f9641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ed7f2c7184960" /><Relationship Type="http://schemas.openxmlformats.org/officeDocument/2006/relationships/notesSlide" Target="/ppt/notesSlides/notesSlide6.xml" Id="R05499aa9f7174b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f42e23eeb488f" /><Relationship Type="http://schemas.openxmlformats.org/officeDocument/2006/relationships/notesSlide" Target="/ppt/notesSlides/notesSlide7.xml" Id="R329e2b3c679d4d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281594b4e4688" /><Relationship Type="http://schemas.openxmlformats.org/officeDocument/2006/relationships/notesSlide" Target="/ppt/notesSlides/notesSlide8.xml" Id="Rcfb55c6e825c4b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bd54c4aa94f77" /><Relationship Type="http://schemas.openxmlformats.org/officeDocument/2006/relationships/notesSlide" Target="/ppt/notesSlides/notesSlide9.xml" Id="R063aedaa810e4f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cff68896f4c15" /><Relationship Type="http://schemas.openxmlformats.org/officeDocument/2006/relationships/notesSlide" Target="/ppt/notesSlides/notesSlide10.xml" Id="R152d7ebc330140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28715101347ee" /><Relationship Type="http://schemas.openxmlformats.org/officeDocument/2006/relationships/notesSlide" Target="/ppt/notesSlides/notesSlide11.xml" Id="Rb1cbb04f9ad147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12a503cef4351" /><Relationship Type="http://schemas.openxmlformats.org/officeDocument/2006/relationships/notesSlide" Target="/ppt/notesSlides/notesSlide12.xml" Id="R938d26570f7f4e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1d25e64f34864" /><Relationship Type="http://schemas.openxmlformats.org/officeDocument/2006/relationships/notesSlide" Target="/ppt/notesSlides/notesSlide13.xml" Id="Rcf942e6dc4db4c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21db8dd764414" /><Relationship Type="http://schemas.openxmlformats.org/officeDocument/2006/relationships/notesSlide" Target="/ppt/notesSlides/notesSlide14.xml" Id="Rc93df933c51049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2c6e01c834e9d" /><Relationship Type="http://schemas.openxmlformats.org/officeDocument/2006/relationships/notesSlide" Target="/ppt/notesSlides/notesSlide15.xml" Id="R3f92361edafb47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a27243ba24250" /><Relationship Type="http://schemas.openxmlformats.org/officeDocument/2006/relationships/notesSlide" Target="/ppt/notesSlides/notesSlide16.xml" Id="R62261e5bbc9f4d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5705712ea477b" /><Relationship Type="http://schemas.openxmlformats.org/officeDocument/2006/relationships/notesSlide" Target="/ppt/notesSlides/notesSlide17.xml" Id="R6963f96cd0774a4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56546c8984f74" /><Relationship Type="http://schemas.openxmlformats.org/officeDocument/2006/relationships/notesSlide" Target="/ppt/notesSlides/notesSlide18.xml" Id="R7dad6f09c15149a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80ff0e697438e" /><Relationship Type="http://schemas.openxmlformats.org/officeDocument/2006/relationships/notesSlide" Target="/ppt/notesSlides/notesSlide19.xml" Id="R7cd161e8c8e145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7BF23E9B-771A-4BAD-AD54-1F2D9FC9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PDP COMPUTER SCIENCE · B1 THE DRAW LOOP &amp; CREATIVE ENVIRONMENT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E27ED4BE-A63F-4055-ADAE-37E3D6C5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B1.3.2 — Velocity-Style Movement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28A47E0-CDBD-40F5-B630-FD62F731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98755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  <a:defRPr sz="1800" i="1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Update position once per frame—and control direction with a sign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2FF1AF2A-F9BF-4EDB-A51D-982AF07A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A1D9A4E4-0B22-4615-B34D-68C81532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34996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4ACB2946-DA01-4F08-931F-23E762F2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Retrieve Part 1: What Makes Change Accumulate?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DD9E710-1012-416C-A39D-473E82D9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Connect diameter change to today’s position change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77D4C44E-8FCD-48F3-94D5-E537FB46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4D4A5A48-A8C9-4018-B22B-B8E2BBD3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98E0297D-5C84-43C6-8871-F056B8C9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12C3ED2F-9462-46DF-80FF-A25E6A04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Where must a value be declared if it must survive between draw() calls?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Read d = d + 2 aloud. Which value is used first?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What happens to old pixels when draw() runs again without background()?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Why could the centered growing circle cover its previous pictures?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643068FD-3D15-4F22-83C8-F673DD22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4FA4F5E4-D8C0-49AD-BBAD-244E30CE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Today’s bridge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57458C00-F8CE-4436-AC81-44607973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same memory-and-update mechanism can change position instead of size.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 moving shape uncovers the canvas behind it, so frame clearing now becomes visible.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Predict: what would a circle leave behind if x changed but background() ran only once?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2891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4ACB2946-DA01-4F08-931F-23E762F2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Today’s Mission: Make Position Change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DD9E710-1012-416C-A39D-473E82D9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Read, predict, build, and explain constant per-frame movement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77D4C44E-8FCD-48F3-94D5-E537FB46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4D4A5A48-A8C9-4018-B22B-B8E2BBD3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98E0297D-5C84-43C6-8871-F056B8C9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12C3ED2F-9462-46DF-80FF-A25E6A04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By the end, you can: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update x once per frame using x = x + vx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use the sign of vx or vy to determine direction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predict position after several draw() calls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place background() for clean motion instead of a trail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643068FD-3D15-4F22-83C8-F673DD22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4FA4F5E4-D8C0-49AD-BBAD-244E30CE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 counts as success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57458C00-F8CE-4436-AC81-44607973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Your BlueJ class compiles and opens a 400 × 300 sketch.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One circle moves smoothly because a persistent position is updated inside draw().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 can explain the roles of x, vx, background(), and ellipse() without pointing only to the animation.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28910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4ACB2946-DA01-4F08-931F-23E762F2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Start the Lesson Project in BlueJ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DD9E710-1012-416C-A39D-473E82D9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Use one class for every checkpoint today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77D4C44E-8FCD-48F3-94D5-E537FB46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4D4A5A48-A8C9-4018-B22B-B8E2BBD3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98E0297D-5C84-43C6-8871-F056B8C9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12C3ED2F-9462-46DF-80FF-A25E6A04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Project → New Project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Name: B1_3_2_Velocity_Movement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Save it in your course workspace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Click OK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643068FD-3D15-4F22-83C8-F673DD22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4FA4F5E4-D8C0-49AD-BBAD-244E30CE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Create the class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57458C00-F8CE-4436-AC81-44607973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Click New Class…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Name: VelocitySketch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Leave Class selected; click OK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Open the editor and replace the generated template with the shell on the next slide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2891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F483072D-B3F8-4DB5-AB6B-28845B13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Paste, Compile, and Run the Shell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8F931482-22D8-4309-A423-EB803D5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Prove the BlueJ/Processing wrapper works before adding movement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68F05B7D-0E3C-4AEB-A204-C5D2BB92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3074CC99-B558-4F49-B66D-690948EA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2120B923-1570-41C8-AEE1-1B3547BA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BCB6B306-8A42-403B-8F35-5F10E9FC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3163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1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import processing.core.PApplet;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1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class VelocitySketch extends PApplet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  <a:defRPr sz="11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00" i="0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settings() { size(400, 300);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1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setup()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1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noStroke();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1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fill(240, 170, 50);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1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frameRate(30);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1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1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draw()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1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1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1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static void main(String[] args)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1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PApplet.main("VelocitySketch");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1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1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4B13EAE8-E8EA-4210-B601-DE60D703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0"/>
            <a:ext cx="5577840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DEF96147-AD0E-459C-B27D-2965E3AA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23036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Run the shell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AF97697F-D69C-47F9-BEE6-36398001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596128"/>
            <a:ext cx="5065776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Compile, close the editor, and run main. Expected: a blank white 400 × 300 window.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86C86A5D-9BDA-4241-8827-A8BEFCAA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25880"/>
            <a:ext cx="5257800" cy="50292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6D18420E-71B5-4773-83DF-D0AAB33F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527048"/>
            <a:ext cx="474573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If it does not compile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F9DE477A-DC37-443E-9220-EBFC35AA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892808"/>
            <a:ext cx="4745736" cy="429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PApplet unresolved → confirm core-4.5.6.jar is marked (Loaded), then restart BlueJ.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 mismatch → verify the file name, public class name, and PApplet.main("VelocitySketch") all agree.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 from the class tile: right-click VelocitySketch and choose void main(String[] args).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70523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F483072D-B3F8-4DB5-AB6B-28845B13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Position + Horizontal Velocity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8F931482-22D8-4309-A423-EB803D5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x = x + vx runs once per frame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68F05B7D-0E3C-4AEB-A204-C5D2BB92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3074CC99-B558-4F49-B66D-690948EA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2120B923-1570-41C8-AEE1-1B3547BA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BCB6B306-8A42-403B-8F35-5F10E9FC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3163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x = 50;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vx = 3;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background(255);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 = x + vx;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ellipse(x, 150, 40, 40);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4B13EAE8-E8EA-4210-B601-DE60D703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0"/>
            <a:ext cx="5577840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DEF96147-AD0E-459C-B27D-2965E3AA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23036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First visible center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AF97697F-D69C-47F9-BEE6-36398001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596128"/>
            <a:ext cx="5065776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50 + 3 = 53. The update runs before ellipse(), so frame 1 draws the circle at x = 53.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86C86A5D-9BDA-4241-8827-A8BEFCAA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25880"/>
            <a:ext cx="5257800" cy="50292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6D18420E-71B5-4773-83DF-D0AAB33F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527048"/>
            <a:ext cx="474573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 each value means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F9DE477A-DC37-443E-9220-EBFC35AA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892808"/>
            <a:ext cx="4745736" cy="429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stores the circle’s current horizontal position.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vx stores the signed change in x per frame. Its magnitude says how many pixels x changes each call; its sign says which horizontal direction.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ellipse(x, 150, 40, 40) uses the newest x as its center position.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70523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7">
            <a:extLst xmlns:a="http://schemas.openxmlformats.org/drawingml/2006/main">
              <a:ext uri="{FF2B5EF4-FFF2-40B4-BE49-F238E27FC236}">
                <a16:creationId xmlns:a16="http://schemas.microsoft.com/office/drawing/2014/main" id="{68411A2F-03E6-4460-82A3-3772C25F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Trace Four Frames Before You Run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53059513-47E7-4A40-8906-CB03022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Update first, then use the new x in ellipse()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EF41BA53-501E-4197-8D0A-ACA6A60A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6FE749C5-3B0C-459A-9E36-FA67A139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7">
            <a:extLst xmlns:a="http://schemas.openxmlformats.org/drawingml/2006/main">
              <a:ext uri="{FF2B5EF4-FFF2-40B4-BE49-F238E27FC236}">
                <a16:creationId xmlns:a16="http://schemas.microsoft.com/office/drawing/2014/main" id="{B3CE320B-3452-4BB1-B9D1-CC04BBB5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64D16BE5-2772-40D9-A8C1-E8318C03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72768"/>
            <a:ext cx="4572000" cy="1700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x = 50;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vx = 3;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// each frame: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x = x + vx;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ellipse(x, 150, 40, 40);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52B7DCE4-D81C-4019-9043-C4861082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>
            <a:extLst xmlns:a="http://schemas.openxmlformats.org/drawingml/2006/main">
              <a:ext uri="{FF2B5EF4-FFF2-40B4-BE49-F238E27FC236}">
                <a16:creationId xmlns:a16="http://schemas.microsoft.com/office/drawing/2014/main" id="{F5A6AF9E-0830-48B9-AAC2-CFF3B602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7">
            <a:extLst xmlns:a="http://schemas.openxmlformats.org/drawingml/2006/main">
              <a:ext uri="{FF2B5EF4-FFF2-40B4-BE49-F238E27FC236}">
                <a16:creationId xmlns:a16="http://schemas.microsoft.com/office/drawing/2014/main" id="{F8233CAA-A61D-4FE4-A803-C5E92C09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21608"/>
            <a:ext cx="461772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x is used on frame 1? Show the update from the starting value.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7">
            <a:extLst xmlns:a="http://schemas.openxmlformats.org/drawingml/2006/main">
              <a:ext uri="{FF2B5EF4-FFF2-40B4-BE49-F238E27FC236}">
                <a16:creationId xmlns:a16="http://schemas.microsoft.com/office/drawing/2014/main" id="{A39B57AD-1C91-46E1-AA03-4BCEC37A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>
            <a:extLst xmlns:a="http://schemas.openxmlformats.org/drawingml/2006/main">
              <a:ext uri="{FF2B5EF4-FFF2-40B4-BE49-F238E27FC236}">
                <a16:creationId xmlns:a16="http://schemas.microsoft.com/office/drawing/2014/main" id="{13E7C286-DF75-459D-82BF-90668F42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7">
            <a:extLst xmlns:a="http://schemas.openxmlformats.org/drawingml/2006/main">
              <a:ext uri="{FF2B5EF4-FFF2-40B4-BE49-F238E27FC236}">
                <a16:creationId xmlns:a16="http://schemas.microsoft.com/office/drawing/2014/main" id="{783D9155-DB19-443F-8BF5-F40BC353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636008"/>
            <a:ext cx="46177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Continue the same process through frame 4. Record every visible x.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7">
            <a:extLst xmlns:a="http://schemas.openxmlformats.org/drawingml/2006/main">
              <a:ext uri="{FF2B5EF4-FFF2-40B4-BE49-F238E27FC236}">
                <a16:creationId xmlns:a16="http://schemas.microsoft.com/office/drawing/2014/main" id="{60A1E027-3AD8-484F-8BE9-F91A3ABE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>
            <a:extLst xmlns:a="http://schemas.openxmlformats.org/drawingml/2006/main">
              <a:ext uri="{FF2B5EF4-FFF2-40B4-BE49-F238E27FC236}">
                <a16:creationId xmlns:a16="http://schemas.microsoft.com/office/drawing/2014/main" id="{A601EA4C-FB88-4EBD-863A-98636BA7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7">
            <a:extLst xmlns:a="http://schemas.openxmlformats.org/drawingml/2006/main">
              <a:ext uri="{FF2B5EF4-FFF2-40B4-BE49-F238E27FC236}">
                <a16:creationId xmlns:a16="http://schemas.microsoft.com/office/drawing/2014/main" id="{B7CD795C-EBB1-4F4B-A698-C86AFDC4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4132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would change if ellipse() came before the update line?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7">
            <a:extLst xmlns:a="http://schemas.openxmlformats.org/drawingml/2006/main">
              <a:ext uri="{FF2B5EF4-FFF2-40B4-BE49-F238E27FC236}">
                <a16:creationId xmlns:a16="http://schemas.microsoft.com/office/drawing/2014/main" id="{DE18C683-8922-4723-B7C6-08584F52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66344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>
            <a:extLst xmlns:a="http://schemas.openxmlformats.org/drawingml/2006/main">
              <a:ext uri="{FF2B5EF4-FFF2-40B4-BE49-F238E27FC236}">
                <a16:creationId xmlns:a16="http://schemas.microsoft.com/office/drawing/2014/main" id="{67229294-7520-4BE9-A4E5-17CD7C4D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429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Start: x = 50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Frame 1: x = 50 + 3 = 53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Frame 2: x = 56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Frame 3: x = 59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Frame 4: x = 62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Visible centers: 53, 56, 59, 62.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If ellipse() came first, the first visible center would be 50 and each picture would show the previous x before it is updated.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9872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AA7AFDCE-D985-4063-BAD4-FF60DBD2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Sign Sets the Direction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897E3AB1-0734-4896-A738-7CB1CB6B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Processing screen axes: +x is right; +y is down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D9DB7338-CED6-4982-98F3-D68D3B47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2FC94394-0BF3-42C4-AF3A-4D61C6B1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6B6ED0F7-6EDE-4D11-B890-3E7CEDBA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ourier New"/>
              <a:buNone/>
              <a:defRPr sz="1400" b="1">
                <a:solidFill>
                  <a:srgbClr val="1E2761"/>
                </a:solidFill>
                <a:latin typeface="Courier New"/>
                <a:ea typeface="Courier New"/>
                <a:cs typeface="Courier New"/>
              </a:defRPr>
            </a:pPr>
            <a:r>
              <a:rPr sz="1400" b="1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x = x + vx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C80E67E6-D920-4925-8073-C8385D3A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71600"/>
            <a:ext cx="4206240" cy="214884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63;p6"/>
          <p:cNvCxnSpPr/>
          <p:nvPr/>
        </p:nvCxnSpPr>
        <p:spPr>
          <a:xfrm xmlns:a="http://schemas.openxmlformats.org/drawingml/2006/main">
            <a:off x="3291840" y="2446020"/>
            <a:ext cx="3108960" cy="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8FD0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7804F6A3-19F1-4CF2-9F04-33D6F7C2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224485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023170A6-EDB3-4614-94FE-26340918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54680"/>
            <a:ext cx="4206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2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vx = 3 → moves RIGHT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58ED7196-7944-4D74-9C0F-B2326746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71600"/>
            <a:ext cx="4206240" cy="214884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" name="Google Shape;67;p6"/>
          <p:cNvCxnSpPr/>
          <p:nvPr/>
        </p:nvCxnSpPr>
        <p:spPr>
          <a:xfrm xmlns:a="http://schemas.openxmlformats.org/drawingml/2006/main">
            <a:off x="7863840" y="2446020"/>
            <a:ext cx="3108960" cy="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8FD0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F7BBA425-87F3-49D3-BB57-8A72AF80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632" y="224485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4412353E-DF6F-42AE-8EA8-4B45A55C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54680"/>
            <a:ext cx="4206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2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vx = -3 → moves LEFT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D047976D-F8A7-4630-9A4B-F969378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ourier New"/>
              <a:buNone/>
              <a:defRPr sz="1400" b="1">
                <a:solidFill>
                  <a:srgbClr val="1E2761"/>
                </a:solidFill>
                <a:latin typeface="Courier New"/>
                <a:ea typeface="Courier New"/>
                <a:cs typeface="Courier New"/>
              </a:defRPr>
            </a:pPr>
            <a:r>
              <a:rPr sz="1400" b="1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y = y + vy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8A41F666-5045-4643-A565-0B3D685E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40480"/>
            <a:ext cx="4206240" cy="214884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" name="Google Shape;72;p6"/>
          <p:cNvCxnSpPr/>
          <p:nvPr/>
        </p:nvCxnSpPr>
        <p:spPr>
          <a:xfrm xmlns:a="http://schemas.openxmlformats.org/drawingml/2006/main">
            <a:off x="4846320" y="4160520"/>
            <a:ext cx="0" cy="132588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E8A33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3" name="Google Shape;73;p6">
            <a:extLst xmlns:a="http://schemas.openxmlformats.org/drawingml/2006/main">
              <a:ext uri="{FF2B5EF4-FFF2-40B4-BE49-F238E27FC236}">
                <a16:creationId xmlns:a16="http://schemas.microsoft.com/office/drawing/2014/main" id="{DC76D013-D32B-4427-B716-2E9F5AB6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95935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0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>
            <a:extLst xmlns:a="http://schemas.openxmlformats.org/drawingml/2006/main">
              <a:ext uri="{FF2B5EF4-FFF2-40B4-BE49-F238E27FC236}">
                <a16:creationId xmlns:a16="http://schemas.microsoft.com/office/drawing/2014/main" id="{B76BDCEB-7C4C-4CF4-9B17-90531D6A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23560"/>
            <a:ext cx="4206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2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vy = 2 → moves DOWN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A53F2162-CE79-4665-9EB3-94FE13A4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40480"/>
            <a:ext cx="4206240" cy="214884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" name="Google Shape;76;p6"/>
          <p:cNvCxnSpPr/>
          <p:nvPr/>
        </p:nvCxnSpPr>
        <p:spPr>
          <a:xfrm xmlns:a="http://schemas.openxmlformats.org/drawingml/2006/main">
            <a:off x="9418320" y="4160520"/>
            <a:ext cx="0" cy="132588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E8A33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2FCE16B9-8F28-484E-9EAF-5CF2C535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528523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0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B30B575A-6000-4AAC-B5D5-48B4FF10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23560"/>
            <a:ext cx="4206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  <a:defRPr sz="120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vy = -2 → moves UP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FFBA5A56-0E3F-4059-9B4E-391AA2C0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18520" cy="41148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76F2ABF3-06AA-4A44-9C72-03985EFB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6190488"/>
            <a:ext cx="10506456" cy="45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2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2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Quick check: vy = -4. Up or down? Explain using the screen’s y-axis.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97675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F483072D-B3F8-4DB5-AB6B-28845B13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Trail or Clean Motion?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8F931482-22D8-4309-A423-EB803D5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The location of background() changes what remains visible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68F05B7D-0E3C-4AEB-A204-C5D2BB92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3074CC99-B558-4F49-B66D-690948EA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2120B923-1570-41C8-AEE1-1B3547BA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BCB6B306-8A42-403B-8F35-5F10E9FC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3163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setup()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background(255);       // once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 = x + vx;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ellipse(x, 150, 40, 40);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4B13EAE8-E8EA-4210-B601-DE60D703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0"/>
            <a:ext cx="5577840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DEF96147-AD0E-459C-B27D-2965E3AA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23036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Trail result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AF97697F-D69C-47F9-BEE6-36398001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596128"/>
            <a:ext cx="5065776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Old circle positions remain because later draw() calls do not clear the canvas.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86C86A5D-9BDA-4241-8827-A8BEFCAA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25880"/>
            <a:ext cx="5257800" cy="50292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6D18420E-71B5-4773-83DF-D0AAB33F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527048"/>
            <a:ext cx="474573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Clean motion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F9DE477A-DC37-443E-9220-EBFC35AA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892808"/>
            <a:ext cx="4745736" cy="429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20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u="none" cap="none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background(255);       // every frame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20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u="none" cap="none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x = x + vx;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20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u="none" cap="none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ellipse(x, 150, 40, 40);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20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u="none" cap="none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20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u="none" cap="none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Put background() first. It replaces the old frame before the new position is drawn, so only one circle is visible.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70523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7">
            <a:extLst xmlns:a="http://schemas.openxmlformats.org/drawingml/2006/main">
              <a:ext uri="{FF2B5EF4-FFF2-40B4-BE49-F238E27FC236}">
                <a16:creationId xmlns:a16="http://schemas.microsoft.com/office/drawing/2014/main" id="{68411A2F-03E6-4460-82A3-3772C25F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Predict Before You Run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53059513-47E7-4A40-8906-CB03022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Formative check — direction and position from signed velocity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EF41BA53-501E-4197-8D0A-ACA6A60A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6FE749C5-3B0C-459A-9E36-FA67A139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7">
            <a:extLst xmlns:a="http://schemas.openxmlformats.org/drawingml/2006/main">
              <a:ext uri="{FF2B5EF4-FFF2-40B4-BE49-F238E27FC236}">
                <a16:creationId xmlns:a16="http://schemas.microsoft.com/office/drawing/2014/main" id="{B3CE320B-3452-4BB1-B9D1-CC04BBB5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64D16BE5-2772-40D9-A8C1-E8318C03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72768"/>
            <a:ext cx="4572000" cy="1700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x = 100;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float vx = -3;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// each frame: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x = x + vx;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52B7DCE4-D81C-4019-9043-C4861082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>
            <a:extLst xmlns:a="http://schemas.openxmlformats.org/drawingml/2006/main">
              <a:ext uri="{FF2B5EF4-FFF2-40B4-BE49-F238E27FC236}">
                <a16:creationId xmlns:a16="http://schemas.microsoft.com/office/drawing/2014/main" id="{F5A6AF9E-0830-48B9-AAC2-CFF3B602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7">
            <a:extLst xmlns:a="http://schemas.openxmlformats.org/drawingml/2006/main">
              <a:ext uri="{FF2B5EF4-FFF2-40B4-BE49-F238E27FC236}">
                <a16:creationId xmlns:a16="http://schemas.microsoft.com/office/drawing/2014/main" id="{F8233CAA-A61D-4FE4-A803-C5E92C09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21608"/>
            <a:ext cx="461772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Which direction will the circle move? Justify from the sign of vx.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7">
            <a:extLst xmlns:a="http://schemas.openxmlformats.org/drawingml/2006/main">
              <a:ext uri="{FF2B5EF4-FFF2-40B4-BE49-F238E27FC236}">
                <a16:creationId xmlns:a16="http://schemas.microsoft.com/office/drawing/2014/main" id="{A39B57AD-1C91-46E1-AA03-4BCEC37A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>
            <a:extLst xmlns:a="http://schemas.openxmlformats.org/drawingml/2006/main">
              <a:ext uri="{FF2B5EF4-FFF2-40B4-BE49-F238E27FC236}">
                <a16:creationId xmlns:a16="http://schemas.microsoft.com/office/drawing/2014/main" id="{13E7C286-DF75-459D-82BF-90668F42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7">
            <a:extLst xmlns:a="http://schemas.openxmlformats.org/drawingml/2006/main">
              <a:ext uri="{FF2B5EF4-FFF2-40B4-BE49-F238E27FC236}">
                <a16:creationId xmlns:a16="http://schemas.microsoft.com/office/drawing/2014/main" id="{783D9155-DB19-443F-8BF5-F40BC353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636008"/>
            <a:ext cx="46177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will x equal after 4 frames? Work frame by frame on paper.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7">
            <a:extLst xmlns:a="http://schemas.openxmlformats.org/drawingml/2006/main">
              <a:ext uri="{FF2B5EF4-FFF2-40B4-BE49-F238E27FC236}">
                <a16:creationId xmlns:a16="http://schemas.microsoft.com/office/drawing/2014/main" id="{60A1E027-3AD8-484F-8BE9-F91A3ABE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>
            <a:extLst xmlns:a="http://schemas.openxmlformats.org/drawingml/2006/main">
              <a:ext uri="{FF2B5EF4-FFF2-40B4-BE49-F238E27FC236}">
                <a16:creationId xmlns:a16="http://schemas.microsoft.com/office/drawing/2014/main" id="{A601EA4C-FB88-4EBD-863A-98636BA7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7">
            <a:extLst xmlns:a="http://schemas.openxmlformats.org/drawingml/2006/main">
              <a:ext uri="{FF2B5EF4-FFF2-40B4-BE49-F238E27FC236}">
                <a16:creationId xmlns:a16="http://schemas.microsoft.com/office/drawing/2014/main" id="{B7CD795C-EBB1-4F4B-A698-C86AFDC4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4132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Run VelocitySketch_Left and compare the animation with your trace.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7">
            <a:extLst xmlns:a="http://schemas.openxmlformats.org/drawingml/2006/main">
              <a:ext uri="{FF2B5EF4-FFF2-40B4-BE49-F238E27FC236}">
                <a16:creationId xmlns:a16="http://schemas.microsoft.com/office/drawing/2014/main" id="{DE18C683-8922-4723-B7C6-08584F52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66344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>
            <a:extLst xmlns:a="http://schemas.openxmlformats.org/drawingml/2006/main">
              <a:ext uri="{FF2B5EF4-FFF2-40B4-BE49-F238E27FC236}">
                <a16:creationId xmlns:a16="http://schemas.microsoft.com/office/drawing/2014/main" id="{67229294-7520-4BE9-A4E5-17CD7C4D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429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Work in the same order as draw():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Start: x = 100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Frame 1: x = 100 + (-3) = 97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Frame 2: x = 94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Frame 3: x = 91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Frame 4: x = 88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circle moves LEFT because x decreases. The signed value is a horizontal velocity; its speed is the magnitude, 3 pixels per frame.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9872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7">
            <a:extLst xmlns:a="http://schemas.openxmlformats.org/drawingml/2006/main">
              <a:ext uri="{FF2B5EF4-FFF2-40B4-BE49-F238E27FC236}">
                <a16:creationId xmlns:a16="http://schemas.microsoft.com/office/drawing/2014/main" id="{68411A2F-03E6-4460-82A3-3772C25F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Run Three Versions and Compare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53059513-47E7-4A40-8906-CB03022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Use the verified BlueJ projects as evidence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EF41BA53-501E-4197-8D0A-ACA6A60A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6FE749C5-3B0C-459A-9E36-FA67A139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7">
            <a:extLst xmlns:a="http://schemas.openxmlformats.org/drawingml/2006/main">
              <a:ext uri="{FF2B5EF4-FFF2-40B4-BE49-F238E27FC236}">
                <a16:creationId xmlns:a16="http://schemas.microsoft.com/office/drawing/2014/main" id="{B3CE320B-3452-4BB1-B9D1-CC04BBB5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64D16BE5-2772-40D9-A8C1-E8318C03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72768"/>
            <a:ext cx="4572000" cy="1700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  <a:defRPr sz="12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VelocitySketch_Trail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  <a:defRPr sz="12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background() runs in setup()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400"/>
              <a:buFont typeface="Courier New"/>
              <a:buNone/>
              <a:defRPr sz="12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VelocitySketch_Clean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400"/>
              <a:buFont typeface="Courier New"/>
              <a:buNone/>
              <a:defRPr sz="12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background() runs first in draw()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400"/>
              <a:buFont typeface="Courier New"/>
              <a:buNone/>
              <a:defRPr sz="12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VelocitySketch_Left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400"/>
              <a:buFont typeface="Courier New"/>
              <a:buNone/>
              <a:defRPr sz="12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vx = -3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52B7DCE4-D81C-4019-9043-C4861082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>
            <a:extLst xmlns:a="http://schemas.openxmlformats.org/drawingml/2006/main">
              <a:ext uri="{FF2B5EF4-FFF2-40B4-BE49-F238E27FC236}">
                <a16:creationId xmlns:a16="http://schemas.microsoft.com/office/drawing/2014/main" id="{F5A6AF9E-0830-48B9-AAC2-CFF3B602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7">
            <a:extLst xmlns:a="http://schemas.openxmlformats.org/drawingml/2006/main">
              <a:ext uri="{FF2B5EF4-FFF2-40B4-BE49-F238E27FC236}">
                <a16:creationId xmlns:a16="http://schemas.microsoft.com/office/drawing/2014/main" id="{F8233CAA-A61D-4FE4-A803-C5E92C09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21608"/>
            <a:ext cx="461772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Run Trail. What remains visible after the circle moves?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7">
            <a:extLst xmlns:a="http://schemas.openxmlformats.org/drawingml/2006/main">
              <a:ext uri="{FF2B5EF4-FFF2-40B4-BE49-F238E27FC236}">
                <a16:creationId xmlns:a16="http://schemas.microsoft.com/office/drawing/2014/main" id="{A39B57AD-1C91-46E1-AA03-4BCEC37A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>
            <a:extLst xmlns:a="http://schemas.openxmlformats.org/drawingml/2006/main">
              <a:ext uri="{FF2B5EF4-FFF2-40B4-BE49-F238E27FC236}">
                <a16:creationId xmlns:a16="http://schemas.microsoft.com/office/drawing/2014/main" id="{13E7C286-DF75-459D-82BF-90668F42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7">
            <a:extLst xmlns:a="http://schemas.openxmlformats.org/drawingml/2006/main">
              <a:ext uri="{FF2B5EF4-FFF2-40B4-BE49-F238E27FC236}">
                <a16:creationId xmlns:a16="http://schemas.microsoft.com/office/drawing/2014/main" id="{783D9155-DB19-443F-8BF5-F40BC353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636008"/>
            <a:ext cx="46177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Run Clean. Identify the one line-placement change that removes the trail.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7">
            <a:extLst xmlns:a="http://schemas.openxmlformats.org/drawingml/2006/main">
              <a:ext uri="{FF2B5EF4-FFF2-40B4-BE49-F238E27FC236}">
                <a16:creationId xmlns:a16="http://schemas.microsoft.com/office/drawing/2014/main" id="{60A1E027-3AD8-484F-8BE9-F91A3ABE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>
            <a:extLst xmlns:a="http://schemas.openxmlformats.org/drawingml/2006/main">
              <a:ext uri="{FF2B5EF4-FFF2-40B4-BE49-F238E27FC236}">
                <a16:creationId xmlns:a16="http://schemas.microsoft.com/office/drawing/2014/main" id="{A601EA4C-FB88-4EBD-863A-98636BA7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7">
            <a:extLst xmlns:a="http://schemas.openxmlformats.org/drawingml/2006/main">
              <a:ext uri="{FF2B5EF4-FFF2-40B4-BE49-F238E27FC236}">
                <a16:creationId xmlns:a16="http://schemas.microsoft.com/office/drawing/2014/main" id="{B7CD795C-EBB1-4F4B-A698-C86AFDC4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4132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Run Left. Point to the value that reverses horizontal direction.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7">
            <a:extLst xmlns:a="http://schemas.openxmlformats.org/drawingml/2006/main">
              <a:ext uri="{FF2B5EF4-FFF2-40B4-BE49-F238E27FC236}">
                <a16:creationId xmlns:a16="http://schemas.microsoft.com/office/drawing/2014/main" id="{DE18C683-8922-4723-B7C6-08584F52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66344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>
            <a:extLst xmlns:a="http://schemas.openxmlformats.org/drawingml/2006/main">
              <a:ext uri="{FF2B5EF4-FFF2-40B4-BE49-F238E27FC236}">
                <a16:creationId xmlns:a16="http://schemas.microsoft.com/office/drawing/2014/main" id="{67229294-7520-4BE9-A4E5-17CD7C4D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429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TRAIL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Many old circle positions remain.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CLEAN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Only the newest circle is visible because background() runs first on every frame.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LEFT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same update pattern is used, but vx is negative, so x decreases.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None of these examples contains edge logic; leaving the canvas is expected today.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9872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Google Shape;108;p8">
            <a:extLst xmlns:a="http://schemas.openxmlformats.org/drawingml/2006/main">
              <a:ext uri="{FF2B5EF4-FFF2-40B4-BE49-F238E27FC236}">
                <a16:creationId xmlns:a16="http://schemas.microsoft.com/office/drawing/2014/main" id="{0871195C-73B6-4BAE-BD7A-DE732B9B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Turn: Build Clean Horizontal Motion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8">
            <a:extLst xmlns:a="http://schemas.openxmlformats.org/drawingml/2006/main">
              <a:ext uri="{FF2B5EF4-FFF2-40B4-BE49-F238E27FC236}">
                <a16:creationId xmlns:a16="http://schemas.microsoft.com/office/drawing/2014/main" id="{A4AB7506-D8F7-4E7A-989D-ECBA8268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Construct steady movement from the verified starter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69DA792E-F31D-42AB-B351-CC4E7978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22B64800-750B-4862-BFE8-616C7C3E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8">
            <a:extLst xmlns:a="http://schemas.openxmlformats.org/drawingml/2006/main">
              <a:ext uri="{FF2B5EF4-FFF2-40B4-BE49-F238E27FC236}">
                <a16:creationId xmlns:a16="http://schemas.microsoft.com/office/drawing/2014/main" id="{24B0BB83-280F-4AFF-A49F-50FF32A5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>
            <a:extLst xmlns:a="http://schemas.openxmlformats.org/drawingml/2006/main">
              <a:ext uri="{FF2B5EF4-FFF2-40B4-BE49-F238E27FC236}">
                <a16:creationId xmlns:a16="http://schemas.microsoft.com/office/drawing/2014/main" id="{B5EE2D97-DD37-4F68-BCDF-A8688818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8">
            <a:extLst xmlns:a="http://schemas.openxmlformats.org/drawingml/2006/main">
              <a:ext uri="{FF2B5EF4-FFF2-40B4-BE49-F238E27FC236}">
                <a16:creationId xmlns:a16="http://schemas.microsoft.com/office/drawing/2014/main" id="{92504E75-1A65-4D9B-BD33-B3EF7680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344168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Open VelocitySketch_Starter. Compile and run its blank white window.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8">
            <a:extLst xmlns:a="http://schemas.openxmlformats.org/drawingml/2006/main">
              <a:ext uri="{FF2B5EF4-FFF2-40B4-BE49-F238E27FC236}">
                <a16:creationId xmlns:a16="http://schemas.microsoft.com/office/drawing/2014/main" id="{08DB8DB8-BB1A-4676-AF75-FF7BDAC6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>
            <a:extLst xmlns:a="http://schemas.openxmlformats.org/drawingml/2006/main">
              <a:ext uri="{FF2B5EF4-FFF2-40B4-BE49-F238E27FC236}">
                <a16:creationId xmlns:a16="http://schemas.microsoft.com/office/drawing/2014/main" id="{69197B16-7E17-496C-8404-0F0E40B2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8">
            <a:extLst xmlns:a="http://schemas.openxmlformats.org/drawingml/2006/main">
              <a:ext uri="{FF2B5EF4-FFF2-40B4-BE49-F238E27FC236}">
                <a16:creationId xmlns:a16="http://schemas.microsoft.com/office/drawing/2014/main" id="{89EA12F0-2594-4ADE-9E1F-DF4A7BF6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350008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Above settings(), declare: float x = 30; and float vx = 2;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8">
            <a:extLst xmlns:a="http://schemas.openxmlformats.org/drawingml/2006/main">
              <a:ext uri="{FF2B5EF4-FFF2-40B4-BE49-F238E27FC236}">
                <a16:creationId xmlns:a16="http://schemas.microsoft.com/office/drawing/2014/main" id="{BD81F4E3-3347-49B3-ABF1-CE04DA0B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>
            <a:extLst xmlns:a="http://schemas.openxmlformats.org/drawingml/2006/main">
              <a:ext uri="{FF2B5EF4-FFF2-40B4-BE49-F238E27FC236}">
                <a16:creationId xmlns:a16="http://schemas.microsoft.com/office/drawing/2014/main" id="{56D69168-FFBA-4E14-A9BE-3B4BFE68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8">
            <a:extLst xmlns:a="http://schemas.openxmlformats.org/drawingml/2006/main">
              <a:ext uri="{FF2B5EF4-FFF2-40B4-BE49-F238E27FC236}">
                <a16:creationId xmlns:a16="http://schemas.microsoft.com/office/drawing/2014/main" id="{74F8CCEC-D078-44B4-9E41-B09D9362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55848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 draw(), keep background(255) first; then update x; then draw ellipse(x, 150, 40, 40).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8">
            <a:extLst xmlns:a="http://schemas.openxmlformats.org/drawingml/2006/main">
              <a:ext uri="{FF2B5EF4-FFF2-40B4-BE49-F238E27FC236}">
                <a16:creationId xmlns:a16="http://schemas.microsoft.com/office/drawing/2014/main" id="{DE41AD23-ED35-40FE-A8D5-05B562B7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>
            <a:extLst xmlns:a="http://schemas.openxmlformats.org/drawingml/2006/main">
              <a:ext uri="{FF2B5EF4-FFF2-40B4-BE49-F238E27FC236}">
                <a16:creationId xmlns:a16="http://schemas.microsoft.com/office/drawing/2014/main" id="{94249031-94A6-4C26-A11B-B6221AB8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" name="Google Shape;123;p8">
            <a:extLst xmlns:a="http://schemas.openxmlformats.org/drawingml/2006/main">
              <a:ext uri="{FF2B5EF4-FFF2-40B4-BE49-F238E27FC236}">
                <a16:creationId xmlns:a16="http://schemas.microsoft.com/office/drawing/2014/main" id="{4AA51DBB-DF7B-46BF-9612-F1FFFBB0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361688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Compile and run. Explain why the first visible center is x = 32.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" name="Google Shape;124;p8">
            <a:extLst xmlns:a="http://schemas.openxmlformats.org/drawingml/2006/main">
              <a:ext uri="{FF2B5EF4-FFF2-40B4-BE49-F238E27FC236}">
                <a16:creationId xmlns:a16="http://schemas.microsoft.com/office/drawing/2014/main" id="{E827FCC2-6DCF-4EB8-8771-261EC97D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94960"/>
            <a:ext cx="5577840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>
            <a:extLst xmlns:a="http://schemas.openxmlformats.org/drawingml/2006/main">
              <a:ext uri="{FF2B5EF4-FFF2-40B4-BE49-F238E27FC236}">
                <a16:creationId xmlns:a16="http://schemas.microsoft.com/office/drawing/2014/main" id="{53DC6108-B1CF-4E46-90DF-033FF770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596128"/>
            <a:ext cx="5065776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Success: one orange circle glides right with no trail. x persists; vx is named; background() clears first; ellipse() uses x.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Google Shape;126;p8">
            <a:extLst xmlns:a="http://schemas.openxmlformats.org/drawingml/2006/main">
              <a:ext uri="{FF2B5EF4-FFF2-40B4-BE49-F238E27FC236}">
                <a16:creationId xmlns:a16="http://schemas.microsoft.com/office/drawing/2014/main" id="{2F287C4D-2DE5-4AC7-A9DE-455A99FF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25880"/>
            <a:ext cx="5257800" cy="50292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>
            <a:extLst xmlns:a="http://schemas.openxmlformats.org/drawingml/2006/main">
              <a:ext uri="{FF2B5EF4-FFF2-40B4-BE49-F238E27FC236}">
                <a16:creationId xmlns:a16="http://schemas.microsoft.com/office/drawing/2014/main" id="{0C1D93C6-889A-4731-8B67-56B0D8A4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527048"/>
            <a:ext cx="474573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If the result is wrong…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Google Shape;128;p8">
            <a:extLst xmlns:a="http://schemas.openxmlformats.org/drawingml/2006/main">
              <a:ext uri="{FF2B5EF4-FFF2-40B4-BE49-F238E27FC236}">
                <a16:creationId xmlns:a16="http://schemas.microsoft.com/office/drawing/2014/main" id="{B80C1B44-7D7A-43E4-A7D2-2374DDF1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892808"/>
            <a:ext cx="4745736" cy="429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 circle → check that ellipse() is inside draw() and uses x.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 movement → confirm x = x + vx runs inside draw().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Trail → move background(255) from setup() to the first line of draw().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Moves left → inspect the sign of vx.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Disappears off the right → correct for this lesson; close and run again.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56442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4ACB2946-DA01-4F08-931F-23E762F2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Modify the Movement Deliberately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DD9E710-1012-416C-A39D-473E82D9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Change one variable, predict first, then run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77D4C44E-8FCD-48F3-94D5-E537FB46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4D4A5A48-A8C9-4018-B22B-B8E2BBD3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98E0297D-5C84-43C6-8871-F056B8C9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12C3ED2F-9462-46DF-80FF-A25E6A04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Set vx = 6. Predict direction and relative speed.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Set vx = -2. Predict direction and amount per frame.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Set x = 350. Predict where the movement begins.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Restore x = 30 and vx = 2 for the final check.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643068FD-3D15-4F22-83C8-F673DD22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4FA4F5E4-D8C0-49AD-BBAD-244E30CE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Explain what did—and did not—change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57458C00-F8CE-4436-AC81-44607973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Magnitude: |vx| controls how many pixels x changes per frame.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Sign: positive moves right; negative moves left.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Initial x: controls the starting position, not the per-frame change.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frameRate(): controls how often Processing attempts to draw frames; it does not change the arithmetic x = x + vx.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28910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4ACB2946-DA01-4F08-931F-23E762F2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Partner Check: Explain and Debug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DD9E710-1012-416C-A39D-473E82D9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Declaration → clearing → update → drawing call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77D4C44E-8FCD-48F3-94D5-E537FB46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4D4A5A48-A8C9-4018-B22B-B8E2BBD3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98E0297D-5C84-43C6-8871-F056B8C9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12C3ED2F-9462-46DF-80FF-A25E6A04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Point to persistent x and vx.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Point to the first line that clears each frame.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Point to the update and state the new x.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Point to where ellipse() uses that x.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643068FD-3D15-4F22-83C8-F673DD22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4FA4F5E4-D8C0-49AD-BBAD-244E30CE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Debug this symptom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57458C00-F8CE-4436-AC81-44607973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Symptom: the circle moves, but every old position remains.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Evidence: background(255) is inside setup().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Cause: setup() runs once, so later draw() calls do not clear the old pixels.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Smallest fix: move background(255) to the first line inside draw().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28910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9">
            <a:extLst xmlns:a="http://schemas.openxmlformats.org/drawingml/2006/main">
              <a:ext uri="{FF2B5EF4-FFF2-40B4-BE49-F238E27FC236}">
                <a16:creationId xmlns:a16="http://schemas.microsoft.com/office/drawing/2014/main" id="{741C63B9-7583-4B6D-BA99-B1E1A2A0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Recap: Velocity-Style Movement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p9">
            <a:extLst xmlns:a="http://schemas.openxmlformats.org/drawingml/2006/main">
              <a:ext uri="{FF2B5EF4-FFF2-40B4-BE49-F238E27FC236}">
                <a16:creationId xmlns:a16="http://schemas.microsoft.com/office/drawing/2014/main" id="{D9153002-8414-4B61-8FCC-F2060A3E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Finish with direction, position, and frame clearing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9">
            <a:extLst xmlns:a="http://schemas.openxmlformats.org/drawingml/2006/main">
              <a:ext uri="{FF2B5EF4-FFF2-40B4-BE49-F238E27FC236}">
                <a16:creationId xmlns:a16="http://schemas.microsoft.com/office/drawing/2014/main" id="{A3D7D5FC-CF4A-457E-9A41-9062EBCA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9">
            <a:extLst xmlns:a="http://schemas.openxmlformats.org/drawingml/2006/main">
              <a:ext uri="{FF2B5EF4-FFF2-40B4-BE49-F238E27FC236}">
                <a16:creationId xmlns:a16="http://schemas.microsoft.com/office/drawing/2014/main" id="{3B5BE52B-4A11-47BD-91A5-10E83D46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" name="Google Shape;138;p9">
            <a:extLst xmlns:a="http://schemas.openxmlformats.org/drawingml/2006/main">
              <a:ext uri="{FF2B5EF4-FFF2-40B4-BE49-F238E27FC236}">
                <a16:creationId xmlns:a16="http://schemas.microsoft.com/office/drawing/2014/main" id="{C2D6870C-2F4A-4A8F-82F7-0B715F96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48640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>
            <a:extLst xmlns:a="http://schemas.openxmlformats.org/drawingml/2006/main">
              <a:ext uri="{FF2B5EF4-FFF2-40B4-BE49-F238E27FC236}">
                <a16:creationId xmlns:a16="http://schemas.microsoft.com/office/drawing/2014/main" id="{B4B89A5A-B063-4B04-88AE-4D4E1FF2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90472"/>
            <a:ext cx="5029200" cy="268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x stores current horizontal position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vx stores signed horizontal change per frame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x = x + vx updates before ellipse() uses x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positive/negative signs set direction on the screen axes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background() first in draw() produces clean motion</a:t>
            </a:r>
          </a:p>
        </p:txBody>
      </p:sp>
      <p:sp>
        <p:nvSpPr>
          <p:cNvPr id="140" name="Google Shape;140;p9">
            <a:extLst xmlns:a="http://schemas.openxmlformats.org/drawingml/2006/main">
              <a:ext uri="{FF2B5EF4-FFF2-40B4-BE49-F238E27FC236}">
                <a16:creationId xmlns:a16="http://schemas.microsoft.com/office/drawing/2014/main" id="{3621B195-4CC9-4EF6-9D6F-ECAC4DC4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43400"/>
            <a:ext cx="5486400" cy="169164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>
            <a:extLst xmlns:a="http://schemas.openxmlformats.org/drawingml/2006/main">
              <a:ext uri="{FF2B5EF4-FFF2-40B4-BE49-F238E27FC236}">
                <a16:creationId xmlns:a16="http://schemas.microsoft.com/office/drawing/2014/main" id="{AB31D708-2F1B-4E41-A29E-1E35FD0C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544568"/>
            <a:ext cx="497433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Google Shape;142;p9">
            <a:extLst xmlns:a="http://schemas.openxmlformats.org/drawingml/2006/main">
              <a:ext uri="{FF2B5EF4-FFF2-40B4-BE49-F238E27FC236}">
                <a16:creationId xmlns:a16="http://schemas.microsoft.com/office/drawing/2014/main" id="{9405DD3C-9945-4186-8A7E-D7B5427D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910328"/>
            <a:ext cx="4974336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Velocity-style movement is Part 1’s persistent frame-by-frame change applied to position.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9">
            <a:extLst xmlns:a="http://schemas.openxmlformats.org/drawingml/2006/main">
              <a:ext uri="{FF2B5EF4-FFF2-40B4-BE49-F238E27FC236}">
                <a16:creationId xmlns:a16="http://schemas.microsoft.com/office/drawing/2014/main" id="{A8D17DBB-5711-4DCA-8BD0-0A9A86C3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25880"/>
            <a:ext cx="5349240" cy="466344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>
            <a:extLst xmlns:a="http://schemas.openxmlformats.org/drawingml/2006/main">
              <a:ext uri="{FF2B5EF4-FFF2-40B4-BE49-F238E27FC236}">
                <a16:creationId xmlns:a16="http://schemas.microsoft.com/office/drawing/2014/main" id="{A4267F26-C31D-4C60-9793-E2C6146D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2704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Exit ticket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9">
            <a:extLst xmlns:a="http://schemas.openxmlformats.org/drawingml/2006/main">
              <a:ext uri="{FF2B5EF4-FFF2-40B4-BE49-F238E27FC236}">
                <a16:creationId xmlns:a16="http://schemas.microsoft.com/office/drawing/2014/main" id="{27E2EEEF-CE60-4AEC-9543-839803CE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92808"/>
            <a:ext cx="4837176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float x = 80;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float vx = -4;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public void draw()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 background(255);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 x = x + vx;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 ellipse(x, 150, 40, 40);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x is visible on frame 3? Which way does it move? Why is background() first?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92489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F483072D-B3F8-4DB5-AB6B-28845B13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Clean-Motion Example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8F931482-22D8-4309-A423-EB803D5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Matches the construction task on slide 12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68F05B7D-0E3C-4AEB-A204-C5D2BB92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3074CC99-B558-4F49-B66D-690948EA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2120B923-1570-41C8-AEE1-1B3547BA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BCB6B306-8A42-403B-8F35-5F10E9FC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3163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import processing.core.PApplet;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class VelocitySketch extends PApplet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x = 30;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vx = 2;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settings() { size(400, 300);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setup()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noStroke(); fill(240, 170, 50);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frameRate(30);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draw()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x = x + vx;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ellipse(x, 150, 40, 40);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static void main(String[] args)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PApplet.main("VelocitySketch");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4B13EAE8-E8EA-4210-B601-DE60D703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0"/>
            <a:ext cx="5577840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DEF96147-AD0E-459C-B27D-2965E3AA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23036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Expected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AF97697F-D69C-47F9-BEE6-36398001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596128"/>
            <a:ext cx="5065776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One orange circle moves right by 2 pixels per draw() call with no trail.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86C86A5D-9BDA-4241-8827-A8BEFCAA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25880"/>
            <a:ext cx="5257800" cy="50292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6D18420E-71B5-4773-83DF-D0AAB33F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527048"/>
            <a:ext cx="474573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 to notice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F9DE477A-DC37-443E-9220-EBFC35AA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892808"/>
            <a:ext cx="4745736" cy="429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background(255) is the first line of draw(), so each old picture is cleared.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= x + vx runs before ellipse(), so the first visible center is 32.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circle eventually leaves the canvas because edge behavior is intentionally outside this lesson.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Project: VelocitySketch_Complete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70523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F483072D-B3F8-4DB5-AB6B-28845B13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Trail Example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8F931482-22D8-4309-A423-EB803D5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Move background() to setup() to expose cumulative drawing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68F05B7D-0E3C-4AEB-A204-C5D2BB92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3074CC99-B558-4F49-B66D-690948EA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2120B923-1570-41C8-AEE1-1B3547BA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BCB6B306-8A42-403B-8F35-5F10E9FC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3163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import processing.core.PApplet;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class VelocitySketch extends PApplet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x = 30;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vx = 4;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settings() { size(400, 300);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setup()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 noStroke();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fill(240, 170, 50); frameRate(15);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draw()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x = x + vx;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ellipse(x, 150, 40, 40);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static void main(String[] args)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PApplet.main("VelocitySketch");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4B13EAE8-E8EA-4210-B601-DE60D703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0"/>
            <a:ext cx="5577840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DEF96147-AD0E-459C-B27D-2965E3AA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23036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Expected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AF97697F-D69C-47F9-BEE6-36398001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596128"/>
            <a:ext cx="5065776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 continuous orange trail builds across the white canvas.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86C86A5D-9BDA-4241-8827-A8BEFCAA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25880"/>
            <a:ext cx="5257800" cy="50292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6D18420E-71B5-4773-83DF-D0AAB33F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527048"/>
            <a:ext cx="474573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 to notice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F9DE477A-DC37-443E-9220-EBFC35AA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892808"/>
            <a:ext cx="4745736" cy="429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position update is correct: x still increases by 4 per frame.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trail appears because background(255) runs only once in setup(). Later draw() calls add new circles without clearing old pixels.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Project: VelocitySketch_Trail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70523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F483072D-B3F8-4DB5-AB6B-28845B13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Vertical-Motion Example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8F931482-22D8-4309-A423-EB803D5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Use y and vy; a negative vy moves upward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68F05B7D-0E3C-4AEB-A204-C5D2BB92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3074CC99-B558-4F49-B66D-690948EA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2120B923-1570-41C8-AEE1-1B3547BA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BCB6B306-8A42-403B-8F35-5F10E9FC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3163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import processing.core.PApplet;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class VelocitySketch extends PApplet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y = 260;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float vy = -2;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settings() { size(400, 300);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setup()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noStroke(); fill(90, 175, 235);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frameRate(30);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draw()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y = y + vy;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ellipse(200, y, 40, 40);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static void main(String[] args)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PApplet.main("VelocitySketch");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ourier New"/>
              <a:buNone/>
              <a:defRPr sz="105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4B13EAE8-E8EA-4210-B601-DE60D703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0"/>
            <a:ext cx="5577840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DEF96147-AD0E-459C-B27D-2965E3AA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23036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Expected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AF97697F-D69C-47F9-BEE6-36398001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596128"/>
            <a:ext cx="5065776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One blue circle moves upward by 2 pixels per draw() call.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86C86A5D-9BDA-4241-8827-A8BEFCAA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25880"/>
            <a:ext cx="5257800" cy="50292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6D18420E-71B5-4773-83DF-D0AAB33F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527048"/>
            <a:ext cx="474573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 to notice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F9DE477A-DC37-443E-9220-EBFC35AA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892808"/>
            <a:ext cx="4745736" cy="429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vy is negative, so y decreases: 260, 258, 256, and so on. On the Processing screen, smaller y-values are higher.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background(255) clears before the new y is drawn.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Project: VelocitySketch_Vertical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70523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4ACB2946-DA01-4F08-931F-23E762F2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Troubleshooting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DD9E710-1012-416C-A39D-473E82D9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Fix the smallest cause before rewriting the program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77D4C44E-8FCD-48F3-94D5-E537FB46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4D4A5A48-A8C9-4018-B22B-B8E2BBD3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B1.3.2 · Velocity-Style Movement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98E0297D-5C84-43C6-8871-F056B8C9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12C3ED2F-9462-46DF-80FF-A25E6A04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 movement → put x = x + vx inside draw().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Wrong direction → inspect the sign of vx or vy.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Trail → put background() first inside draw().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Circle invisible → confirm ellipse() uses x or y as its position.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Circle leaves canvas → expected here; close and run again.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643068FD-3D15-4F22-83C8-F673DD22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4FA4F5E4-D8C0-49AD-BBAD-244E30CE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Program will not run?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57458C00-F8CE-4436-AC81-44607973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PApplet unresolved → confirm core-4.5.6.jar is (Loaded), then restart BlueJ.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Class mismatch → the file name, public class name, and PApplet.main("VelocitySketch") must agree.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Red stripes → compile and read the first error before changing later lines.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Blank window → compare draw() with VelocitySketch_Complete.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2891044"/>
      </p:ext>
    </p:extLst>
  </p:cSld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2026-08-25T14:45:12.6310000Z</dcterms:created>
  <dcterms:modified xsi:type="dcterms:W3CDTF">2026-08-25T14:45:12.6310000Z</dcterms:modified>
</coreProperties>
</file>