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faeb0f6cc34afe" /><Relationship Type="http://schemas.openxmlformats.org/officeDocument/2006/relationships/extended-properties" Target="/docProps/app.xml" Id="R34351b88326e4ce0" /><Relationship Type="http://schemas.openxmlformats.org/officeDocument/2006/relationships/officeDocument" Target="/ppt/presentation.xml" Id="R2b3724fcc73e49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5699ea69243c9"/>
  </p:sldMasterIdLst>
  <p:notesMasterIdLst>
    <p:notesMasterId xmlns:r="http://schemas.openxmlformats.org/officeDocument/2006/relationships" r:id="R24d25f240f904be7"/>
  </p:notesMasterIdLst>
  <p:sldIdLst>
    <p:sldId xmlns:r="http://schemas.openxmlformats.org/officeDocument/2006/relationships" id="256" r:id="Ra84b1d950d7d499f"/>
    <p:sldId xmlns:r="http://schemas.openxmlformats.org/officeDocument/2006/relationships" id="257" r:id="R0872f5a44f224dbb"/>
    <p:sldId xmlns:r="http://schemas.openxmlformats.org/officeDocument/2006/relationships" id="258" r:id="R377ea9305eff4a7c"/>
    <p:sldId xmlns:r="http://schemas.openxmlformats.org/officeDocument/2006/relationships" id="259" r:id="R27b3ed0d28b5422c"/>
    <p:sldId xmlns:r="http://schemas.openxmlformats.org/officeDocument/2006/relationships" id="260" r:id="R10f19faa0dee4e12"/>
    <p:sldId xmlns:r="http://schemas.openxmlformats.org/officeDocument/2006/relationships" id="261" r:id="Rb2903b770a7e4f2c"/>
    <p:sldId xmlns:r="http://schemas.openxmlformats.org/officeDocument/2006/relationships" id="262" r:id="Rbf05acc2345644a7"/>
    <p:sldId xmlns:r="http://schemas.openxmlformats.org/officeDocument/2006/relationships" id="263" r:id="Reb5391f8ae654e9e"/>
    <p:sldId xmlns:r="http://schemas.openxmlformats.org/officeDocument/2006/relationships" id="264" r:id="Rbe6bed3524d44f60"/>
    <p:sldId xmlns:r="http://schemas.openxmlformats.org/officeDocument/2006/relationships" id="265" r:id="R76f763efa10b4877"/>
    <p:sldId xmlns:r="http://schemas.openxmlformats.org/officeDocument/2006/relationships" id="266" r:id="R2e9757621f824915"/>
    <p:sldId xmlns:r="http://schemas.openxmlformats.org/officeDocument/2006/relationships" id="267" r:id="R0808aee5d0154c7d"/>
    <p:sldId xmlns:r="http://schemas.openxmlformats.org/officeDocument/2006/relationships" id="268" r:id="R18d509fae2854f00"/>
    <p:sldId xmlns:r="http://schemas.openxmlformats.org/officeDocument/2006/relationships" id="269" r:id="R90749430328d445f"/>
    <p:sldId xmlns:r="http://schemas.openxmlformats.org/officeDocument/2006/relationships" id="270" r:id="R48171736ffeb483a"/>
    <p:sldId xmlns:r="http://schemas.openxmlformats.org/officeDocument/2006/relationships" id="271" r:id="Re464302ef6724324"/>
    <p:sldId xmlns:r="http://schemas.openxmlformats.org/officeDocument/2006/relationships" id="272" r:id="R55bf6c12fa3a4446"/>
    <p:sldId xmlns:r="http://schemas.openxmlformats.org/officeDocument/2006/relationships" id="273" r:id="R6f6be68bb12444e8"/>
    <p:sldId xmlns:r="http://schemas.openxmlformats.org/officeDocument/2006/relationships" id="274" r:id="R63deb1436d0843e8"/>
    <p:sldId xmlns:r="http://schemas.openxmlformats.org/officeDocument/2006/relationships" id="275" r:id="R2a30349aa0224737"/>
    <p:sldId xmlns:r="http://schemas.openxmlformats.org/officeDocument/2006/relationships" id="276" r:id="R571d0f14d2e64477"/>
    <p:sldId xmlns:r="http://schemas.openxmlformats.org/officeDocument/2006/relationships" id="277" r:id="R7f7b08142d314dd0"/>
    <p:sldId xmlns:r="http://schemas.openxmlformats.org/officeDocument/2006/relationships" id="278" r:id="Rb50e5252d8594161"/>
    <p:sldId xmlns:r="http://schemas.openxmlformats.org/officeDocument/2006/relationships" id="279" r:id="Ra1923a5972864bfb"/>
    <p:sldId xmlns:r="http://schemas.openxmlformats.org/officeDocument/2006/relationships" id="280" r:id="R8b3711874ed349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c04ca2c802436e" /><Relationship Type="http://schemas.openxmlformats.org/officeDocument/2006/relationships/slideMaster" Target="/ppt/slideMasters/slideMaster1.xml" Id="R5e65699ea69243c9" /><Relationship Type="http://schemas.openxmlformats.org/officeDocument/2006/relationships/notesMaster" Target="/ppt/notesMasters/notesMaster1.xml" Id="R24d25f240f904be7" /><Relationship Type="http://schemas.openxmlformats.org/officeDocument/2006/relationships/presProps" Target="/ppt/presProps.xml" Id="R1d4d902a6aa943af" /><Relationship Type="http://schemas.openxmlformats.org/officeDocument/2006/relationships/tableStyles" Target="/ppt/tableStyles.xml" Id="R385c372430a54288" /><Relationship Type="http://schemas.openxmlformats.org/officeDocument/2006/relationships/slide" Target="/ppt/slides/slide1.xml" Id="Ra84b1d950d7d499f" /><Relationship Type="http://schemas.openxmlformats.org/officeDocument/2006/relationships/slide" Target="/ppt/slides/slide2.xml" Id="R0872f5a44f224dbb" /><Relationship Type="http://schemas.openxmlformats.org/officeDocument/2006/relationships/slide" Target="/ppt/slides/slide3.xml" Id="R377ea9305eff4a7c" /><Relationship Type="http://schemas.openxmlformats.org/officeDocument/2006/relationships/slide" Target="/ppt/slides/slide4.xml" Id="R27b3ed0d28b5422c" /><Relationship Type="http://schemas.openxmlformats.org/officeDocument/2006/relationships/slide" Target="/ppt/slides/slide5.xml" Id="R10f19faa0dee4e12" /><Relationship Type="http://schemas.openxmlformats.org/officeDocument/2006/relationships/slide" Target="/ppt/slides/slide6.xml" Id="Rb2903b770a7e4f2c" /><Relationship Type="http://schemas.openxmlformats.org/officeDocument/2006/relationships/slide" Target="/ppt/slides/slide7.xml" Id="Rbf05acc2345644a7" /><Relationship Type="http://schemas.openxmlformats.org/officeDocument/2006/relationships/slide" Target="/ppt/slides/slide8.xml" Id="Reb5391f8ae654e9e" /><Relationship Type="http://schemas.openxmlformats.org/officeDocument/2006/relationships/slide" Target="/ppt/slides/slide9.xml" Id="Rbe6bed3524d44f60" /><Relationship Type="http://schemas.openxmlformats.org/officeDocument/2006/relationships/slide" Target="/ppt/slides/slide10.xml" Id="R76f763efa10b4877" /><Relationship Type="http://schemas.openxmlformats.org/officeDocument/2006/relationships/slide" Target="/ppt/slides/slide11.xml" Id="R2e9757621f824915" /><Relationship Type="http://schemas.openxmlformats.org/officeDocument/2006/relationships/slide" Target="/ppt/slides/slide12.xml" Id="R0808aee5d0154c7d" /><Relationship Type="http://schemas.openxmlformats.org/officeDocument/2006/relationships/slide" Target="/ppt/slides/slide13.xml" Id="R18d509fae2854f00" /><Relationship Type="http://schemas.openxmlformats.org/officeDocument/2006/relationships/slide" Target="/ppt/slides/slide14.xml" Id="R90749430328d445f" /><Relationship Type="http://schemas.openxmlformats.org/officeDocument/2006/relationships/slide" Target="/ppt/slides/slide15.xml" Id="R48171736ffeb483a" /><Relationship Type="http://schemas.openxmlformats.org/officeDocument/2006/relationships/slide" Target="/ppt/slides/slide16.xml" Id="Re464302ef6724324" /><Relationship Type="http://schemas.openxmlformats.org/officeDocument/2006/relationships/slide" Target="/ppt/slides/slide17.xml" Id="R55bf6c12fa3a4446" /><Relationship Type="http://schemas.openxmlformats.org/officeDocument/2006/relationships/slide" Target="/ppt/slides/slide18.xml" Id="R6f6be68bb12444e8" /><Relationship Type="http://schemas.openxmlformats.org/officeDocument/2006/relationships/slide" Target="/ppt/slides/slide19.xml" Id="R63deb1436d0843e8" /><Relationship Type="http://schemas.openxmlformats.org/officeDocument/2006/relationships/slide" Target="/ppt/slides/slide20.xml" Id="R2a30349aa0224737" /><Relationship Type="http://schemas.openxmlformats.org/officeDocument/2006/relationships/slide" Target="/ppt/slides/slide21.xml" Id="R571d0f14d2e64477" /><Relationship Type="http://schemas.openxmlformats.org/officeDocument/2006/relationships/slide" Target="/ppt/slides/slide22.xml" Id="R7f7b08142d314dd0" /><Relationship Type="http://schemas.openxmlformats.org/officeDocument/2006/relationships/slide" Target="/ppt/slides/slide23.xml" Id="Rb50e5252d8594161" /><Relationship Type="http://schemas.openxmlformats.org/officeDocument/2006/relationships/slide" Target="/ppt/slides/slide24.xml" Id="Ra1923a5972864bfb" /><Relationship Type="http://schemas.openxmlformats.org/officeDocument/2006/relationships/slide" Target="/ppt/slides/slide25.xml" Id="R8b3711874ed349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f4ffb208144e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25999a8a4498c" /><Relationship Type="http://schemas.openxmlformats.org/officeDocument/2006/relationships/notesMaster" Target="/ppt/notesMasters/notesMaster1.xml" Id="Rb93607ed707c41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9f9faf56f9401f" /><Relationship Type="http://schemas.openxmlformats.org/officeDocument/2006/relationships/notesMaster" Target="/ppt/notesMasters/notesMaster1.xml" Id="Ra056d727720649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f0fcc581c24022" /><Relationship Type="http://schemas.openxmlformats.org/officeDocument/2006/relationships/notesMaster" Target="/ppt/notesMasters/notesMaster1.xml" Id="R60b42a2f765844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225795b37475f" /><Relationship Type="http://schemas.openxmlformats.org/officeDocument/2006/relationships/notesMaster" Target="/ppt/notesMasters/notesMaster1.xml" Id="R7b5705df17f546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f5665fcfb84f29" /><Relationship Type="http://schemas.openxmlformats.org/officeDocument/2006/relationships/notesMaster" Target="/ppt/notesMasters/notesMaster1.xml" Id="R494d2b28d90f41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73e648e89a47af" /><Relationship Type="http://schemas.openxmlformats.org/officeDocument/2006/relationships/notesMaster" Target="/ppt/notesMasters/notesMaster1.xml" Id="Ra1279fc9ce00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e6e9011e484aa3" /><Relationship Type="http://schemas.openxmlformats.org/officeDocument/2006/relationships/notesMaster" Target="/ppt/notesMasters/notesMaster1.xml" Id="Ra87499104c714e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fa7dd247f14045" /><Relationship Type="http://schemas.openxmlformats.org/officeDocument/2006/relationships/notesMaster" Target="/ppt/notesMasters/notesMaster1.xml" Id="R5fc03740441442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e7ca384074c7b" /><Relationship Type="http://schemas.openxmlformats.org/officeDocument/2006/relationships/notesMaster" Target="/ppt/notesMasters/notesMaster1.xml" Id="Rcb2e14ec353649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2af11331b34111" /><Relationship Type="http://schemas.openxmlformats.org/officeDocument/2006/relationships/notesMaster" Target="/ppt/notesMasters/notesMaster1.xml" Id="Rb21251fedb9a48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e19b2c23d14999" /><Relationship Type="http://schemas.openxmlformats.org/officeDocument/2006/relationships/notesMaster" Target="/ppt/notesMasters/notesMaster1.xml" Id="R99b114a7b69a47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7cb3314e0f4c34" /><Relationship Type="http://schemas.openxmlformats.org/officeDocument/2006/relationships/notesMaster" Target="/ppt/notesMasters/notesMaster1.xml" Id="R36199b45530b43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12502f06e0448b" /><Relationship Type="http://schemas.openxmlformats.org/officeDocument/2006/relationships/notesMaster" Target="/ppt/notesMasters/notesMaster1.xml" Id="R1d1108957f0d47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fcf4568cb4415a" /><Relationship Type="http://schemas.openxmlformats.org/officeDocument/2006/relationships/notesMaster" Target="/ppt/notesMasters/notesMaster1.xml" Id="R5c5dded064a4420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06e81e08e344ac" /><Relationship Type="http://schemas.openxmlformats.org/officeDocument/2006/relationships/notesMaster" Target="/ppt/notesMasters/notesMaster1.xml" Id="Ree4711d2b5cf493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d9bb2e820e4082" /><Relationship Type="http://schemas.openxmlformats.org/officeDocument/2006/relationships/notesMaster" Target="/ppt/notesMasters/notesMaster1.xml" Id="Rde05df33676440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104a342e4e4c02" /><Relationship Type="http://schemas.openxmlformats.org/officeDocument/2006/relationships/notesMaster" Target="/ppt/notesMasters/notesMaster1.xml" Id="R89fbb537266f497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51761e1cfd45d9" /><Relationship Type="http://schemas.openxmlformats.org/officeDocument/2006/relationships/notesMaster" Target="/ppt/notesMasters/notesMaster1.xml" Id="Rc4b6a25db97046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b59c40fc6845ef" /><Relationship Type="http://schemas.openxmlformats.org/officeDocument/2006/relationships/notesMaster" Target="/ppt/notesMasters/notesMaster1.xml" Id="R26b1f870884643c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1054ed21c149ca" /><Relationship Type="http://schemas.openxmlformats.org/officeDocument/2006/relationships/notesMaster" Target="/ppt/notesMasters/notesMaster1.xml" Id="Rd1c071ac581b48e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e4ab2fe50c34c4e" /><Relationship Type="http://schemas.openxmlformats.org/officeDocument/2006/relationships/notesMaster" Target="/ppt/notesMasters/notesMaster1.xml" Id="R2b961a9971da48b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311ff8f6b6c42a7" /><Relationship Type="http://schemas.openxmlformats.org/officeDocument/2006/relationships/notesMaster" Target="/ppt/notesMasters/notesMaster1.xml" Id="Ref37f9aa395e431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0172f097b674605" /><Relationship Type="http://schemas.openxmlformats.org/officeDocument/2006/relationships/notesMaster" Target="/ppt/notesMasters/notesMaster1.xml" Id="R186fba5d67aa4b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af0999d3c804fc4" /><Relationship Type="http://schemas.openxmlformats.org/officeDocument/2006/relationships/notesMaster" Target="/ppt/notesMasters/notesMaster1.xml" Id="R0bfe6245875a4f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813274801b4c5d" /><Relationship Type="http://schemas.openxmlformats.org/officeDocument/2006/relationships/notesMaster" Target="/ppt/notesMasters/notesMaster1.xml" Id="R3b1a2f2a2686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00:00–00:01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Welcome. Today we are turning this computer into the creative-coding studio we will use throughout Unit B.</a:t>
            </a:r>
          </a:p>
          <a:p xmlns:a="http://schemas.openxmlformats.org/drawingml/2006/main">
            <a:r>
              <a:t>• No prior BlueJ or Processing experience is expected. Follow one screen at a time and stop whenever your screen differs from mine.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Ask students to place their laptop on charge and close unrelated applications.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https://bluej.org/</a:t>
            </a:r>
          </a:p>
          <a:p xmlns:a="http://schemas.openxmlformats.org/drawingml/2006/main">
            <a:r>
              <a:t>- https://processing.org/download/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00:01–00:02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The finish line is not ‘the software installed.’ The finish line is a visible program that you successfully change.</a:t>
            </a:r>
          </a:p>
          <a:p xmlns:a="http://schemas.openxmlformats.org/drawingml/2006/main">
            <a:r>
              <a:t>• We will use three class checkpoints: BlueJ opens, the library says Loaded, and the sketch runs.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Tell students how to signal for help in your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00:02–00:05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We check the machine first because the wrong installer may refuse to open or run poorly.</a:t>
            </a:r>
          </a:p>
          <a:p xmlns:a="http://schemas.openxmlformats.org/drawingml/2006/main">
            <a:r>
              <a:t>• Windows students need the 64-bit installer. Mac students must distinguish Apple silicon from Intel.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Pause until every student can name their route. Pair students by operating system for peer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Windows: look for ‘64-bit operating system’ and usually ‘x64-based processor.’</a:t>
            </a:r>
          </a:p>
          <a:p xmlns:a="http://schemas.openxmlformats.org/drawingml/2006/main">
            <a:r>
              <a:t>• Mac: ‘Chip’ means Apple silicon; ‘Processor’ means Intel.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https://support.microsoft.com/en-US/Windows/Experience/Compatibility/32-bit-and-64-bit-windows-frequently-asked-questions</a:t>
            </a:r>
          </a:p>
          <a:p xmlns:a="http://schemas.openxmlformats.org/drawingml/2006/main">
            <a:r>
              <a:t>- https://support.apple.com/en-us/116943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00:05–00:07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Use the official BlueJ site. BlueJ 6.0.0 includes the Java Development Kit, so a separate Java download is unnecessary.</a:t>
            </a:r>
          </a:p>
          <a:p xmlns:a="http://schemas.openxmlformats.org/drawingml/2006/main">
            <a:r>
              <a:t>• Mac students: the architecture choice must match the result from the previous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Circulate and check the file name/architecture before students run the installer.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https://bluej.org/</a:t>
            </a:r>
          </a:p>
          <a:p xmlns:a="http://schemas.openxmlformats.org/drawingml/2006/main">
            <a:r>
              <a:t>- https://bluej.org/versions.html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00:07–00:13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Install now. Keep this slide visible while students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Use the time to identify machines without administrator permission; move those students to the school-approved recovery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Windows SmartScreen: confirm the file came from bluej.org before proceeding.</a:t>
            </a:r>
          </a:p>
          <a:p xmlns:a="http://schemas.openxmlformats.org/drawingml/2006/main">
            <a:r>
              <a:t>• macOS warning: do not disable Gatekeeper globally. Use Open Anyway only for the verified official download.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https://bluej.org/</a:t>
            </a:r>
          </a:p>
          <a:p xmlns:a="http://schemas.openxmlformats.org/drawingml/2006/main">
            <a:r>
              <a:t>- https://support.apple.com/en-ie/102445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00:13–00:15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This is our first class checkpoint. We do not continue until BlueJ opens for everyone or a student has an assigned recovery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Target version: 6.0.0.</a:t>
            </a:r>
          </a:p>
          <a:p xmlns:a="http://schemas.openxmlformats.org/drawingml/2006/main">
            <a:r>
              <a:t>• A different newer version is not automatically wrong, but the screenshots and paths in this deck were validated with 6.0.0.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https://bluej.org/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Windows walkthrough confirmed BlueJ 6.0.0 with bundled Java 21.0.6.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00:15–00:17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Processing provides the drawing and animation tools our Java programs will use.</a:t>
            </a:r>
          </a:p>
          <a:p xmlns:a="http://schemas.openxmlformats.org/drawingml/2006/main">
            <a:r>
              <a:t>• We are installing Processing 4.5.6, the version validated for this course setup.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https://processing.org/download/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00:17–00:23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Opening Processing once verifies that the installation itself is healthy. We then close it because students will write, compile, and launch from BlueJ.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Wait for a visible Processing window on every machine before asking students to close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Windows: search Start for Processing.</a:t>
            </a:r>
          </a:p>
          <a:p xmlns:a="http://schemas.openxmlformats.org/drawingml/2006/main">
            <a:r>
              <a:t>• macOS: confirm Processing was dragged to Applications rather than launched repeatedly from the disk image.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https://processing.org/tutorials/gettingstarted/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00:23–00:25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We are about to tell BlueJ where Processing’s drawing commands 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Model the Windows menu first, then state the macOS menu difference without changing the core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Screenshot captured during the successful Windows 11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00:25–00:28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Select only core-4.5.6.jar for this course setup. Do not select every JAR in the folder.</a:t>
            </a:r>
          </a:p>
          <a:p xmlns:a="http://schemas.openxmlformats.org/drawingml/2006/main">
            <a:r>
              <a:t>• On macOS, Control-click Processing in Applications and choose Show Package Contents. If the bundle is hidden in the file chooser, use Command–Shift–G and paste the folder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The selected file name begins ‘core-’ and ends ‘.jar’.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If the folder layout differs, open Appendix slide 22 and search inside Processing.app for core-4.5.6.jar.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https://processing.org/environment/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Windows path and file were verified directly with Processing 4.5.6.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00:28–00:30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The library is not active until BlueJ restarts. The exact success word is Loaded.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Ask students to leave this screen open and point to ‘Loaded’ for a quick visual sweep.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If the entry says ‘Not loaded,’ use Appendix slide 21.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Screenshot captured after the successful BlueJ restart on Windows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00:30–00:32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The project name is exact. Your folder location may differ from the screenshot.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Emphasise that BlueJ 6.0.0 labels the confirmation button OK, not Create.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The OK-button wording was corrected during the live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00:32–00:34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Capital F and capital S matter. Java class names are case-sensitive.</a:t>
            </a:r>
          </a:p>
          <a:p xmlns:a="http://schemas.openxmlformats.org/drawingml/2006/main">
            <a:r>
              <a:t>• The stripes are normal; they mean the source exists but no compiled class exists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Every student should have one striped FirstSketch class box.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Screenshot captured from the successful setup-test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00:34–00:35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Students are replacing the entire generated template, not adding code beneath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Provide the starter code as selectable text through the course distribution channel. Keep the next slide visible while students paste.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If a student sees two class declarations, they did not replace the template. Use Select All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Screenshot captured from the verified FirstSketch editor.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00:35–00:39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Paste the whole program exactly. Today, the outer class and main method are fixed launcher code to recognise, not object-oriented programming to learn.</a:t>
            </a:r>
          </a:p>
          <a:p xmlns:a="http://schemas.openxmlformats.org/drawingml/2006/main">
            <a:r>
              <a:t>• The window size is inside settings(). That placement is required when Processing runs through BlueJ.</a:t>
            </a:r>
          </a:p>
          <a:p xmlns:a="http://schemas.openxmlformats.org/drawingml/2006/main">
            <a:r>
              <a:t>• The draw method repeatedly clears the window and draws an orange circle at the mouse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Pause until all students have pasted. Ask them to locate the number 60 without changing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The class name and the string inside PApplet.main must both read FirstSketch.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https://processing.org/environment/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This exact wrapper compiled and ran with BlueJ 6.0.0 and Processing 4.5.6 on Windows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00:39–00:41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Compile is a separate step in BlueJ. Read the bottom message; do not assume success because nothing dramatic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Success message: Class compiled – no syntax errors.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If an error appears, compare the first error line, the class name, and the import before inspecting the rest.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Screenshot captured from the verified compile.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00:41–00:43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Right-click the class itself, not the empty project background. The main method launches the Processing sketch.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Ask students to move the mouse across the sketch window and hold it where you can see the circle.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The sketch may open behind BlueJ. Use Alt+Tab on Windows or Command+Tab on macOS.</a:t>
            </a:r>
          </a:p>
          <a:p xmlns:a="http://schemas.openxmlformats.org/drawingml/2006/main">
            <a:r>
              <a:t>• If the main option is missing, compile again and confirm the class contains public static void 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The method-call dialog and empty String array were confirmed in the live BlueJ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00:43–00:44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A working environment is useful only if the edit–compile–run cycle works. Change 60 to 120, compile again, and rerun main.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The new circle diameter is twice the original diameter.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If the old size remains, the student probably reran without compiling the edited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The 60-to-120 modification produced the expected larger circle in the live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00:44–00:45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Name the cycle aloud together: edit, compile, run, observe.</a:t>
            </a:r>
          </a:p>
          <a:p xmlns:a="http://schemas.openxmlformats.org/drawingml/2006/main">
            <a:r>
              <a:t>• This is the habit students will repeat in every Unit B lesson.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Ask the class: ‘Which step did we forget if the program still shows the old circle?’ Expected: compile.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Dismissal / final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Students keep this project. If anything breaks later, it is the fastest known-good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Collect the exit response verbally, on paper, or through the class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</a:t>
            </a:r>
          </a:p>
          <a:p xmlns:a="http://schemas.openxmlformats.org/drawingml/2006/main">
            <a:r>
              <a:t>• Do not mark setup complete for a student who has only installed the applications; the runnable modified sketch is the acceptance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Use only when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Not loaded immediately after adding the file is expected. The configuration activates after a complete restart.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If it still says Not loaded after a true restart, remove the entry, add the exact core JAR again, click OK, and restart once more.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This exact state occurred during the live walkthrough and resolved after clicking OK and restarting BlueJ.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Use only when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The version number is part of the current file name. In a later validated Processing release, the number may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On macOS, Command–Shift–G opens Go to Folder in many file choosers. Try /Applications/Processing.app/Contents/app/resources/core/library.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https://processing.org/environment/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The Windows path was verified with the installed Processing 4.5.6 distribution. The macOS package route must be preflighted on a Mac before classroom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Use only when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This compiler error means BlueJ cannot see the Processing class library. It is not caused by the drawing commands later in the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Fix the library configuration before editing unrelated lines of student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https://processing.org/environment/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Use only when needed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Separate compile success from launch success. If compilation succeeded, preserve that evidence and check the launch path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STUDENTS ARE STUCK</a:t>
            </a:r>
          </a:p>
          <a:p xmlns:a="http://schemas.openxmlformats.org/drawingml/2006/main">
            <a:r>
              <a:t>• Read BlueJ’s terminal/error window only after checking the main-method selection and hidden-window possibility.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Teacher preparation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</a:t>
            </a:r>
          </a:p>
          <a:p xmlns:a="http://schemas.openxmlformats.org/drawingml/2006/main">
            <a:r>
              <a:t>• This appendix slide is the release gate for using the deck with a new cohort.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</a:t>
            </a:r>
          </a:p>
          <a:p xmlns:a="http://schemas.openxmlformats.org/drawingml/2006/main">
            <a:r>
              <a:t>• Record the tested date and versions in the course repository. Update file names, paths, screenshots, and notes together when versions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https://bluej.org/</a:t>
            </a:r>
          </a:p>
          <a:p xmlns:a="http://schemas.openxmlformats.org/drawingml/2006/main">
            <a:r>
              <a:t>- https://processing.org/download/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VALIDATION</a:t>
            </a:r>
          </a:p>
          <a:p xmlns:a="http://schemas.openxmlformats.org/drawingml/2006/main">
            <a:r>
              <a:t>• Windows 11 x64 route passed on 25 August 2026. macOS final sign-off remains required before the first Mac-inclusive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0476fe20641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2e07003c5c4605" /><Relationship Type="http://schemas.openxmlformats.org/officeDocument/2006/relationships/slideLayout" Target="/ppt/slideLayouts/slideLayout1.xml" Id="R0e00eac4f21b4b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00eac4f21b4b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cc08f811f4d7c" /><Relationship Type="http://schemas.openxmlformats.org/officeDocument/2006/relationships/image" Target="/ppt/media/image.png" Id="R0bc4d0fbfbbc4522" /><Relationship Type="http://schemas.openxmlformats.org/officeDocument/2006/relationships/image" Target="/ppt/media/image2.png" Id="Rdae6cc6d7a8e447a" /><Relationship Type="http://schemas.openxmlformats.org/officeDocument/2006/relationships/notesSlide" Target="/ppt/notesSlides/notesSlide1.xml" Id="Re3ac87f8024847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999a7efe429c" /><Relationship Type="http://schemas.openxmlformats.org/officeDocument/2006/relationships/notesSlide" Target="/ppt/notesSlides/notesSlide2.xml" Id="Rc7f7faf8aa73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d5e72433749d3" /><Relationship Type="http://schemas.openxmlformats.org/officeDocument/2006/relationships/notesSlide" Target="/ppt/notesSlides/notesSlide3.xml" Id="R1db94f26bd784d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e91d43e2c42a1" /><Relationship Type="http://schemas.openxmlformats.org/officeDocument/2006/relationships/hyperlink" Target="https://bluej.org/" TargetMode="External" Id="Rec1d7af682634e37" /><Relationship Type="http://schemas.openxmlformats.org/officeDocument/2006/relationships/notesSlide" Target="/ppt/notesSlides/notesSlide4.xml" Id="Rb3f9ea4c4f2841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0a9f1bac24d6a" /><Relationship Type="http://schemas.openxmlformats.org/officeDocument/2006/relationships/notesSlide" Target="/ppt/notesSlides/notesSlide5.xml" Id="Rb0d5fd37c6be4c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91938979c49be" /><Relationship Type="http://schemas.openxmlformats.org/officeDocument/2006/relationships/notesSlide" Target="/ppt/notesSlides/notesSlide6.xml" Id="Rb2abfa15446444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23ad6aeec40f0" /><Relationship Type="http://schemas.openxmlformats.org/officeDocument/2006/relationships/hyperlink" Target="https://processing.org/download/" TargetMode="External" Id="R301f599d4bfd4d39" /><Relationship Type="http://schemas.openxmlformats.org/officeDocument/2006/relationships/notesSlide" Target="/ppt/notesSlides/notesSlide7.xml" Id="R5cb8259bf1204a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4fbd6382c4790" /><Relationship Type="http://schemas.openxmlformats.org/officeDocument/2006/relationships/notesSlide" Target="/ppt/notesSlides/notesSlide8.xml" Id="R4c6d48663d3e47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f5d8d7d7445aa" /><Relationship Type="http://schemas.openxmlformats.org/officeDocument/2006/relationships/image" Target="/ppt/media/image3.png" Id="Ra904855ffde3401b" /><Relationship Type="http://schemas.openxmlformats.org/officeDocument/2006/relationships/notesSlide" Target="/ppt/notesSlides/notesSlide9.xml" Id="Rdbabb10ea7204e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bf3e6704b4e97" /><Relationship Type="http://schemas.openxmlformats.org/officeDocument/2006/relationships/notesSlide" Target="/ppt/notesSlides/notesSlide10.xml" Id="Raa9e5b1f65f245a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437e92d3cd4b10" /><Relationship Type="http://schemas.openxmlformats.org/officeDocument/2006/relationships/image" Target="/ppt/media/image4.png" Id="Ra2ceb26156ea421c" /><Relationship Type="http://schemas.openxmlformats.org/officeDocument/2006/relationships/notesSlide" Target="/ppt/notesSlides/notesSlide11.xml" Id="R2d833974f3b3469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cdf39a22483b" /><Relationship Type="http://schemas.openxmlformats.org/officeDocument/2006/relationships/image" Target="/ppt/media/image5.png" Id="R6134d3f6b77a440c" /><Relationship Type="http://schemas.openxmlformats.org/officeDocument/2006/relationships/notesSlide" Target="/ppt/notesSlides/notesSlide12.xml" Id="R4db1e17e587a45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ecbf820c74cbb" /><Relationship Type="http://schemas.openxmlformats.org/officeDocument/2006/relationships/image" Target="/ppt/media/image6.png" Id="R4521117f89664f73" /><Relationship Type="http://schemas.openxmlformats.org/officeDocument/2006/relationships/notesSlide" Target="/ppt/notesSlides/notesSlide13.xml" Id="Rf8af45dc552449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e29c790cc485f" /><Relationship Type="http://schemas.openxmlformats.org/officeDocument/2006/relationships/image" Target="/ppt/media/image7.png" Id="R28a5185332ce486a" /><Relationship Type="http://schemas.openxmlformats.org/officeDocument/2006/relationships/notesSlide" Target="/ppt/notesSlides/notesSlide14.xml" Id="Ra5e6c95a7cd34c5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bb3149c74d70" /><Relationship Type="http://schemas.openxmlformats.org/officeDocument/2006/relationships/notesSlide" Target="/ppt/notesSlides/notesSlide15.xml" Id="R80880778140a4d1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8a5f191f24cb8" /><Relationship Type="http://schemas.openxmlformats.org/officeDocument/2006/relationships/image" Target="/ppt/media/image8.png" Id="R3d6bd5e751b14788" /><Relationship Type="http://schemas.openxmlformats.org/officeDocument/2006/relationships/notesSlide" Target="/ppt/notesSlides/notesSlide16.xml" Id="Rea34e0fd7401439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36bd5c7ca46ba" /><Relationship Type="http://schemas.openxmlformats.org/officeDocument/2006/relationships/notesSlide" Target="/ppt/notesSlides/notesSlide17.xml" Id="R645e997451e14df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d2af11cd145f4" /><Relationship Type="http://schemas.openxmlformats.org/officeDocument/2006/relationships/notesSlide" Target="/ppt/notesSlides/notesSlide18.xml" Id="R0572142cb8184b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f8870c275486c" /><Relationship Type="http://schemas.openxmlformats.org/officeDocument/2006/relationships/notesSlide" Target="/ppt/notesSlides/notesSlide19.xml" Id="R05990873e3ac4ed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47b55f7334f65" /><Relationship Type="http://schemas.openxmlformats.org/officeDocument/2006/relationships/notesSlide" Target="/ppt/notesSlides/notesSlide20.xml" Id="Rf3aa98efea804c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0908ad3f749ea" /><Relationship Type="http://schemas.openxmlformats.org/officeDocument/2006/relationships/image" Target="/ppt/media/image9.png" Id="Rb1354c89caea4b62" /><Relationship Type="http://schemas.openxmlformats.org/officeDocument/2006/relationships/notesSlide" Target="/ppt/notesSlides/notesSlide21.xml" Id="R8b3c9deb680b47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3d1c7d8044f59" /><Relationship Type="http://schemas.openxmlformats.org/officeDocument/2006/relationships/notesSlide" Target="/ppt/notesSlides/notesSlide22.xml" Id="Re99d3d5992074aa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6abd3d25d4804" /><Relationship Type="http://schemas.openxmlformats.org/officeDocument/2006/relationships/notesSlide" Target="/ppt/notesSlides/notesSlide23.xml" Id="Ree8aeda4f23046a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48cd30f7a46e2" /><Relationship Type="http://schemas.openxmlformats.org/officeDocument/2006/relationships/notesSlide" Target="/ppt/notesSlides/notesSlide24.xml" Id="R022b8aa39f7e40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351b4d3ab4052" /><Relationship Type="http://schemas.openxmlformats.org/officeDocument/2006/relationships/notesSlide" Target="/ppt/notesSlides/notesSlide25.xml" Id="Rfe8fd02730f44c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64277-68F7-494E-8926-7B6A555B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2E6A0-357D-4182-B8EF-E6687A37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429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Build your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creative-coding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B49D6-99B8-4A2E-85CA-3F6F5E53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57700"/>
            <a:ext cx="523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Your first 45 minutes: install, connect, compile, run.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A0FA-3E2A-46BB-91BC-A31873A1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"/>
            <a:ext cx="5143500" cy="56007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4d0fbfbbc4522"/>
          <a:stretch xmlns:a="http://schemas.openxmlformats.org/drawingml/2006/main"/>
        </p:blipFill>
        <p:spPr>
          <a:xfrm xmlns:a="http://schemas.openxmlformats.org/drawingml/2006/main">
            <a:off x="7000875" y="1066800"/>
            <a:ext cx="1857375" cy="185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6cc6d7a8e447a"/>
          <a:stretch xmlns:a="http://schemas.openxmlformats.org/drawingml/2006/main"/>
        </p:blipFill>
        <p:spPr>
          <a:xfrm xmlns:a="http://schemas.openxmlformats.org/drawingml/2006/main">
            <a:off x="9048750" y="2857500"/>
            <a:ext cx="1857375" cy="18573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B471-DD7D-4868-8D92-F28999F6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289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750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CB3A5-1E86-437B-BAEE-E57AA710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483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BlueJ 6.0.0  ·  Processing 4.5.6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22BBD-D451-48D4-8EBD-BADBA64B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Validated 25 August 2026</a:t>
            </a:r>
          </a:p>
        </p:txBody>
      </p:sp>
    </p:spTree>
    <p:extLst>
      <p:ext uri="{BB962C8B-B14F-4D97-AF65-F5344CB8AC3E}">
        <p14:creationId xmlns:p14="http://schemas.microsoft.com/office/powerpoint/2010/main" val="2080223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unit-label">
            <a:extLst xmlns:a="http://schemas.openxmlformats.org/drawingml/2006/main">
              <a:ext uri="{FF2B5EF4-FFF2-40B4-BE49-F238E27FC236}">
                <a16:creationId xmlns:a16="http://schemas.microsoft.com/office/drawing/2014/main" id="{7C8003AA-8DB6-4B96-8ACB-10A99510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EFF12751-4F58-49DD-8AB9-5F77A945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DEB531-767C-4381-BB27-ADAC8259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Today ends with a working sketch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880C7-9F11-4697-B93C-1EE0168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5B05135-965A-4072-AB82-70E5438A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B7FCA-A9ED-45A9-A000-9B1F43A2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By the end of class, you will…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40E3D-0E43-4390-9D79-B12EF113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24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8F3A7-39E2-4A5A-9CCB-0F552C6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DF77F-3EAF-4D26-A310-5241454B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8610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BlueJ and Processing open correctly.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93488F-4CA0-4B63-B0BC-51564DCD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81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A95F2-0FA9-4C27-92A4-786D2E17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99DEE-2E8E-437E-9ECA-FE13097B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BlueJ reports the Processing library as Loaded.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54531-281D-4725-B24E-1A6E6E9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0BDD8-13FE-436B-B4D5-9954911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Prove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B6401-2434-4E7E-B01B-AFA00B29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4495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An orange circle follows your mouse—and becomes larger when you edit one number.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2AE0D-D807-45B7-86EE-5DBAFAEB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24150"/>
            <a:ext cx="4667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F4EC"/>
          </a:solidFill>
          <a:ln xmlns:a="http://schemas.openxmlformats.org/drawingml/2006/main" w="19050">
            <a:solidFill>
              <a:srgbClr val="167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A8514-A612-47AA-B1F8-4D59E823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765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FINISH 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66E7B-94AA-4DBB-A06D-60A8A22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33725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edit → compile → run → observe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47502F-4890-48DC-B730-7EAFD63D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If an installation is blocked, raise your hand immediately. Waiting silently costs the class time.</a:t>
            </a:r>
          </a:p>
        </p:txBody>
      </p:sp>
    </p:spTree>
    <p:extLst>
      <p:ext uri="{BB962C8B-B14F-4D97-AF65-F5344CB8AC3E}">
        <p14:creationId xmlns:p14="http://schemas.microsoft.com/office/powerpoint/2010/main" val="10841149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unit-label">
            <a:extLst xmlns:a="http://schemas.openxmlformats.org/drawingml/2006/main">
              <a:ext uri="{FF2B5EF4-FFF2-40B4-BE49-F238E27FC236}">
                <a16:creationId xmlns:a16="http://schemas.microsoft.com/office/drawing/2014/main" id="{334FBC3A-057A-46AB-84C6-24D3A18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319CB112-3647-4161-8653-9BFC008A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C68E63-0B7A-4296-A8CD-9CA8DB7E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First, identify your computer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74FAF-143C-47B8-9C1D-26168027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CBF081-992B-460F-8340-B1778DFC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11140-D172-4277-AF69-A980A925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04FE3-40DF-412F-8CD8-EDDEEFD6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F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34C84-E748-4970-A0E1-BB83076D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4905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Press Windows + I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System → About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Find System type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Expected: 64-bit operating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0CF314-E39A-4076-922A-6D8F232D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 11 is already 64-bit.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7E917-7193-4EAD-9445-D039E7FC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621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9E813B-2B77-4644-9432-F9E1AC47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F7060E-94FE-432F-B50C-E0FD05A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the Apple menu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Choose About This Mac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Find Chip or Processor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Record: Apple silicon or Intel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6409D-D3DC-477B-BCB9-D8F8CF6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24450"/>
            <a:ext cx="509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A55A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A55A00"/>
                </a:solidFill>
                <a:latin typeface="Arial"/>
                <a:ea typeface="Arial"/>
                <a:cs typeface="Arial"/>
              </a:rPr>
              <a:t>Chip = Apple silicon · Processor = Intel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5D7A5-3316-454A-AB8D-B2447447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38800"/>
            <a:ext cx="659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99B034-9073-41D4-AA8F-91568E48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912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47674-53EA-4BD1-8892-FAA475B5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048375"/>
            <a:ext cx="613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Tell your teacher your OS and processor type.</a:t>
            </a:r>
          </a:p>
        </p:txBody>
      </p:sp>
    </p:spTree>
    <p:extLst>
      <p:ext uri="{BB962C8B-B14F-4D97-AF65-F5344CB8AC3E}">
        <p14:creationId xmlns:p14="http://schemas.microsoft.com/office/powerpoint/2010/main" val="806998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unit-label">
            <a:extLst xmlns:a="http://schemas.openxmlformats.org/drawingml/2006/main">
              <a:ext uri="{FF2B5EF4-FFF2-40B4-BE49-F238E27FC236}">
                <a16:creationId xmlns:a16="http://schemas.microsoft.com/office/drawing/2014/main" id="{ECBA1D19-2801-4A6B-BBC3-8DCE8E11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43B2C57F-5A95-4464-8673-C103303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A92DB7-DBB7-4E89-829B-CA6741CF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Download the BlueJ installer that matches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56465-6223-4135-B9FB-DFD40749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01764EE-5DE9-4B50-8E84-FD103B9A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step-01">
            <a:extLst xmlns:a="http://schemas.openxmlformats.org/drawingml/2006/main">
              <a:ext uri="{FF2B5EF4-FFF2-40B4-BE49-F238E27FC236}">
                <a16:creationId xmlns:a16="http://schemas.microsoft.com/office/drawing/2014/main" id="{3DDD0E27-E931-4FB5-8F37-D4800B31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EAF5F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068B9-1A5F-4728-BE3A-0E08D2DE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73572-8A31-48EA-8280-7E1C1F3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14575"/>
            <a:ext cx="381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7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3375" b="1" i="0">
                <a:solidFill>
                  <a:srgbClr val="1E5FCC"/>
                </a:solidFill>
                <a:latin typeface="Arial"/>
                <a:ea typeface="Arial"/>
                <a:cs typeface="Arial"/>
                <a:hlinkClick xmlns:r="http://schemas.openxmlformats.org/officeDocument/2006/relationships" r:id="Rec1d7af682634e37"/>
              </a:rPr>
              <a:t>bluej.org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FDAD3-903B-4444-B958-EAFEC0E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2C15E-611E-4CA7-9556-F1E8075B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FC5BB-C20C-4572-9BF3-1B0E81C6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F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091EB-8530-4EAB-8BC3-EB7086E0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Choose Windows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64-bit installer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AD2D8-BDC7-427F-A0C0-88DBAE94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62150"/>
            <a:ext cx="255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BCF11-9C07-4FCE-8169-C4E88A5F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19350"/>
            <a:ext cx="255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2F8E64-16EC-4E56-A18B-DAD91AFB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552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8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Choose Apple silicon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or Intel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7ACB2-584B-49D4-975F-C0D5FE3B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334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C43AFB-F75E-4563-8D74-6D5A5B61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Download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98490-F83E-40A2-96AA-255AA2E6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BlueJ 6.0.0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FC5612-768C-4189-97F6-90CE68B0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The installer already includes the JDK.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Do not install a separate Java package.</a:t>
            </a:r>
          </a:p>
        </p:txBody>
      </p:sp>
    </p:spTree>
    <p:extLst>
      <p:ext uri="{BB962C8B-B14F-4D97-AF65-F5344CB8AC3E}">
        <p14:creationId xmlns:p14="http://schemas.microsoft.com/office/powerpoint/2010/main" val="9866456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unit-label">
            <a:extLst xmlns:a="http://schemas.openxmlformats.org/drawingml/2006/main">
              <a:ext uri="{FF2B5EF4-FFF2-40B4-BE49-F238E27FC236}">
                <a16:creationId xmlns:a16="http://schemas.microsoft.com/office/drawing/2014/main" id="{CE3DC772-EDB5-448F-ACDB-63045415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C4F87462-6329-40B7-8527-39FF697F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48FB198-8C6E-4829-8C89-27F051A2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Install BlueJ, then open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70E85-7CD5-4327-93F7-F35DBD6F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E7491AE-D6B4-49CB-B3D2-F05C6249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32C435-F4DD-4C73-98E0-3DC90A30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FF520-D739-42AF-9854-8AAB8F43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F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345826-0044-454E-B950-9356D259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2B939-C5BC-4C5E-91B8-6FEFDD6D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Downloads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B9BAD4-FF71-4175-BA88-9DB3E193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4352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Double-click the BlueJ MSI installer.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91704F-C928-4A2C-A09D-370B16C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2A4ED-ED9C-49D5-9AE5-9631ED9C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Accept the defaults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FE20B-CC4E-45AD-8E50-E027FE21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4352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Keep the suggested installation location.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09AB3-EF5F-4BE0-A478-8DFACDF7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20618-6A0B-4A1D-9272-579FF3CD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Launch BlueJ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0E581-BBCC-46E5-BE06-28C309E0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4352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Use Start and search for BlueJ.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3DA9E-9D93-401D-A0FF-8777EAA3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621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C260C-9290-4523-A058-DFDEC0FC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B5B19-9DBD-4992-B080-667D267B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4CB6A-F39F-4A47-95F5-AC0547D2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66700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the download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A2ECB-17A1-4FC9-82BB-BFA1D419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28950"/>
            <a:ext cx="4543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Unzip the BlueJ application.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EA8A5F-61AA-438E-B080-C4F53C41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74BBDD-7BDE-4A24-98AC-1FD7A98C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71475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Move to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064BF-3518-4F65-A216-CD8F990C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76700"/>
            <a:ext cx="4543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Drag BlueJ into Applications, then open 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3F3CE-0474-488B-92A5-9DFA5910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62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1692E-46C9-4160-86D8-9B470D3B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76250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If macOS blocks 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5E3986-B1FC-45D2-8D5C-BFFEDF05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124450"/>
            <a:ext cx="4543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Use System Settings → Privacy &amp; Security → Open Anyway, only for the official download.</a:t>
            </a:r>
          </a:p>
        </p:txBody>
      </p:sp>
    </p:spTree>
    <p:extLst>
      <p:ext uri="{BB962C8B-B14F-4D97-AF65-F5344CB8AC3E}">
        <p14:creationId xmlns:p14="http://schemas.microsoft.com/office/powerpoint/2010/main" val="1268955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nit-label">
            <a:extLst xmlns:a="http://schemas.openxmlformats.org/drawingml/2006/main">
              <a:ext uri="{FF2B5EF4-FFF2-40B4-BE49-F238E27FC236}">
                <a16:creationId xmlns:a16="http://schemas.microsoft.com/office/drawing/2014/main" id="{3D554243-4743-475D-924F-FB38F073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9F373A3B-8C6B-4723-A524-014F49FB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F146FF-BC45-4797-9899-AD10D4B3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Checkpoint 1: BlueJ opens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60B82-C7C5-4644-AFAA-BF54D04E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133E1EE-48EC-453A-BA83-3A95032C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FF0BD-B895-4586-8160-5387FC3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BlueJ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6096F-B1DF-4FA5-A19C-165D0CB0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Help → About BlueJ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D337D-BA94-431B-9365-28ECA68D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243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On macOS: BlueJ → About BlueJ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1F329-EDFE-4541-A9AA-D6D740FA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4762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F4EC"/>
          </a:solidFill>
          <a:ln xmlns:a="http://schemas.openxmlformats.org/drawingml/2006/main" w="19050">
            <a:solidFill>
              <a:srgbClr val="167A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32656-248A-42D5-9E16-D43CA00D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52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48058-BCAF-4B12-939C-E3A88D9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9875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Version 6.0.0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55CD9-8ABA-4738-AD00-EF00006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9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When you see the version, leave BlueJ open and show a thumbs-up.</a:t>
            </a:r>
          </a:p>
        </p:txBody>
      </p:sp>
    </p:spTree>
    <p:extLst>
      <p:ext uri="{BB962C8B-B14F-4D97-AF65-F5344CB8AC3E}">
        <p14:creationId xmlns:p14="http://schemas.microsoft.com/office/powerpoint/2010/main" val="11444954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unit-label">
            <a:extLst xmlns:a="http://schemas.openxmlformats.org/drawingml/2006/main">
              <a:ext uri="{FF2B5EF4-FFF2-40B4-BE49-F238E27FC236}">
                <a16:creationId xmlns:a16="http://schemas.microsoft.com/office/drawing/2014/main" id="{69EF59E7-97D6-4C45-BA1A-2EAF6BF9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A9616348-E019-404C-AF45-2C24DA6C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6544A7-3D42-4D04-ABD0-44CB9318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Download Processing, our drawing toolkit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13045-285F-4B13-9BEE-67F0041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DC0B04-35AB-4B82-B20D-74579E6C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step-02">
            <a:extLst xmlns:a="http://schemas.openxmlformats.org/drawingml/2006/main">
              <a:ext uri="{FF2B5EF4-FFF2-40B4-BE49-F238E27FC236}">
                <a16:creationId xmlns:a16="http://schemas.microsoft.com/office/drawing/2014/main" id="{9D641084-8492-4C42-9F86-B1F4E134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EAF5F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C1883-0EC9-4649-A17E-47517A69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DB7C0-836D-4102-9FFD-8ADDD470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1457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E5FCC"/>
                </a:solidFill>
                <a:latin typeface="Arial"/>
                <a:ea typeface="Arial"/>
                <a:cs typeface="Arial"/>
                <a:hlinkClick xmlns:r="http://schemas.openxmlformats.org/officeDocument/2006/relationships" r:id="R301f599d4bfd4d39"/>
              </a:rPr>
              <a:t>processing.org/download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0A777-8AB4-44A1-B4BF-536AC8BA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43ABA1-7C32-4573-8356-91F83B8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3905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17A9F-658D-4EE5-93D8-CFCDE633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Download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97A9A4-47E8-4565-864B-E997B8B9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670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Processing 4.5.6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F50E1-1485-4FBF-83F5-722CF93F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Windows: MSI installer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macOS: matching DMG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1C94E-80C7-4DF1-952D-A46F0AA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292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Download from the official page only.</a:t>
            </a:r>
          </a:p>
        </p:txBody>
      </p:sp>
    </p:spTree>
    <p:extLst>
      <p:ext uri="{BB962C8B-B14F-4D97-AF65-F5344CB8AC3E}">
        <p14:creationId xmlns:p14="http://schemas.microsoft.com/office/powerpoint/2010/main" val="1712672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unit-label">
            <a:extLst xmlns:a="http://schemas.openxmlformats.org/drawingml/2006/main">
              <a:ext uri="{FF2B5EF4-FFF2-40B4-BE49-F238E27FC236}">
                <a16:creationId xmlns:a16="http://schemas.microsoft.com/office/drawing/2014/main" id="{40893349-3F3F-43B6-A967-E1808C53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BCAE5A7B-63ED-4C7D-A9CC-B0230B12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INSTALL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B31EC2-CFCB-440D-A0FD-06913086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Install it, open it once, then close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B2B56-7CC3-4BF0-8CCF-5FFE575E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F3C1065-8FC9-402B-88D7-EC526912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3CC4B-7B10-4090-B773-125C4B2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B968D-4EB1-41EB-806A-01F66440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1935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F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97E68-C3C9-47E6-8535-AEB73B8A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4905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Double-click the Processing MSI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Accept the suggested location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Processing from 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EECF6D-1DD2-412A-B6EE-38F0DBEF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6215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2BA2B-7E02-47FA-B284-F23478E2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B5216-B36C-476A-BC0D-A62B20A6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86050"/>
            <a:ext cx="5095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the Processing DMG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Drag Processing to Applications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0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Processing from Applications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E9FE9-FC1F-4ADA-A38B-4798472D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19650"/>
            <a:ext cx="659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F4EC"/>
          </a:solidFill>
          <a:ln xmlns:a="http://schemas.openxmlformats.org/drawingml/2006/main" w="19050">
            <a:solidFill>
              <a:srgbClr val="167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45453-DA8F-4EF3-8418-6C77365C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72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F3476-02D6-4AC0-9255-380C59A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229225"/>
            <a:ext cx="613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Processing opens correctly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8B14A4-CAFB-4386-AD94-259743A8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829300"/>
            <a:ext cx="6591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54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After the window appears, close Processing. BlueJ will be our coding workspace.</a:t>
            </a:r>
          </a:p>
        </p:txBody>
      </p:sp>
    </p:spTree>
    <p:extLst>
      <p:ext uri="{BB962C8B-B14F-4D97-AF65-F5344CB8AC3E}">
        <p14:creationId xmlns:p14="http://schemas.microsoft.com/office/powerpoint/2010/main" val="565531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unit-label">
            <a:extLst xmlns:a="http://schemas.openxmlformats.org/drawingml/2006/main">
              <a:ext uri="{FF2B5EF4-FFF2-40B4-BE49-F238E27FC236}">
                <a16:creationId xmlns:a16="http://schemas.microsoft.com/office/drawing/2014/main" id="{B616A08D-E958-481B-9E22-B4E89AEB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B7024EDB-F4DD-479F-8B9A-59267807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4F56E2-F9B9-4A45-80B9-80E67C9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BlueJ’s Libraries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65C2A-2E9D-4E22-A17C-653ADB05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30DB49B-51B9-4585-B80B-1B3CE18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D38F2-9A1C-4011-8D06-E2C69111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9F3D6-1961-412F-B159-9B145B76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03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Tools → Preferences → Libraries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7EC21-6C7E-415B-9C66-4D8B9891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57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A55A00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A55A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C70AE-F784-4FA9-90CD-1C0C69A2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576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BlueJ → Preferences → Libraries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BEB77-4B66-470A-AA41-84D7808F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67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The upper list may be empty. That is normal.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AA669-75D0-4D50-91E9-F3A1FBC9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4855ffde3401b"/>
          <a:stretch xmlns:a="http://schemas.openxmlformats.org/drawingml/2006/main"/>
        </p:blipFill>
        <p:spPr>
          <a:xfrm xmlns:a="http://schemas.openxmlformats.org/drawingml/2006/main">
            <a:off x="6171338" y="2038350"/>
            <a:ext cx="4992824" cy="400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14683-3393-4751-87C8-6E357E1B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BlueJ 6.0.0 · Libraries tab before setup</a:t>
            </a:r>
          </a:p>
        </p:txBody>
      </p:sp>
    </p:spTree>
    <p:extLst>
      <p:ext uri="{BB962C8B-B14F-4D97-AF65-F5344CB8AC3E}">
        <p14:creationId xmlns:p14="http://schemas.microsoft.com/office/powerpoint/2010/main" val="1090947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unit-label">
            <a:extLst xmlns:a="http://schemas.openxmlformats.org/drawingml/2006/main">
              <a:ext uri="{FF2B5EF4-FFF2-40B4-BE49-F238E27FC236}">
                <a16:creationId xmlns:a16="http://schemas.microsoft.com/office/drawing/2014/main" id="{CF42D9CE-E247-4323-8459-42C9748D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49D8F24F-9030-403B-8E16-1799F6CA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FCA9D5-901F-486D-8B4B-88C45B4D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Add only the Processing core JAR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73296-37A6-46F9-AE38-133B0EAB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89D1CA-1C01-4B6A-948C-20B05992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step-03">
            <a:extLst xmlns:a="http://schemas.openxmlformats.org/drawingml/2006/main">
              <a:ext uri="{FF2B5EF4-FFF2-40B4-BE49-F238E27FC236}">
                <a16:creationId xmlns:a16="http://schemas.microsoft.com/office/drawing/2014/main" id="{B2BDB78B-944B-40DF-BCD4-EF26CC5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EAF5FB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EAF5F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312E0-8665-4B7B-9B54-1F3212F9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812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Click Add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B705E-E890-4EE8-BFB0-78C2CC01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52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Then locate this folder: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1F911-32C6-4701-B37B-1D13F325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00373-D0B8-4CAA-9C74-616AC4A7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004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F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D5982F-10A2-4DE8-8634-E8164D30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4191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C:\Program Files\Processing\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app\resources\core\library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380432-5679-4D46-A74E-9F797CE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415F6-3789-4F39-B8F0-7421D657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ABCE4-8A42-4F98-A8B1-253E20F8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7190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Processing.app → Show Package Contents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Contents/app/resources/core/library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12A6B-20ED-47A8-8B62-6AC82F9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942975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FFB4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CC6CB-24C1-473D-BE54-D9328004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4827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325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Select:  core-4.5.6.jar</a:t>
            </a:r>
          </a:p>
        </p:txBody>
      </p:sp>
    </p:spTree>
    <p:extLst>
      <p:ext uri="{BB962C8B-B14F-4D97-AF65-F5344CB8AC3E}">
        <p14:creationId xmlns:p14="http://schemas.microsoft.com/office/powerpoint/2010/main" val="1355943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unit-label">
            <a:extLst xmlns:a="http://schemas.openxmlformats.org/drawingml/2006/main">
              <a:ext uri="{FF2B5EF4-FFF2-40B4-BE49-F238E27FC236}">
                <a16:creationId xmlns:a16="http://schemas.microsoft.com/office/drawing/2014/main" id="{584A02A4-E8D7-4CEC-851D-65E04957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511E2504-D0F4-48A8-821C-6CDB5318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1159E6-83DF-420A-92F0-5B9C7060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Restart BlueJ and look for “Loaded”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B37A37-0D40-4A7D-97D1-2772DD94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9CF9E8-1F0A-4D38-AE82-081CC080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E19F0-88A3-48E2-8133-9E905871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24D877-34FB-40D4-A753-8E1C7E80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764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Click 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E3A7D-E5DA-47F6-AB0F-982BB256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CDA6D-5376-46F5-B60A-0CE1ADE4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Close BlueJ completely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84841-3388-445B-88EA-E3038712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766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F5A34-EBC0-4C5E-9ACB-252178D1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Reopen BlueJ and return to Libraries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59DB1-E688-4CEE-8817-BBE82090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0125"/>
            <a:ext cx="4762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F4EC"/>
          </a:solidFill>
          <a:ln xmlns:a="http://schemas.openxmlformats.org/drawingml/2006/main" w="19050">
            <a:solidFill>
              <a:srgbClr val="167A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1BDD1-AD89-499E-BCB4-4774528B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23F0E2-6E57-40A5-8854-CCC2CBE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core-4.5.6.jar (Loaded)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7BCF4-81F4-494E-B6CD-8CB1040D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eb26156ea421c"/>
          <a:stretch xmlns:a="http://schemas.openxmlformats.org/drawingml/2006/main"/>
        </p:blipFill>
        <p:spPr>
          <a:xfrm xmlns:a="http://schemas.openxmlformats.org/drawingml/2006/main">
            <a:off x="6172140" y="2038350"/>
            <a:ext cx="4991219" cy="4000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E630B-EEC1-4189-AAD4-8FABB797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The word Loaded is the checkpoint.</a:t>
            </a:r>
          </a:p>
        </p:txBody>
      </p:sp>
    </p:spTree>
    <p:extLst>
      <p:ext uri="{BB962C8B-B14F-4D97-AF65-F5344CB8AC3E}">
        <p14:creationId xmlns:p14="http://schemas.microsoft.com/office/powerpoint/2010/main" val="1889090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unit-label">
            <a:extLst xmlns:a="http://schemas.openxmlformats.org/drawingml/2006/main">
              <a:ext uri="{FF2B5EF4-FFF2-40B4-BE49-F238E27FC236}">
                <a16:creationId xmlns:a16="http://schemas.microsoft.com/office/drawing/2014/main" id="{6CCCC4DA-E387-4EF5-808A-10F0A4AE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7FC642DE-C9ED-43DF-8417-0CDE5042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FA74AF-13C3-4363-95C7-E13BB210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Create the setup-test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B5B9AE-0CF9-49C4-B447-A05CE546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CD2A79B-A90B-4B6D-9EF6-681ED2BB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0A448-7404-465E-A79E-CECCC8D0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Project → New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54EDE-E598-47A3-81F5-A4EFD6E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F0CA1-F717-4D56-B116-8A82FC90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89001-F1EE-4194-BD48-01610682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UnitB_Setup_Test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9FC3A-AEB4-4A35-A56C-50723673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912A72-64C5-4C78-9BF4-44B8E242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7E7A3-1FAE-4659-93BF-6D0F95F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Use your normal course workspace or Documents folder.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C22F9-42C9-49DD-A5A9-8B2E665B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E4C81-5C0C-46B4-9CA8-6C566B22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5CD4E1-1ACA-4259-BE8C-469F4796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BlueJ 6.0.0 uses the OK button.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C41EF-7941-413D-9197-31F30A2A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4d3f6b77a440c"/>
          <a:stretch xmlns:a="http://schemas.openxmlformats.org/drawingml/2006/main"/>
        </p:blipFill>
        <p:spPr>
          <a:xfrm xmlns:a="http://schemas.openxmlformats.org/drawingml/2006/main">
            <a:off x="6017673" y="2038350"/>
            <a:ext cx="5300155" cy="400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400E2F-AED3-41B9-A26D-F428BD2C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57625"/>
            <a:ext cx="201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8B6E3-959C-4D39-80EB-DCC7CB8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7667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C:\Users\Student\Workspace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3AED1-EBF5-4455-9A65-BA4E56F4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862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...\Workspace\UnitB_Setup_Test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3EDBD-80B4-4532-8AFD-6B32769D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Your path may differ; the project name must match.</a:t>
            </a:r>
          </a:p>
        </p:txBody>
      </p:sp>
    </p:spTree>
    <p:extLst>
      <p:ext uri="{BB962C8B-B14F-4D97-AF65-F5344CB8AC3E}">
        <p14:creationId xmlns:p14="http://schemas.microsoft.com/office/powerpoint/2010/main" val="3529255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unit-label">
            <a:extLst xmlns:a="http://schemas.openxmlformats.org/drawingml/2006/main">
              <a:ext uri="{FF2B5EF4-FFF2-40B4-BE49-F238E27FC236}">
                <a16:creationId xmlns:a16="http://schemas.microsoft.com/office/drawing/2014/main" id="{935C773C-612F-4029-B1D1-6F08D90E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9196604E-EAB0-46E2-BDCB-C81995CA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24A0C9-5DE4-4569-A4C9-B692F7FF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Create one Java 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4C83-CF9C-4837-9A7F-173611DD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9B9A716-710E-4F73-9B2C-1E8EA66B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C298B-F6F7-4FB2-9272-E6B7C2B3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Click New Class…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A2779-05B3-4C48-B976-F941A782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47625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FFB4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5E86F-679F-43BD-B371-E16FCBCF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A53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A5300"/>
                </a:solidFill>
                <a:latin typeface="Arial"/>
                <a:ea typeface="Arial"/>
                <a:cs typeface="Arial"/>
              </a:rPr>
              <a:t>Class 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CEEE4-DD17-46D4-8599-3140BF78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FirstSketch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493E0-53EE-4EA4-979E-956EFE54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Leave Class selected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Leave Java selected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Click 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EE629-8E68-4C25-AD01-F3C8EBFF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21117f89664f73"/>
          <a:stretch xmlns:a="http://schemas.openxmlformats.org/drawingml/2006/main"/>
        </p:blipFill>
        <p:spPr>
          <a:xfrm xmlns:a="http://schemas.openxmlformats.org/drawingml/2006/main">
            <a:off x="6013118" y="2038350"/>
            <a:ext cx="5309264" cy="400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3B6255-AA3E-4549-BEF1-15060550A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Striped means: created, not compiled yet.</a:t>
            </a:r>
          </a:p>
        </p:txBody>
      </p:sp>
    </p:spTree>
    <p:extLst>
      <p:ext uri="{BB962C8B-B14F-4D97-AF65-F5344CB8AC3E}">
        <p14:creationId xmlns:p14="http://schemas.microsoft.com/office/powerpoint/2010/main" val="15073539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unit-label">
            <a:extLst xmlns:a="http://schemas.openxmlformats.org/drawingml/2006/main">
              <a:ext uri="{FF2B5EF4-FFF2-40B4-BE49-F238E27FC236}">
                <a16:creationId xmlns:a16="http://schemas.microsoft.com/office/drawing/2014/main" id="{EAB4D223-F31D-46F6-A91A-B4272FE3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688060A4-6AC9-4D6A-B1EB-6904539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A05C6A-CB85-45A9-B139-2BDA10CD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the editor and replace the template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A21D7-D587-4E7E-826B-BF09D234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7B9B407-2B89-4556-A4B5-472C53A5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3414A-3B7D-4366-864D-529C2DD9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B0BCF-18C4-4419-B4BE-DDF0CBFB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0BB15-417F-4AB2-AB8D-F0A131CE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Double-click FirstSketch.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76EAB-9769-443D-8FFC-1385ECAC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0C0DA-1BA0-4E2E-A456-4AA3EB25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 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D2CC44-D1F4-40C7-94EB-A1374061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Click in the editor, then press Ctrl+A (Windows) or Command+A (macOS).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B1A8D-FF9B-4745-8B3D-D87A3214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291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026DC-7E82-4268-AC03-F02158B5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9B23A-53E4-47FD-A466-0DB61B4E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Delete the template and paste the complete code from the next slide.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69EFD-E344-4452-A211-A0B7D16D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5185332ce486a"/>
          <a:stretch xmlns:a="http://schemas.openxmlformats.org/drawingml/2006/main"/>
        </p:blipFill>
        <p:spPr>
          <a:xfrm xmlns:a="http://schemas.openxmlformats.org/drawingml/2006/main">
            <a:off x="6314360" y="2038350"/>
            <a:ext cx="4706781" cy="40005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A9AB3-DB49-4BCA-B937-038AB6AD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BlueJ highlights each method as a code block.</a:t>
            </a:r>
          </a:p>
        </p:txBody>
      </p:sp>
    </p:spTree>
    <p:extLst>
      <p:ext uri="{BB962C8B-B14F-4D97-AF65-F5344CB8AC3E}">
        <p14:creationId xmlns:p14="http://schemas.microsoft.com/office/powerpoint/2010/main" val="108205877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unit-label">
            <a:extLst xmlns:a="http://schemas.openxmlformats.org/drawingml/2006/main">
              <a:ext uri="{FF2B5EF4-FFF2-40B4-BE49-F238E27FC236}">
                <a16:creationId xmlns:a16="http://schemas.microsoft.com/office/drawing/2014/main" id="{DC11A751-BB9B-4F86-8C3C-620FC8B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6C3883F1-A491-4E12-BCF7-905DB1A3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8E251D-69DB-49AD-92B1-145CADB0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Paste the complete working program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B32E-AEF5-4F88-932A-0B92B05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3EAF117-9164-4F8A-8BA4-B5E46DEF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74CC0-F9A1-417C-B558-5A822AB9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8096250" cy="42862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02228"/>
          </a:solidFill>
          <a:ln xmlns:a="http://schemas.openxmlformats.org/drawingml/2006/main" w="9525">
            <a:solidFill>
              <a:srgbClr val="2022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9D054-6892-43AE-BCD5-502BF826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7658100" cy="394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import processing.core.PApplet;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public class FirstSketch extends PApplet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public void settings()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    size(400, 400);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public void setup() { background(30);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public void draw()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    background(30);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    noStroke();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    fill(255, 180, 0);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    circle(mouseX, mouseY, 60);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public static void main(String[] args)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    PApplet.main("FirstSketch");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defRPr>
            </a:pPr>
            <a:r>
              <a:rPr sz="1613" b="0" i="0">
                <a:solidFill>
                  <a:srgbClr val="F5F7FA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BD838-2DD5-480C-A9CD-3EDA1E28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26098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FFB4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215DF-CCF8-46EF-8610-2FE73743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2228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8A53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8A5300"/>
                </a:solidFill>
                <a:latin typeface="Arial"/>
                <a:ea typeface="Arial"/>
                <a:cs typeface="Arial"/>
              </a:rPr>
              <a:t>Do not change yet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FB3C1-C9EC-478E-9FFB-30D464AB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57475"/>
            <a:ext cx="222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250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Use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AB238-3629-4854-A8E6-A3F617ED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609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You do not need to understand class, extends, or main today. They are fixed launcher code that we will reuse.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EBC8E-C70F-46EC-B8F1-BB4A04A2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67350"/>
            <a:ext cx="2609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Important: size() belongs in settings().</a:t>
            </a:r>
          </a:p>
        </p:txBody>
      </p:sp>
    </p:spTree>
    <p:extLst>
      <p:ext uri="{BB962C8B-B14F-4D97-AF65-F5344CB8AC3E}">
        <p14:creationId xmlns:p14="http://schemas.microsoft.com/office/powerpoint/2010/main" val="7935885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unit-label">
            <a:extLst xmlns:a="http://schemas.openxmlformats.org/drawingml/2006/main">
              <a:ext uri="{FF2B5EF4-FFF2-40B4-BE49-F238E27FC236}">
                <a16:creationId xmlns:a16="http://schemas.microsoft.com/office/drawing/2014/main" id="{11226F74-910D-457A-AF31-12703563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B35C4741-45F0-4C67-8B76-4E131C37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DC69A0-6C09-45C0-AA54-BB1FC2C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Compile before you 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D97E7-ED87-402C-A5B1-ADD5E155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32662D6-ED45-4A60-AAD1-23947FE9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067BE-D9FB-4A72-B883-D8D5997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Click Compile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63BB5-AAB9-4D78-B602-DA9C6970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Compiling translates your source code and checks its syntax.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AD458-1BB3-4F33-9022-426BFEB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14850"/>
            <a:ext cx="4762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F4EC"/>
          </a:solidFill>
          <a:ln xmlns:a="http://schemas.openxmlformats.org/drawingml/2006/main" w="19050">
            <a:solidFill>
              <a:srgbClr val="167A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CB6F7-D42A-4F82-A247-504A9EE06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EXPECTED MESSAGE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C85C4-4341-48E8-BA0B-AF2E8291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Class compiled – no syntax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1F875-9365-4E54-BF72-949D32B7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bd5e751b14788"/>
          <a:stretch xmlns:a="http://schemas.openxmlformats.org/drawingml/2006/main"/>
        </p:blipFill>
        <p:spPr>
          <a:xfrm xmlns:a="http://schemas.openxmlformats.org/drawingml/2006/main">
            <a:off x="6306269" y="2038350"/>
            <a:ext cx="4722962" cy="40005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339171-F5A8-4C8F-B116-7906216D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Read the message at the bottom of the editor.</a:t>
            </a:r>
          </a:p>
        </p:txBody>
      </p:sp>
    </p:spTree>
    <p:extLst>
      <p:ext uri="{BB962C8B-B14F-4D97-AF65-F5344CB8AC3E}">
        <p14:creationId xmlns:p14="http://schemas.microsoft.com/office/powerpoint/2010/main" val="20251465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unit-label">
            <a:extLst xmlns:a="http://schemas.openxmlformats.org/drawingml/2006/main">
              <a:ext uri="{FF2B5EF4-FFF2-40B4-BE49-F238E27FC236}">
                <a16:creationId xmlns:a16="http://schemas.microsoft.com/office/drawing/2014/main" id="{8B715956-C72E-4F9D-BCBC-D9B31E4D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1322D4A7-0AF9-4353-B716-E46A5596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763604-CEBE-485F-8B0D-AEE1FEAD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Run main, then move the mouse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7964F-52BA-4938-9831-BFAE2BAD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6CF3096-1080-45F1-ACFB-0E7A4AA5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87BE6-BFCD-4607-98AF-5B46E87F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6002C-D2ED-4FA8-AE45-9C99E1B4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Close the editor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C9173-0A7B-44FF-923D-63AC4EF7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543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Return to the project window.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04AA7-289A-461A-97A4-7E545132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D7995-0AA0-417E-A555-965C67CB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Right-click FirstSketch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098EC-92EF-46B3-81A0-349715C5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52825"/>
            <a:ext cx="4543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Choose void main(String[] args).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A62FA-8C38-4037-B408-098FDB36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AEC6E-EDA7-4C91-ACAE-A069FD3C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4543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Accept the argument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42DB80-CE30-4376-A9A3-078BE4C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4543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Leave { } unchanged and click OK.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A726C-817B-4342-A51E-5178CE61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762500" cy="3048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202228"/>
          </a:solidFill>
          <a:ln xmlns:a="http://schemas.openxmlformats.org/drawingml/2006/main" w="9525">
            <a:solidFill>
              <a:srgbClr val="2022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3D579-F80F-4610-A754-724A45B2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400 × 400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47750-6332-4E43-B151-5078E47A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38500"/>
            <a:ext cx="3962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An orange circle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3150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follows your mouse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9949C-9415-4F26-A963-F1228B4E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48300"/>
            <a:ext cx="65913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3F4EC"/>
          </a:solidFill>
          <a:ln xmlns:a="http://schemas.openxmlformats.org/drawingml/2006/main" w="19050">
            <a:solidFill>
              <a:srgbClr val="167A5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E22133-ECFE-4B87-BF10-65FAD4E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007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CHECKPOINT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890C3A-E5E7-4E35-A42C-72114C42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57875"/>
            <a:ext cx="613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sketch window opens and responds</a:t>
            </a:r>
          </a:p>
        </p:txBody>
      </p:sp>
    </p:spTree>
    <p:extLst>
      <p:ext uri="{BB962C8B-B14F-4D97-AF65-F5344CB8AC3E}">
        <p14:creationId xmlns:p14="http://schemas.microsoft.com/office/powerpoint/2010/main" val="51952711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unit-label">
            <a:extLst xmlns:a="http://schemas.openxmlformats.org/drawingml/2006/main">
              <a:ext uri="{FF2B5EF4-FFF2-40B4-BE49-F238E27FC236}">
                <a16:creationId xmlns:a16="http://schemas.microsoft.com/office/drawing/2014/main" id="{2C3343A1-9A20-461F-B12B-BC37C1F7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705FA99B-7615-43AE-8F0A-3530283B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49C63F4-1146-488B-B8F8-12B9F69B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Prove that you control the program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219F3-4A74-4A46-A999-72EA8315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579B33-1A19-4022-BED6-5E26170A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5412C-1D05-447E-9B85-C6AADF0B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Find this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55EEA-25A9-4EE7-8881-D8C13D54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28900"/>
            <a:ext cx="4953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AA320-9F9B-43FC-837E-6E7E9F97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circle(mouseX, mouseY, 60);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DB87C-4B90-4C61-9BE8-0F2D4A1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Change only one number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63371-5F6C-4E0B-923F-731F455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19600"/>
            <a:ext cx="4953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FFB4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BE4D8-BDE6-4F0B-B710-6D091581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577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circle(mouseX, mouseY, 120);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B6511-7120-467D-8B1F-17E28CC2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Compile again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6A732-51DF-44FB-8934-3E04CA7C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Run main again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5611F-8356-4412-9576-604B0651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48150"/>
            <a:ext cx="438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circle should be twice as wide.</a:t>
            </a:r>
          </a:p>
        </p:txBody>
      </p:sp>
    </p:spTree>
    <p:extLst>
      <p:ext uri="{BB962C8B-B14F-4D97-AF65-F5344CB8AC3E}">
        <p14:creationId xmlns:p14="http://schemas.microsoft.com/office/powerpoint/2010/main" val="4921694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unit-label">
            <a:extLst xmlns:a="http://schemas.openxmlformats.org/drawingml/2006/main">
              <a:ext uri="{FF2B5EF4-FFF2-40B4-BE49-F238E27FC236}">
                <a16:creationId xmlns:a16="http://schemas.microsoft.com/office/drawing/2014/main" id="{84688372-639A-4EA1-AFDB-56ED9D8B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A46FDFF9-CEE6-4350-AD43-DAB16FB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67A5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67A55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A31B74-FCD1-4886-AE8B-3333ACE2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You completed the real programming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D251A-74DE-43F5-BC71-87A7DDE4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E72AC8-D63A-4800-931D-935212E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E2873-B816-4F91-B4F2-FE74E2A7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9EFCD-59D8-4056-A102-BA976031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C3F21-EE29-4035-A742-195F3F87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EDIT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AA169-F1DE-447E-BB6F-1323911B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A7461-2809-466B-8866-518FCF2C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COMPILE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0E752E-0BF4-4EB5-A27E-15E1683C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99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02786-FEB1-4274-8594-2B57EA8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E0E17-2289-4F62-946B-E2D8389D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99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00"/>
          </a:solidFill>
          <a:ln xmlns:a="http://schemas.openxmlformats.org/drawingml/2006/main" w="0">
            <a:solidFill>
              <a:srgbClr val="FFB4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09BCF-40A6-4325-AD20-26EA6476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8A53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8A5300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62035-8FF9-4DEC-91A1-BD831BD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Change a value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E14C8-F6EC-4040-9389-A76341A0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Check the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93BCC-4A3F-4FF2-A523-154A20A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862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Launch main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CAA4BD-B731-4265-9467-6EA1E162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See the effect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A6A0AA-A527-421D-B23E-688C80B1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This loop is how we will learn throughout Unit B.</a:t>
            </a:r>
          </a:p>
        </p:txBody>
      </p:sp>
    </p:spTree>
    <p:extLst>
      <p:ext uri="{BB962C8B-B14F-4D97-AF65-F5344CB8AC3E}">
        <p14:creationId xmlns:p14="http://schemas.microsoft.com/office/powerpoint/2010/main" val="19194080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unit-label">
            <a:extLst xmlns:a="http://schemas.openxmlformats.org/drawingml/2006/main">
              <a:ext uri="{FF2B5EF4-FFF2-40B4-BE49-F238E27FC236}">
                <a16:creationId xmlns:a16="http://schemas.microsoft.com/office/drawing/2014/main" id="{00B42DE9-D2F1-4CD4-84FB-639E1981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E0AC5B51-AD1E-45C8-9166-1EB9FEB1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24CCF0-2DEA-4C94-A780-71FE9678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Setup complete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39189-7EEB-482D-8597-138BAFEF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CE0D345-3B41-42DF-9D2A-4759FEFF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D97F3-8EE5-4323-A11D-DF24ACE7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Show your teacher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213F5-190F-437B-B064-46DCFEC8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1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 moving orange circle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1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line ending in 120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21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No compile errors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43CF-272E-42C3-B178-9B1FE02A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C4104-8794-4A92-86DF-67BAF3A1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24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Exit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7EBCA-1B03-45F6-B33D-9E37F200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28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What is one thing you are curious to create with code?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4A9E8-1CA9-42C8-BAC3-B3F5AD04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81600"/>
            <a:ext cx="704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Keep UnitB_Setup_Test. It is your installation-check project.</a:t>
            </a:r>
          </a:p>
        </p:txBody>
      </p:sp>
    </p:spTree>
    <p:extLst>
      <p:ext uri="{BB962C8B-B14F-4D97-AF65-F5344CB8AC3E}">
        <p14:creationId xmlns:p14="http://schemas.microsoft.com/office/powerpoint/2010/main" val="8384746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unit-label">
            <a:extLst xmlns:a="http://schemas.openxmlformats.org/drawingml/2006/main">
              <a:ext uri="{FF2B5EF4-FFF2-40B4-BE49-F238E27FC236}">
                <a16:creationId xmlns:a16="http://schemas.microsoft.com/office/drawing/2014/main" id="{64620DFB-E1B5-446F-BA22-3FFA1C43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2C10DC54-FA6C-4CFF-8009-21B992A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HELP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6F20E7-AB77-4CB7-904D-9CFF1EC2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If the library says “Not loaded”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004C9-8BEE-4C5C-A7DA-959DE3FE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E8116C9-8AAC-465B-B694-35419026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A1293-5B97-4B0F-B348-B58B34D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This is usually a pending restart—not a failed installation.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06E2E-2892-4F21-87CB-423F1506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19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11CC0-1DBA-46EF-8183-9CAE248B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Click 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703398-A323-4D23-B78C-011F5D3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Save the Preferences change.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A7E9F-D4EC-4EB2-A28B-6FAC3B79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C28BB-6863-43BB-8885-1CA89767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Quit BlueJ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EB508-FA0A-4820-920C-A54C337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Close every BlueJ window.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D8F7A-F442-449D-865C-0E80721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D91AE-8B64-4616-96A5-9CE7B0C0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2445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Reopen and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044B9-C008-4FD7-B25C-8615CB00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86400"/>
            <a:ext cx="421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The label should change to Loaded.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27585-44B2-4754-8039-79C60297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62150"/>
            <a:ext cx="5486400" cy="4152900"/>
          </a:xfrm>
          <a:prstGeom xmlns:a="http://schemas.openxmlformats.org/drawingml/2006/main" prst="roundRect">
            <a:avLst>
              <a:gd name="adj" fmla="val 3211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54c89caea4b62"/>
          <a:stretch xmlns:a="http://schemas.openxmlformats.org/drawingml/2006/main"/>
        </p:blipFill>
        <p:spPr>
          <a:xfrm xmlns:a="http://schemas.openxmlformats.org/drawingml/2006/main">
            <a:off x="6170543" y="2038350"/>
            <a:ext cx="4994413" cy="400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582D4-13FF-4DDA-B9D6-DAC4AE93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53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Expected before the required restart.</a:t>
            </a:r>
          </a:p>
        </p:txBody>
      </p:sp>
    </p:spTree>
    <p:extLst>
      <p:ext uri="{BB962C8B-B14F-4D97-AF65-F5344CB8AC3E}">
        <p14:creationId xmlns:p14="http://schemas.microsoft.com/office/powerpoint/2010/main" val="93120893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unit-label">
            <a:extLst xmlns:a="http://schemas.openxmlformats.org/drawingml/2006/main">
              <a:ext uri="{FF2B5EF4-FFF2-40B4-BE49-F238E27FC236}">
                <a16:creationId xmlns:a16="http://schemas.microsoft.com/office/drawing/2014/main" id="{39203930-4B09-4542-ACD9-63D480D3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58760504-1ED7-4868-B8F8-0927701C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HELP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075558-A8B1-465B-B256-02D962B0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Find the Processing core JAR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B8D59-0E96-45F0-A7FF-99C861D9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4F546EA-576C-4B5A-A4FA-F7DED13B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0E747-1092-4972-88C0-F407AFC8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509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C5619-7065-4B03-BEE4-2200244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38400"/>
            <a:ext cx="509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F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13D4AA-9699-4E92-9BA0-A5F2F23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4905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Paste this path into the file chooser: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2C078-2B20-427F-A15C-5F571BA2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509587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8D851-B57D-41F7-9E15-52B56137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C:\Program Files\Processing\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app\resources\core\library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FB759-7105-4DD3-8688-6136457F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B40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B4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2BA30-9D9D-4C87-BFC8-C15E877E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3840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B4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56C98-1C11-43B5-A98F-F6A7CF8D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67000"/>
            <a:ext cx="5095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Applications in Finder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Control-click Processing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Choose Show Package Contents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Search the package for core-4.5.6.jar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90178-9696-4693-9095-00F3C54B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010150"/>
            <a:ext cx="71628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9050">
            <a:solidFill>
              <a:srgbClr val="FFB4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767BA-6EB4-49D0-8F72-D5DD3B12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10175"/>
            <a:ext cx="662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83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Choose the file named core-4.5.6.jar—not a native or OpenGL JAR.</a:t>
            </a:r>
          </a:p>
        </p:txBody>
      </p:sp>
    </p:spTree>
    <p:extLst>
      <p:ext uri="{BB962C8B-B14F-4D97-AF65-F5344CB8AC3E}">
        <p14:creationId xmlns:p14="http://schemas.microsoft.com/office/powerpoint/2010/main" val="133868661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unit-label">
            <a:extLst xmlns:a="http://schemas.openxmlformats.org/drawingml/2006/main">
              <a:ext uri="{FF2B5EF4-FFF2-40B4-BE49-F238E27FC236}">
                <a16:creationId xmlns:a16="http://schemas.microsoft.com/office/drawing/2014/main" id="{E352CA37-C319-4226-9C07-30AC366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69EFB87D-F147-49E3-B4F5-B579664D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HELP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C51B8F-E58F-4F47-A6AF-367EDABD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If processing.core cannot be found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0AE0A-5BFD-407B-B34D-66C9012C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51008465-1987-47DA-BC4D-3489A0B2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50E3C-A7BA-48C5-9D9F-619448A6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Symptom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64267-5097-43FF-867A-AF4682DF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110299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D7AE5-75C1-43BB-8915-A50A11E0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B42318"/>
                </a:solidFill>
                <a:latin typeface="Consolas"/>
                <a:ea typeface="Consolas"/>
                <a:cs typeface="Consolas"/>
              </a:defRPr>
            </a:pPr>
            <a:r>
              <a:rPr sz="2100" b="1" i="0">
                <a:solidFill>
                  <a:srgbClr val="B42318"/>
                </a:solidFill>
                <a:latin typeface="Consolas"/>
                <a:ea typeface="Consolas"/>
                <a:cs typeface="Consolas"/>
              </a:rPr>
              <a:t>error: package processing.core does not exist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11678-C867-4F4B-B8B8-6A6DE838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Check in this 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CC696A-4E77-4C8D-94E5-8841402C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first line is: import processing.core.PApplet;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Preferences → Libraries shows core-4.5.6.jar (Loaded)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BlueJ was completely restarted after adding the JAR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file selected was core-4.5.6.jar—not the library folder</a:t>
            </a:r>
          </a:p>
        </p:txBody>
      </p:sp>
    </p:spTree>
    <p:extLst>
      <p:ext uri="{BB962C8B-B14F-4D97-AF65-F5344CB8AC3E}">
        <p14:creationId xmlns:p14="http://schemas.microsoft.com/office/powerpoint/2010/main" val="204971699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unit-label">
            <a:extLst xmlns:a="http://schemas.openxmlformats.org/drawingml/2006/main">
              <a:ext uri="{FF2B5EF4-FFF2-40B4-BE49-F238E27FC236}">
                <a16:creationId xmlns:a16="http://schemas.microsoft.com/office/drawing/2014/main" id="{CEC784DC-FF91-4C36-9508-41D1D1E2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09C5DF39-9AFC-47F6-9CC8-580D143B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HELP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68EEB8-B23C-49A9-80BF-CF17D8B2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If the sketch does not open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7AE27-1181-4106-A898-30CBF0C2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E45DA57-653E-4E0F-AAC9-ABB5CEA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38DFA-F6F0-4333-9201-150937CA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7F841-6313-4747-94B8-9B8A90A3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Run the correct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774AE-1169-4BD9-A602-CC30F4B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Right-click FirstSketch → void main(String[] args).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0EB7B-1682-491F-95B2-1CED4A8F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095E5-68E3-4E58-9A2A-E910895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Accept { 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A0188-BFE0-4339-AD39-8A6AE62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Leave the String array unchanged and click OK.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63353-07CE-4B67-A2E6-13324BED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CC80A-A76E-4810-8026-BEFBE9BF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468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Look behind BlueJ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9E9CE-3038-4CF5-81F3-DD6C34D9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46863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Use Alt+Tab or Command+Tab to find the sketch window.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F56DC3-8765-47DD-ABE6-081BEE78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6672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EEF1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B2136-6623-48B1-8423-D7ACE4DDE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193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Still stuck?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A8AA6-0B01-4DD7-847F-4ECCFCA5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480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Close the sketch and BlueJ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Reopen BlueJ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Compile once more</a:t>
            </a:r>
          </a:p>
          <a:p xmlns:a="http://schemas.openxmlformats.org/drawingml/2006/main">
            <a:pPr marL="28" indent="-16" algn="l">
              <a:lnSpc>
                <a:spcPct val="108000"/>
              </a:lnSpc>
              <a:spcAft>
                <a:spcPts val="9"/>
              </a:spcAft>
              <a:buNone/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Run main again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CCCED-7F5B-4570-8204-7151C08D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577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 not add P2D or P3D to the setup test. The default renderer keeps this first program simple.</a:t>
            </a:r>
          </a:p>
        </p:txBody>
      </p:sp>
    </p:spTree>
    <p:extLst>
      <p:ext uri="{BB962C8B-B14F-4D97-AF65-F5344CB8AC3E}">
        <p14:creationId xmlns:p14="http://schemas.microsoft.com/office/powerpoint/2010/main" val="7161595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unit-label">
            <a:extLst xmlns:a="http://schemas.openxmlformats.org/drawingml/2006/main">
              <a:ext uri="{FF2B5EF4-FFF2-40B4-BE49-F238E27FC236}">
                <a16:creationId xmlns:a16="http://schemas.microsoft.com/office/drawing/2014/main" id="{84121613-5C10-429F-A730-79F94598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UNIT B · COURSE SETUP</a:t>
            </a:r>
          </a:p>
        </p:txBody>
      </p:sp>
      <p:sp>
        <p:nvSpPr>
          <p:cNvPr id="2" name="phase-label">
            <a:extLst xmlns:a="http://schemas.openxmlformats.org/drawingml/2006/main">
              <a:ext uri="{FF2B5EF4-FFF2-40B4-BE49-F238E27FC236}">
                <a16:creationId xmlns:a16="http://schemas.microsoft.com/office/drawing/2014/main" id="{550E26AB-4100-4623-8DF0-EF2E7BDE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TEACHER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EEC181-1A8E-42B4-9429-9FA218E8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11029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Teacher pre-flight: run this before every new 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E9D52-1DBA-4E24-91AA-68F88FB1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6AA0DE0-70A4-49D0-B292-C9944A21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5E66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E6672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10E9A-38BD-4839-9055-6E766F2E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AE318-648E-476A-8343-E140DEBD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621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2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Confirm BlueJ 6.0.0 and Processing 4.5.6—or revalidate the deck against newer releases.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C1B8BB-6429-46DD-9EDA-721CB6D8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77ED9-A52C-462F-A046-6206F0FE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955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DOWNLOADS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27CA3F-F44C-4E1C-86C3-D2041D08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76525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Open both official download pages and confirm school filtering does not block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637C4-B310-4AFE-84E5-1E07DC44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3E64E-3D65-48C4-9483-5D95E187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PERMISSIONS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75D9F-74BA-4158-A9C8-08B616E5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909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Know which students can install software and the school-approved fallback for managed devices.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324F8-C398-4100-A0E7-3268741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244727-5DF4-4AD8-BE0A-C805FE82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24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5865C-1ACC-4F42-9CC6-8E6C24F7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105275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Make the FirstSketch code available as selectable text before class begins.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029B8-B24B-4C6C-9579-E7909245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FED79-189B-4EA2-8B6B-1F6BBCCE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38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E5FCC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E5FCC"/>
                </a:solidFill>
                <a:latin typeface="Arial"/>
                <a:ea typeface="Arial"/>
                <a:cs typeface="Arial"/>
              </a:rPr>
              <a:t>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4A620A-E1D5-4BD9-AF75-951F87E0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1965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Run the full install → Loaded → compile → run → edit acceptance test on a clean Windows account.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0FD9B-837A-4FED-9BB1-AA6DDB7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C76567-CA29-4940-8DFE-D0E160D1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53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A55A0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55A00"/>
                </a:solidFill>
                <a:latin typeface="Arial"/>
                <a:ea typeface="Arial"/>
                <a:cs typeface="Arial"/>
              </a:rPr>
              <a:t>macOS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913980-32BA-4CE1-9AAC-1815D97A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34025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Run the same acceptance test on both available Mac architectures; confirm the current core-JAR package path.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7F1540-E0DE-4E56-8601-7E81D496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43625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71579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2026-08-25T07:56:28.4320000Z</dcterms:created>
  <dcterms:modified xsi:type="dcterms:W3CDTF">2026-08-25T07:56:28.4320000Z</dcterms:modified>
</coreProperties>
</file>