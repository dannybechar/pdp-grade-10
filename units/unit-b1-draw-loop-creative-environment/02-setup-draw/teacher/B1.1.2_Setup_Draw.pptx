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c67a10504644d1" /><Relationship Type="http://schemas.openxmlformats.org/officeDocument/2006/relationships/extended-properties" Target="/docProps/app.xml" Id="R7fd7607e56b5443e" /><Relationship Type="http://schemas.openxmlformats.org/officeDocument/2006/relationships/officeDocument" Target="/ppt/presentation.xml" Id="Rcbd834a70a6c496f" /></Relationships>
</file>

<file path=ppt/presentation.xml><?xml version="1.0" encoding="utf-8"?>
<p:presentation xmlns:p="http://schemas.openxmlformats.org/presentationml/2006/main">
  <p:sldMasterIdLst>
    <p:sldMasterId xmlns:r="http://schemas.openxmlformats.org/officeDocument/2006/relationships" id="2147483648" r:id="R5021a69321ef43e7"/>
  </p:sldMasterIdLst>
  <p:notesMasterIdLst>
    <p:notesMasterId xmlns:r="http://schemas.openxmlformats.org/officeDocument/2006/relationships" r:id="Rf7d4c56afdf943b1"/>
  </p:notesMasterIdLst>
  <p:sldIdLst>
    <p:sldId xmlns:r="http://schemas.openxmlformats.org/officeDocument/2006/relationships" id="256" r:id="Rbd5e4da8eb614fc4"/>
    <p:sldId xmlns:r="http://schemas.openxmlformats.org/officeDocument/2006/relationships" id="257" r:id="R7d48462a50864182"/>
    <p:sldId xmlns:r="http://schemas.openxmlformats.org/officeDocument/2006/relationships" id="258" r:id="R2c57f63af5214f37"/>
    <p:sldId xmlns:r="http://schemas.openxmlformats.org/officeDocument/2006/relationships" id="259" r:id="Ree350b61f316474c"/>
    <p:sldId xmlns:r="http://schemas.openxmlformats.org/officeDocument/2006/relationships" id="260" r:id="R66518e2017ab4a77"/>
    <p:sldId xmlns:r="http://schemas.openxmlformats.org/officeDocument/2006/relationships" id="261" r:id="R665c3c509bee4c1e"/>
    <p:sldId xmlns:r="http://schemas.openxmlformats.org/officeDocument/2006/relationships" id="262" r:id="Ra8c7eabd89464371"/>
    <p:sldId xmlns:r="http://schemas.openxmlformats.org/officeDocument/2006/relationships" id="263" r:id="R4b9da56c421c42e5"/>
    <p:sldId xmlns:r="http://schemas.openxmlformats.org/officeDocument/2006/relationships" id="264" r:id="R9a4be5bd4f0d4cb4"/>
    <p:sldId xmlns:r="http://schemas.openxmlformats.org/officeDocument/2006/relationships" id="265" r:id="R9804fc97cb464f12"/>
    <p:sldId xmlns:r="http://schemas.openxmlformats.org/officeDocument/2006/relationships" id="266" r:id="R976801f224974e60"/>
    <p:sldId xmlns:r="http://schemas.openxmlformats.org/officeDocument/2006/relationships" id="267" r:id="Rd96ed4c10c6b40d5"/>
    <p:sldId xmlns:r="http://schemas.openxmlformats.org/officeDocument/2006/relationships" id="268" r:id="R79c7f28e49764609"/>
    <p:sldId xmlns:r="http://schemas.openxmlformats.org/officeDocument/2006/relationships" id="269" r:id="Rccb2fcdb910a48e9"/>
    <p:sldId xmlns:r="http://schemas.openxmlformats.org/officeDocument/2006/relationships" id="270" r:id="Rcdc7f4c9fd554eda"/>
    <p:sldId xmlns:r="http://schemas.openxmlformats.org/officeDocument/2006/relationships" id="271" r:id="Rfd5fef453abc4d3a"/>
    <p:sldId xmlns:r="http://schemas.openxmlformats.org/officeDocument/2006/relationships" id="272" r:id="R1663602499844ab2"/>
    <p:sldId xmlns:r="http://schemas.openxmlformats.org/officeDocument/2006/relationships" id="273" r:id="Rbb1765ad4dc94994"/>
    <p:sldId xmlns:r="http://schemas.openxmlformats.org/officeDocument/2006/relationships" id="274" r:id="Ra6ae5af6628c49f1"/>
  </p:sldIdLst>
  <p:sldSz cx="1219167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d56b1ec9a84e83" /><Relationship Type="http://schemas.openxmlformats.org/officeDocument/2006/relationships/slideMaster" Target="/ppt/slideMasters/slideMaster1.xml" Id="R5021a69321ef43e7" /><Relationship Type="http://schemas.openxmlformats.org/officeDocument/2006/relationships/notesMaster" Target="/ppt/notesMasters/notesMaster1.xml" Id="Rf7d4c56afdf943b1" /><Relationship Type="http://schemas.openxmlformats.org/officeDocument/2006/relationships/presProps" Target="/ppt/presProps.xml" Id="R0bd0a58bbd1c4a51" /><Relationship Type="http://schemas.openxmlformats.org/officeDocument/2006/relationships/tableStyles" Target="/ppt/tableStyles.xml" Id="Ra09e04ef14ae4e39" /><Relationship Type="http://schemas.openxmlformats.org/officeDocument/2006/relationships/slide" Target="/ppt/slides/slide1.xml" Id="Rbd5e4da8eb614fc4" /><Relationship Type="http://schemas.openxmlformats.org/officeDocument/2006/relationships/slide" Target="/ppt/slides/slide2.xml" Id="R7d48462a50864182" /><Relationship Type="http://schemas.openxmlformats.org/officeDocument/2006/relationships/slide" Target="/ppt/slides/slide3.xml" Id="R2c57f63af5214f37" /><Relationship Type="http://schemas.openxmlformats.org/officeDocument/2006/relationships/slide" Target="/ppt/slides/slide4.xml" Id="Ree350b61f316474c" /><Relationship Type="http://schemas.openxmlformats.org/officeDocument/2006/relationships/slide" Target="/ppt/slides/slide5.xml" Id="R66518e2017ab4a77" /><Relationship Type="http://schemas.openxmlformats.org/officeDocument/2006/relationships/slide" Target="/ppt/slides/slide6.xml" Id="R665c3c509bee4c1e" /><Relationship Type="http://schemas.openxmlformats.org/officeDocument/2006/relationships/slide" Target="/ppt/slides/slide7.xml" Id="Ra8c7eabd89464371" /><Relationship Type="http://schemas.openxmlformats.org/officeDocument/2006/relationships/slide" Target="/ppt/slides/slide8.xml" Id="R4b9da56c421c42e5" /><Relationship Type="http://schemas.openxmlformats.org/officeDocument/2006/relationships/slide" Target="/ppt/slides/slide9.xml" Id="R9a4be5bd4f0d4cb4" /><Relationship Type="http://schemas.openxmlformats.org/officeDocument/2006/relationships/slide" Target="/ppt/slides/slide10.xml" Id="R9804fc97cb464f12" /><Relationship Type="http://schemas.openxmlformats.org/officeDocument/2006/relationships/slide" Target="/ppt/slides/slide11.xml" Id="R976801f224974e60" /><Relationship Type="http://schemas.openxmlformats.org/officeDocument/2006/relationships/slide" Target="/ppt/slides/slide12.xml" Id="Rd96ed4c10c6b40d5" /><Relationship Type="http://schemas.openxmlformats.org/officeDocument/2006/relationships/slide" Target="/ppt/slides/slide13.xml" Id="R79c7f28e49764609" /><Relationship Type="http://schemas.openxmlformats.org/officeDocument/2006/relationships/slide" Target="/ppt/slides/slide14.xml" Id="Rccb2fcdb910a48e9" /><Relationship Type="http://schemas.openxmlformats.org/officeDocument/2006/relationships/slide" Target="/ppt/slides/slide15.xml" Id="Rcdc7f4c9fd554eda" /><Relationship Type="http://schemas.openxmlformats.org/officeDocument/2006/relationships/slide" Target="/ppt/slides/slide16.xml" Id="Rfd5fef453abc4d3a" /><Relationship Type="http://schemas.openxmlformats.org/officeDocument/2006/relationships/slide" Target="/ppt/slides/slide17.xml" Id="R1663602499844ab2" /><Relationship Type="http://schemas.openxmlformats.org/officeDocument/2006/relationships/slide" Target="/ppt/slides/slide18.xml" Id="Rbb1765ad4dc94994" /><Relationship Type="http://schemas.openxmlformats.org/officeDocument/2006/relationships/slide" Target="/ppt/slides/slide19.xml" Id="Ra6ae5af6628c49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2d093f53774c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b837b096b5417a" /><Relationship Type="http://schemas.openxmlformats.org/officeDocument/2006/relationships/notesMaster" Target="/ppt/notesMasters/notesMaster1.xml" Id="R9c6ea3c2a69344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95837e41aa4e4e" /><Relationship Type="http://schemas.openxmlformats.org/officeDocument/2006/relationships/notesMaster" Target="/ppt/notesMasters/notesMaster1.xml" Id="Rba27a1cf944947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1f9e7819504e4a" /><Relationship Type="http://schemas.openxmlformats.org/officeDocument/2006/relationships/notesMaster" Target="/ppt/notesMasters/notesMaster1.xml" Id="Rd9777a68818b4a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bd21c810124a2e" /><Relationship Type="http://schemas.openxmlformats.org/officeDocument/2006/relationships/notesMaster" Target="/ppt/notesMasters/notesMaster1.xml" Id="R9f28525890e14b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7121d17fce4751" /><Relationship Type="http://schemas.openxmlformats.org/officeDocument/2006/relationships/notesMaster" Target="/ppt/notesMasters/notesMaster1.xml" Id="R6785c017af964c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8c749894504774" /><Relationship Type="http://schemas.openxmlformats.org/officeDocument/2006/relationships/notesMaster" Target="/ppt/notesMasters/notesMaster1.xml" Id="Rb05a6f293e1247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cb87a8ae0e4503" /><Relationship Type="http://schemas.openxmlformats.org/officeDocument/2006/relationships/notesMaster" Target="/ppt/notesMasters/notesMaster1.xml" Id="R585a117aa9d441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71137c53b04c8e" /><Relationship Type="http://schemas.openxmlformats.org/officeDocument/2006/relationships/notesMaster" Target="/ppt/notesMasters/notesMaster1.xml" Id="Rc0632f8dd9b44d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8eace95b944dd1" /><Relationship Type="http://schemas.openxmlformats.org/officeDocument/2006/relationships/notesMaster" Target="/ppt/notesMasters/notesMaster1.xml" Id="R1f2ff6060e9e47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351bd454af4f52" /><Relationship Type="http://schemas.openxmlformats.org/officeDocument/2006/relationships/notesMaster" Target="/ppt/notesMasters/notesMaster1.xml" Id="R1c549adb381b42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071fc141204ea1" /><Relationship Type="http://schemas.openxmlformats.org/officeDocument/2006/relationships/notesMaster" Target="/ppt/notesMasters/notesMaster1.xml" Id="Rf1105dad95d54fa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337ad5d1354ddb" /><Relationship Type="http://schemas.openxmlformats.org/officeDocument/2006/relationships/notesMaster" Target="/ppt/notesMasters/notesMaster1.xml" Id="R42ebbd6ca0ed4a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71c75bdb9b14ddd" /><Relationship Type="http://schemas.openxmlformats.org/officeDocument/2006/relationships/notesMaster" Target="/ppt/notesMasters/notesMaster1.xml" Id="R95ce709a991d430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760eff6f2b4eeb" /><Relationship Type="http://schemas.openxmlformats.org/officeDocument/2006/relationships/notesMaster" Target="/ppt/notesMasters/notesMaster1.xml" Id="Rdd3c98ab93d2421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7a59fac1064f24" /><Relationship Type="http://schemas.openxmlformats.org/officeDocument/2006/relationships/notesMaster" Target="/ppt/notesMasters/notesMaster1.xml" Id="R5b3504b97902495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16fbd3334d4004" /><Relationship Type="http://schemas.openxmlformats.org/officeDocument/2006/relationships/notesMaster" Target="/ppt/notesMasters/notesMaster1.xml" Id="R239d8982f9f7475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487443086034c7d" /><Relationship Type="http://schemas.openxmlformats.org/officeDocument/2006/relationships/notesMaster" Target="/ppt/notesMasters/notesMaster1.xml" Id="R007ebdbf4c56432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a424b0b621d437e" /><Relationship Type="http://schemas.openxmlformats.org/officeDocument/2006/relationships/notesMaster" Target="/ppt/notesMasters/notesMaster1.xml" Id="R2d2396d9e7b245a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67af5aad24c4778" /><Relationship Type="http://schemas.openxmlformats.org/officeDocument/2006/relationships/notesMaster" Target="/ppt/notesMasters/notesMaster1.xml" Id="R1067d049550f41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1 minute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State the finish line: “Today you will build two versions of the same sketch. One leaves a trail; one shows a single follower. You will explain the difference by where one line of code runs.”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environment and Processing library should already be working from onboarding.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RETRIEVAL</a:t>
            </a:r>
            <a:endParaRPr/>
          </a:p>
          <a:p xmlns:a="http://schemas.openxmlformats.org/drawingml/2006/main">
            <a:pPr marL="0" lvl="0" indent="0" algn="l">
              <a:spcBef>
                <a:spcPts val="0"/>
              </a:spcBef>
              <a:spcAft>
                <a:spcPts val="0"/>
              </a:spcAft>
              <a:buNone/>
            </a:pPr>
            <a:r>
              <a:t>Ask students to identify settings(), setup(), and draw() in their B1.1.1 class. Ask what size(500, 300) controls and where the origin 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settings() contains size() in our BlueJ/PApplet projects. setup() runs once. draw() is the method that can repeat.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FRAME THE INVESTIGATION</a:t>
            </a:r>
            <a:endParaRPr/>
          </a:p>
          <a:p xmlns:a="http://schemas.openxmlformats.org/drawingml/2006/main">
            <a:pPr marL="0" lvl="0" indent="0" algn="l">
              <a:spcBef>
                <a:spcPts val="0"/>
              </a:spcBef>
              <a:spcAft>
                <a:spcPts val="0"/>
              </a:spcAft>
              <a:buNone/>
            </a:pPr>
            <a:r>
              <a:t>Read the success criteria aloud. Emphasize that the lesson is not about memorizing “which statement belongs where.” It is about choosing a method based on when the result must happen.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ASK</a:t>
            </a:r>
            <a:endParaRPr/>
          </a:p>
          <a:p xmlns:a="http://schemas.openxmlformats.org/drawingml/2006/main">
            <a:pPr marL="0" lvl="0" indent="0" algn="l">
              <a:spcBef>
                <a:spcPts val="0"/>
              </a:spcBef>
              <a:spcAft>
                <a:spcPts val="0"/>
              </a:spcAft>
              <a:buNone/>
            </a:pPr>
            <a:r>
              <a:t>“What evidence could prove that draw() is repeating?” Accept: repeated marks, changing output, or response to input.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4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 THIS TOGETHER</a:t>
            </a:r>
            <a:endParaRPr/>
          </a:p>
          <a:p xmlns:a="http://schemas.openxmlformats.org/drawingml/2006/main">
            <a:pPr marL="0" lvl="0" indent="0" algn="l">
              <a:spcBef>
                <a:spcPts val="0"/>
              </a:spcBef>
              <a:spcAft>
                <a:spcPts val="0"/>
              </a:spcAft>
              <a:buNone/>
            </a:pPr>
            <a:r>
              <a:t>Model each click and pause until students see one class tile named SetupDrawSketch. Use the shared course-workspace convention; do not require students to copy a teacher-specific personal path.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CHECK</a:t>
            </a:r>
            <a:endParaRPr/>
          </a:p>
          <a:p xmlns:a="http://schemas.openxmlformats.org/drawingml/2006/main">
            <a:pPr marL="0" lvl="0" indent="0" algn="l">
              <a:spcBef>
                <a:spcPts val="0"/>
              </a:spcBef>
              <a:spcAft>
                <a:spcPts val="0"/>
              </a:spcAft>
              <a:buNone/>
            </a:pPr>
            <a:r>
              <a:t>The class name and project folder must be spelled exactly as shown.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5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 THIS TOGETHER</a:t>
            </a:r>
            <a:endParaRPr/>
          </a:p>
          <a:p xmlns:a="http://schemas.openxmlformats.org/drawingml/2006/main">
            <a:pPr marL="0" lvl="0" indent="0" algn="l">
              <a:spcBef>
                <a:spcPts val="0"/>
              </a:spcBef>
              <a:spcAft>
                <a:spcPts val="0"/>
              </a:spcAft>
              <a:buNone/>
            </a:pPr>
            <a:r>
              <a:t>Paste the complete wrapper, compile, close the editor, right-click SetupDrawSketch, and run void main(String[] args). Accept the default argument.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A blank 500 × 350 sketch window opens. Close it before continuing.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LANGUAGE</a:t>
            </a:r>
            <a:endParaRPr/>
          </a:p>
          <a:p xmlns:a="http://schemas.openxmlformats.org/drawingml/2006/main">
            <a:pPr marL="0" lvl="0" indent="0" algn="l">
              <a:spcBef>
                <a:spcPts val="0"/>
              </a:spcBef>
              <a:spcAft>
                <a:spcPts val="0"/>
              </a:spcAft>
              <a:buNone/>
            </a:pPr>
            <a:r>
              <a:t>“The wrapper makes a Processing PApplet runnable as a normal Java class in BlueJ. Today we will edit only settings(), setup(), and draw().”</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TROUBLESHOOT</a:t>
            </a:r>
            <a:endParaRPr/>
          </a:p>
          <a:p xmlns:a="http://schemas.openxmlformats.org/drawingml/2006/main">
            <a:pPr marL="0" lvl="0" indent="0" algn="l">
              <a:spcBef>
                <a:spcPts val="0"/>
              </a:spcBef>
              <a:spcAft>
                <a:spcPts val="0"/>
              </a:spcAft>
              <a:buNone/>
            </a:pPr>
            <a:r>
              <a:t>If PApplet is unresolved, check BlueJ → Preferences → Libraries. core-4.5.6.jar must say Loaded; restart BlueJ after changing libraries.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Processing PApplet JavaDocs: https://processing.github.io/processing4-javadocs/processing/core/PApplet.html</a:t>
            </a:r>
            <a:endParaRPr/>
          </a:p>
          <a:p xmlns:a="http://schemas.openxmlformats.org/drawingml/2006/main">
            <a:pPr marL="0" lvl="0" indent="0" algn="l">
              <a:spcBef>
                <a:spcPts val="0"/>
              </a:spcBef>
              <a:spcAft>
                <a:spcPts val="0"/>
              </a:spcAft>
              <a:buNone/>
            </a:pPr>
            <a:r>
              <a:t>- Processing settings() reference: https://processing.org/reference/settings_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4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EXPLAIN</a:t>
            </a:r>
            <a:endParaRPr/>
          </a:p>
          <a:p xmlns:a="http://schemas.openxmlformats.org/drawingml/2006/main">
            <a:pPr marL="0" lvl="0" indent="0" algn="l">
              <a:spcBef>
                <a:spcPts val="0"/>
              </a:spcBef>
              <a:spcAft>
                <a:spcPts val="0"/>
              </a:spcAft>
              <a:buNone/>
            </a:pPr>
            <a:r>
              <a:t>settings() runs before setup() and configures the drawing surface in this BlueJ/PApplet course structure. setup() runs once after settings(). draw() is called repeatedly by default after setup().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CHECK FOR UNDERSTANDING</a:t>
            </a:r>
            <a:endParaRPr/>
          </a:p>
          <a:p xmlns:a="http://schemas.openxmlformats.org/drawingml/2006/main">
            <a:pPr marL="0" lvl="0" indent="0" algn="l">
              <a:spcBef>
                <a:spcPts val="0"/>
              </a:spcBef>
              <a:spcAft>
                <a:spcPts val="0"/>
              </a:spcAft>
              <a:buNone/>
            </a:pPr>
            <a:r>
              <a:t>Say a purpose and ask students to point to the method: “choose window size,” “set a color once,” “respond to a changing mouse position.”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CAUTION</a:t>
            </a:r>
            <a:endParaRPr/>
          </a:p>
          <a:p xmlns:a="http://schemas.openxmlformats.org/drawingml/2006/main">
            <a:pPr marL="0" lvl="0" indent="0" algn="l">
              <a:spcBef>
                <a:spcPts val="0"/>
              </a:spcBef>
              <a:spcAft>
                <a:spcPts val="0"/>
              </a:spcAft>
              <a:buNone/>
            </a:pPr>
            <a:r>
              <a:t>Do not present a universal “one statement, one method” rule. background() and shape calls may be valid in setup() or draw() depending on the intended behavior.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Processing settings() reference: https://processing.org/reference/settings_</a:t>
            </a:r>
            <a:endParaRPr/>
          </a:p>
          <a:p xmlns:a="http://schemas.openxmlformats.org/drawingml/2006/main">
            <a:pPr marL="0" lvl="0" indent="0" algn="l">
              <a:spcBef>
                <a:spcPts val="0"/>
              </a:spcBef>
              <a:spcAft>
                <a:spcPts val="0"/>
              </a:spcAft>
              <a:buNone/>
            </a:pPr>
            <a:r>
              <a:t>- Processing setup() reference: https://processing.org/reference/setup_</a:t>
            </a:r>
            <a:endParaRPr/>
          </a:p>
          <a:p xmlns:a="http://schemas.openxmlformats.org/drawingml/2006/main">
            <a:pPr marL="0" lvl="0" indent="0" algn="l">
              <a:spcBef>
                <a:spcPts val="0"/>
              </a:spcBef>
              <a:spcAft>
                <a:spcPts val="0"/>
              </a:spcAft>
              <a:buNone/>
            </a:pPr>
            <a:r>
              <a:t>- Processing draw() reference: https://processing.org/reference/draw_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4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BUILD CHECKPOINT 1</a:t>
            </a:r>
            <a:endParaRPr/>
          </a:p>
          <a:p xmlns:a="http://schemas.openxmlformats.org/drawingml/2006/main">
            <a:pPr marL="0" lvl="0" indent="0" algn="l">
              <a:spcBef>
                <a:spcPts val="0"/>
              </a:spcBef>
              <a:spcAft>
                <a:spcPts val="0"/>
              </a:spcAft>
              <a:buNone/>
            </a:pPr>
            <a:r>
              <a:t>Students replace only setup() and draw() with the shown code. Require Compile → Run → Observe.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One orange circle appears at the center of a 500 × 350 light-gray canvas. draw() is empty, but the pixels drawn during setup() remain visible.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ASK</a:t>
            </a:r>
            <a:endParaRPr/>
          </a:p>
          <a:p xmlns:a="http://schemas.openxmlformats.org/drawingml/2006/main">
            <a:pPr marL="0" lvl="0" indent="0" algn="l">
              <a:spcBef>
                <a:spcPts val="0"/>
              </a:spcBef>
              <a:spcAft>
                <a:spcPts val="0"/>
              </a:spcAft>
              <a:buNone/>
            </a:pPr>
            <a:r>
              <a:t>“Did setup() need to repeat for the circle to stay visible?” Expected: no; nothing cleared or covered the pixels.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Processing setup() reference: https://processing.org/reference/setup_</a:t>
            </a:r>
            <a:endParaRPr/>
          </a:p>
          <a:p xmlns:a="http://schemas.openxmlformats.org/drawingml/2006/main">
            <a:pPr marL="0" lvl="0" indent="0" algn="l">
              <a:spcBef>
                <a:spcPts val="0"/>
              </a:spcBef>
              <a:spcAft>
                <a:spcPts val="0"/>
              </a:spcAft>
              <a:buNone/>
            </a:pPr>
            <a:r>
              <a:t>- Processing background() reference: https://processing.org/reference/background_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PREDICT FIRST</a:t>
            </a:r>
            <a:endParaRPr/>
          </a:p>
          <a:p xmlns:a="http://schemas.openxmlformats.org/drawingml/2006/main">
            <a:pPr marL="0" lvl="0" indent="0" algn="l">
              <a:spcBef>
                <a:spcPts val="0"/>
              </a:spcBef>
              <a:spcAft>
                <a:spcPts val="0"/>
              </a:spcAft>
              <a:buNone/>
            </a:pPr>
            <a:r>
              <a:t>Keep BlueJ closed. Students move ellipse() into draw(), change its center to mouseX and mouseY, and predict the result on paper or verbally with a partner.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 REASONING</a:t>
            </a:r>
            <a:endParaRPr/>
          </a:p>
          <a:p xmlns:a="http://schemas.openxmlformats.org/drawingml/2006/main">
            <a:pPr marL="0" lvl="0" indent="0" algn="l">
              <a:spcBef>
                <a:spcPts val="0"/>
              </a:spcBef>
              <a:spcAft>
                <a:spcPts val="0"/>
              </a:spcAft>
              <a:buNone/>
            </a:pPr>
            <a:r>
              <a:t>draw() repeats and reads the current pointer position. Because background() remains in setup(), nothing clears earlier circles.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 not reveal “trail” until students have committed to a prediction.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Processing draw() reference: https://processing.org/reference/draw_</a:t>
            </a:r>
            <a:endParaRPr/>
          </a:p>
          <a:p xmlns:a="http://schemas.openxmlformats.org/drawingml/2006/main">
            <a:pPr marL="0" lvl="0" indent="0" algn="l">
              <a:spcBef>
                <a:spcPts val="0"/>
              </a:spcBef>
              <a:spcAft>
                <a:spcPts val="0"/>
              </a:spcAft>
              <a:buNone/>
            </a:pPr>
            <a:r>
              <a:t>- Processing PApplet JavaDocs (mouseX and mouseY fields): https://processing.github.io/processing4-javadocs/processing/core/PApplet.html</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5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BUILD CHECKPOINT 2</a:t>
            </a:r>
            <a:endParaRPr/>
          </a:p>
          <a:p xmlns:a="http://schemas.openxmlformats.org/drawingml/2006/main">
            <a:pPr marL="0" lvl="0" indent="0" algn="l">
              <a:spcBef>
                <a:spcPts val="0"/>
              </a:spcBef>
              <a:spcAft>
                <a:spcPts val="0"/>
              </a:spcAft>
              <a:buNone/>
            </a:pPr>
            <a:r>
              <a:t>Students compile, run, and move the pointer slowly inside the sketch window.</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Overlapping orange circles accumulate into a trail. Ask students to point to the repeating method and to the one-time background line.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TROUBLESHOOT</a:t>
            </a:r>
            <a:endParaRPr/>
          </a:p>
          <a:p xmlns:a="http://schemas.openxmlformats.org/drawingml/2006/main">
            <a:pPr marL="0" lvl="0" indent="0" algn="l">
              <a:spcBef>
                <a:spcPts val="0"/>
              </a:spcBef>
              <a:spcAft>
                <a:spcPts val="0"/>
              </a:spcAft>
              <a:buNone/>
            </a:pPr>
            <a:r>
              <a:t>If no marks appear, move the pointer inside the sketch window. If only one circle appears, check whether background() was moved into draw() too early.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Processing draw() reference: https://processing.org/reference/draw_</a:t>
            </a:r>
            <a:endParaRPr/>
          </a:p>
          <a:p xmlns:a="http://schemas.openxmlformats.org/drawingml/2006/main">
            <a:pPr marL="0" lvl="0" indent="0" algn="l">
              <a:spcBef>
                <a:spcPts val="0"/>
              </a:spcBef>
              <a:spcAft>
                <a:spcPts val="0"/>
              </a:spcAft>
              <a:buNone/>
            </a:pPr>
            <a:r>
              <a:t>- Processing background() reference: https://processing.org/reference/background_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CONNECT CODE TO FRAMES</a:t>
            </a:r>
            <a:endParaRPr/>
          </a:p>
          <a:p xmlns:a="http://schemas.openxmlformats.org/drawingml/2006/main">
            <a:pPr marL="0" lvl="0" indent="0" algn="l">
              <a:spcBef>
                <a:spcPts val="0"/>
              </a:spcBef>
              <a:spcAft>
                <a:spcPts val="0"/>
              </a:spcAft>
              <a:buNone/>
            </a:pPr>
            <a:r>
              <a:t>Trace four imagined calls to draw(). On each call, the pointer position may differ and another circle is painted. Earlier pixels remain because background() has not run again.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IMPORTANT LANGUAGE</a:t>
            </a:r>
            <a:endParaRPr/>
          </a:p>
          <a:p xmlns:a="http://schemas.openxmlformats.org/drawingml/2006/main">
            <a:pPr marL="0" lvl="0" indent="0" algn="l">
              <a:spcBef>
                <a:spcPts val="0"/>
              </a:spcBef>
              <a:spcAft>
                <a:spcPts val="0"/>
              </a:spcAft>
              <a:buNone/>
            </a:pPr>
            <a:r>
              <a:t>Repeated execution makes change possible; it does not guarantee visible animation by itself. Here, the changing input coordinates and accumulating pixels create the visible evidence.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Processing draw() reference: https://processing.org/reference/draw_</a:t>
            </a:r>
            <a:endParaRPr/>
          </a:p>
          <a:p xmlns:a="http://schemas.openxmlformats.org/drawingml/2006/main">
            <a:pPr marL="0" lvl="0" indent="0" algn="l">
              <a:spcBef>
                <a:spcPts val="0"/>
              </a:spcBef>
              <a:spcAft>
                <a:spcPts val="0"/>
              </a:spcAft>
              <a:buNone/>
            </a:pPr>
            <a:r>
              <a:t>- Processing background() reference: https://processing.org/reference/background_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5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BUILD CHECKPOINT 3</a:t>
            </a:r>
            <a:endParaRPr/>
          </a:p>
          <a:p xmlns:a="http://schemas.openxmlformats.org/drawingml/2006/main">
            <a:pPr marL="0" lvl="0" indent="0" algn="l">
              <a:spcBef>
                <a:spcPts val="0"/>
              </a:spcBef>
              <a:spcAft>
                <a:spcPts val="0"/>
              </a:spcAft>
              <a:buNone/>
            </a:pPr>
            <a:r>
              <a:t>Students cut background(220); from setup() and paste it as the first statement in draw(). Compile and run again.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One circle follows the pointer. Every frame first covers the previous image with the background, then draws the current circle.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ASK</a:t>
            </a:r>
            <a:endParaRPr/>
          </a:p>
          <a:p xmlns:a="http://schemas.openxmlformats.org/drawingml/2006/main">
            <a:pPr marL="0" lvl="0" indent="0" algn="l">
              <a:spcBef>
                <a:spcPts val="0"/>
              </a:spcBef>
              <a:spcAft>
                <a:spcPts val="0"/>
              </a:spcAft>
              <a:buNone/>
            </a:pPr>
            <a:r>
              <a:t>“Why must background() come before ellipse()?” Expected: reversing the order would immediately cover the new circle.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Processing background() reference: https://processing.org/reference/background_</a:t>
            </a:r>
            <a:endParaRPr/>
          </a:p>
          <a:p xmlns:a="http://schemas.openxmlformats.org/drawingml/2006/main">
            <a:pPr marL="0" lvl="0" indent="0" algn="l">
              <a:spcBef>
                <a:spcPts val="0"/>
              </a:spcBef>
              <a:spcAft>
                <a:spcPts val="0"/>
              </a:spcAft>
              <a:buNone/>
            </a:pPr>
            <a:r>
              <a:t>- Processing draw() reference: https://processing.org/reference/draw_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COMPARE</a:t>
            </a:r>
            <a:endParaRPr/>
          </a:p>
          <a:p xmlns:a="http://schemas.openxmlformats.org/drawingml/2006/main">
            <a:pPr marL="0" lvl="0" indent="0" algn="l">
              <a:spcBef>
                <a:spcPts val="0"/>
              </a:spcBef>
              <a:spcAft>
                <a:spcPts val="0"/>
              </a:spcAft>
              <a:buNone/>
            </a:pPr>
            <a:r>
              <a:t>Ask for one student explanation of each version. Require the words once or every frame.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Setup version: background clears once; circles accumulate. Draw version: background clears every frame; only the newest circle remains.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Processing background() reference: https://processing.org/reference/background_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FORMATIVE SORT</a:t>
            </a:r>
            <a:endParaRPr/>
          </a:p>
          <a:p xmlns:a="http://schemas.openxmlformats.org/drawingml/2006/main">
            <a:pPr marL="0" lvl="0" indent="0" algn="l">
              <a:spcBef>
                <a:spcPts val="0"/>
              </a:spcBef>
              <a:spcAft>
                <a:spcPts val="0"/>
              </a:spcAft>
              <a:buNone/>
            </a:pPr>
            <a:r>
              <a:t>Students discuss without running code. The slide intentionally does not display the answer key.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ANSWER KEY</a:t>
            </a:r>
            <a:endParaRPr/>
          </a:p>
          <a:p xmlns:a="http://schemas.openxmlformats.org/drawingml/2006/main">
            <a:pPr marL="0" lvl="0" indent="0" algn="l">
              <a:spcBef>
                <a:spcPts val="0"/>
              </a:spcBef>
              <a:spcAft>
                <a:spcPts val="0"/>
              </a:spcAft>
              <a:buNone/>
            </a:pPr>
            <a:r>
              <a:t>- size(500, 350): settings() in this BlueJ/PApplet project.</a:t>
            </a:r>
            <a:endParaRPr/>
          </a:p>
          <a:p xmlns:a="http://schemas.openxmlformats.org/drawingml/2006/main">
            <a:pPr marL="0" lvl="0" indent="0" algn="l">
              <a:spcBef>
                <a:spcPts val="0"/>
              </a:spcBef>
              <a:spcAft>
                <a:spcPts val="0"/>
              </a:spcAft>
              <a:buNone/>
            </a:pPr>
            <a:r>
              <a:t>- noStroke() and fill(): normally setup() because the style is set once here; they could be changed later if a changing style were intended.</a:t>
            </a:r>
            <a:endParaRPr/>
          </a:p>
          <a:p xmlns:a="http://schemas.openxmlformats.org/drawingml/2006/main">
            <a:pPr marL="0" lvl="0" indent="0" algn="l">
              <a:spcBef>
                <a:spcPts val="0"/>
              </a:spcBef>
              <a:spcAft>
                <a:spcPts val="0"/>
              </a:spcAft>
              <a:buNone/>
            </a:pPr>
            <a:r>
              <a:t>- background(220): setup() for a trail; draw() for a clean follower.</a:t>
            </a:r>
            <a:endParaRPr/>
          </a:p>
          <a:p xmlns:a="http://schemas.openxmlformats.org/drawingml/2006/main">
            <a:pPr marL="0" lvl="0" indent="0" algn="l">
              <a:spcBef>
                <a:spcPts val="0"/>
              </a:spcBef>
              <a:spcAft>
                <a:spcPts val="0"/>
              </a:spcAft>
              <a:buNone/>
            </a:pPr>
            <a:r>
              <a:t>- ellipse(mouseX, mouseY, 40, 40): draw() because it must use changing pointer coordinates while the sketch runs.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Processing settings() reference: https://processing.org/reference/settings_</a:t>
            </a:r>
            <a:endParaRPr/>
          </a:p>
          <a:p xmlns:a="http://schemas.openxmlformats.org/drawingml/2006/main">
            <a:pPr marL="0" lvl="0" indent="0" algn="l">
              <a:spcBef>
                <a:spcPts val="0"/>
              </a:spcBef>
              <a:spcAft>
                <a:spcPts val="0"/>
              </a:spcAft>
              <a:buNone/>
            </a:pPr>
            <a:r>
              <a:t>- Processing draw() reference: https://processing.org/reference/draw_</a:t>
            </a:r>
            <a:endParaRPr/>
          </a:p>
          <a:p xmlns:a="http://schemas.openxmlformats.org/drawingml/2006/main">
            <a:pPr marL="0" lvl="0" indent="0" algn="l">
              <a:spcBef>
                <a:spcPts val="0"/>
              </a:spcBef>
              <a:spcAft>
                <a:spcPts val="0"/>
              </a:spcAft>
              <a:buNone/>
            </a:pPr>
            <a:r>
              <a:t>- Processing background() reference: https://processing.org/reference/background_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1 minute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RECAP</a:t>
            </a:r>
            <a:endParaRPr/>
          </a:p>
          <a:p xmlns:a="http://schemas.openxmlformats.org/drawingml/2006/main">
            <a:pPr marL="0" lvl="0" indent="0" algn="l">
              <a:spcBef>
                <a:spcPts val="0"/>
              </a:spcBef>
              <a:spcAft>
                <a:spcPts val="0"/>
              </a:spcAft>
              <a:buNone/>
            </a:pPr>
            <a:r>
              <a:t>Cold-call three students: one job for settings(), one for setup(), and one for draw(). End with the key idea: method choice depends on when the behavior must happen.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1 minute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EXIT TICKET</a:t>
            </a:r>
            <a:endParaRPr/>
          </a:p>
          <a:p xmlns:a="http://schemas.openxmlformats.org/drawingml/2006/main">
            <a:pPr marL="0" lvl="0" indent="0" algn="l">
              <a:spcBef>
                <a:spcPts val="0"/>
              </a:spcBef>
              <a:spcAft>
                <a:spcPts val="0"/>
              </a:spcAft>
              <a:buNone/>
            </a:pPr>
            <a:r>
              <a:t>Spot-check the running clean-follower version and collect the explanation.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 ANSWERS</a:t>
            </a:r>
            <a:endParaRPr/>
          </a:p>
          <a:p xmlns:a="http://schemas.openxmlformats.org/drawingml/2006/main">
            <a:pPr marL="0" lvl="0" indent="0" algn="l">
              <a:spcBef>
                <a:spcPts val="0"/>
              </a:spcBef>
              <a:spcAft>
                <a:spcPts val="0"/>
              </a:spcAft>
              <a:buNone/>
            </a:pPr>
            <a:r>
              <a:t>settings() configures the canvas in this course structure. setup() runs once after settings(). The trail version did not clear old pixels every frame. The clean version repainted the background before drawing the new circle.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Slides 1–15 total exactly 45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APPENDIX — NO PLANNED CLASS TIME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only to recover a damaged trail version or to compare after the student has completed the checkpoint.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VERIFICATION</a:t>
            </a:r>
            <a:endParaRPr/>
          </a:p>
          <a:p xmlns:a="http://schemas.openxmlformats.org/drawingml/2006/main">
            <a:pPr marL="0" lvl="0" indent="0" algn="l">
              <a:spcBef>
                <a:spcPts val="0"/>
              </a:spcBef>
              <a:spcAft>
                <a:spcPts val="0"/>
              </a:spcAft>
              <a:buNone/>
            </a:pPr>
            <a:r>
              <a:t>This exact source compiled successfully against Processing 4.5.6 using the BlueJ JDK in the verified Windows environment.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Processing PApplet JavaDocs: https://processing.github.io/processing4-javadocs/processing/core/PApplet.html</a:t>
            </a:r>
            <a:endParaRPr/>
          </a:p>
          <a:p xmlns:a="http://schemas.openxmlformats.org/drawingml/2006/main">
            <a:pPr marL="0" lvl="0" indent="0" algn="l">
              <a:spcBef>
                <a:spcPts val="0"/>
              </a:spcBef>
              <a:spcAft>
                <a:spcPts val="0"/>
              </a:spcAft>
              <a:buNone/>
            </a:pPr>
            <a:r>
              <a:t>- Processing draw() reference: https://processing.org/reference/draw_</a:t>
            </a:r>
            <a:endParaRPr/>
          </a:p>
          <a:p xmlns:a="http://schemas.openxmlformats.org/drawingml/2006/main">
            <a:pPr marL="0" lvl="0" indent="0" algn="l">
              <a:spcBef>
                <a:spcPts val="0"/>
              </a:spcBef>
              <a:spcAft>
                <a:spcPts val="0"/>
              </a:spcAft>
              <a:buNone/>
            </a:pPr>
            <a:r>
              <a:t>- Processing background() reference: https://processing.org/reference/background_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APPENDIX — NO PLANNED CLASS TIME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only to recover a damaged clean-follower version or to compare after the student has completed the checkpoint.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VERIFICATION</a:t>
            </a:r>
            <a:endParaRPr/>
          </a:p>
          <a:p xmlns:a="http://schemas.openxmlformats.org/drawingml/2006/main">
            <a:pPr marL="0" lvl="0" indent="0" algn="l">
              <a:spcBef>
                <a:spcPts val="0"/>
              </a:spcBef>
              <a:spcAft>
                <a:spcPts val="0"/>
              </a:spcAft>
              <a:buNone/>
            </a:pPr>
            <a:r>
              <a:t>This exact source compiled successfully against Processing 4.5.6 using the BlueJ JDK in the verified Windows environment.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Processing PApplet JavaDocs: https://processing.github.io/processing4-javadocs/processing/core/PApplet.html</a:t>
            </a:r>
            <a:endParaRPr/>
          </a:p>
          <a:p xmlns:a="http://schemas.openxmlformats.org/drawingml/2006/main">
            <a:pPr marL="0" lvl="0" indent="0" algn="l">
              <a:spcBef>
                <a:spcPts val="0"/>
              </a:spcBef>
              <a:spcAft>
                <a:spcPts val="0"/>
              </a:spcAft>
              <a:buNone/>
            </a:pPr>
            <a:r>
              <a:t>- Processing draw() reference: https://processing.org/reference/draw_</a:t>
            </a:r>
            <a:endParaRPr/>
          </a:p>
          <a:p xmlns:a="http://schemas.openxmlformats.org/drawingml/2006/main">
            <a:pPr marL="0" lvl="0" indent="0" algn="l">
              <a:spcBef>
                <a:spcPts val="0"/>
              </a:spcBef>
              <a:spcAft>
                <a:spcPts val="0"/>
              </a:spcAft>
              <a:buNone/>
            </a:pPr>
            <a:r>
              <a:t>- Processing background() reference: https://processing.org/reference/background_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APPENDIX — OPTIONAL TEACHER DEMONSTRATION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Open and run the complete MovingCircleDemo BlueJ project supplied with the lesson package. The visible snippet is the part to discuss.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PURPOSE</a:t>
            </a:r>
            <a:endParaRPr/>
          </a:p>
          <a:p xmlns:a="http://schemas.openxmlformats.org/drawingml/2006/main">
            <a:pPr marL="0" lvl="0" indent="0" algn="l">
              <a:spcBef>
                <a:spcPts val="0"/>
              </a:spcBef>
              <a:spcAft>
                <a:spcPts val="0"/>
              </a:spcAft>
              <a:buNone/>
            </a:pPr>
            <a:r>
              <a:t>Show that repeated execution plus a changing value can create motion. Do not teach velocity, wrapping, or edge behavior here; those belong later in B1.3.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VERIFICATION</a:t>
            </a:r>
            <a:endParaRPr/>
          </a:p>
          <a:p xmlns:a="http://schemas.openxmlformats.org/drawingml/2006/main">
            <a:pPr marL="0" lvl="0" indent="0" algn="l">
              <a:spcBef>
                <a:spcPts val="0"/>
              </a:spcBef>
              <a:spcAft>
                <a:spcPts val="0"/>
              </a:spcAft>
              <a:buNone/>
            </a:pPr>
            <a:r>
              <a:t>The complete MovingCircleDemo source compiled successfully against Processing 4.5.6 using the BlueJ JDK.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Processing draw() reference: https://processing.org/reference/draw_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APPENDIX — NO PLANNED CLASS TIME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the checklist from top to bottom. Fix one issue, compile again, and only then continue.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verified classroom environment used BlueJ 6.0.0 and Processing 4.5.6. If the library shows Not Loaded, re-add the correct Processing core JAR if needed and restart BlueJ.</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c211c5694f4e88"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43b66c48ee4702" /><Relationship Type="http://schemas.openxmlformats.org/officeDocument/2006/relationships/slideLayout" Target="/ppt/slideLayouts/slideLayout1.xml" Id="Reb20772328f146f3"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b20772328f146f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72cfba343c48ae" /><Relationship Type="http://schemas.openxmlformats.org/officeDocument/2006/relationships/notesSlide" Target="/ppt/notesSlides/notesSlide1.xml" Id="Re4d9fd55d0b447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9efaf22feb432b" /><Relationship Type="http://schemas.openxmlformats.org/officeDocument/2006/relationships/notesSlide" Target="/ppt/notesSlides/notesSlide2.xml" Id="Rc5d4ea5b018647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6158b070d8437b" /><Relationship Type="http://schemas.openxmlformats.org/officeDocument/2006/relationships/notesSlide" Target="/ppt/notesSlides/notesSlide3.xml" Id="Ra9f19a1516724f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a9c5e77f4d4c53" /><Relationship Type="http://schemas.openxmlformats.org/officeDocument/2006/relationships/notesSlide" Target="/ppt/notesSlides/notesSlide4.xml" Id="R4d073a7cc6874b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586f755a3b453d" /><Relationship Type="http://schemas.openxmlformats.org/officeDocument/2006/relationships/notesSlide" Target="/ppt/notesSlides/notesSlide5.xml" Id="Rf5283cb23a024e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f556be295554327" /><Relationship Type="http://schemas.openxmlformats.org/officeDocument/2006/relationships/notesSlide" Target="/ppt/notesSlides/notesSlide6.xml" Id="R556591089ed24a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6f1e7b582f34afd" /><Relationship Type="http://schemas.openxmlformats.org/officeDocument/2006/relationships/notesSlide" Target="/ppt/notesSlides/notesSlide7.xml" Id="Rf17231626b6943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80acd47a6654c32" /><Relationship Type="http://schemas.openxmlformats.org/officeDocument/2006/relationships/notesSlide" Target="/ppt/notesSlides/notesSlide8.xml" Id="Rbe7376a6e6454e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ae75f44908a461d" /><Relationship Type="http://schemas.openxmlformats.org/officeDocument/2006/relationships/notesSlide" Target="/ppt/notesSlides/notesSlide9.xml" Id="Rd0d79f56fe494b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95b6328cc6c4ae7" /><Relationship Type="http://schemas.openxmlformats.org/officeDocument/2006/relationships/notesSlide" Target="/ppt/notesSlides/notesSlide10.xml" Id="Rea56de4ad1db435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f3165fb915e48f6" /><Relationship Type="http://schemas.openxmlformats.org/officeDocument/2006/relationships/notesSlide" Target="/ppt/notesSlides/notesSlide11.xml" Id="Rf4653705e28142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94b5f0ef2eb4032" /><Relationship Type="http://schemas.openxmlformats.org/officeDocument/2006/relationships/notesSlide" Target="/ppt/notesSlides/notesSlide12.xml" Id="Re0438607c41c4bb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19978d928794bc6" /><Relationship Type="http://schemas.openxmlformats.org/officeDocument/2006/relationships/notesSlide" Target="/ppt/notesSlides/notesSlide13.xml" Id="R610f3921e72543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36ddbcf443b4df9" /><Relationship Type="http://schemas.openxmlformats.org/officeDocument/2006/relationships/notesSlide" Target="/ppt/notesSlides/notesSlide14.xml" Id="Rd9596cfee275412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32b1cbf51354bc2" /><Relationship Type="http://schemas.openxmlformats.org/officeDocument/2006/relationships/notesSlide" Target="/ppt/notesSlides/notesSlide15.xml" Id="Re6b8b47c8a454d8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b7008304f414234" /><Relationship Type="http://schemas.openxmlformats.org/officeDocument/2006/relationships/notesSlide" Target="/ppt/notesSlides/notesSlide16.xml" Id="Rd344887dc0224fc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7d65dcf39b94ab2" /><Relationship Type="http://schemas.openxmlformats.org/officeDocument/2006/relationships/notesSlide" Target="/ppt/notesSlides/notesSlide17.xml" Id="R41ccd0d34de94ad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466165e19e54335" /><Relationship Type="http://schemas.openxmlformats.org/officeDocument/2006/relationships/notesSlide" Target="/ppt/notesSlides/notesSlide18.xml" Id="Rd2bf0a50f38c4d4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0c8a2020e624591" /><Relationship Type="http://schemas.openxmlformats.org/officeDocument/2006/relationships/notesSlide" Target="/ppt/notesSlides/notesSlide19.xml" Id="Rdb3f14348a564053" /></Relationships>
</file>

<file path=ppt/slides/slide1.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ADDC46F1-6544-473E-A3AF-910241ABE72D}"/>
              </a:ext>
            </a:extLst>
          </p:cNvPr>
          <p:cNvSpPr>
            <a:spLocks xmlns:a="http://schemas.openxmlformats.org/drawingml/2006/main" noGrp="1"/>
          </p:cNvSpPr>
          <p:nvPr/>
        </p:nvSpPr>
        <p:spPr>
          <a:xfrm xmlns:a="http://schemas.openxmlformats.org/drawingml/2006/main">
            <a:off x="822960" y="2331720"/>
            <a:ext cx="105156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pPr>
            <a:r>
              <a:rPr sz="1400" b="1" i="0" u="none" cap="none">
                <a:solidFill>
                  <a:srgbClr val="E8A33D"/>
                </a:solidFill>
                <a:latin typeface="Calibri"/>
                <a:ea typeface="Calibri"/>
                <a:cs typeface="Calibri"/>
              </a:rPr>
              <a:t>PDP COMPUTER SCIENCE · B1 THE DRAW LOOP &amp; CREATIVE ENVIRONMENT</a:t>
            </a:r>
            <a:endParaRPr sz="1400" b="0" i="0" u="none" cap="none">
              <a:solidFill>
                <a:schemeClr val="dk1"/>
              </a:solidFill>
              <a:latin typeface="Calibri"/>
              <a:ea typeface="Calibri"/>
              <a:cs typeface="Calibri"/>
            </a:endParaRPr>
          </a:p>
        </p:txBody>
      </p:sp>
      <p:sp>
        <p:nvSpPr>
          <p:cNvPr id="17" name="Google Shape;17;p3">
            <a:extLst xmlns:a="http://schemas.openxmlformats.org/drawingml/2006/main">
              <a:ext uri="{FF2B5EF4-FFF2-40B4-BE49-F238E27FC236}">
                <a16:creationId xmlns:a16="http://schemas.microsoft.com/office/drawing/2014/main" id="{86DE0B51-F1B1-4A49-BF06-F2F521572D5F}"/>
              </a:ext>
            </a:extLst>
          </p:cNvPr>
          <p:cNvSpPr>
            <a:spLocks xmlns:a="http://schemas.openxmlformats.org/drawingml/2006/main" noGrp="1"/>
          </p:cNvSpPr>
          <p:nvPr/>
        </p:nvSpPr>
        <p:spPr>
          <a:xfrm xmlns:a="http://schemas.openxmlformats.org/drawingml/2006/main">
            <a:off x="822960" y="2743200"/>
            <a:ext cx="105156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4000"/>
              <a:buFont typeface="Cambria"/>
              <a:buNone/>
            </a:pPr>
            <a:r>
              <a:rPr sz="4000" b="1" i="0" u="none" cap="none">
                <a:solidFill>
                  <a:srgbClr val="FFFFFF"/>
                </a:solidFill>
                <a:latin typeface="Cambria"/>
                <a:ea typeface="Cambria"/>
                <a:cs typeface="Cambria"/>
              </a:rPr>
              <a:t>B1.1 (Part 2 of 2) — Setup vs. Continuous Draw</a:t>
            </a:r>
            <a:endParaRPr sz="4000" b="0" i="0" u="none" cap="none">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4D1EE02D-7F02-4781-A6CE-71C188375F85}"/>
              </a:ext>
            </a:extLst>
          </p:cNvPr>
          <p:cNvSpPr>
            <a:spLocks xmlns:a="http://schemas.openxmlformats.org/drawingml/2006/main" noGrp="1"/>
          </p:cNvSpPr>
          <p:nvPr/>
        </p:nvSpPr>
        <p:spPr>
          <a:xfrm xmlns:a="http://schemas.openxmlformats.org/drawingml/2006/main">
            <a:off x="822960" y="3977640"/>
            <a:ext cx="987552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CADCFC"/>
              </a:buClr>
              <a:buSzPts val="1800"/>
              <a:buFont typeface="Calibri"/>
              <a:buNone/>
            </a:pPr>
            <a:r>
              <a:rPr sz="1800" b="0" i="1" u="none" cap="none">
                <a:solidFill>
                  <a:srgbClr val="CADCFC"/>
                </a:solidFill>
                <a:latin typeface="Calibri"/>
                <a:ea typeface="Calibri"/>
                <a:cs typeface="Calibri"/>
              </a:rPr>
              <a:t>Knowing which code runs once, and which code runs again and again</a:t>
            </a:r>
            <a:endParaRPr sz="1800" b="0" i="0" u="none" cap="none">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44D21C2E-9E64-4B77-AE25-6ED62478A9C7}"/>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FB79508B-F92C-4E1B-B220-2EBF0C9A424B}"/>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3056242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FCFCCA84-8E9E-45BC-8EBC-BDEDE0341497}"/>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pPr>
            <a:r>
              <a:rPr sz="2900" b="1" i="0" u="none" cap="none">
                <a:solidFill>
                  <a:srgbClr val="1E2761"/>
                </a:solidFill>
                <a:latin typeface="Cambria"/>
                <a:ea typeface="Cambria"/>
                <a:cs typeface="Cambria"/>
              </a:rPr>
              <a:t>Quick Recap</a:t>
            </a:r>
            <a:endParaRPr sz="2900" b="0" i="0" u="none" cap="none">
              <a:solidFill>
                <a:schemeClr val="dk1"/>
              </a:solidFill>
              <a:latin typeface="Calibri"/>
              <a:ea typeface="Calibri"/>
              <a:cs typeface="Calibri"/>
            </a:endParaRPr>
          </a:p>
        </p:txBody>
      </p:sp>
      <p:sp>
        <p:nvSpPr>
          <p:cNvPr id="27" name="Google Shape;27;p4">
            <a:extLst xmlns:a="http://schemas.openxmlformats.org/drawingml/2006/main">
              <a:ext uri="{FF2B5EF4-FFF2-40B4-BE49-F238E27FC236}">
                <a16:creationId xmlns:a16="http://schemas.microsoft.com/office/drawing/2014/main" id="{0BB60E49-70C5-410A-92AE-63BB02FA66B6}"/>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1" u="none" cap="none">
                <a:solidFill>
                  <a:srgbClr val="3B4A78"/>
                </a:solidFill>
                <a:latin typeface="Calibri"/>
                <a:ea typeface="Calibri"/>
                <a:cs typeface="Calibri"/>
              </a:rPr>
              <a:t>From Part 1: canvas and coordinates</a:t>
            </a:r>
            <a:endParaRPr sz="1500" b="0" i="0" u="none" cap="none">
              <a:solidFill>
                <a:schemeClr val="dk1"/>
              </a:solidFill>
              <a:latin typeface="Calibri"/>
              <a:ea typeface="Calibri"/>
              <a:cs typeface="Calibri"/>
            </a:endParaRPr>
          </a:p>
        </p:txBody>
      </p:sp>
      <p:sp>
        <p:nvSpPr>
          <p:cNvPr id="28" name="Google Shape;28;p4">
            <a:extLst xmlns:a="http://schemas.openxmlformats.org/drawingml/2006/main">
              <a:ext uri="{FF2B5EF4-FFF2-40B4-BE49-F238E27FC236}">
                <a16:creationId xmlns:a16="http://schemas.microsoft.com/office/drawing/2014/main" id="{39B51EB8-75A6-4231-8A11-3E81AA9FB906}"/>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29" name="Google Shape;29;p4">
            <a:extLst xmlns:a="http://schemas.openxmlformats.org/drawingml/2006/main">
              <a:ext uri="{FF2B5EF4-FFF2-40B4-BE49-F238E27FC236}">
                <a16:creationId xmlns:a16="http://schemas.microsoft.com/office/drawing/2014/main" id="{228B6CC2-CDD5-4887-B94D-DBEF43A68078}"/>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30" name="Google Shape;30;p4">
            <a:extLst xmlns:a="http://schemas.openxmlformats.org/drawingml/2006/main">
              <a:ext uri="{FF2B5EF4-FFF2-40B4-BE49-F238E27FC236}">
                <a16:creationId xmlns:a16="http://schemas.microsoft.com/office/drawing/2014/main" id="{DBD24E06-3AC1-4B7A-A16F-A007DFED52EA}"/>
              </a:ext>
            </a:extLst>
          </p:cNvPr>
          <p:cNvSpPr>
            <a:spLocks xmlns:a="http://schemas.openxmlformats.org/drawingml/2006/main" noGrp="1"/>
          </p:cNvSpPr>
          <p:nvPr/>
        </p:nvSpPr>
        <p:spPr>
          <a:xfrm xmlns:a="http://schemas.openxmlformats.org/drawingml/2006/main">
            <a:off x="548640" y="1371600"/>
            <a:ext cx="5577840" cy="4480560"/>
          </a:xfrm>
          <a:prstGeom xmlns:a="http://schemas.openxmlformats.org/drawingml/2006/main" prst="roundRect">
            <a:avLst>
              <a:gd name="adj" fmla="val 1633"/>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4">
            <a:extLst xmlns:a="http://schemas.openxmlformats.org/drawingml/2006/main">
              <a:ext uri="{FF2B5EF4-FFF2-40B4-BE49-F238E27FC236}">
                <a16:creationId xmlns:a16="http://schemas.microsoft.com/office/drawing/2014/main" id="{A5ED01E6-5F4B-47DA-BE63-1E7E52F5F26A}"/>
              </a:ext>
            </a:extLst>
          </p:cNvPr>
          <p:cNvSpPr>
            <a:spLocks xmlns:a="http://schemas.openxmlformats.org/drawingml/2006/main" noGrp="1"/>
          </p:cNvSpPr>
          <p:nvPr/>
        </p:nvSpPr>
        <p:spPr>
          <a:xfrm xmlns:a="http://schemas.openxmlformats.org/drawingml/2006/main">
            <a:off x="777240" y="1536192"/>
            <a:ext cx="5120640" cy="415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228600" marR="0" lvl="0" indent="-228600" algn="l">
              <a:spcBef>
                <a:spcPts val="0"/>
              </a:spcBef>
              <a:spcAft>
                <a:spcPts val="0"/>
              </a:spcAft>
              <a:buClr>
                <a:srgbClr val="1E2761"/>
              </a:buClr>
              <a:buSzPts val="1400"/>
              <a:buFont typeface="Calibri"/>
              <a:buChar char="•"/>
            </a:pPr>
            <a:r>
              <a:rPr sz="1400" b="0" i="0" u="none" cap="none">
                <a:solidFill>
                  <a:srgbClr val="1E2761"/>
                </a:solidFill>
                <a:latin typeface="Calibri"/>
                <a:ea typeface="Calibri"/>
                <a:cs typeface="Calibri"/>
              </a:rPr>
              <a:t>settings() sizes the canvas with size(width, height)</a:t>
            </a:r>
            <a:endParaRPr sz="1400" b="0" i="0" u="none" cap="none">
              <a:solidFill>
                <a:schemeClr val="dk1"/>
              </a:solidFill>
              <a:latin typeface="Calibri"/>
              <a:ea typeface="Calibri"/>
              <a:cs typeface="Calibri"/>
            </a:endParaRPr>
          </a:p>
          <a:p xmlns:a="http://schemas.openxmlformats.org/drawingml/2006/main">
            <a:pPr marL="228600" marR="0" lvl="0" indent="-228600" algn="l">
              <a:spcBef>
                <a:spcPts val="600"/>
              </a:spcBef>
              <a:spcAft>
                <a:spcPts val="0"/>
              </a:spcAft>
              <a:buClr>
                <a:srgbClr val="1E2761"/>
              </a:buClr>
              <a:buSzPts val="1400"/>
              <a:buFont typeface="Calibri"/>
              <a:buChar char="•"/>
            </a:pPr>
            <a:r>
              <a:rPr sz="1400" b="0" i="0" u="none" cap="none">
                <a:solidFill>
                  <a:srgbClr val="1E2761"/>
                </a:solidFill>
                <a:latin typeface="Calibri"/>
                <a:ea typeface="Calibri"/>
                <a:cs typeface="Calibri"/>
              </a:rPr>
              <a:t>The origin (0, 0) is the top-left corner</a:t>
            </a:r>
            <a:endParaRPr sz="1400" b="0" i="0" u="none" cap="none">
              <a:solidFill>
                <a:schemeClr val="dk1"/>
              </a:solidFill>
              <a:latin typeface="Calibri"/>
              <a:ea typeface="Calibri"/>
              <a:cs typeface="Calibri"/>
            </a:endParaRPr>
          </a:p>
          <a:p xmlns:a="http://schemas.openxmlformats.org/drawingml/2006/main">
            <a:pPr marL="228600" marR="0" lvl="0" indent="-228600" algn="l">
              <a:spcBef>
                <a:spcPts val="600"/>
              </a:spcBef>
              <a:spcAft>
                <a:spcPts val="0"/>
              </a:spcAft>
              <a:buClr>
                <a:srgbClr val="1E2761"/>
              </a:buClr>
              <a:buSzPts val="1400"/>
              <a:buFont typeface="Calibri"/>
              <a:buChar char="•"/>
            </a:pPr>
            <a:r>
              <a:rPr sz="1400" b="0" i="0" u="none" cap="none">
                <a:solidFill>
                  <a:srgbClr val="1E2761"/>
                </a:solidFill>
                <a:latin typeface="Calibri"/>
                <a:ea typeface="Calibri"/>
                <a:cs typeface="Calibri"/>
              </a:rPr>
              <a:t>x increases rightward, y increases downward</a:t>
            </a:r>
            <a:endParaRPr sz="1400" b="0" i="0" u="none" cap="none">
              <a:solidFill>
                <a:schemeClr val="dk1"/>
              </a:solidFill>
              <a:latin typeface="Calibri"/>
              <a:ea typeface="Calibri"/>
              <a:cs typeface="Calibri"/>
            </a:endParaRPr>
          </a:p>
          <a:p xmlns:a="http://schemas.openxmlformats.org/drawingml/2006/main">
            <a:pPr marL="228600" marR="0" lvl="0" indent="-228600" algn="l">
              <a:spcBef>
                <a:spcPts val="600"/>
              </a:spcBef>
              <a:spcAft>
                <a:spcPts val="0"/>
              </a:spcAft>
              <a:buClr>
                <a:srgbClr val="1E2761"/>
              </a:buClr>
              <a:buSzPts val="1400"/>
              <a:buFont typeface="Calibri"/>
              <a:buChar char="•"/>
            </a:pPr>
            <a:r>
              <a:rPr sz="1400" b="0" i="0" u="none" cap="none">
                <a:solidFill>
                  <a:srgbClr val="1E2761"/>
                </a:solidFill>
                <a:latin typeface="Calibri"/>
                <a:ea typeface="Calibri"/>
                <a:cs typeface="Calibri"/>
              </a:rPr>
              <a:t>ellipse(x, y, w, h) places a shape by its CENTER, by default</a:t>
            </a:r>
            <a:endParaRPr sz="1400" b="0" i="0" u="none" cap="none">
              <a:solidFill>
                <a:schemeClr val="dk1"/>
              </a:solidFill>
              <a:latin typeface="Calibri"/>
              <a:ea typeface="Calibri"/>
              <a:cs typeface="Calibri"/>
            </a:endParaRPr>
          </a:p>
        </p:txBody>
      </p:sp>
      <p:sp>
        <p:nvSpPr>
          <p:cNvPr id="32" name="Google Shape;32;p4">
            <a:extLst xmlns:a="http://schemas.openxmlformats.org/drawingml/2006/main">
              <a:ext uri="{FF2B5EF4-FFF2-40B4-BE49-F238E27FC236}">
                <a16:creationId xmlns:a16="http://schemas.microsoft.com/office/drawing/2014/main" id="{E71A3D64-1120-4A4C-8B79-88E6FB988AC1}"/>
              </a:ext>
            </a:extLst>
          </p:cNvPr>
          <p:cNvSpPr>
            <a:spLocks xmlns:a="http://schemas.openxmlformats.org/drawingml/2006/main" noGrp="1"/>
          </p:cNvSpPr>
          <p:nvPr/>
        </p:nvSpPr>
        <p:spPr>
          <a:xfrm xmlns:a="http://schemas.openxmlformats.org/drawingml/2006/main">
            <a:off x="6309360" y="1371600"/>
            <a:ext cx="5349240" cy="4480560"/>
          </a:xfrm>
          <a:prstGeom xmlns:a="http://schemas.openxmlformats.org/drawingml/2006/main" prst="roundRect">
            <a:avLst>
              <a:gd name="adj" fmla="val 2041"/>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 name="Google Shape;33;p4">
            <a:extLst xmlns:a="http://schemas.openxmlformats.org/drawingml/2006/main">
              <a:ext uri="{FF2B5EF4-FFF2-40B4-BE49-F238E27FC236}">
                <a16:creationId xmlns:a16="http://schemas.microsoft.com/office/drawing/2014/main" id="{24834F78-81E2-41F7-90DC-7DD5E9010323}"/>
              </a:ext>
            </a:extLst>
          </p:cNvPr>
          <p:cNvSpPr>
            <a:spLocks xmlns:a="http://schemas.openxmlformats.org/drawingml/2006/main" noGrp="1"/>
          </p:cNvSpPr>
          <p:nvPr/>
        </p:nvSpPr>
        <p:spPr>
          <a:xfrm xmlns:a="http://schemas.openxmlformats.org/drawingml/2006/main">
            <a:off x="6565392" y="157276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pPr>
            <a:r>
              <a:rPr sz="1400" b="1" i="0" u="none" cap="none">
                <a:solidFill>
                  <a:srgbClr val="E8A33D"/>
                </a:solidFill>
                <a:latin typeface="Calibri"/>
                <a:ea typeface="Calibri"/>
                <a:cs typeface="Calibri"/>
              </a:rPr>
              <a:t>Today's focus</a:t>
            </a:r>
            <a:endParaRPr sz="1400" b="0" i="0" u="none" cap="none">
              <a:solidFill>
                <a:schemeClr val="dk1"/>
              </a:solidFill>
              <a:latin typeface="Calibri"/>
              <a:ea typeface="Calibri"/>
              <a:cs typeface="Calibri"/>
            </a:endParaRPr>
          </a:p>
        </p:txBody>
      </p:sp>
      <p:sp>
        <p:nvSpPr>
          <p:cNvPr id="34" name="Google Shape;34;p4">
            <a:extLst xmlns:a="http://schemas.openxmlformats.org/drawingml/2006/main">
              <a:ext uri="{FF2B5EF4-FFF2-40B4-BE49-F238E27FC236}">
                <a16:creationId xmlns:a16="http://schemas.microsoft.com/office/drawing/2014/main" id="{169CC915-2433-4007-932C-A411E47470A8}"/>
              </a:ext>
            </a:extLst>
          </p:cNvPr>
          <p:cNvSpPr>
            <a:spLocks xmlns:a="http://schemas.openxmlformats.org/drawingml/2006/main" noGrp="1"/>
          </p:cNvSpPr>
          <p:nvPr/>
        </p:nvSpPr>
        <p:spPr>
          <a:xfrm xmlns:a="http://schemas.openxmlformats.org/drawingml/2006/main">
            <a:off x="6565392" y="1938528"/>
            <a:ext cx="4837176" cy="3749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Everything you built in Part 1 sits still. Today you'll learn how to decide which code belongs in settings(), setup(), or draw() — based on when it needs to run, not a fixed rule per statement — and see draw() actually do something for the first time.</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5700395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FCFCCA84-8E9E-45BC-8EBC-BDEDE0341497}"/>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Today: Make Repetition Visible</a:t>
            </a:r>
            <a:endParaRPr sz="2900" b="0" i="0" u="none" cap="none">
              <a:solidFill>
                <a:schemeClr val="dk1"/>
              </a:solidFill>
              <a:latin typeface="Calibri"/>
              <a:ea typeface="Calibri"/>
              <a:cs typeface="Calibri"/>
            </a:endParaRPr>
          </a:p>
        </p:txBody>
      </p:sp>
      <p:sp>
        <p:nvSpPr>
          <p:cNvPr id="27" name="Google Shape;27;p4">
            <a:extLst xmlns:a="http://schemas.openxmlformats.org/drawingml/2006/main">
              <a:ext uri="{FF2B5EF4-FFF2-40B4-BE49-F238E27FC236}">
                <a16:creationId xmlns:a16="http://schemas.microsoft.com/office/drawing/2014/main" id="{0BB60E49-70C5-410A-92AE-63BB02FA66B6}"/>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Use one sketch to prove what runs once and what runs every frame</a:t>
            </a:r>
            <a:endParaRPr sz="1500" b="0" i="0" u="none" cap="none">
              <a:solidFill>
                <a:schemeClr val="dk1"/>
              </a:solidFill>
              <a:latin typeface="Calibri"/>
              <a:ea typeface="Calibri"/>
              <a:cs typeface="Calibri"/>
            </a:endParaRPr>
          </a:p>
        </p:txBody>
      </p:sp>
      <p:sp>
        <p:nvSpPr>
          <p:cNvPr id="28" name="Google Shape;28;p4">
            <a:extLst xmlns:a="http://schemas.openxmlformats.org/drawingml/2006/main">
              <a:ext uri="{FF2B5EF4-FFF2-40B4-BE49-F238E27FC236}">
                <a16:creationId xmlns:a16="http://schemas.microsoft.com/office/drawing/2014/main" id="{39B51EB8-75A6-4231-8A11-3E81AA9FB906}"/>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29" name="Google Shape;29;p4">
            <a:extLst xmlns:a="http://schemas.openxmlformats.org/drawingml/2006/main">
              <a:ext uri="{FF2B5EF4-FFF2-40B4-BE49-F238E27FC236}">
                <a16:creationId xmlns:a16="http://schemas.microsoft.com/office/drawing/2014/main" id="{228B6CC2-CDD5-4887-B94D-DBEF43A68078}"/>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30" name="Google Shape;30;p4">
            <a:extLst xmlns:a="http://schemas.openxmlformats.org/drawingml/2006/main">
              <a:ext uri="{FF2B5EF4-FFF2-40B4-BE49-F238E27FC236}">
                <a16:creationId xmlns:a16="http://schemas.microsoft.com/office/drawing/2014/main" id="{DBD24E06-3AC1-4B7A-A16F-A007DFED52EA}"/>
              </a:ext>
            </a:extLst>
          </p:cNvPr>
          <p:cNvSpPr>
            <a:spLocks xmlns:a="http://schemas.openxmlformats.org/drawingml/2006/main" noGrp="1"/>
          </p:cNvSpPr>
          <p:nvPr/>
        </p:nvSpPr>
        <p:spPr>
          <a:xfrm xmlns:a="http://schemas.openxmlformats.org/drawingml/2006/main">
            <a:off x="548640" y="1371600"/>
            <a:ext cx="5577840" cy="4480560"/>
          </a:xfrm>
          <a:prstGeom xmlns:a="http://schemas.openxmlformats.org/drawingml/2006/main" prst="roundRect">
            <a:avLst>
              <a:gd name="adj" fmla="val 1633"/>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4">
            <a:extLst xmlns:a="http://schemas.openxmlformats.org/drawingml/2006/main">
              <a:ext uri="{FF2B5EF4-FFF2-40B4-BE49-F238E27FC236}">
                <a16:creationId xmlns:a16="http://schemas.microsoft.com/office/drawing/2014/main" id="{A5ED01E6-5F4B-47DA-BE63-1E7E52F5F26A}"/>
              </a:ext>
            </a:extLst>
          </p:cNvPr>
          <p:cNvSpPr>
            <a:spLocks xmlns:a="http://schemas.openxmlformats.org/drawingml/2006/main" noGrp="1"/>
          </p:cNvSpPr>
          <p:nvPr/>
        </p:nvSpPr>
        <p:spPr>
          <a:xfrm xmlns:a="http://schemas.openxmlformats.org/drawingml/2006/main">
            <a:off x="777240" y="1536192"/>
            <a:ext cx="5120640" cy="415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By the end, you can:</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explain the jobs of settings(), setup(), and draw()</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place code according to WHEN it must run</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build a trail, then turn it into one clean follower</a:t>
            </a:r>
          </a:p>
        </p:txBody>
      </p:sp>
      <p:sp>
        <p:nvSpPr>
          <p:cNvPr id="32" name="Google Shape;32;p4">
            <a:extLst xmlns:a="http://schemas.openxmlformats.org/drawingml/2006/main">
              <a:ext uri="{FF2B5EF4-FFF2-40B4-BE49-F238E27FC236}">
                <a16:creationId xmlns:a16="http://schemas.microsoft.com/office/drawing/2014/main" id="{E71A3D64-1120-4A4C-8B79-88E6FB988AC1}"/>
              </a:ext>
            </a:extLst>
          </p:cNvPr>
          <p:cNvSpPr>
            <a:spLocks xmlns:a="http://schemas.openxmlformats.org/drawingml/2006/main" noGrp="1"/>
          </p:cNvSpPr>
          <p:nvPr/>
        </p:nvSpPr>
        <p:spPr>
          <a:xfrm xmlns:a="http://schemas.openxmlformats.org/drawingml/2006/main">
            <a:off x="6309360" y="1371600"/>
            <a:ext cx="5349240" cy="4480560"/>
          </a:xfrm>
          <a:prstGeom xmlns:a="http://schemas.openxmlformats.org/drawingml/2006/main" prst="roundRect">
            <a:avLst>
              <a:gd name="adj" fmla="val 2041"/>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 name="Google Shape;33;p4">
            <a:extLst xmlns:a="http://schemas.openxmlformats.org/drawingml/2006/main">
              <a:ext uri="{FF2B5EF4-FFF2-40B4-BE49-F238E27FC236}">
                <a16:creationId xmlns:a16="http://schemas.microsoft.com/office/drawing/2014/main" id="{24834F78-81E2-41F7-90DC-7DD5E9010323}"/>
              </a:ext>
            </a:extLst>
          </p:cNvPr>
          <p:cNvSpPr>
            <a:spLocks xmlns:a="http://schemas.openxmlformats.org/drawingml/2006/main" noGrp="1"/>
          </p:cNvSpPr>
          <p:nvPr/>
        </p:nvSpPr>
        <p:spPr>
          <a:xfrm xmlns:a="http://schemas.openxmlformats.org/drawingml/2006/main">
            <a:off x="6565392" y="157276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What counts as success</a:t>
            </a:r>
            <a:endParaRPr sz="1400" b="0" i="0" u="none" cap="none">
              <a:solidFill>
                <a:schemeClr val="dk1"/>
              </a:solidFill>
              <a:latin typeface="Calibri"/>
              <a:ea typeface="Calibri"/>
              <a:cs typeface="Calibri"/>
            </a:endParaRPr>
          </a:p>
        </p:txBody>
      </p:sp>
      <p:sp>
        <p:nvSpPr>
          <p:cNvPr id="34" name="Google Shape;34;p4">
            <a:extLst xmlns:a="http://schemas.openxmlformats.org/drawingml/2006/main">
              <a:ext uri="{FF2B5EF4-FFF2-40B4-BE49-F238E27FC236}">
                <a16:creationId xmlns:a16="http://schemas.microsoft.com/office/drawing/2014/main" id="{169CC915-2433-4007-932C-A411E47470A8}"/>
              </a:ext>
            </a:extLst>
          </p:cNvPr>
          <p:cNvSpPr>
            <a:spLocks xmlns:a="http://schemas.openxmlformats.org/drawingml/2006/main" noGrp="1"/>
          </p:cNvSpPr>
          <p:nvPr/>
        </p:nvSpPr>
        <p:spPr>
          <a:xfrm xmlns:a="http://schemas.openxmlformats.org/drawingml/2006/main">
            <a:off x="6565392" y="1938528"/>
            <a:ext cx="4837176" cy="3749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Your program compiles and runs in BlueJ.</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You can point to the one line that changes a trail into a clean follower.</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You can explain why moving that line changes the result.</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5700395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FCFCCA84-8E9E-45BC-8EBC-BDEDE0341497}"/>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Start in BlueJ</a:t>
            </a:r>
            <a:endParaRPr sz="2900" b="0" i="0" u="none" cap="none">
              <a:solidFill>
                <a:schemeClr val="dk1"/>
              </a:solidFill>
              <a:latin typeface="Calibri"/>
              <a:ea typeface="Calibri"/>
              <a:cs typeface="Calibri"/>
            </a:endParaRPr>
          </a:p>
        </p:txBody>
      </p:sp>
      <p:sp>
        <p:nvSpPr>
          <p:cNvPr id="27" name="Google Shape;27;p4">
            <a:extLst xmlns:a="http://schemas.openxmlformats.org/drawingml/2006/main">
              <a:ext uri="{FF2B5EF4-FFF2-40B4-BE49-F238E27FC236}">
                <a16:creationId xmlns:a16="http://schemas.microsoft.com/office/drawing/2014/main" id="{0BB60E49-70C5-410A-92AE-63BB02FA66B6}"/>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Create one project and one class for today's three checkpoints</a:t>
            </a:r>
            <a:endParaRPr sz="1500" b="0" i="0" u="none" cap="none">
              <a:solidFill>
                <a:schemeClr val="dk1"/>
              </a:solidFill>
              <a:latin typeface="Calibri"/>
              <a:ea typeface="Calibri"/>
              <a:cs typeface="Calibri"/>
            </a:endParaRPr>
          </a:p>
        </p:txBody>
      </p:sp>
      <p:sp>
        <p:nvSpPr>
          <p:cNvPr id="28" name="Google Shape;28;p4">
            <a:extLst xmlns:a="http://schemas.openxmlformats.org/drawingml/2006/main">
              <a:ext uri="{FF2B5EF4-FFF2-40B4-BE49-F238E27FC236}">
                <a16:creationId xmlns:a16="http://schemas.microsoft.com/office/drawing/2014/main" id="{39B51EB8-75A6-4231-8A11-3E81AA9FB906}"/>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29" name="Google Shape;29;p4">
            <a:extLst xmlns:a="http://schemas.openxmlformats.org/drawingml/2006/main">
              <a:ext uri="{FF2B5EF4-FFF2-40B4-BE49-F238E27FC236}">
                <a16:creationId xmlns:a16="http://schemas.microsoft.com/office/drawing/2014/main" id="{228B6CC2-CDD5-4887-B94D-DBEF43A68078}"/>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30" name="Google Shape;30;p4">
            <a:extLst xmlns:a="http://schemas.openxmlformats.org/drawingml/2006/main">
              <a:ext uri="{FF2B5EF4-FFF2-40B4-BE49-F238E27FC236}">
                <a16:creationId xmlns:a16="http://schemas.microsoft.com/office/drawing/2014/main" id="{DBD24E06-3AC1-4B7A-A16F-A007DFED52EA}"/>
              </a:ext>
            </a:extLst>
          </p:cNvPr>
          <p:cNvSpPr>
            <a:spLocks xmlns:a="http://schemas.openxmlformats.org/drawingml/2006/main" noGrp="1"/>
          </p:cNvSpPr>
          <p:nvPr/>
        </p:nvSpPr>
        <p:spPr>
          <a:xfrm xmlns:a="http://schemas.openxmlformats.org/drawingml/2006/main">
            <a:off x="548640" y="1371600"/>
            <a:ext cx="5577840" cy="4480560"/>
          </a:xfrm>
          <a:prstGeom xmlns:a="http://schemas.openxmlformats.org/drawingml/2006/main" prst="roundRect">
            <a:avLst>
              <a:gd name="adj" fmla="val 1633"/>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4">
            <a:extLst xmlns:a="http://schemas.openxmlformats.org/drawingml/2006/main">
              <a:ext uri="{FF2B5EF4-FFF2-40B4-BE49-F238E27FC236}">
                <a16:creationId xmlns:a16="http://schemas.microsoft.com/office/drawing/2014/main" id="{A5ED01E6-5F4B-47DA-BE63-1E7E52F5F26A}"/>
              </a:ext>
            </a:extLst>
          </p:cNvPr>
          <p:cNvSpPr>
            <a:spLocks xmlns:a="http://schemas.openxmlformats.org/drawingml/2006/main" noGrp="1"/>
          </p:cNvSpPr>
          <p:nvPr/>
        </p:nvSpPr>
        <p:spPr>
          <a:xfrm xmlns:a="http://schemas.openxmlformats.org/drawingml/2006/main">
            <a:off x="777240" y="1536192"/>
            <a:ext cx="5120640" cy="415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1  Project → New Project</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2  Name: B1_1_2_Setup_Draw</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3  Save it in your course workspace</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4  Click OK</a:t>
            </a:r>
          </a:p>
        </p:txBody>
      </p:sp>
      <p:sp>
        <p:nvSpPr>
          <p:cNvPr id="32" name="Google Shape;32;p4">
            <a:extLst xmlns:a="http://schemas.openxmlformats.org/drawingml/2006/main">
              <a:ext uri="{FF2B5EF4-FFF2-40B4-BE49-F238E27FC236}">
                <a16:creationId xmlns:a16="http://schemas.microsoft.com/office/drawing/2014/main" id="{E71A3D64-1120-4A4C-8B79-88E6FB988AC1}"/>
              </a:ext>
            </a:extLst>
          </p:cNvPr>
          <p:cNvSpPr>
            <a:spLocks xmlns:a="http://schemas.openxmlformats.org/drawingml/2006/main" noGrp="1"/>
          </p:cNvSpPr>
          <p:nvPr/>
        </p:nvSpPr>
        <p:spPr>
          <a:xfrm xmlns:a="http://schemas.openxmlformats.org/drawingml/2006/main">
            <a:off x="6309360" y="1371600"/>
            <a:ext cx="5349240" cy="4480560"/>
          </a:xfrm>
          <a:prstGeom xmlns:a="http://schemas.openxmlformats.org/drawingml/2006/main" prst="roundRect">
            <a:avLst>
              <a:gd name="adj" fmla="val 2041"/>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 name="Google Shape;33;p4">
            <a:extLst xmlns:a="http://schemas.openxmlformats.org/drawingml/2006/main">
              <a:ext uri="{FF2B5EF4-FFF2-40B4-BE49-F238E27FC236}">
                <a16:creationId xmlns:a16="http://schemas.microsoft.com/office/drawing/2014/main" id="{24834F78-81E2-41F7-90DC-7DD5E9010323}"/>
              </a:ext>
            </a:extLst>
          </p:cNvPr>
          <p:cNvSpPr>
            <a:spLocks xmlns:a="http://schemas.openxmlformats.org/drawingml/2006/main" noGrp="1"/>
          </p:cNvSpPr>
          <p:nvPr/>
        </p:nvSpPr>
        <p:spPr>
          <a:xfrm xmlns:a="http://schemas.openxmlformats.org/drawingml/2006/main">
            <a:off x="6565392" y="157276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Create the class</a:t>
            </a:r>
            <a:endParaRPr sz="1400" b="0" i="0" u="none" cap="none">
              <a:solidFill>
                <a:schemeClr val="dk1"/>
              </a:solidFill>
              <a:latin typeface="Calibri"/>
              <a:ea typeface="Calibri"/>
              <a:cs typeface="Calibri"/>
            </a:endParaRPr>
          </a:p>
        </p:txBody>
      </p:sp>
      <p:sp>
        <p:nvSpPr>
          <p:cNvPr id="34" name="Google Shape;34;p4">
            <a:extLst xmlns:a="http://schemas.openxmlformats.org/drawingml/2006/main">
              <a:ext uri="{FF2B5EF4-FFF2-40B4-BE49-F238E27FC236}">
                <a16:creationId xmlns:a16="http://schemas.microsoft.com/office/drawing/2014/main" id="{169CC915-2433-4007-932C-A411E47470A8}"/>
              </a:ext>
            </a:extLst>
          </p:cNvPr>
          <p:cNvSpPr>
            <a:spLocks xmlns:a="http://schemas.openxmlformats.org/drawingml/2006/main" noGrp="1"/>
          </p:cNvSpPr>
          <p:nvPr/>
        </p:nvSpPr>
        <p:spPr>
          <a:xfrm xmlns:a="http://schemas.openxmlformats.org/drawingml/2006/main">
            <a:off x="6565392" y="1938528"/>
            <a:ext cx="4837176" cy="3749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1  Click New Class…</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2  Name: SetupDrawSketch</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3  Leave Class selected; click OK</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4  Open the editor and replace the template</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5700395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7" name="Google Shape;97;p8">
            <a:extLst xmlns:a="http://schemas.openxmlformats.org/drawingml/2006/main">
              <a:ext uri="{FF2B5EF4-FFF2-40B4-BE49-F238E27FC236}">
                <a16:creationId xmlns:a16="http://schemas.microsoft.com/office/drawing/2014/main" id="{FCA42E42-7AB2-412D-89D3-F024AAF68E3D}"/>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Paste the Runnable Shell</a:t>
            </a:r>
            <a:endParaRPr sz="2900" b="0" i="0" u="none" cap="none">
              <a:solidFill>
                <a:schemeClr val="dk1"/>
              </a:solidFill>
              <a:latin typeface="Calibri"/>
              <a:ea typeface="Calibri"/>
              <a:cs typeface="Calibri"/>
            </a:endParaRPr>
          </a:p>
        </p:txBody>
      </p:sp>
      <p:sp>
        <p:nvSpPr>
          <p:cNvPr id="98" name="Google Shape;98;p8">
            <a:extLst xmlns:a="http://schemas.openxmlformats.org/drawingml/2006/main">
              <a:ext uri="{FF2B5EF4-FFF2-40B4-BE49-F238E27FC236}">
                <a16:creationId xmlns:a16="http://schemas.microsoft.com/office/drawing/2014/main" id="{33E0E731-06B7-449B-AA4D-A121319BF2AA}"/>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Compile and run the class before adding drawing behavior</a:t>
            </a:r>
            <a:endParaRPr sz="1500" b="0" i="0" u="none" cap="none">
              <a:solidFill>
                <a:schemeClr val="dk1"/>
              </a:solidFill>
              <a:latin typeface="Calibri"/>
              <a:ea typeface="Calibri"/>
              <a:cs typeface="Calibri"/>
            </a:endParaRPr>
          </a:p>
        </p:txBody>
      </p:sp>
      <p:sp>
        <p:nvSpPr>
          <p:cNvPr id="99" name="Google Shape;99;p8">
            <a:extLst xmlns:a="http://schemas.openxmlformats.org/drawingml/2006/main">
              <a:ext uri="{FF2B5EF4-FFF2-40B4-BE49-F238E27FC236}">
                <a16:creationId xmlns:a16="http://schemas.microsoft.com/office/drawing/2014/main" id="{527D28A2-E688-40FF-8B58-BD30F35ED13B}"/>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100" name="Google Shape;100;p8">
            <a:extLst xmlns:a="http://schemas.openxmlformats.org/drawingml/2006/main">
              <a:ext uri="{FF2B5EF4-FFF2-40B4-BE49-F238E27FC236}">
                <a16:creationId xmlns:a16="http://schemas.microsoft.com/office/drawing/2014/main" id="{97FAD421-2639-49CB-A29F-8B3214EF973C}"/>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101" name="Google Shape;101;p8">
            <a:extLst xmlns:a="http://schemas.openxmlformats.org/drawingml/2006/main">
              <a:ext uri="{FF2B5EF4-FFF2-40B4-BE49-F238E27FC236}">
                <a16:creationId xmlns:a16="http://schemas.microsoft.com/office/drawing/2014/main" id="{6546CB29-8A34-4C04-BEB2-EB961C8D598D}"/>
              </a:ext>
            </a:extLst>
          </p:cNvPr>
          <p:cNvSpPr>
            <a:spLocks xmlns:a="http://schemas.openxmlformats.org/drawingml/2006/main" noGrp="1"/>
          </p:cNvSpPr>
          <p:nvPr/>
        </p:nvSpPr>
        <p:spPr>
          <a:xfrm xmlns:a="http://schemas.openxmlformats.org/drawingml/2006/main">
            <a:off x="548640" y="1325880"/>
            <a:ext cx="5577840" cy="2743200"/>
          </a:xfrm>
          <a:prstGeom xmlns:a="http://schemas.openxmlformats.org/drawingml/2006/main" prst="roundRect">
            <a:avLst>
              <a:gd name="adj" fmla="val 2667"/>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2" name="Google Shape;102;p8">
            <a:extLst xmlns:a="http://schemas.openxmlformats.org/drawingml/2006/main">
              <a:ext uri="{FF2B5EF4-FFF2-40B4-BE49-F238E27FC236}">
                <a16:creationId xmlns:a16="http://schemas.microsoft.com/office/drawing/2014/main" id="{CCCC8491-5758-4FFF-9AA6-07DDA8506FCB}"/>
              </a:ext>
            </a:extLst>
          </p:cNvPr>
          <p:cNvSpPr>
            <a:spLocks xmlns:a="http://schemas.openxmlformats.org/drawingml/2006/main" noGrp="1"/>
          </p:cNvSpPr>
          <p:nvPr/>
        </p:nvSpPr>
        <p:spPr>
          <a:xfrm xmlns:a="http://schemas.openxmlformats.org/drawingml/2006/main">
            <a:off x="777240" y="1490472"/>
            <a:ext cx="5120640" cy="24140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1  Replace the generated class with the code on the right.</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2  Click Compile.</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3  Close the editor.</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4  Right-click SetupDrawSketch.</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5  Run void main(String[] args); accept the argument.</a:t>
            </a:r>
          </a:p>
        </p:txBody>
      </p:sp>
      <p:sp>
        <p:nvSpPr>
          <p:cNvPr id="103" name="Google Shape;103;p8">
            <a:extLst xmlns:a="http://schemas.openxmlformats.org/drawingml/2006/main">
              <a:ext uri="{FF2B5EF4-FFF2-40B4-BE49-F238E27FC236}">
                <a16:creationId xmlns:a16="http://schemas.microsoft.com/office/drawing/2014/main" id="{1E784ED6-CE1C-45D3-A28F-AE08D359A235}"/>
              </a:ext>
            </a:extLst>
          </p:cNvPr>
          <p:cNvSpPr>
            <a:spLocks xmlns:a="http://schemas.openxmlformats.org/drawingml/2006/main" noGrp="1"/>
          </p:cNvSpPr>
          <p:nvPr/>
        </p:nvSpPr>
        <p:spPr>
          <a:xfrm xmlns:a="http://schemas.openxmlformats.org/drawingml/2006/main">
            <a:off x="548640" y="4251960"/>
            <a:ext cx="5577840" cy="1737360"/>
          </a:xfrm>
          <a:prstGeom xmlns:a="http://schemas.openxmlformats.org/drawingml/2006/main" prst="roundRect">
            <a:avLst>
              <a:gd name="adj" fmla="val 5263"/>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4" name="Google Shape;104;p8">
            <a:extLst xmlns:a="http://schemas.openxmlformats.org/drawingml/2006/main">
              <a:ext uri="{FF2B5EF4-FFF2-40B4-BE49-F238E27FC236}">
                <a16:creationId xmlns:a16="http://schemas.microsoft.com/office/drawing/2014/main" id="{FD9B4B9D-80CA-445D-A30C-B66AC9A9D7AF}"/>
              </a:ext>
            </a:extLst>
          </p:cNvPr>
          <p:cNvSpPr>
            <a:spLocks xmlns:a="http://schemas.openxmlformats.org/drawingml/2006/main" noGrp="1"/>
          </p:cNvSpPr>
          <p:nvPr/>
        </p:nvSpPr>
        <p:spPr>
          <a:xfrm xmlns:a="http://schemas.openxmlformats.org/drawingml/2006/main">
            <a:off x="804672" y="4453128"/>
            <a:ext cx="50657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Expected first run</a:t>
            </a:r>
            <a:endParaRPr sz="1400" b="0" i="0" u="none" cap="none">
              <a:solidFill>
                <a:schemeClr val="dk1"/>
              </a:solidFill>
              <a:latin typeface="Calibri"/>
              <a:ea typeface="Calibri"/>
              <a:cs typeface="Calibri"/>
            </a:endParaRPr>
          </a:p>
        </p:txBody>
      </p:sp>
      <p:sp>
        <p:nvSpPr>
          <p:cNvPr id="105" name="Google Shape;105;p8">
            <a:extLst xmlns:a="http://schemas.openxmlformats.org/drawingml/2006/main">
              <a:ext uri="{FF2B5EF4-FFF2-40B4-BE49-F238E27FC236}">
                <a16:creationId xmlns:a16="http://schemas.microsoft.com/office/drawing/2014/main" id="{DB85FCF3-1086-4074-8FA8-85C978820D10}"/>
              </a:ext>
            </a:extLst>
          </p:cNvPr>
          <p:cNvSpPr>
            <a:spLocks xmlns:a="http://schemas.openxmlformats.org/drawingml/2006/main" noGrp="1"/>
          </p:cNvSpPr>
          <p:nvPr/>
        </p:nvSpPr>
        <p:spPr>
          <a:xfrm xmlns:a="http://schemas.openxmlformats.org/drawingml/2006/main">
            <a:off x="804672" y="4818888"/>
            <a:ext cx="5065776"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A 500 × 350 sketch window opens. It is blank because setup() and draw() contain no drawing commands yet.</a:t>
            </a:r>
            <a:endParaRPr sz="1400" b="0" i="0" u="none" cap="none">
              <a:solidFill>
                <a:schemeClr val="dk1"/>
              </a:solidFill>
              <a:latin typeface="Calibri"/>
              <a:ea typeface="Calibri"/>
              <a:cs typeface="Calibri"/>
            </a:endParaRPr>
          </a:p>
        </p:txBody>
      </p:sp>
      <p:sp>
        <p:nvSpPr>
          <p:cNvPr id="106" name="Google Shape;106;p8">
            <a:extLst xmlns:a="http://schemas.openxmlformats.org/drawingml/2006/main">
              <a:ext uri="{FF2B5EF4-FFF2-40B4-BE49-F238E27FC236}">
                <a16:creationId xmlns:a16="http://schemas.microsoft.com/office/drawing/2014/main" id="{26DDF37A-C82E-4EB7-85D3-CD9682AF595B}"/>
              </a:ext>
            </a:extLst>
          </p:cNvPr>
          <p:cNvSpPr>
            <a:spLocks xmlns:a="http://schemas.openxmlformats.org/drawingml/2006/main" noGrp="1"/>
          </p:cNvSpPr>
          <p:nvPr/>
        </p:nvSpPr>
        <p:spPr>
          <a:xfrm xmlns:a="http://schemas.openxmlformats.org/drawingml/2006/main">
            <a:off x="6400800" y="1325880"/>
            <a:ext cx="5257800" cy="4663440"/>
          </a:xfrm>
          <a:prstGeom xmlns:a="http://schemas.openxmlformats.org/drawingml/2006/main" prst="roundRect">
            <a:avLst>
              <a:gd name="adj" fmla="val 1176"/>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5" name="Google Shape;115;p8">
            <a:extLst xmlns:a="http://schemas.openxmlformats.org/drawingml/2006/main">
              <a:ext uri="{FF2B5EF4-FFF2-40B4-BE49-F238E27FC236}">
                <a16:creationId xmlns:a16="http://schemas.microsoft.com/office/drawing/2014/main" id="{87D312E3-2D3C-476D-A2F7-0F538D7020B6}"/>
              </a:ext>
            </a:extLst>
          </p:cNvPr>
          <p:cNvSpPr>
            <a:spLocks xmlns:a="http://schemas.openxmlformats.org/drawingml/2006/main" noGrp="1"/>
          </p:cNvSpPr>
          <p:nvPr/>
        </p:nvSpPr>
        <p:spPr>
          <a:xfrm xmlns:a="http://schemas.openxmlformats.org/drawingml/2006/main">
            <a:off x="6656832" y="1508760"/>
            <a:ext cx="4745736" cy="4480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import processing.core.PApplet;</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public class SetupDrawSketch extends PApplet</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    public void settings()</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        size(500, 350);</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    public void setup()</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    public void draw()</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    public static void main(String[] args)</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        PApplet.main("SetupDrawSketch");</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1025" i="0">
                <a:solidFill>
                  <a:srgbClr val="CADCFC"/>
                </a:solidFill>
                <a:latin typeface="Courier New"/>
                <a:ea typeface="Courier New"/>
                <a:cs typeface="Courier New"/>
              </a:defRPr>
            </a:pPr>
            <a:r>
              <a:rPr sz="1025"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9957404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Google Shape;40;p5">
            <a:extLst xmlns:a="http://schemas.openxmlformats.org/drawingml/2006/main">
              <a:ext uri="{FF2B5EF4-FFF2-40B4-BE49-F238E27FC236}">
                <a16:creationId xmlns:a16="http://schemas.microsoft.com/office/drawing/2014/main" id="{85D7638B-6584-417E-A6B3-EA86C11CC7A1}"/>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pPr>
            <a:r>
              <a:rPr sz="2900" b="1" i="0" u="none" cap="none">
                <a:solidFill>
                  <a:srgbClr val="1E2761"/>
                </a:solidFill>
                <a:latin typeface="Cambria"/>
                <a:ea typeface="Cambria"/>
                <a:cs typeface="Cambria"/>
              </a:rPr>
              <a:t>Three Methods, Three Jobs</a:t>
            </a:r>
            <a:endParaRPr sz="2900" b="0" i="0" u="none" cap="none">
              <a:solidFill>
                <a:schemeClr val="dk1"/>
              </a:solidFill>
              <a:latin typeface="Calibri"/>
              <a:ea typeface="Calibri"/>
              <a:cs typeface="Calibri"/>
            </a:endParaRPr>
          </a:p>
        </p:txBody>
      </p:sp>
      <p:sp>
        <p:nvSpPr>
          <p:cNvPr id="41" name="Google Shape;41;p5">
            <a:extLst xmlns:a="http://schemas.openxmlformats.org/drawingml/2006/main">
              <a:ext uri="{FF2B5EF4-FFF2-40B4-BE49-F238E27FC236}">
                <a16:creationId xmlns:a16="http://schemas.microsoft.com/office/drawing/2014/main" id="{88BD878B-ED73-4157-843D-252CED801922}"/>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1" u="none" cap="none">
                <a:solidFill>
                  <a:srgbClr val="3B4A78"/>
                </a:solidFill>
                <a:latin typeface="Calibri"/>
                <a:ea typeface="Calibri"/>
                <a:cs typeface="Calibri"/>
              </a:rPr>
              <a:t>settings() → setup() → draw()</a:t>
            </a:r>
            <a:endParaRPr sz="1500" b="0" i="0" u="none" cap="none">
              <a:solidFill>
                <a:schemeClr val="dk1"/>
              </a:solidFill>
              <a:latin typeface="Calibri"/>
              <a:ea typeface="Calibri"/>
              <a:cs typeface="Calibri"/>
            </a:endParaRPr>
          </a:p>
        </p:txBody>
      </p:sp>
      <p:sp>
        <p:nvSpPr>
          <p:cNvPr id="42" name="Google Shape;42;p5">
            <a:extLst xmlns:a="http://schemas.openxmlformats.org/drawingml/2006/main">
              <a:ext uri="{FF2B5EF4-FFF2-40B4-BE49-F238E27FC236}">
                <a16:creationId xmlns:a16="http://schemas.microsoft.com/office/drawing/2014/main" id="{626628DA-4533-4721-B53E-1DD4457BC066}"/>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43" name="Google Shape;43;p5">
            <a:extLst xmlns:a="http://schemas.openxmlformats.org/drawingml/2006/main">
              <a:ext uri="{FF2B5EF4-FFF2-40B4-BE49-F238E27FC236}">
                <a16:creationId xmlns:a16="http://schemas.microsoft.com/office/drawing/2014/main" id="{739DFD5C-A292-4276-B194-42DF0009045E}"/>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44" name="Google Shape;44;p5">
            <a:extLst xmlns:a="http://schemas.openxmlformats.org/drawingml/2006/main">
              <a:ext uri="{FF2B5EF4-FFF2-40B4-BE49-F238E27FC236}">
                <a16:creationId xmlns:a16="http://schemas.microsoft.com/office/drawing/2014/main" id="{70112963-3123-4037-82C0-9DBD35FA8EDF}"/>
              </a:ext>
            </a:extLst>
          </p:cNvPr>
          <p:cNvSpPr>
            <a:spLocks xmlns:a="http://schemas.openxmlformats.org/drawingml/2006/main" noGrp="1"/>
          </p:cNvSpPr>
          <p:nvPr/>
        </p:nvSpPr>
        <p:spPr>
          <a:xfrm xmlns:a="http://schemas.openxmlformats.org/drawingml/2006/main">
            <a:off x="548640" y="1371600"/>
            <a:ext cx="11064240" cy="1325880"/>
          </a:xfrm>
          <a:prstGeom xmlns:a="http://schemas.openxmlformats.org/drawingml/2006/main" prst="roundRect">
            <a:avLst>
              <a:gd name="adj" fmla="val 4138"/>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 name="Google Shape;45;p5">
            <a:extLst xmlns:a="http://schemas.openxmlformats.org/drawingml/2006/main">
              <a:ext uri="{FF2B5EF4-FFF2-40B4-BE49-F238E27FC236}">
                <a16:creationId xmlns:a16="http://schemas.microsoft.com/office/drawing/2014/main" id="{5E44D110-CBFB-4FBC-B978-7A8D6515F400}"/>
              </a:ext>
            </a:extLst>
          </p:cNvPr>
          <p:cNvSpPr>
            <a:spLocks xmlns:a="http://schemas.openxmlformats.org/drawingml/2006/main" noGrp="1"/>
          </p:cNvSpPr>
          <p:nvPr/>
        </p:nvSpPr>
        <p:spPr>
          <a:xfrm xmlns:a="http://schemas.openxmlformats.org/drawingml/2006/main">
            <a:off x="822960" y="1536192"/>
            <a:ext cx="23774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000"/>
              <a:buFont typeface="Courier New"/>
              <a:buNone/>
            </a:pPr>
            <a:r>
              <a:rPr sz="2000" b="1" i="0" u="none" cap="none">
                <a:solidFill>
                  <a:srgbClr val="1E2761"/>
                </a:solidFill>
                <a:latin typeface="Courier New"/>
                <a:ea typeface="Courier New"/>
                <a:cs typeface="Courier New"/>
              </a:rPr>
              <a:t>settings()</a:t>
            </a:r>
            <a:endParaRPr sz="2000" b="0" i="0" u="none" cap="none">
              <a:solidFill>
                <a:schemeClr val="dk1"/>
              </a:solidFill>
              <a:latin typeface="Calibri"/>
              <a:ea typeface="Calibri"/>
              <a:cs typeface="Calibri"/>
            </a:endParaRPr>
          </a:p>
        </p:txBody>
      </p:sp>
      <p:sp>
        <p:nvSpPr>
          <p:cNvPr id="46" name="Google Shape;46;p5">
            <a:extLst xmlns:a="http://schemas.openxmlformats.org/drawingml/2006/main">
              <a:ext uri="{FF2B5EF4-FFF2-40B4-BE49-F238E27FC236}">
                <a16:creationId xmlns:a16="http://schemas.microsoft.com/office/drawing/2014/main" id="{C3C78C30-9D8C-4D5F-A094-DE1EA1E6B76C}"/>
              </a:ext>
            </a:extLst>
          </p:cNvPr>
          <p:cNvSpPr>
            <a:spLocks xmlns:a="http://schemas.openxmlformats.org/drawingml/2006/main" noGrp="1"/>
          </p:cNvSpPr>
          <p:nvPr/>
        </p:nvSpPr>
        <p:spPr>
          <a:xfrm xmlns:a="http://schemas.openxmlformats.org/drawingml/2006/main">
            <a:off x="822960" y="2029968"/>
            <a:ext cx="23774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E8A33D"/>
              </a:buClr>
              <a:buSzPts val="1250"/>
              <a:buFont typeface="Calibri"/>
              <a:buNone/>
              <a:defRPr sz="1250" i="1">
                <a:solidFill>
                  <a:srgbClr val="E8A33D"/>
                </a:solidFill>
                <a:latin typeface="Calibri"/>
                <a:ea typeface="Calibri"/>
                <a:cs typeface="Calibri"/>
              </a:defRPr>
            </a:pPr>
            <a:r>
              <a:rPr sz="1250" b="0" i="1" u="none" cap="none">
                <a:solidFill>
                  <a:srgbClr val="E8A33D"/>
                </a:solidFill>
                <a:latin typeface="Calibri"/>
                <a:ea typeface="Calibri"/>
                <a:cs typeface="Calibri"/>
              </a:rPr>
              <a:t>Runs once, before setup()</a:t>
            </a:r>
            <a:endParaRPr sz="1250" b="0" i="0" u="none" cap="none">
              <a:solidFill>
                <a:schemeClr val="dk1"/>
              </a:solidFill>
              <a:latin typeface="Calibri"/>
              <a:ea typeface="Calibri"/>
              <a:cs typeface="Calibri"/>
            </a:endParaRPr>
          </a:p>
        </p:txBody>
      </p:sp>
      <p:sp>
        <p:nvSpPr>
          <p:cNvPr id="47" name="Google Shape;47;p5">
            <a:extLst xmlns:a="http://schemas.openxmlformats.org/drawingml/2006/main">
              <a:ext uri="{FF2B5EF4-FFF2-40B4-BE49-F238E27FC236}">
                <a16:creationId xmlns:a16="http://schemas.microsoft.com/office/drawing/2014/main" id="{66C03952-8065-400E-8D66-0021545F0D93}"/>
              </a:ext>
            </a:extLst>
          </p:cNvPr>
          <p:cNvSpPr>
            <a:spLocks xmlns:a="http://schemas.openxmlformats.org/drawingml/2006/main" noGrp="1"/>
          </p:cNvSpPr>
          <p:nvPr/>
        </p:nvSpPr>
        <p:spPr>
          <a:xfrm xmlns:a="http://schemas.openxmlformats.org/drawingml/2006/main">
            <a:off x="3383280" y="1536192"/>
            <a:ext cx="7955280" cy="996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145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Window configuration in our BlueJ/PApplet projects — this is where size() belongs</a:t>
            </a:r>
            <a:endParaRPr sz="1450" b="0" i="0" u="none" cap="none">
              <a:solidFill>
                <a:schemeClr val="dk1"/>
              </a:solidFill>
              <a:latin typeface="Calibri"/>
              <a:ea typeface="Calibri"/>
              <a:cs typeface="Calibri"/>
            </a:endParaRPr>
          </a:p>
        </p:txBody>
      </p:sp>
      <p:sp>
        <p:nvSpPr>
          <p:cNvPr id="48" name="Google Shape;48;p5">
            <a:extLst xmlns:a="http://schemas.openxmlformats.org/drawingml/2006/main">
              <a:ext uri="{FF2B5EF4-FFF2-40B4-BE49-F238E27FC236}">
                <a16:creationId xmlns:a16="http://schemas.microsoft.com/office/drawing/2014/main" id="{D842E8A7-2C9C-40A6-BEA0-BFC0F0605009}"/>
              </a:ext>
            </a:extLst>
          </p:cNvPr>
          <p:cNvSpPr>
            <a:spLocks xmlns:a="http://schemas.openxmlformats.org/drawingml/2006/main" noGrp="1"/>
          </p:cNvSpPr>
          <p:nvPr/>
        </p:nvSpPr>
        <p:spPr>
          <a:xfrm xmlns:a="http://schemas.openxmlformats.org/drawingml/2006/main">
            <a:off x="548640" y="2834640"/>
            <a:ext cx="11064240" cy="1325880"/>
          </a:xfrm>
          <a:prstGeom xmlns:a="http://schemas.openxmlformats.org/drawingml/2006/main" prst="roundRect">
            <a:avLst>
              <a:gd name="adj" fmla="val 4138"/>
            </a:avLst>
          </a:prstGeom>
          <a:solidFill xmlns:a="http://schemas.openxmlformats.org/drawingml/2006/main">
            <a:srgbClr val="FFFFFF"/>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9" name="Google Shape;49;p5">
            <a:extLst xmlns:a="http://schemas.openxmlformats.org/drawingml/2006/main">
              <a:ext uri="{FF2B5EF4-FFF2-40B4-BE49-F238E27FC236}">
                <a16:creationId xmlns:a16="http://schemas.microsoft.com/office/drawing/2014/main" id="{F422B9CC-97A6-4D71-A469-59F07E5AC24D}"/>
              </a:ext>
            </a:extLst>
          </p:cNvPr>
          <p:cNvSpPr>
            <a:spLocks xmlns:a="http://schemas.openxmlformats.org/drawingml/2006/main" noGrp="1"/>
          </p:cNvSpPr>
          <p:nvPr/>
        </p:nvSpPr>
        <p:spPr>
          <a:xfrm xmlns:a="http://schemas.openxmlformats.org/drawingml/2006/main">
            <a:off x="822960" y="2999232"/>
            <a:ext cx="23774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000"/>
              <a:buFont typeface="Courier New"/>
              <a:buNone/>
            </a:pPr>
            <a:r>
              <a:rPr sz="2000" b="1" i="0" u="none" cap="none">
                <a:solidFill>
                  <a:srgbClr val="1E2761"/>
                </a:solidFill>
                <a:latin typeface="Courier New"/>
                <a:ea typeface="Courier New"/>
                <a:cs typeface="Courier New"/>
              </a:rPr>
              <a:t>setup()</a:t>
            </a:r>
            <a:endParaRPr sz="2000" b="0" i="0" u="none" cap="none">
              <a:solidFill>
                <a:schemeClr val="dk1"/>
              </a:solidFill>
              <a:latin typeface="Calibri"/>
              <a:ea typeface="Calibri"/>
              <a:cs typeface="Calibri"/>
            </a:endParaRPr>
          </a:p>
        </p:txBody>
      </p:sp>
      <p:sp>
        <p:nvSpPr>
          <p:cNvPr id="50" name="Google Shape;50;p5">
            <a:extLst xmlns:a="http://schemas.openxmlformats.org/drawingml/2006/main">
              <a:ext uri="{FF2B5EF4-FFF2-40B4-BE49-F238E27FC236}">
                <a16:creationId xmlns:a16="http://schemas.microsoft.com/office/drawing/2014/main" id="{3D6D1D19-2E40-4A8B-9C6B-E7EE4CC2FC84}"/>
              </a:ext>
            </a:extLst>
          </p:cNvPr>
          <p:cNvSpPr>
            <a:spLocks xmlns:a="http://schemas.openxmlformats.org/drawingml/2006/main" noGrp="1"/>
          </p:cNvSpPr>
          <p:nvPr/>
        </p:nvSpPr>
        <p:spPr>
          <a:xfrm xmlns:a="http://schemas.openxmlformats.org/drawingml/2006/main">
            <a:off x="822960" y="3493008"/>
            <a:ext cx="23774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E8A33D"/>
              </a:buClr>
              <a:buSzPts val="1250"/>
              <a:buFont typeface="Calibri"/>
              <a:buNone/>
              <a:defRPr sz="1250" i="1">
                <a:solidFill>
                  <a:srgbClr val="E8A33D"/>
                </a:solidFill>
                <a:latin typeface="Calibri"/>
                <a:ea typeface="Calibri"/>
                <a:cs typeface="Calibri"/>
              </a:defRPr>
            </a:pPr>
            <a:r>
              <a:rPr sz="1250" b="0" i="1" u="none" cap="none">
                <a:solidFill>
                  <a:srgbClr val="E8A33D"/>
                </a:solidFill>
                <a:latin typeface="Calibri"/>
                <a:ea typeface="Calibri"/>
                <a:cs typeface="Calibri"/>
              </a:rPr>
              <a:t>Runs once, after settings()</a:t>
            </a:r>
            <a:endParaRPr sz="1250" b="0" i="0" u="none" cap="none">
              <a:solidFill>
                <a:schemeClr val="dk1"/>
              </a:solidFill>
              <a:latin typeface="Calibri"/>
              <a:ea typeface="Calibri"/>
              <a:cs typeface="Calibri"/>
            </a:endParaRPr>
          </a:p>
        </p:txBody>
      </p:sp>
      <p:sp>
        <p:nvSpPr>
          <p:cNvPr id="51" name="Google Shape;51;p5">
            <a:extLst xmlns:a="http://schemas.openxmlformats.org/drawingml/2006/main">
              <a:ext uri="{FF2B5EF4-FFF2-40B4-BE49-F238E27FC236}">
                <a16:creationId xmlns:a16="http://schemas.microsoft.com/office/drawing/2014/main" id="{203AEE06-492D-43D1-9BAD-0010D6961E0D}"/>
              </a:ext>
            </a:extLst>
          </p:cNvPr>
          <p:cNvSpPr>
            <a:spLocks xmlns:a="http://schemas.openxmlformats.org/drawingml/2006/main" noGrp="1"/>
          </p:cNvSpPr>
          <p:nvPr/>
        </p:nvSpPr>
        <p:spPr>
          <a:xfrm xmlns:a="http://schemas.openxmlformats.org/drawingml/2006/main">
            <a:off x="3383280" y="2999232"/>
            <a:ext cx="7955280" cy="996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145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One-time initialization — background, style, or starting values that should be set once</a:t>
            </a:r>
            <a:endParaRPr sz="1450" b="0" i="0" u="none" cap="none">
              <a:solidFill>
                <a:schemeClr val="dk1"/>
              </a:solidFill>
              <a:latin typeface="Calibri"/>
              <a:ea typeface="Calibri"/>
              <a:cs typeface="Calibri"/>
            </a:endParaRPr>
          </a:p>
        </p:txBody>
      </p:sp>
      <p:sp>
        <p:nvSpPr>
          <p:cNvPr id="52" name="Google Shape;52;p5">
            <a:extLst xmlns:a="http://schemas.openxmlformats.org/drawingml/2006/main">
              <a:ext uri="{FF2B5EF4-FFF2-40B4-BE49-F238E27FC236}">
                <a16:creationId xmlns:a16="http://schemas.microsoft.com/office/drawing/2014/main" id="{D8A52DE9-D736-41F3-B177-789F9B65DF95}"/>
              </a:ext>
            </a:extLst>
          </p:cNvPr>
          <p:cNvSpPr>
            <a:spLocks xmlns:a="http://schemas.openxmlformats.org/drawingml/2006/main" noGrp="1"/>
          </p:cNvSpPr>
          <p:nvPr/>
        </p:nvSpPr>
        <p:spPr>
          <a:xfrm xmlns:a="http://schemas.openxmlformats.org/drawingml/2006/main">
            <a:off x="548640" y="4297680"/>
            <a:ext cx="11064240" cy="1325880"/>
          </a:xfrm>
          <a:prstGeom xmlns:a="http://schemas.openxmlformats.org/drawingml/2006/main" prst="roundRect">
            <a:avLst>
              <a:gd name="adj" fmla="val 4138"/>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3" name="Google Shape;53;p5">
            <a:extLst xmlns:a="http://schemas.openxmlformats.org/drawingml/2006/main">
              <a:ext uri="{FF2B5EF4-FFF2-40B4-BE49-F238E27FC236}">
                <a16:creationId xmlns:a16="http://schemas.microsoft.com/office/drawing/2014/main" id="{3FE19BBB-CAEB-48FF-B2FF-BFFD77DFD38C}"/>
              </a:ext>
            </a:extLst>
          </p:cNvPr>
          <p:cNvSpPr>
            <a:spLocks xmlns:a="http://schemas.openxmlformats.org/drawingml/2006/main" noGrp="1"/>
          </p:cNvSpPr>
          <p:nvPr/>
        </p:nvSpPr>
        <p:spPr>
          <a:xfrm xmlns:a="http://schemas.openxmlformats.org/drawingml/2006/main">
            <a:off x="822960" y="4462272"/>
            <a:ext cx="23774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000"/>
              <a:buFont typeface="Courier New"/>
              <a:buNone/>
            </a:pPr>
            <a:r>
              <a:rPr sz="2000" b="1" i="0" u="none" cap="none">
                <a:solidFill>
                  <a:srgbClr val="1E2761"/>
                </a:solidFill>
                <a:latin typeface="Courier New"/>
                <a:ea typeface="Courier New"/>
                <a:cs typeface="Courier New"/>
              </a:rPr>
              <a:t>draw()</a:t>
            </a:r>
            <a:endParaRPr sz="2000" b="0" i="0" u="none" cap="none">
              <a:solidFill>
                <a:schemeClr val="dk1"/>
              </a:solidFill>
              <a:latin typeface="Calibri"/>
              <a:ea typeface="Calibri"/>
              <a:cs typeface="Calibri"/>
            </a:endParaRPr>
          </a:p>
        </p:txBody>
      </p:sp>
      <p:sp>
        <p:nvSpPr>
          <p:cNvPr id="54" name="Google Shape;54;p5">
            <a:extLst xmlns:a="http://schemas.openxmlformats.org/drawingml/2006/main">
              <a:ext uri="{FF2B5EF4-FFF2-40B4-BE49-F238E27FC236}">
                <a16:creationId xmlns:a16="http://schemas.microsoft.com/office/drawing/2014/main" id="{F5C86219-1829-4161-9EEB-19CA9458B26B}"/>
              </a:ext>
            </a:extLst>
          </p:cNvPr>
          <p:cNvSpPr>
            <a:spLocks xmlns:a="http://schemas.openxmlformats.org/drawingml/2006/main" noGrp="1"/>
          </p:cNvSpPr>
          <p:nvPr/>
        </p:nvSpPr>
        <p:spPr>
          <a:xfrm xmlns:a="http://schemas.openxmlformats.org/drawingml/2006/main">
            <a:off x="822960" y="4956048"/>
            <a:ext cx="23774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E8A33D"/>
              </a:buClr>
              <a:buSzPts val="1250"/>
              <a:buFont typeface="Calibri"/>
              <a:buNone/>
              <a:defRPr sz="1250" i="1">
                <a:solidFill>
                  <a:srgbClr val="E8A33D"/>
                </a:solidFill>
                <a:latin typeface="Calibri"/>
                <a:ea typeface="Calibri"/>
                <a:cs typeface="Calibri"/>
              </a:defRPr>
            </a:pPr>
            <a:r>
              <a:rPr sz="1250" b="0" i="1" u="none" cap="none">
                <a:solidFill>
                  <a:srgbClr val="E8A33D"/>
                </a:solidFill>
                <a:latin typeface="Calibri"/>
                <a:ea typeface="Calibri"/>
                <a:cs typeface="Calibri"/>
              </a:rPr>
              <a:t>Runs repeatedly, by default</a:t>
            </a:r>
            <a:endParaRPr sz="1250" b="0" i="0" u="none" cap="none">
              <a:solidFill>
                <a:schemeClr val="dk1"/>
              </a:solidFill>
              <a:latin typeface="Calibri"/>
              <a:ea typeface="Calibri"/>
              <a:cs typeface="Calibri"/>
            </a:endParaRPr>
          </a:p>
        </p:txBody>
      </p:sp>
      <p:sp>
        <p:nvSpPr>
          <p:cNvPr id="55" name="Google Shape;55;p5">
            <a:extLst xmlns:a="http://schemas.openxmlformats.org/drawingml/2006/main">
              <a:ext uri="{FF2B5EF4-FFF2-40B4-BE49-F238E27FC236}">
                <a16:creationId xmlns:a16="http://schemas.microsoft.com/office/drawing/2014/main" id="{A36356E2-EED4-4E89-BD53-3682168F8563}"/>
              </a:ext>
            </a:extLst>
          </p:cNvPr>
          <p:cNvSpPr>
            <a:spLocks xmlns:a="http://schemas.openxmlformats.org/drawingml/2006/main" noGrp="1"/>
          </p:cNvSpPr>
          <p:nvPr/>
        </p:nvSpPr>
        <p:spPr>
          <a:xfrm xmlns:a="http://schemas.openxmlformats.org/drawingml/2006/main">
            <a:off x="3383280" y="4462272"/>
            <a:ext cx="7955280" cy="996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145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Work that must react, update, or be redrawn every frame</a:t>
            </a:r>
            <a:endParaRPr sz="145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2072151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2" name="Google Shape;122;p9">
            <a:extLst xmlns:a="http://schemas.openxmlformats.org/drawingml/2006/main">
              <a:ext uri="{FF2B5EF4-FFF2-40B4-BE49-F238E27FC236}">
                <a16:creationId xmlns:a16="http://schemas.microsoft.com/office/drawing/2014/main" id="{B3FB4AE1-80AD-48D7-B441-DB2220A6974E}"/>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Checkpoint 1: Set the Stage Once</a:t>
            </a:r>
            <a:endParaRPr sz="2900" b="0" i="0" u="none" cap="none">
              <a:solidFill>
                <a:schemeClr val="dk1"/>
              </a:solidFill>
              <a:latin typeface="Calibri"/>
              <a:ea typeface="Calibri"/>
              <a:cs typeface="Calibri"/>
            </a:endParaRPr>
          </a:p>
        </p:txBody>
      </p:sp>
      <p:sp>
        <p:nvSpPr>
          <p:cNvPr id="123" name="Google Shape;123;p9">
            <a:extLst xmlns:a="http://schemas.openxmlformats.org/drawingml/2006/main">
              <a:ext uri="{FF2B5EF4-FFF2-40B4-BE49-F238E27FC236}">
                <a16:creationId xmlns:a16="http://schemas.microsoft.com/office/drawing/2014/main" id="{A770BC6D-1F4A-4B13-BAA0-003E1E3FF637}"/>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Add one-time drawing and confirm the result</a:t>
            </a:r>
            <a:endParaRPr sz="1500" b="0" i="0" u="none" cap="none">
              <a:solidFill>
                <a:schemeClr val="dk1"/>
              </a:solidFill>
              <a:latin typeface="Calibri"/>
              <a:ea typeface="Calibri"/>
              <a:cs typeface="Calibri"/>
            </a:endParaRPr>
          </a:p>
        </p:txBody>
      </p:sp>
      <p:sp>
        <p:nvSpPr>
          <p:cNvPr id="124" name="Google Shape;124;p9">
            <a:extLst xmlns:a="http://schemas.openxmlformats.org/drawingml/2006/main">
              <a:ext uri="{FF2B5EF4-FFF2-40B4-BE49-F238E27FC236}">
                <a16:creationId xmlns:a16="http://schemas.microsoft.com/office/drawing/2014/main" id="{52096F18-6616-45B6-87A8-82A65ABEF6B8}"/>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125" name="Google Shape;125;p9">
            <a:extLst xmlns:a="http://schemas.openxmlformats.org/drawingml/2006/main">
              <a:ext uri="{FF2B5EF4-FFF2-40B4-BE49-F238E27FC236}">
                <a16:creationId xmlns:a16="http://schemas.microsoft.com/office/drawing/2014/main" id="{8D8BB97A-2471-4483-A002-213F64C5961D}"/>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126" name="Google Shape;126;p9">
            <a:extLst xmlns:a="http://schemas.openxmlformats.org/drawingml/2006/main">
              <a:ext uri="{FF2B5EF4-FFF2-40B4-BE49-F238E27FC236}">
                <a16:creationId xmlns:a16="http://schemas.microsoft.com/office/drawing/2014/main" id="{8F6377A5-8223-40CA-B38D-111EC04F8255}"/>
              </a:ext>
            </a:extLst>
          </p:cNvPr>
          <p:cNvSpPr>
            <a:spLocks xmlns:a="http://schemas.openxmlformats.org/drawingml/2006/main" noGrp="1"/>
          </p:cNvSpPr>
          <p:nvPr/>
        </p:nvSpPr>
        <p:spPr>
          <a:xfrm xmlns:a="http://schemas.openxmlformats.org/drawingml/2006/main">
            <a:off x="548640" y="1325880"/>
            <a:ext cx="5577840" cy="2743200"/>
          </a:xfrm>
          <a:prstGeom xmlns:a="http://schemas.openxmlformats.org/drawingml/2006/main" prst="roundRect">
            <a:avLst>
              <a:gd name="adj" fmla="val 2667"/>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7" name="Google Shape;127;p9">
            <a:extLst xmlns:a="http://schemas.openxmlformats.org/drawingml/2006/main">
              <a:ext uri="{FF2B5EF4-FFF2-40B4-BE49-F238E27FC236}">
                <a16:creationId xmlns:a16="http://schemas.microsoft.com/office/drawing/2014/main" id="{83EA8698-0CCC-4CFF-87E3-3D94B62F49B4}"/>
              </a:ext>
            </a:extLst>
          </p:cNvPr>
          <p:cNvSpPr>
            <a:spLocks xmlns:a="http://schemas.openxmlformats.org/drawingml/2006/main" noGrp="1"/>
          </p:cNvSpPr>
          <p:nvPr/>
        </p:nvSpPr>
        <p:spPr>
          <a:xfrm xmlns:a="http://schemas.openxmlformats.org/drawingml/2006/main">
            <a:off x="822960" y="1527048"/>
            <a:ext cx="5029200" cy="23408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FD0FF"/>
              </a:buClr>
              <a:buSzPts val="1300"/>
              <a:buFont typeface="Courier New"/>
              <a:buNone/>
              <a:defRPr sz="1200" i="0">
                <a:solidFill>
                  <a:srgbClr val="CADCFC"/>
                </a:solidFill>
                <a:latin typeface="Courier New"/>
                <a:ea typeface="Courier New"/>
                <a:cs typeface="Courier New"/>
              </a:defRPr>
            </a:pPr>
            <a:r>
              <a:rPr sz="1200" b="0" i="0" u="none" cap="none">
                <a:solidFill>
                  <a:srgbClr val="CADCFC"/>
                </a:solidFill>
                <a:latin typeface="Courier New"/>
                <a:ea typeface="Courier New"/>
                <a:cs typeface="Courier New"/>
              </a:rPr>
              <a:t>public void setup()</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200" i="0">
                <a:solidFill>
                  <a:srgbClr val="CADCFC"/>
                </a:solidFill>
                <a:latin typeface="Courier New"/>
                <a:ea typeface="Courier New"/>
                <a:cs typeface="Courier New"/>
              </a:defRPr>
            </a:pPr>
            <a:r>
              <a:rPr sz="1200"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200" i="0">
                <a:solidFill>
                  <a:srgbClr val="CADCFC"/>
                </a:solidFill>
                <a:latin typeface="Courier New"/>
                <a:ea typeface="Courier New"/>
                <a:cs typeface="Courier New"/>
              </a:defRPr>
            </a:pPr>
            <a:r>
              <a:rPr sz="1200" b="0" i="0" u="none" cap="none">
                <a:solidFill>
                  <a:srgbClr val="CADCFC"/>
                </a:solidFill>
                <a:latin typeface="Courier New"/>
                <a:ea typeface="Courier New"/>
                <a:cs typeface="Courier New"/>
              </a:rPr>
              <a:t>    background(220);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200" i="0">
                <a:solidFill>
                  <a:srgbClr val="CADCFC"/>
                </a:solidFill>
                <a:latin typeface="Courier New"/>
                <a:ea typeface="Courier New"/>
                <a:cs typeface="Courier New"/>
              </a:defRPr>
            </a:pPr>
            <a:r>
              <a:rPr sz="1200" b="0" i="0" u="none" cap="none">
                <a:solidFill>
                  <a:srgbClr val="CADCFC"/>
                </a:solidFill>
                <a:latin typeface="Courier New"/>
                <a:ea typeface="Courier New"/>
                <a:cs typeface="Courier New"/>
              </a:rPr>
              <a:t>    noStroke();</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200" i="0">
                <a:solidFill>
                  <a:srgbClr val="CADCFC"/>
                </a:solidFill>
                <a:latin typeface="Courier New"/>
                <a:ea typeface="Courier New"/>
                <a:cs typeface="Courier New"/>
              </a:defRPr>
            </a:pPr>
            <a:r>
              <a:rPr sz="1200" b="0" i="0" u="none" cap="none">
                <a:solidFill>
                  <a:srgbClr val="CADCFC"/>
                </a:solidFill>
                <a:latin typeface="Courier New"/>
                <a:ea typeface="Courier New"/>
                <a:cs typeface="Courier New"/>
              </a:rPr>
              <a:t>    fill(255, 170, 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200" i="0">
                <a:solidFill>
                  <a:srgbClr val="CADCFC"/>
                </a:solidFill>
                <a:latin typeface="Courier New"/>
                <a:ea typeface="Courier New"/>
                <a:cs typeface="Courier New"/>
              </a:defRPr>
            </a:pPr>
            <a:r>
              <a:rPr sz="1200" b="0" i="0" u="none" cap="none">
                <a:solidFill>
                  <a:srgbClr val="CADCFC"/>
                </a:solidFill>
                <a:latin typeface="Courier New"/>
                <a:ea typeface="Courier New"/>
                <a:cs typeface="Courier New"/>
              </a:rPr>
              <a:t>    ellipse(250, 175, 60, 60);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200" i="0">
                <a:solidFill>
                  <a:srgbClr val="CADCFC"/>
                </a:solidFill>
                <a:latin typeface="Courier New"/>
                <a:ea typeface="Courier New"/>
                <a:cs typeface="Courier New"/>
              </a:defRPr>
            </a:pPr>
            <a:r>
              <a:rPr sz="1200"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pPr>
            <a:r>
              <a:rPr sz="1300" b="0" i="0" u="none" cap="none">
                <a:solidFill>
                  <a:srgbClr val="E8A33D"/>
                </a:solidFill>
                <a:latin typeface="Courier New"/>
                <a:ea typeface="Courier New"/>
                <a:cs typeface="Courier New"/>
              </a:rPr>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200" i="0">
                <a:solidFill>
                  <a:srgbClr val="CADCFC"/>
                </a:solidFill>
                <a:latin typeface="Courier New"/>
                <a:ea typeface="Courier New"/>
                <a:cs typeface="Courier New"/>
              </a:defRPr>
            </a:pPr>
            <a:r>
              <a:rPr sz="1200" b="0" i="0" u="none" cap="none">
                <a:solidFill>
                  <a:srgbClr val="CADCFC"/>
                </a:solidFill>
                <a:latin typeface="Courier New"/>
                <a:ea typeface="Courier New"/>
                <a:cs typeface="Courier New"/>
              </a:rPr>
              <a:t>public void draw()</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200" i="0">
                <a:solidFill>
                  <a:srgbClr val="CADCFC"/>
                </a:solidFill>
                <a:latin typeface="Courier New"/>
                <a:ea typeface="Courier New"/>
                <a:cs typeface="Courier New"/>
              </a:defRPr>
            </a:pPr>
            <a:r>
              <a:rPr sz="1200"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200" i="0">
                <a:solidFill>
                  <a:srgbClr val="CADCFC"/>
                </a:solidFill>
                <a:latin typeface="Courier New"/>
                <a:ea typeface="Courier New"/>
                <a:cs typeface="Courier New"/>
              </a:defRPr>
            </a:pPr>
            <a:r>
              <a:rPr sz="1200"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p:txBody>
      </p:sp>
      <p:sp>
        <p:nvSpPr>
          <p:cNvPr id="128" name="Google Shape;128;p9">
            <a:extLst xmlns:a="http://schemas.openxmlformats.org/drawingml/2006/main">
              <a:ext uri="{FF2B5EF4-FFF2-40B4-BE49-F238E27FC236}">
                <a16:creationId xmlns:a16="http://schemas.microsoft.com/office/drawing/2014/main" id="{15B44720-03AF-45A3-A341-22AA905A00F9}"/>
              </a:ext>
            </a:extLst>
          </p:cNvPr>
          <p:cNvSpPr>
            <a:spLocks xmlns:a="http://schemas.openxmlformats.org/drawingml/2006/main" noGrp="1"/>
          </p:cNvSpPr>
          <p:nvPr/>
        </p:nvSpPr>
        <p:spPr>
          <a:xfrm xmlns:a="http://schemas.openxmlformats.org/drawingml/2006/main">
            <a:off x="548640" y="4251960"/>
            <a:ext cx="5577840" cy="1874520"/>
          </a:xfrm>
          <a:prstGeom xmlns:a="http://schemas.openxmlformats.org/drawingml/2006/main" prst="roundRect">
            <a:avLst>
              <a:gd name="adj" fmla="val 4878"/>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9" name="Google Shape;129;p9">
            <a:extLst xmlns:a="http://schemas.openxmlformats.org/drawingml/2006/main">
              <a:ext uri="{FF2B5EF4-FFF2-40B4-BE49-F238E27FC236}">
                <a16:creationId xmlns:a16="http://schemas.microsoft.com/office/drawing/2014/main" id="{E0E1E120-D247-4BB9-A10B-1BABBBFAEF48}"/>
              </a:ext>
            </a:extLst>
          </p:cNvPr>
          <p:cNvSpPr>
            <a:spLocks xmlns:a="http://schemas.openxmlformats.org/drawingml/2006/main" noGrp="1"/>
          </p:cNvSpPr>
          <p:nvPr/>
        </p:nvSpPr>
        <p:spPr>
          <a:xfrm xmlns:a="http://schemas.openxmlformats.org/drawingml/2006/main">
            <a:off x="804672" y="4453128"/>
            <a:ext cx="50657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Compile → Run → Observe</a:t>
            </a:r>
            <a:endParaRPr sz="1400" b="0" i="0" u="none" cap="none">
              <a:solidFill>
                <a:schemeClr val="dk1"/>
              </a:solidFill>
              <a:latin typeface="Calibri"/>
              <a:ea typeface="Calibri"/>
              <a:cs typeface="Calibri"/>
            </a:endParaRPr>
          </a:p>
        </p:txBody>
      </p:sp>
      <p:sp>
        <p:nvSpPr>
          <p:cNvPr id="130" name="Google Shape;130;p9">
            <a:extLst xmlns:a="http://schemas.openxmlformats.org/drawingml/2006/main">
              <a:ext uri="{FF2B5EF4-FFF2-40B4-BE49-F238E27FC236}">
                <a16:creationId xmlns:a16="http://schemas.microsoft.com/office/drawing/2014/main" id="{BA6B7392-6C64-4C3F-9553-918DA823E3FD}"/>
              </a:ext>
            </a:extLst>
          </p:cNvPr>
          <p:cNvSpPr>
            <a:spLocks xmlns:a="http://schemas.openxmlformats.org/drawingml/2006/main" noGrp="1"/>
          </p:cNvSpPr>
          <p:nvPr/>
        </p:nvSpPr>
        <p:spPr>
          <a:xfrm xmlns:a="http://schemas.openxmlformats.org/drawingml/2006/main">
            <a:off x="804672" y="4818888"/>
            <a:ext cx="5065776"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400"/>
              <a:buFont typeface="Calibri"/>
              <a:buNone/>
              <a:defRPr sz="1300">
                <a:solidFill>
                  <a:srgbClr val="FFFFFF"/>
                </a:solidFill>
                <a:latin typeface="Calibri"/>
                <a:ea typeface="Calibri"/>
                <a:cs typeface="Calibri"/>
              </a:defRPr>
            </a:pPr>
            <a:r>
              <a:rPr sz="1300" b="0" i="0" u="none" cap="none">
                <a:solidFill>
                  <a:srgbClr val="FFFFFF"/>
                </a:solidFill>
                <a:latin typeface="Calibri"/>
                <a:ea typeface="Calibri"/>
                <a:cs typeface="Calibri"/>
              </a:rPr>
              <a:t>Replace the two empty methods with this code. Compile and run again. What stays on the canvas even though draw() is empty?</a:t>
            </a:r>
            <a:endParaRPr sz="1400" b="0" i="0" u="none" cap="none">
              <a:solidFill>
                <a:schemeClr val="dk1"/>
              </a:solidFill>
              <a:latin typeface="Calibri"/>
              <a:ea typeface="Calibri"/>
              <a:cs typeface="Calibri"/>
            </a:endParaRPr>
          </a:p>
        </p:txBody>
      </p:sp>
      <p:sp>
        <p:nvSpPr>
          <p:cNvPr id="131" name="Google Shape;131;p9">
            <a:extLst xmlns:a="http://schemas.openxmlformats.org/drawingml/2006/main">
              <a:ext uri="{FF2B5EF4-FFF2-40B4-BE49-F238E27FC236}">
                <a16:creationId xmlns:a16="http://schemas.microsoft.com/office/drawing/2014/main" id="{7981474B-1FFA-4341-8576-32CADEC1230B}"/>
              </a:ext>
            </a:extLst>
          </p:cNvPr>
          <p:cNvSpPr>
            <a:spLocks xmlns:a="http://schemas.openxmlformats.org/drawingml/2006/main" noGrp="1"/>
          </p:cNvSpPr>
          <p:nvPr/>
        </p:nvSpPr>
        <p:spPr>
          <a:xfrm xmlns:a="http://schemas.openxmlformats.org/drawingml/2006/main">
            <a:off x="6400800" y="1325880"/>
            <a:ext cx="5257800" cy="4800600"/>
          </a:xfrm>
          <a:prstGeom xmlns:a="http://schemas.openxmlformats.org/drawingml/2006/main" prst="roundRect">
            <a:avLst>
              <a:gd name="adj" fmla="val 1905"/>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9">
            <a:extLst xmlns:a="http://schemas.openxmlformats.org/drawingml/2006/main">
              <a:ext uri="{FF2B5EF4-FFF2-40B4-BE49-F238E27FC236}">
                <a16:creationId xmlns:a16="http://schemas.microsoft.com/office/drawing/2014/main" id="{A4EBC718-45C3-4511-B5A7-D803DCBEEC34}"/>
              </a:ext>
            </a:extLst>
          </p:cNvPr>
          <p:cNvSpPr>
            <a:spLocks xmlns:a="http://schemas.openxmlformats.org/drawingml/2006/main" noGrp="1"/>
          </p:cNvSpPr>
          <p:nvPr/>
        </p:nvSpPr>
        <p:spPr>
          <a:xfrm xmlns:a="http://schemas.openxmlformats.org/drawingml/2006/main">
            <a:off x="6656832" y="1527048"/>
            <a:ext cx="474573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Success check</a:t>
            </a:r>
            <a:endParaRPr sz="1400" b="0" i="0" u="none" cap="none">
              <a:solidFill>
                <a:schemeClr val="dk1"/>
              </a:solidFill>
              <a:latin typeface="Calibri"/>
              <a:ea typeface="Calibri"/>
              <a:cs typeface="Calibri"/>
            </a:endParaRPr>
          </a:p>
        </p:txBody>
      </p:sp>
      <p:sp>
        <p:nvSpPr>
          <p:cNvPr id="133" name="Google Shape;133;p9">
            <a:extLst xmlns:a="http://schemas.openxmlformats.org/drawingml/2006/main">
              <a:ext uri="{FF2B5EF4-FFF2-40B4-BE49-F238E27FC236}">
                <a16:creationId xmlns:a16="http://schemas.microsoft.com/office/drawing/2014/main" id="{BC081A8B-6FAB-4A26-A2C4-ACE5E9775A81}"/>
              </a:ext>
            </a:extLst>
          </p:cNvPr>
          <p:cNvSpPr>
            <a:spLocks xmlns:a="http://schemas.openxmlformats.org/drawingml/2006/main" noGrp="1"/>
          </p:cNvSpPr>
          <p:nvPr/>
        </p:nvSpPr>
        <p:spPr>
          <a:xfrm xmlns:a="http://schemas.openxmlformats.org/drawingml/2006/main">
            <a:off x="6656832" y="1892808"/>
            <a:ext cx="4745736" cy="4069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You should see one orange circle on a light-gray canvas.</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setup() ran once. The pixels remain visible because nothing clears or paints over them.</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Close the sketch before editing again.</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62226512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2" name="Google Shape;122;p9">
            <a:extLst xmlns:a="http://schemas.openxmlformats.org/drawingml/2006/main">
              <a:ext uri="{FF2B5EF4-FFF2-40B4-BE49-F238E27FC236}">
                <a16:creationId xmlns:a16="http://schemas.microsoft.com/office/drawing/2014/main" id="{B3FB4AE1-80AD-48D7-B441-DB2220A6974E}"/>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Predict Before You Run</a:t>
            </a:r>
            <a:endParaRPr sz="2900" b="0" i="0" u="none" cap="none">
              <a:solidFill>
                <a:schemeClr val="dk1"/>
              </a:solidFill>
              <a:latin typeface="Calibri"/>
              <a:ea typeface="Calibri"/>
              <a:cs typeface="Calibri"/>
            </a:endParaRPr>
          </a:p>
        </p:txBody>
      </p:sp>
      <p:sp>
        <p:nvSpPr>
          <p:cNvPr id="123" name="Google Shape;123;p9">
            <a:extLst xmlns:a="http://schemas.openxmlformats.org/drawingml/2006/main">
              <a:ext uri="{FF2B5EF4-FFF2-40B4-BE49-F238E27FC236}">
                <a16:creationId xmlns:a16="http://schemas.microsoft.com/office/drawing/2014/main" id="{A770BC6D-1F4A-4B13-BAA0-003E1E3FF637}"/>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Move the ellipse into draw(), but leave background() in setup()</a:t>
            </a:r>
            <a:endParaRPr sz="1500" b="0" i="0" u="none" cap="none">
              <a:solidFill>
                <a:schemeClr val="dk1"/>
              </a:solidFill>
              <a:latin typeface="Calibri"/>
              <a:ea typeface="Calibri"/>
              <a:cs typeface="Calibri"/>
            </a:endParaRPr>
          </a:p>
        </p:txBody>
      </p:sp>
      <p:sp>
        <p:nvSpPr>
          <p:cNvPr id="124" name="Google Shape;124;p9">
            <a:extLst xmlns:a="http://schemas.openxmlformats.org/drawingml/2006/main">
              <a:ext uri="{FF2B5EF4-FFF2-40B4-BE49-F238E27FC236}">
                <a16:creationId xmlns:a16="http://schemas.microsoft.com/office/drawing/2014/main" id="{52096F18-6616-45B6-87A8-82A65ABEF6B8}"/>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125" name="Google Shape;125;p9">
            <a:extLst xmlns:a="http://schemas.openxmlformats.org/drawingml/2006/main">
              <a:ext uri="{FF2B5EF4-FFF2-40B4-BE49-F238E27FC236}">
                <a16:creationId xmlns:a16="http://schemas.microsoft.com/office/drawing/2014/main" id="{8D8BB97A-2471-4483-A002-213F64C5961D}"/>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126" name="Google Shape;126;p9">
            <a:extLst xmlns:a="http://schemas.openxmlformats.org/drawingml/2006/main">
              <a:ext uri="{FF2B5EF4-FFF2-40B4-BE49-F238E27FC236}">
                <a16:creationId xmlns:a16="http://schemas.microsoft.com/office/drawing/2014/main" id="{8F6377A5-8223-40CA-B38D-111EC04F8255}"/>
              </a:ext>
            </a:extLst>
          </p:cNvPr>
          <p:cNvSpPr>
            <a:spLocks xmlns:a="http://schemas.openxmlformats.org/drawingml/2006/main" noGrp="1"/>
          </p:cNvSpPr>
          <p:nvPr/>
        </p:nvSpPr>
        <p:spPr>
          <a:xfrm xmlns:a="http://schemas.openxmlformats.org/drawingml/2006/main">
            <a:off x="548640" y="1325880"/>
            <a:ext cx="5577840" cy="2743200"/>
          </a:xfrm>
          <a:prstGeom xmlns:a="http://schemas.openxmlformats.org/drawingml/2006/main" prst="roundRect">
            <a:avLst>
              <a:gd name="adj" fmla="val 2667"/>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7" name="Google Shape;127;p9">
            <a:extLst xmlns:a="http://schemas.openxmlformats.org/drawingml/2006/main">
              <a:ext uri="{FF2B5EF4-FFF2-40B4-BE49-F238E27FC236}">
                <a16:creationId xmlns:a16="http://schemas.microsoft.com/office/drawing/2014/main" id="{83EA8698-0CCC-4CFF-87E3-3D94B62F49B4}"/>
              </a:ext>
            </a:extLst>
          </p:cNvPr>
          <p:cNvSpPr>
            <a:spLocks xmlns:a="http://schemas.openxmlformats.org/drawingml/2006/main" noGrp="1"/>
          </p:cNvSpPr>
          <p:nvPr/>
        </p:nvSpPr>
        <p:spPr>
          <a:xfrm xmlns:a="http://schemas.openxmlformats.org/drawingml/2006/main">
            <a:off x="822960" y="1527048"/>
            <a:ext cx="5029200" cy="23408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FD0FF"/>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public void setup()</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    background(220);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    noStroke();</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    fill(255, 170, 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pPr>
            <a:r>
              <a:rPr sz="1300" b="0" i="0" u="none" cap="none">
                <a:solidFill>
                  <a:srgbClr val="8FD0FF"/>
                </a:solidFill>
                <a:latin typeface="Courier New"/>
                <a:ea typeface="Courier New"/>
                <a:cs typeface="Courier New"/>
              </a:rPr>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public void draw()</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    ellipse(mouseX, mouseY, 40, 40);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p:txBody>
      </p:sp>
      <p:sp>
        <p:nvSpPr>
          <p:cNvPr id="128" name="Google Shape;128;p9">
            <a:extLst xmlns:a="http://schemas.openxmlformats.org/drawingml/2006/main">
              <a:ext uri="{FF2B5EF4-FFF2-40B4-BE49-F238E27FC236}">
                <a16:creationId xmlns:a16="http://schemas.microsoft.com/office/drawing/2014/main" id="{15B44720-03AF-45A3-A341-22AA905A00F9}"/>
              </a:ext>
            </a:extLst>
          </p:cNvPr>
          <p:cNvSpPr>
            <a:spLocks xmlns:a="http://schemas.openxmlformats.org/drawingml/2006/main" noGrp="1"/>
          </p:cNvSpPr>
          <p:nvPr/>
        </p:nvSpPr>
        <p:spPr>
          <a:xfrm xmlns:a="http://schemas.openxmlformats.org/drawingml/2006/main">
            <a:off x="548640" y="4251960"/>
            <a:ext cx="5577840" cy="1874520"/>
          </a:xfrm>
          <a:prstGeom xmlns:a="http://schemas.openxmlformats.org/drawingml/2006/main" prst="roundRect">
            <a:avLst>
              <a:gd name="adj" fmla="val 4878"/>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9" name="Google Shape;129;p9">
            <a:extLst xmlns:a="http://schemas.openxmlformats.org/drawingml/2006/main">
              <a:ext uri="{FF2B5EF4-FFF2-40B4-BE49-F238E27FC236}">
                <a16:creationId xmlns:a16="http://schemas.microsoft.com/office/drawing/2014/main" id="{E0E1E120-D247-4BB9-A10B-1BABBBFAEF48}"/>
              </a:ext>
            </a:extLst>
          </p:cNvPr>
          <p:cNvSpPr>
            <a:spLocks xmlns:a="http://schemas.openxmlformats.org/drawingml/2006/main" noGrp="1"/>
          </p:cNvSpPr>
          <p:nvPr/>
        </p:nvSpPr>
        <p:spPr>
          <a:xfrm xmlns:a="http://schemas.openxmlformats.org/drawingml/2006/main">
            <a:off x="804672" y="4453128"/>
            <a:ext cx="50657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Do not run yet</a:t>
            </a:r>
            <a:endParaRPr sz="1400" b="0" i="0" u="none" cap="none">
              <a:solidFill>
                <a:schemeClr val="dk1"/>
              </a:solidFill>
              <a:latin typeface="Calibri"/>
              <a:ea typeface="Calibri"/>
              <a:cs typeface="Calibri"/>
            </a:endParaRPr>
          </a:p>
        </p:txBody>
      </p:sp>
      <p:sp>
        <p:nvSpPr>
          <p:cNvPr id="130" name="Google Shape;130;p9">
            <a:extLst xmlns:a="http://schemas.openxmlformats.org/drawingml/2006/main">
              <a:ext uri="{FF2B5EF4-FFF2-40B4-BE49-F238E27FC236}">
                <a16:creationId xmlns:a16="http://schemas.microsoft.com/office/drawing/2014/main" id="{BA6B7392-6C64-4C3F-9553-918DA823E3FD}"/>
              </a:ext>
            </a:extLst>
          </p:cNvPr>
          <p:cNvSpPr>
            <a:spLocks xmlns:a="http://schemas.openxmlformats.org/drawingml/2006/main" noGrp="1"/>
          </p:cNvSpPr>
          <p:nvPr/>
        </p:nvSpPr>
        <p:spPr>
          <a:xfrm xmlns:a="http://schemas.openxmlformats.org/drawingml/2006/main">
            <a:off x="804672" y="4818888"/>
            <a:ext cx="5065776"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400"/>
              <a:buFont typeface="Calibri"/>
              <a:buNone/>
              <a:defRPr sz="1300">
                <a:solidFill>
                  <a:srgbClr val="FFFFFF"/>
                </a:solidFill>
                <a:latin typeface="Calibri"/>
                <a:ea typeface="Calibri"/>
                <a:cs typeface="Calibri"/>
              </a:defRPr>
            </a:pPr>
            <a:r>
              <a:rPr sz="1300" b="0" i="0" u="none" cap="none">
                <a:solidFill>
                  <a:srgbClr val="FFFFFF"/>
                </a:solidFill>
                <a:latin typeface="Calibri"/>
                <a:ea typeface="Calibri"/>
                <a:cs typeface="Calibri"/>
              </a:rPr>
              <a:t>When you move the pointer across the sketch, will you see one moving circle or many circles forming a trail? Explain your prediction to a partner.</a:t>
            </a:r>
            <a:endParaRPr sz="1400" b="0" i="0" u="none" cap="none">
              <a:solidFill>
                <a:schemeClr val="dk1"/>
              </a:solidFill>
              <a:latin typeface="Calibri"/>
              <a:ea typeface="Calibri"/>
              <a:cs typeface="Calibri"/>
            </a:endParaRPr>
          </a:p>
        </p:txBody>
      </p:sp>
      <p:sp>
        <p:nvSpPr>
          <p:cNvPr id="131" name="Google Shape;131;p9">
            <a:extLst xmlns:a="http://schemas.openxmlformats.org/drawingml/2006/main">
              <a:ext uri="{FF2B5EF4-FFF2-40B4-BE49-F238E27FC236}">
                <a16:creationId xmlns:a16="http://schemas.microsoft.com/office/drawing/2014/main" id="{7981474B-1FFA-4341-8576-32CADEC1230B}"/>
              </a:ext>
            </a:extLst>
          </p:cNvPr>
          <p:cNvSpPr>
            <a:spLocks xmlns:a="http://schemas.openxmlformats.org/drawingml/2006/main" noGrp="1"/>
          </p:cNvSpPr>
          <p:nvPr/>
        </p:nvSpPr>
        <p:spPr>
          <a:xfrm xmlns:a="http://schemas.openxmlformats.org/drawingml/2006/main">
            <a:off x="6400800" y="1325880"/>
            <a:ext cx="5257800" cy="4800600"/>
          </a:xfrm>
          <a:prstGeom xmlns:a="http://schemas.openxmlformats.org/drawingml/2006/main" prst="roundRect">
            <a:avLst>
              <a:gd name="adj" fmla="val 1905"/>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9">
            <a:extLst xmlns:a="http://schemas.openxmlformats.org/drawingml/2006/main">
              <a:ext uri="{FF2B5EF4-FFF2-40B4-BE49-F238E27FC236}">
                <a16:creationId xmlns:a16="http://schemas.microsoft.com/office/drawing/2014/main" id="{A4EBC718-45C3-4511-B5A7-D803DCBEEC34}"/>
              </a:ext>
            </a:extLst>
          </p:cNvPr>
          <p:cNvSpPr>
            <a:spLocks xmlns:a="http://schemas.openxmlformats.org/drawingml/2006/main" noGrp="1"/>
          </p:cNvSpPr>
          <p:nvPr/>
        </p:nvSpPr>
        <p:spPr>
          <a:xfrm xmlns:a="http://schemas.openxmlformats.org/drawingml/2006/main">
            <a:off x="6656832" y="1527048"/>
            <a:ext cx="474573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Clue</a:t>
            </a:r>
            <a:endParaRPr sz="1400" b="0" i="0" u="none" cap="none">
              <a:solidFill>
                <a:schemeClr val="dk1"/>
              </a:solidFill>
              <a:latin typeface="Calibri"/>
              <a:ea typeface="Calibri"/>
              <a:cs typeface="Calibri"/>
            </a:endParaRPr>
          </a:p>
        </p:txBody>
      </p:sp>
      <p:sp>
        <p:nvSpPr>
          <p:cNvPr id="133" name="Google Shape;133;p9">
            <a:extLst xmlns:a="http://schemas.openxmlformats.org/drawingml/2006/main">
              <a:ext uri="{FF2B5EF4-FFF2-40B4-BE49-F238E27FC236}">
                <a16:creationId xmlns:a16="http://schemas.microsoft.com/office/drawing/2014/main" id="{BC081A8B-6FAB-4A26-A2C4-ACE5E9775A81}"/>
              </a:ext>
            </a:extLst>
          </p:cNvPr>
          <p:cNvSpPr>
            <a:spLocks xmlns:a="http://schemas.openxmlformats.org/drawingml/2006/main" noGrp="1"/>
          </p:cNvSpPr>
          <p:nvPr/>
        </p:nvSpPr>
        <p:spPr>
          <a:xfrm xmlns:a="http://schemas.openxmlformats.org/drawingml/2006/main">
            <a:off x="6656832" y="1892808"/>
            <a:ext cx="4745736" cy="4069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draw() repeats. mouseX and mouseY can change while the program runs.</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Ask one more question: what code will clear the previous circle before the next frame is drawn?</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6222651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2" name="Google Shape;122;p9">
            <a:extLst xmlns:a="http://schemas.openxmlformats.org/drawingml/2006/main">
              <a:ext uri="{FF2B5EF4-FFF2-40B4-BE49-F238E27FC236}">
                <a16:creationId xmlns:a16="http://schemas.microsoft.com/office/drawing/2014/main" id="{B3FB4AE1-80AD-48D7-B441-DB2220A6974E}"/>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Checkpoint 2: Build the Trail</a:t>
            </a:r>
            <a:endParaRPr sz="2900" b="0" i="0" u="none" cap="none">
              <a:solidFill>
                <a:schemeClr val="dk1"/>
              </a:solidFill>
              <a:latin typeface="Calibri"/>
              <a:ea typeface="Calibri"/>
              <a:cs typeface="Calibri"/>
            </a:endParaRPr>
          </a:p>
        </p:txBody>
      </p:sp>
      <p:sp>
        <p:nvSpPr>
          <p:cNvPr id="123" name="Google Shape;123;p9">
            <a:extLst xmlns:a="http://schemas.openxmlformats.org/drawingml/2006/main">
              <a:ext uri="{FF2B5EF4-FFF2-40B4-BE49-F238E27FC236}">
                <a16:creationId xmlns:a16="http://schemas.microsoft.com/office/drawing/2014/main" id="{A770BC6D-1F4A-4B13-BAA0-003E1E3FF637}"/>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Test the prediction with a working program</a:t>
            </a:r>
            <a:endParaRPr sz="1500" b="0" i="0" u="none" cap="none">
              <a:solidFill>
                <a:schemeClr val="dk1"/>
              </a:solidFill>
              <a:latin typeface="Calibri"/>
              <a:ea typeface="Calibri"/>
              <a:cs typeface="Calibri"/>
            </a:endParaRPr>
          </a:p>
        </p:txBody>
      </p:sp>
      <p:sp>
        <p:nvSpPr>
          <p:cNvPr id="124" name="Google Shape;124;p9">
            <a:extLst xmlns:a="http://schemas.openxmlformats.org/drawingml/2006/main">
              <a:ext uri="{FF2B5EF4-FFF2-40B4-BE49-F238E27FC236}">
                <a16:creationId xmlns:a16="http://schemas.microsoft.com/office/drawing/2014/main" id="{52096F18-6616-45B6-87A8-82A65ABEF6B8}"/>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125" name="Google Shape;125;p9">
            <a:extLst xmlns:a="http://schemas.openxmlformats.org/drawingml/2006/main">
              <a:ext uri="{FF2B5EF4-FFF2-40B4-BE49-F238E27FC236}">
                <a16:creationId xmlns:a16="http://schemas.microsoft.com/office/drawing/2014/main" id="{8D8BB97A-2471-4483-A002-213F64C5961D}"/>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126" name="Google Shape;126;p9">
            <a:extLst xmlns:a="http://schemas.openxmlformats.org/drawingml/2006/main">
              <a:ext uri="{FF2B5EF4-FFF2-40B4-BE49-F238E27FC236}">
                <a16:creationId xmlns:a16="http://schemas.microsoft.com/office/drawing/2014/main" id="{8F6377A5-8223-40CA-B38D-111EC04F8255}"/>
              </a:ext>
            </a:extLst>
          </p:cNvPr>
          <p:cNvSpPr>
            <a:spLocks xmlns:a="http://schemas.openxmlformats.org/drawingml/2006/main" noGrp="1"/>
          </p:cNvSpPr>
          <p:nvPr/>
        </p:nvSpPr>
        <p:spPr>
          <a:xfrm xmlns:a="http://schemas.openxmlformats.org/drawingml/2006/main">
            <a:off x="548640" y="1325880"/>
            <a:ext cx="5577840" cy="2743200"/>
          </a:xfrm>
          <a:prstGeom xmlns:a="http://schemas.openxmlformats.org/drawingml/2006/main" prst="roundRect">
            <a:avLst>
              <a:gd name="adj" fmla="val 2667"/>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7" name="Google Shape;127;p9">
            <a:extLst xmlns:a="http://schemas.openxmlformats.org/drawingml/2006/main">
              <a:ext uri="{FF2B5EF4-FFF2-40B4-BE49-F238E27FC236}">
                <a16:creationId xmlns:a16="http://schemas.microsoft.com/office/drawing/2014/main" id="{83EA8698-0CCC-4CFF-87E3-3D94B62F49B4}"/>
              </a:ext>
            </a:extLst>
          </p:cNvPr>
          <p:cNvSpPr>
            <a:spLocks xmlns:a="http://schemas.openxmlformats.org/drawingml/2006/main" noGrp="1"/>
          </p:cNvSpPr>
          <p:nvPr/>
        </p:nvSpPr>
        <p:spPr>
          <a:xfrm xmlns:a="http://schemas.openxmlformats.org/drawingml/2006/main">
            <a:off x="822960" y="1527048"/>
            <a:ext cx="5029200" cy="23408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50" i="0">
                <a:solidFill>
                  <a:srgbClr val="CADCFC"/>
                </a:solidFill>
                <a:latin typeface="Courier New"/>
                <a:ea typeface="Courier New"/>
                <a:cs typeface="Courier New"/>
              </a:defRPr>
            </a:pPr>
            <a:r>
              <a:rPr sz="1350" b="0" i="0" u="none" cap="none">
                <a:solidFill>
                  <a:srgbClr val="CADCFC"/>
                </a:solidFill>
                <a:latin typeface="Courier New"/>
                <a:ea typeface="Courier New"/>
                <a:cs typeface="Courier New"/>
              </a:rPr>
              <a:t>public void draw()</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350" i="0">
                <a:solidFill>
                  <a:srgbClr val="CADCFC"/>
                </a:solidFill>
                <a:latin typeface="Courier New"/>
                <a:ea typeface="Courier New"/>
                <a:cs typeface="Courier New"/>
              </a:defRPr>
            </a:pPr>
            <a:r>
              <a:rPr sz="1350"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50" i="0">
                <a:solidFill>
                  <a:srgbClr val="CADCFC"/>
                </a:solidFill>
                <a:latin typeface="Courier New"/>
                <a:ea typeface="Courier New"/>
                <a:cs typeface="Courier New"/>
              </a:defRPr>
            </a:pPr>
            <a:r>
              <a:rPr sz="1350" b="0" i="0" u="none" cap="none">
                <a:solidFill>
                  <a:srgbClr val="CADCFC"/>
                </a:solidFill>
                <a:latin typeface="Courier New"/>
                <a:ea typeface="Courier New"/>
                <a:cs typeface="Courier New"/>
              </a:rPr>
              <a:t>    ellipse(mouseX, mouseY, 40, 40);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50" i="0">
                <a:solidFill>
                  <a:srgbClr val="CADCFC"/>
                </a:solidFill>
                <a:latin typeface="Courier New"/>
                <a:ea typeface="Courier New"/>
                <a:cs typeface="Courier New"/>
              </a:defRPr>
            </a:pPr>
            <a:r>
              <a:rPr sz="1350"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p:txBody>
      </p:sp>
      <p:sp>
        <p:nvSpPr>
          <p:cNvPr id="128" name="Google Shape;128;p9">
            <a:extLst xmlns:a="http://schemas.openxmlformats.org/drawingml/2006/main">
              <a:ext uri="{FF2B5EF4-FFF2-40B4-BE49-F238E27FC236}">
                <a16:creationId xmlns:a16="http://schemas.microsoft.com/office/drawing/2014/main" id="{15B44720-03AF-45A3-A341-22AA905A00F9}"/>
              </a:ext>
            </a:extLst>
          </p:cNvPr>
          <p:cNvSpPr>
            <a:spLocks xmlns:a="http://schemas.openxmlformats.org/drawingml/2006/main" noGrp="1"/>
          </p:cNvSpPr>
          <p:nvPr/>
        </p:nvSpPr>
        <p:spPr>
          <a:xfrm xmlns:a="http://schemas.openxmlformats.org/drawingml/2006/main">
            <a:off x="548640" y="4251960"/>
            <a:ext cx="5577840" cy="1874520"/>
          </a:xfrm>
          <a:prstGeom xmlns:a="http://schemas.openxmlformats.org/drawingml/2006/main" prst="roundRect">
            <a:avLst>
              <a:gd name="adj" fmla="val 4878"/>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9" name="Google Shape;129;p9">
            <a:extLst xmlns:a="http://schemas.openxmlformats.org/drawingml/2006/main">
              <a:ext uri="{FF2B5EF4-FFF2-40B4-BE49-F238E27FC236}">
                <a16:creationId xmlns:a16="http://schemas.microsoft.com/office/drawing/2014/main" id="{E0E1E120-D247-4BB9-A10B-1BABBBFAEF48}"/>
              </a:ext>
            </a:extLst>
          </p:cNvPr>
          <p:cNvSpPr>
            <a:spLocks xmlns:a="http://schemas.openxmlformats.org/drawingml/2006/main" noGrp="1"/>
          </p:cNvSpPr>
          <p:nvPr/>
        </p:nvSpPr>
        <p:spPr>
          <a:xfrm xmlns:a="http://schemas.openxmlformats.org/drawingml/2006/main">
            <a:off x="804672" y="4453128"/>
            <a:ext cx="50657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Run the experiment</a:t>
            </a:r>
            <a:endParaRPr sz="1400" b="0" i="0" u="none" cap="none">
              <a:solidFill>
                <a:schemeClr val="dk1"/>
              </a:solidFill>
              <a:latin typeface="Calibri"/>
              <a:ea typeface="Calibri"/>
              <a:cs typeface="Calibri"/>
            </a:endParaRPr>
          </a:p>
        </p:txBody>
      </p:sp>
      <p:sp>
        <p:nvSpPr>
          <p:cNvPr id="130" name="Google Shape;130;p9">
            <a:extLst xmlns:a="http://schemas.openxmlformats.org/drawingml/2006/main">
              <a:ext uri="{FF2B5EF4-FFF2-40B4-BE49-F238E27FC236}">
                <a16:creationId xmlns:a16="http://schemas.microsoft.com/office/drawing/2014/main" id="{BA6B7392-6C64-4C3F-9553-918DA823E3FD}"/>
              </a:ext>
            </a:extLst>
          </p:cNvPr>
          <p:cNvSpPr>
            <a:spLocks xmlns:a="http://schemas.openxmlformats.org/drawingml/2006/main" noGrp="1"/>
          </p:cNvSpPr>
          <p:nvPr/>
        </p:nvSpPr>
        <p:spPr>
          <a:xfrm xmlns:a="http://schemas.openxmlformats.org/drawingml/2006/main">
            <a:off x="804672" y="4818888"/>
            <a:ext cx="5065776"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300">
                <a:solidFill>
                  <a:srgbClr val="FFFFFF"/>
                </a:solidFill>
                <a:latin typeface="Calibri"/>
                <a:ea typeface="Calibri"/>
                <a:cs typeface="Calibri"/>
              </a:defRPr>
            </a:pPr>
            <a:r>
              <a:rPr sz="1300">
                <a:solidFill>
                  <a:srgbClr val="FFFFFF"/>
                </a:solidFill>
                <a:latin typeface="Calibri"/>
                <a:ea typeface="Calibri"/>
                <a:cs typeface="Calibri"/>
              </a:rPr>
              <a:t>1  Move ellipse() from setup() into draw().</a:t>
            </a:r>
          </a:p>
          <a:p xmlns:a="http://schemas.openxmlformats.org/drawingml/2006/main">
            <a:pPr marL="0" indent="0">
              <a:buNone/>
              <a:defRPr sz="1300">
                <a:solidFill>
                  <a:srgbClr val="FFFFFF"/>
                </a:solidFill>
                <a:latin typeface="Calibri"/>
                <a:ea typeface="Calibri"/>
                <a:cs typeface="Calibri"/>
              </a:defRPr>
            </a:pPr>
            <a:r>
              <a:rPr sz="1300">
                <a:solidFill>
                  <a:srgbClr val="FFFFFF"/>
                </a:solidFill>
                <a:latin typeface="Calibri"/>
                <a:ea typeface="Calibri"/>
                <a:cs typeface="Calibri"/>
              </a:rPr>
              <a:t>2  Change its center to mouseX, mouseY.</a:t>
            </a:r>
          </a:p>
          <a:p xmlns:a="http://schemas.openxmlformats.org/drawingml/2006/main">
            <a:pPr marL="0" indent="0">
              <a:buNone/>
              <a:defRPr sz="1300">
                <a:solidFill>
                  <a:srgbClr val="FFFFFF"/>
                </a:solidFill>
                <a:latin typeface="Calibri"/>
                <a:ea typeface="Calibri"/>
                <a:cs typeface="Calibri"/>
              </a:defRPr>
            </a:pPr>
            <a:r>
              <a:rPr sz="1300">
                <a:solidFill>
                  <a:srgbClr val="FFFFFF"/>
                </a:solidFill>
                <a:latin typeface="Calibri"/>
                <a:ea typeface="Calibri"/>
                <a:cs typeface="Calibri"/>
              </a:rPr>
              <a:t>3  Compile and run.</a:t>
            </a:r>
          </a:p>
          <a:p xmlns:a="http://schemas.openxmlformats.org/drawingml/2006/main">
            <a:pPr marL="0" indent="0">
              <a:buNone/>
              <a:defRPr sz="1300">
                <a:solidFill>
                  <a:srgbClr val="FFFFFF"/>
                </a:solidFill>
                <a:latin typeface="Calibri"/>
                <a:ea typeface="Calibri"/>
                <a:cs typeface="Calibri"/>
              </a:defRPr>
            </a:pPr>
            <a:r>
              <a:rPr sz="1300">
                <a:solidFill>
                  <a:srgbClr val="FFFFFF"/>
                </a:solidFill>
                <a:latin typeface="Calibri"/>
                <a:ea typeface="Calibri"/>
                <a:cs typeface="Calibri"/>
              </a:rPr>
              <a:t>4  Move the pointer slowly across the window.</a:t>
            </a:r>
          </a:p>
        </p:txBody>
      </p:sp>
      <p:sp>
        <p:nvSpPr>
          <p:cNvPr id="131" name="Google Shape;131;p9">
            <a:extLst xmlns:a="http://schemas.openxmlformats.org/drawingml/2006/main">
              <a:ext uri="{FF2B5EF4-FFF2-40B4-BE49-F238E27FC236}">
                <a16:creationId xmlns:a16="http://schemas.microsoft.com/office/drawing/2014/main" id="{7981474B-1FFA-4341-8576-32CADEC1230B}"/>
              </a:ext>
            </a:extLst>
          </p:cNvPr>
          <p:cNvSpPr>
            <a:spLocks xmlns:a="http://schemas.openxmlformats.org/drawingml/2006/main" noGrp="1"/>
          </p:cNvSpPr>
          <p:nvPr/>
        </p:nvSpPr>
        <p:spPr>
          <a:xfrm xmlns:a="http://schemas.openxmlformats.org/drawingml/2006/main">
            <a:off x="6400800" y="1325880"/>
            <a:ext cx="5257800" cy="4800600"/>
          </a:xfrm>
          <a:prstGeom xmlns:a="http://schemas.openxmlformats.org/drawingml/2006/main" prst="roundRect">
            <a:avLst>
              <a:gd name="adj" fmla="val 1905"/>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9">
            <a:extLst xmlns:a="http://schemas.openxmlformats.org/drawingml/2006/main">
              <a:ext uri="{FF2B5EF4-FFF2-40B4-BE49-F238E27FC236}">
                <a16:creationId xmlns:a16="http://schemas.microsoft.com/office/drawing/2014/main" id="{A4EBC718-45C3-4511-B5A7-D803DCBEEC34}"/>
              </a:ext>
            </a:extLst>
          </p:cNvPr>
          <p:cNvSpPr>
            <a:spLocks xmlns:a="http://schemas.openxmlformats.org/drawingml/2006/main" noGrp="1"/>
          </p:cNvSpPr>
          <p:nvPr/>
        </p:nvSpPr>
        <p:spPr>
          <a:xfrm xmlns:a="http://schemas.openxmlformats.org/drawingml/2006/main">
            <a:off x="6656832" y="1527048"/>
            <a:ext cx="474573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Expected observation</a:t>
            </a:r>
            <a:endParaRPr sz="1400" b="0" i="0" u="none" cap="none">
              <a:solidFill>
                <a:schemeClr val="dk1"/>
              </a:solidFill>
              <a:latin typeface="Calibri"/>
              <a:ea typeface="Calibri"/>
              <a:cs typeface="Calibri"/>
            </a:endParaRPr>
          </a:p>
        </p:txBody>
      </p:sp>
      <p:sp>
        <p:nvSpPr>
          <p:cNvPr id="133" name="Google Shape;133;p9">
            <a:extLst xmlns:a="http://schemas.openxmlformats.org/drawingml/2006/main">
              <a:ext uri="{FF2B5EF4-FFF2-40B4-BE49-F238E27FC236}">
                <a16:creationId xmlns:a16="http://schemas.microsoft.com/office/drawing/2014/main" id="{BC081A8B-6FAB-4A26-A2C4-ACE5E9775A81}"/>
              </a:ext>
            </a:extLst>
          </p:cNvPr>
          <p:cNvSpPr>
            <a:spLocks xmlns:a="http://schemas.openxmlformats.org/drawingml/2006/main" noGrp="1"/>
          </p:cNvSpPr>
          <p:nvPr/>
        </p:nvSpPr>
        <p:spPr>
          <a:xfrm xmlns:a="http://schemas.openxmlformats.org/drawingml/2006/main">
            <a:off x="6656832" y="1892808"/>
            <a:ext cx="4745736" cy="4069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Many overlapping circles remain on the canvas, creating a trail.</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This proves draw() keeps adding new pixels while background() has only run once.</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Keep this working version before the next change.</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6222651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7" name="Google Shape;97;p8">
            <a:extLst xmlns:a="http://schemas.openxmlformats.org/drawingml/2006/main">
              <a:ext uri="{FF2B5EF4-FFF2-40B4-BE49-F238E27FC236}">
                <a16:creationId xmlns:a16="http://schemas.microsoft.com/office/drawing/2014/main" id="{FCA42E42-7AB2-412D-89D3-F024AAF68E3D}"/>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Why the Trail Appears</a:t>
            </a:r>
            <a:endParaRPr sz="2900" b="0" i="0" u="none" cap="none">
              <a:solidFill>
                <a:schemeClr val="dk1"/>
              </a:solidFill>
              <a:latin typeface="Calibri"/>
              <a:ea typeface="Calibri"/>
              <a:cs typeface="Calibri"/>
            </a:endParaRPr>
          </a:p>
        </p:txBody>
      </p:sp>
      <p:sp>
        <p:nvSpPr>
          <p:cNvPr id="98" name="Google Shape;98;p8">
            <a:extLst xmlns:a="http://schemas.openxmlformats.org/drawingml/2006/main">
              <a:ext uri="{FF2B5EF4-FFF2-40B4-BE49-F238E27FC236}">
                <a16:creationId xmlns:a16="http://schemas.microsoft.com/office/drawing/2014/main" id="{33E0E731-06B7-449B-AA4D-A121319BF2AA}"/>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Each frame adds a circle; earlier pixels remain</a:t>
            </a:r>
            <a:endParaRPr sz="1500" b="0" i="0" u="none" cap="none">
              <a:solidFill>
                <a:schemeClr val="dk1"/>
              </a:solidFill>
              <a:latin typeface="Calibri"/>
              <a:ea typeface="Calibri"/>
              <a:cs typeface="Calibri"/>
            </a:endParaRPr>
          </a:p>
        </p:txBody>
      </p:sp>
      <p:sp>
        <p:nvSpPr>
          <p:cNvPr id="99" name="Google Shape;99;p8">
            <a:extLst xmlns:a="http://schemas.openxmlformats.org/drawingml/2006/main">
              <a:ext uri="{FF2B5EF4-FFF2-40B4-BE49-F238E27FC236}">
                <a16:creationId xmlns:a16="http://schemas.microsoft.com/office/drawing/2014/main" id="{527D28A2-E688-40FF-8B58-BD30F35ED13B}"/>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100" name="Google Shape;100;p8">
            <a:extLst xmlns:a="http://schemas.openxmlformats.org/drawingml/2006/main">
              <a:ext uri="{FF2B5EF4-FFF2-40B4-BE49-F238E27FC236}">
                <a16:creationId xmlns:a16="http://schemas.microsoft.com/office/drawing/2014/main" id="{97FAD421-2639-49CB-A29F-8B3214EF973C}"/>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101" name="Google Shape;101;p8">
            <a:extLst xmlns:a="http://schemas.openxmlformats.org/drawingml/2006/main">
              <a:ext uri="{FF2B5EF4-FFF2-40B4-BE49-F238E27FC236}">
                <a16:creationId xmlns:a16="http://schemas.microsoft.com/office/drawing/2014/main" id="{6546CB29-8A34-4C04-BEB2-EB961C8D598D}"/>
              </a:ext>
            </a:extLst>
          </p:cNvPr>
          <p:cNvSpPr>
            <a:spLocks xmlns:a="http://schemas.openxmlformats.org/drawingml/2006/main" noGrp="1"/>
          </p:cNvSpPr>
          <p:nvPr/>
        </p:nvSpPr>
        <p:spPr>
          <a:xfrm xmlns:a="http://schemas.openxmlformats.org/drawingml/2006/main">
            <a:off x="548640" y="1325880"/>
            <a:ext cx="5577840" cy="2743200"/>
          </a:xfrm>
          <a:prstGeom xmlns:a="http://schemas.openxmlformats.org/drawingml/2006/main" prst="roundRect">
            <a:avLst>
              <a:gd name="adj" fmla="val 2667"/>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2" name="Google Shape;102;p8">
            <a:extLst xmlns:a="http://schemas.openxmlformats.org/drawingml/2006/main">
              <a:ext uri="{FF2B5EF4-FFF2-40B4-BE49-F238E27FC236}">
                <a16:creationId xmlns:a16="http://schemas.microsoft.com/office/drawing/2014/main" id="{CCCC8491-5758-4FFF-9AA6-07DDA8506FCB}"/>
              </a:ext>
            </a:extLst>
          </p:cNvPr>
          <p:cNvSpPr>
            <a:spLocks xmlns:a="http://schemas.openxmlformats.org/drawingml/2006/main" noGrp="1"/>
          </p:cNvSpPr>
          <p:nvPr/>
        </p:nvSpPr>
        <p:spPr>
          <a:xfrm xmlns:a="http://schemas.openxmlformats.org/drawingml/2006/main">
            <a:off x="777240" y="1490472"/>
            <a:ext cx="5120640" cy="24140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draw() runs again for every frame</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mouseX and mouseY may be different</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ellipse() paints at the current pointer position</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no command clears the earlier circles</a:t>
            </a:r>
          </a:p>
        </p:txBody>
      </p:sp>
      <p:sp>
        <p:nvSpPr>
          <p:cNvPr id="103" name="Google Shape;103;p8">
            <a:extLst xmlns:a="http://schemas.openxmlformats.org/drawingml/2006/main">
              <a:ext uri="{FF2B5EF4-FFF2-40B4-BE49-F238E27FC236}">
                <a16:creationId xmlns:a16="http://schemas.microsoft.com/office/drawing/2014/main" id="{1E784ED6-CE1C-45D3-A28F-AE08D359A235}"/>
              </a:ext>
            </a:extLst>
          </p:cNvPr>
          <p:cNvSpPr>
            <a:spLocks xmlns:a="http://schemas.openxmlformats.org/drawingml/2006/main" noGrp="1"/>
          </p:cNvSpPr>
          <p:nvPr/>
        </p:nvSpPr>
        <p:spPr>
          <a:xfrm xmlns:a="http://schemas.openxmlformats.org/drawingml/2006/main">
            <a:off x="548640" y="4251960"/>
            <a:ext cx="5577840" cy="1737360"/>
          </a:xfrm>
          <a:prstGeom xmlns:a="http://schemas.openxmlformats.org/drawingml/2006/main" prst="roundRect">
            <a:avLst>
              <a:gd name="adj" fmla="val 5263"/>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4" name="Google Shape;104;p8">
            <a:extLst xmlns:a="http://schemas.openxmlformats.org/drawingml/2006/main">
              <a:ext uri="{FF2B5EF4-FFF2-40B4-BE49-F238E27FC236}">
                <a16:creationId xmlns:a16="http://schemas.microsoft.com/office/drawing/2014/main" id="{FD9B4B9D-80CA-445D-A30C-B66AC9A9D7AF}"/>
              </a:ext>
            </a:extLst>
          </p:cNvPr>
          <p:cNvSpPr>
            <a:spLocks xmlns:a="http://schemas.openxmlformats.org/drawingml/2006/main" noGrp="1"/>
          </p:cNvSpPr>
          <p:nvPr/>
        </p:nvSpPr>
        <p:spPr>
          <a:xfrm xmlns:a="http://schemas.openxmlformats.org/drawingml/2006/main">
            <a:off x="804672" y="4453128"/>
            <a:ext cx="50657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Be precise</a:t>
            </a:r>
            <a:endParaRPr sz="1400" b="0" i="0" u="none" cap="none">
              <a:solidFill>
                <a:schemeClr val="dk1"/>
              </a:solidFill>
              <a:latin typeface="Calibri"/>
              <a:ea typeface="Calibri"/>
              <a:cs typeface="Calibri"/>
            </a:endParaRPr>
          </a:p>
        </p:txBody>
      </p:sp>
      <p:sp>
        <p:nvSpPr>
          <p:cNvPr id="105" name="Google Shape;105;p8">
            <a:extLst xmlns:a="http://schemas.openxmlformats.org/drawingml/2006/main">
              <a:ext uri="{FF2B5EF4-FFF2-40B4-BE49-F238E27FC236}">
                <a16:creationId xmlns:a16="http://schemas.microsoft.com/office/drawing/2014/main" id="{DB85FCF3-1086-4074-8FA8-85C978820D10}"/>
              </a:ext>
            </a:extLst>
          </p:cNvPr>
          <p:cNvSpPr>
            <a:spLocks xmlns:a="http://schemas.openxmlformats.org/drawingml/2006/main" noGrp="1"/>
          </p:cNvSpPr>
          <p:nvPr/>
        </p:nvSpPr>
        <p:spPr>
          <a:xfrm xmlns:a="http://schemas.openxmlformats.org/drawingml/2006/main">
            <a:off x="804672" y="4818888"/>
            <a:ext cx="5065776"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The trail does not mean setup() repeats. setup() painted the background once; draw() keeps adding circles afterward.</a:t>
            </a:r>
            <a:endParaRPr sz="1400" b="0" i="0" u="none" cap="none">
              <a:solidFill>
                <a:schemeClr val="dk1"/>
              </a:solidFill>
              <a:latin typeface="Calibri"/>
              <a:ea typeface="Calibri"/>
              <a:cs typeface="Calibri"/>
            </a:endParaRPr>
          </a:p>
        </p:txBody>
      </p:sp>
      <p:sp>
        <p:nvSpPr>
          <p:cNvPr id="106" name="Google Shape;106;p8">
            <a:extLst xmlns:a="http://schemas.openxmlformats.org/drawingml/2006/main">
              <a:ext uri="{FF2B5EF4-FFF2-40B4-BE49-F238E27FC236}">
                <a16:creationId xmlns:a16="http://schemas.microsoft.com/office/drawing/2014/main" id="{26DDF37A-C82E-4EB7-85D3-CD9682AF595B}"/>
              </a:ext>
            </a:extLst>
          </p:cNvPr>
          <p:cNvSpPr>
            <a:spLocks xmlns:a="http://schemas.openxmlformats.org/drawingml/2006/main" noGrp="1"/>
          </p:cNvSpPr>
          <p:nvPr/>
        </p:nvSpPr>
        <p:spPr>
          <a:xfrm xmlns:a="http://schemas.openxmlformats.org/drawingml/2006/main">
            <a:off x="6400800" y="1325880"/>
            <a:ext cx="5257800" cy="4663440"/>
          </a:xfrm>
          <a:prstGeom xmlns:a="http://schemas.openxmlformats.org/drawingml/2006/main" prst="roundRect">
            <a:avLst>
              <a:gd name="adj" fmla="val 1176"/>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7" name="Google Shape;107;p8">
            <a:extLst xmlns:a="http://schemas.openxmlformats.org/drawingml/2006/main">
              <a:ext uri="{FF2B5EF4-FFF2-40B4-BE49-F238E27FC236}">
                <a16:creationId xmlns:a16="http://schemas.microsoft.com/office/drawing/2014/main" id="{41EF2AB0-94F4-4057-BEE3-CC00776C968C}"/>
              </a:ext>
            </a:extLst>
          </p:cNvPr>
          <p:cNvSpPr>
            <a:spLocks xmlns:a="http://schemas.openxmlformats.org/drawingml/2006/main" noGrp="1"/>
          </p:cNvSpPr>
          <p:nvPr/>
        </p:nvSpPr>
        <p:spPr>
          <a:xfrm xmlns:a="http://schemas.openxmlformats.org/drawingml/2006/main">
            <a:off x="6766560" y="3429000"/>
            <a:ext cx="457200" cy="457200"/>
          </a:xfrm>
          <a:prstGeom xmlns:a="http://schemas.openxmlformats.org/drawingml/2006/main" prst="ellipse">
            <a:avLst/>
          </a:prstGeom>
          <a:solidFill xmlns:a="http://schemas.openxmlformats.org/drawingml/2006/main">
            <a:srgbClr val="E8A33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8" name="Google Shape;108;p8">
            <a:extLst xmlns:a="http://schemas.openxmlformats.org/drawingml/2006/main">
              <a:ext uri="{FF2B5EF4-FFF2-40B4-BE49-F238E27FC236}">
                <a16:creationId xmlns:a16="http://schemas.microsoft.com/office/drawing/2014/main" id="{5DEA02BD-4B41-42A9-BAAB-1CB200F42729}"/>
              </a:ext>
            </a:extLst>
          </p:cNvPr>
          <p:cNvSpPr>
            <a:spLocks xmlns:a="http://schemas.openxmlformats.org/drawingml/2006/main" noGrp="1"/>
          </p:cNvSpPr>
          <p:nvPr/>
        </p:nvSpPr>
        <p:spPr>
          <a:xfrm xmlns:a="http://schemas.openxmlformats.org/drawingml/2006/main">
            <a:off x="6446520" y="4069080"/>
            <a:ext cx="1097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8892B0"/>
              </a:buClr>
              <a:buSzPts val="1050"/>
              <a:buFont typeface="Calibri"/>
              <a:buNone/>
            </a:pPr>
            <a:r>
              <a:rPr sz="1050" b="0" i="0" u="none" cap="none">
                <a:solidFill>
                  <a:srgbClr val="8892B0"/>
                </a:solidFill>
                <a:latin typeface="Calibri"/>
                <a:ea typeface="Calibri"/>
                <a:cs typeface="Calibri"/>
              </a:rPr>
              <a:t>Frame 1</a:t>
            </a:r>
            <a:endParaRPr sz="1050" b="0" i="0" u="none" cap="none">
              <a:solidFill>
                <a:schemeClr val="dk1"/>
              </a:solidFill>
              <a:latin typeface="Calibri"/>
              <a:ea typeface="Calibri"/>
              <a:cs typeface="Calibri"/>
            </a:endParaRPr>
          </a:p>
        </p:txBody>
      </p:sp>
      <p:sp>
        <p:nvSpPr>
          <p:cNvPr id="109" name="Google Shape;109;p8">
            <a:extLst xmlns:a="http://schemas.openxmlformats.org/drawingml/2006/main">
              <a:ext uri="{FF2B5EF4-FFF2-40B4-BE49-F238E27FC236}">
                <a16:creationId xmlns:a16="http://schemas.microsoft.com/office/drawing/2014/main" id="{F03E8158-C4A9-4EE3-AF2B-EE90775B8EDE}"/>
              </a:ext>
            </a:extLst>
          </p:cNvPr>
          <p:cNvSpPr>
            <a:spLocks xmlns:a="http://schemas.openxmlformats.org/drawingml/2006/main" noGrp="1"/>
          </p:cNvSpPr>
          <p:nvPr/>
        </p:nvSpPr>
        <p:spPr>
          <a:xfrm xmlns:a="http://schemas.openxmlformats.org/drawingml/2006/main">
            <a:off x="7955280" y="3429000"/>
            <a:ext cx="457200" cy="457200"/>
          </a:xfrm>
          <a:prstGeom xmlns:a="http://schemas.openxmlformats.org/drawingml/2006/main" prst="ellipse">
            <a:avLst/>
          </a:prstGeom>
          <a:solidFill xmlns:a="http://schemas.openxmlformats.org/drawingml/2006/main">
            <a:srgbClr val="E8A33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0" name="Google Shape;110;p8">
            <a:extLst xmlns:a="http://schemas.openxmlformats.org/drawingml/2006/main">
              <a:ext uri="{FF2B5EF4-FFF2-40B4-BE49-F238E27FC236}">
                <a16:creationId xmlns:a16="http://schemas.microsoft.com/office/drawing/2014/main" id="{CB652445-AC18-4F31-8A58-A3DEBB018500}"/>
              </a:ext>
            </a:extLst>
          </p:cNvPr>
          <p:cNvSpPr>
            <a:spLocks xmlns:a="http://schemas.openxmlformats.org/drawingml/2006/main" noGrp="1"/>
          </p:cNvSpPr>
          <p:nvPr/>
        </p:nvSpPr>
        <p:spPr>
          <a:xfrm xmlns:a="http://schemas.openxmlformats.org/drawingml/2006/main">
            <a:off x="7635240" y="4069080"/>
            <a:ext cx="1097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8892B0"/>
              </a:buClr>
              <a:buSzPts val="1050"/>
              <a:buFont typeface="Calibri"/>
              <a:buNone/>
            </a:pPr>
            <a:r>
              <a:rPr sz="1050" b="0" i="0" u="none" cap="none">
                <a:solidFill>
                  <a:srgbClr val="8892B0"/>
                </a:solidFill>
                <a:latin typeface="Calibri"/>
                <a:ea typeface="Calibri"/>
                <a:cs typeface="Calibri"/>
              </a:rPr>
              <a:t>Frame 2</a:t>
            </a:r>
            <a:endParaRPr sz="1050" b="0" i="0" u="none" cap="none">
              <a:solidFill>
                <a:schemeClr val="dk1"/>
              </a:solidFill>
              <a:latin typeface="Calibri"/>
              <a:ea typeface="Calibri"/>
              <a:cs typeface="Calibri"/>
            </a:endParaRPr>
          </a:p>
        </p:txBody>
      </p:sp>
      <p:sp>
        <p:nvSpPr>
          <p:cNvPr id="111" name="Google Shape;111;p8">
            <a:extLst xmlns:a="http://schemas.openxmlformats.org/drawingml/2006/main">
              <a:ext uri="{FF2B5EF4-FFF2-40B4-BE49-F238E27FC236}">
                <a16:creationId xmlns:a16="http://schemas.microsoft.com/office/drawing/2014/main" id="{14253DF5-52AC-427E-A1D1-7D899D45D810}"/>
              </a:ext>
            </a:extLst>
          </p:cNvPr>
          <p:cNvSpPr>
            <a:spLocks xmlns:a="http://schemas.openxmlformats.org/drawingml/2006/main" noGrp="1"/>
          </p:cNvSpPr>
          <p:nvPr/>
        </p:nvSpPr>
        <p:spPr>
          <a:xfrm xmlns:a="http://schemas.openxmlformats.org/drawingml/2006/main">
            <a:off x="9144000" y="3429000"/>
            <a:ext cx="457200" cy="457200"/>
          </a:xfrm>
          <a:prstGeom xmlns:a="http://schemas.openxmlformats.org/drawingml/2006/main" prst="ellipse">
            <a:avLst/>
          </a:prstGeom>
          <a:solidFill xmlns:a="http://schemas.openxmlformats.org/drawingml/2006/main">
            <a:srgbClr val="E8A33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2" name="Google Shape;112;p8">
            <a:extLst xmlns:a="http://schemas.openxmlformats.org/drawingml/2006/main">
              <a:ext uri="{FF2B5EF4-FFF2-40B4-BE49-F238E27FC236}">
                <a16:creationId xmlns:a16="http://schemas.microsoft.com/office/drawing/2014/main" id="{DCB44DC1-B65D-4449-B371-03A4D7100FBA}"/>
              </a:ext>
            </a:extLst>
          </p:cNvPr>
          <p:cNvSpPr>
            <a:spLocks xmlns:a="http://schemas.openxmlformats.org/drawingml/2006/main" noGrp="1"/>
          </p:cNvSpPr>
          <p:nvPr/>
        </p:nvSpPr>
        <p:spPr>
          <a:xfrm xmlns:a="http://schemas.openxmlformats.org/drawingml/2006/main">
            <a:off x="8823960" y="4069080"/>
            <a:ext cx="1097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8892B0"/>
              </a:buClr>
              <a:buSzPts val="1050"/>
              <a:buFont typeface="Calibri"/>
              <a:buNone/>
            </a:pPr>
            <a:r>
              <a:rPr sz="1050" b="0" i="0" u="none" cap="none">
                <a:solidFill>
                  <a:srgbClr val="8892B0"/>
                </a:solidFill>
                <a:latin typeface="Calibri"/>
                <a:ea typeface="Calibri"/>
                <a:cs typeface="Calibri"/>
              </a:rPr>
              <a:t>Frame 3</a:t>
            </a:r>
            <a:endParaRPr sz="1050" b="0" i="0" u="none" cap="none">
              <a:solidFill>
                <a:schemeClr val="dk1"/>
              </a:solidFill>
              <a:latin typeface="Calibri"/>
              <a:ea typeface="Calibri"/>
              <a:cs typeface="Calibri"/>
            </a:endParaRPr>
          </a:p>
        </p:txBody>
      </p:sp>
      <p:sp>
        <p:nvSpPr>
          <p:cNvPr id="113" name="Google Shape;113;p8">
            <a:extLst xmlns:a="http://schemas.openxmlformats.org/drawingml/2006/main">
              <a:ext uri="{FF2B5EF4-FFF2-40B4-BE49-F238E27FC236}">
                <a16:creationId xmlns:a16="http://schemas.microsoft.com/office/drawing/2014/main" id="{A55E5976-7BF1-4074-9BBD-F022F65C9DC8}"/>
              </a:ext>
            </a:extLst>
          </p:cNvPr>
          <p:cNvSpPr>
            <a:spLocks xmlns:a="http://schemas.openxmlformats.org/drawingml/2006/main" noGrp="1"/>
          </p:cNvSpPr>
          <p:nvPr/>
        </p:nvSpPr>
        <p:spPr>
          <a:xfrm xmlns:a="http://schemas.openxmlformats.org/drawingml/2006/main">
            <a:off x="10332720" y="3429000"/>
            <a:ext cx="457200" cy="457200"/>
          </a:xfrm>
          <a:prstGeom xmlns:a="http://schemas.openxmlformats.org/drawingml/2006/main" prst="ellipse">
            <a:avLst/>
          </a:prstGeom>
          <a:solidFill xmlns:a="http://schemas.openxmlformats.org/drawingml/2006/main">
            <a:srgbClr val="E8A33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4" name="Google Shape;114;p8">
            <a:extLst xmlns:a="http://schemas.openxmlformats.org/drawingml/2006/main">
              <a:ext uri="{FF2B5EF4-FFF2-40B4-BE49-F238E27FC236}">
                <a16:creationId xmlns:a16="http://schemas.microsoft.com/office/drawing/2014/main" id="{10EEF288-92D1-485C-B892-7524BA7D21C8}"/>
              </a:ext>
            </a:extLst>
          </p:cNvPr>
          <p:cNvSpPr>
            <a:spLocks xmlns:a="http://schemas.openxmlformats.org/drawingml/2006/main" noGrp="1"/>
          </p:cNvSpPr>
          <p:nvPr/>
        </p:nvSpPr>
        <p:spPr>
          <a:xfrm xmlns:a="http://schemas.openxmlformats.org/drawingml/2006/main">
            <a:off x="10012680" y="4069080"/>
            <a:ext cx="1097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8892B0"/>
              </a:buClr>
              <a:buSzPts val="1050"/>
              <a:buFont typeface="Calibri"/>
              <a:buNone/>
            </a:pPr>
            <a:r>
              <a:rPr sz="1050" b="0" i="0" u="none" cap="none">
                <a:solidFill>
                  <a:srgbClr val="8892B0"/>
                </a:solidFill>
                <a:latin typeface="Calibri"/>
                <a:ea typeface="Calibri"/>
                <a:cs typeface="Calibri"/>
              </a:rPr>
              <a:t>Frame 4</a:t>
            </a:r>
            <a:endParaRPr sz="1050" b="0" i="0" u="none" cap="none">
              <a:solidFill>
                <a:schemeClr val="dk1"/>
              </a:solidFill>
              <a:latin typeface="Calibri"/>
              <a:ea typeface="Calibri"/>
              <a:cs typeface="Calibri"/>
            </a:endParaRPr>
          </a:p>
        </p:txBody>
      </p:sp>
      <p:sp>
        <p:nvSpPr>
          <p:cNvPr id="115" name="Google Shape;115;p8">
            <a:extLst xmlns:a="http://schemas.openxmlformats.org/drawingml/2006/main">
              <a:ext uri="{FF2B5EF4-FFF2-40B4-BE49-F238E27FC236}">
                <a16:creationId xmlns:a16="http://schemas.microsoft.com/office/drawing/2014/main" id="{87D312E3-2D3C-476D-A2F7-0F538D7020B6}"/>
              </a:ext>
            </a:extLst>
          </p:cNvPr>
          <p:cNvSpPr>
            <a:spLocks xmlns:a="http://schemas.openxmlformats.org/drawingml/2006/main" noGrp="1"/>
          </p:cNvSpPr>
          <p:nvPr/>
        </p:nvSpPr>
        <p:spPr>
          <a:xfrm xmlns:a="http://schemas.openxmlformats.org/drawingml/2006/main">
            <a:off x="6766560" y="1783080"/>
            <a:ext cx="4526280"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CADCFC"/>
              </a:buClr>
              <a:buSzPts val="1300"/>
              <a:buFont typeface="Calibri"/>
              <a:buNone/>
              <a:defRPr sz="1400" i="1">
                <a:solidFill>
                  <a:srgbClr val="CADCFC"/>
                </a:solidFill>
                <a:latin typeface="Calibri"/>
                <a:ea typeface="Calibri"/>
                <a:cs typeface="Calibri"/>
              </a:defRPr>
            </a:pPr>
            <a:r>
              <a:rPr sz="1400" b="0" i="1" u="none" cap="none">
                <a:solidFill>
                  <a:srgbClr val="CADCFC"/>
                </a:solidFill>
                <a:latin typeface="Calibri"/>
                <a:ea typeface="Calibri"/>
                <a:cs typeface="Calibri"/>
              </a:rPr>
              <a:t>A new circle is added in each frame</a:t>
            </a:r>
            <a:endParaRPr sz="1300" b="0" i="0" u="none" cap="none">
              <a:solidFill>
                <a:schemeClr val="dk1"/>
              </a:solidFill>
              <a:latin typeface="Calibri"/>
              <a:ea typeface="Calibri"/>
              <a:cs typeface="Calibri"/>
            </a:endParaRPr>
          </a:p>
        </p:txBody>
      </p:sp>
      <p:sp>
        <p:nvSpPr>
          <p:cNvPr id="116" name="Google Shape;116;p8">
            <a:extLst xmlns:a="http://schemas.openxmlformats.org/drawingml/2006/main">
              <a:ext uri="{FF2B5EF4-FFF2-40B4-BE49-F238E27FC236}">
                <a16:creationId xmlns:a16="http://schemas.microsoft.com/office/drawing/2014/main" id="{72ADD77A-9326-4919-BEC2-40871F88E776}"/>
              </a:ext>
            </a:extLst>
          </p:cNvPr>
          <p:cNvSpPr>
            <a:spLocks xmlns:a="http://schemas.openxmlformats.org/drawingml/2006/main" noGrp="1"/>
          </p:cNvSpPr>
          <p:nvPr/>
        </p:nvSpPr>
        <p:spPr>
          <a:xfrm xmlns:a="http://schemas.openxmlformats.org/drawingml/2006/main">
            <a:off x="6766560" y="5440680"/>
            <a:ext cx="45262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8892B0"/>
              </a:buClr>
              <a:buSzPts val="1050"/>
              <a:buFont typeface="Calibri"/>
              <a:buNone/>
              <a:defRPr sz="1100" i="1">
                <a:solidFill>
                  <a:srgbClr val="8892B0"/>
                </a:solidFill>
                <a:latin typeface="Calibri"/>
                <a:ea typeface="Calibri"/>
                <a:cs typeface="Calibri"/>
              </a:defRPr>
            </a:pPr>
            <a:r>
              <a:rPr sz="1100" b="0" i="1" u="none" cap="none">
                <a:solidFill>
                  <a:srgbClr val="8892B0"/>
                </a:solidFill>
                <a:latin typeface="Calibri"/>
                <a:ea typeface="Calibri"/>
                <a:cs typeface="Calibri"/>
              </a:rPr>
              <a:t>background() ran once in setup(), so earlier circles are not erased.</a:t>
            </a:r>
            <a:endParaRPr sz="105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9957404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2" name="Google Shape;122;p9">
            <a:extLst xmlns:a="http://schemas.openxmlformats.org/drawingml/2006/main">
              <a:ext uri="{FF2B5EF4-FFF2-40B4-BE49-F238E27FC236}">
                <a16:creationId xmlns:a16="http://schemas.microsoft.com/office/drawing/2014/main" id="{B3FB4AE1-80AD-48D7-B441-DB2220A6974E}"/>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Checkpoint 3: Make One Clean Follower</a:t>
            </a:r>
            <a:endParaRPr sz="2900" b="0" i="0" u="none" cap="none">
              <a:solidFill>
                <a:schemeClr val="dk1"/>
              </a:solidFill>
              <a:latin typeface="Calibri"/>
              <a:ea typeface="Calibri"/>
              <a:cs typeface="Calibri"/>
            </a:endParaRPr>
          </a:p>
        </p:txBody>
      </p:sp>
      <p:sp>
        <p:nvSpPr>
          <p:cNvPr id="123" name="Google Shape;123;p9">
            <a:extLst xmlns:a="http://schemas.openxmlformats.org/drawingml/2006/main">
              <a:ext uri="{FF2B5EF4-FFF2-40B4-BE49-F238E27FC236}">
                <a16:creationId xmlns:a16="http://schemas.microsoft.com/office/drawing/2014/main" id="{A770BC6D-1F4A-4B13-BAA0-003E1E3FF637}"/>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Move one line so the canvas is cleared every frame</a:t>
            </a:r>
            <a:endParaRPr sz="1500" b="0" i="0" u="none" cap="none">
              <a:solidFill>
                <a:schemeClr val="dk1"/>
              </a:solidFill>
              <a:latin typeface="Calibri"/>
              <a:ea typeface="Calibri"/>
              <a:cs typeface="Calibri"/>
            </a:endParaRPr>
          </a:p>
        </p:txBody>
      </p:sp>
      <p:sp>
        <p:nvSpPr>
          <p:cNvPr id="124" name="Google Shape;124;p9">
            <a:extLst xmlns:a="http://schemas.openxmlformats.org/drawingml/2006/main">
              <a:ext uri="{FF2B5EF4-FFF2-40B4-BE49-F238E27FC236}">
                <a16:creationId xmlns:a16="http://schemas.microsoft.com/office/drawing/2014/main" id="{52096F18-6616-45B6-87A8-82A65ABEF6B8}"/>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125" name="Google Shape;125;p9">
            <a:extLst xmlns:a="http://schemas.openxmlformats.org/drawingml/2006/main">
              <a:ext uri="{FF2B5EF4-FFF2-40B4-BE49-F238E27FC236}">
                <a16:creationId xmlns:a16="http://schemas.microsoft.com/office/drawing/2014/main" id="{8D8BB97A-2471-4483-A002-213F64C5961D}"/>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126" name="Google Shape;126;p9">
            <a:extLst xmlns:a="http://schemas.openxmlformats.org/drawingml/2006/main">
              <a:ext uri="{FF2B5EF4-FFF2-40B4-BE49-F238E27FC236}">
                <a16:creationId xmlns:a16="http://schemas.microsoft.com/office/drawing/2014/main" id="{8F6377A5-8223-40CA-B38D-111EC04F8255}"/>
              </a:ext>
            </a:extLst>
          </p:cNvPr>
          <p:cNvSpPr>
            <a:spLocks xmlns:a="http://schemas.openxmlformats.org/drawingml/2006/main" noGrp="1"/>
          </p:cNvSpPr>
          <p:nvPr/>
        </p:nvSpPr>
        <p:spPr>
          <a:xfrm xmlns:a="http://schemas.openxmlformats.org/drawingml/2006/main">
            <a:off x="548640" y="1325880"/>
            <a:ext cx="5577840" cy="2743200"/>
          </a:xfrm>
          <a:prstGeom xmlns:a="http://schemas.openxmlformats.org/drawingml/2006/main" prst="roundRect">
            <a:avLst>
              <a:gd name="adj" fmla="val 2667"/>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7" name="Google Shape;127;p9">
            <a:extLst xmlns:a="http://schemas.openxmlformats.org/drawingml/2006/main">
              <a:ext uri="{FF2B5EF4-FFF2-40B4-BE49-F238E27FC236}">
                <a16:creationId xmlns:a16="http://schemas.microsoft.com/office/drawing/2014/main" id="{83EA8698-0CCC-4CFF-87E3-3D94B62F49B4}"/>
              </a:ext>
            </a:extLst>
          </p:cNvPr>
          <p:cNvSpPr>
            <a:spLocks xmlns:a="http://schemas.openxmlformats.org/drawingml/2006/main" noGrp="1"/>
          </p:cNvSpPr>
          <p:nvPr/>
        </p:nvSpPr>
        <p:spPr>
          <a:xfrm xmlns:a="http://schemas.openxmlformats.org/drawingml/2006/main">
            <a:off x="822960" y="1527048"/>
            <a:ext cx="5029200" cy="23408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FD0FF"/>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public void setup()</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    noStroke();</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    fill(255, 170, 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pPr>
            <a:r>
              <a:rPr sz="1300" b="0" i="0" u="none" cap="none">
                <a:solidFill>
                  <a:srgbClr val="CADCFC"/>
                </a:solidFill>
                <a:latin typeface="Courier New"/>
                <a:ea typeface="Courier New"/>
                <a:cs typeface="Courier New"/>
              </a:rPr>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public void draw()</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    background(220);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    ellipse(mouseX, mouseY, 40, 40);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175" i="0">
                <a:solidFill>
                  <a:srgbClr val="CADCFC"/>
                </a:solidFill>
                <a:latin typeface="Courier New"/>
                <a:ea typeface="Courier New"/>
                <a:cs typeface="Courier New"/>
              </a:defRPr>
            </a:pPr>
            <a:r>
              <a:rPr sz="1175"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p:txBody>
      </p:sp>
      <p:sp>
        <p:nvSpPr>
          <p:cNvPr id="128" name="Google Shape;128;p9">
            <a:extLst xmlns:a="http://schemas.openxmlformats.org/drawingml/2006/main">
              <a:ext uri="{FF2B5EF4-FFF2-40B4-BE49-F238E27FC236}">
                <a16:creationId xmlns:a16="http://schemas.microsoft.com/office/drawing/2014/main" id="{15B44720-03AF-45A3-A341-22AA905A00F9}"/>
              </a:ext>
            </a:extLst>
          </p:cNvPr>
          <p:cNvSpPr>
            <a:spLocks xmlns:a="http://schemas.openxmlformats.org/drawingml/2006/main" noGrp="1"/>
          </p:cNvSpPr>
          <p:nvPr/>
        </p:nvSpPr>
        <p:spPr>
          <a:xfrm xmlns:a="http://schemas.openxmlformats.org/drawingml/2006/main">
            <a:off x="548640" y="4251960"/>
            <a:ext cx="5577840" cy="1874520"/>
          </a:xfrm>
          <a:prstGeom xmlns:a="http://schemas.openxmlformats.org/drawingml/2006/main" prst="roundRect">
            <a:avLst>
              <a:gd name="adj" fmla="val 4878"/>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9" name="Google Shape;129;p9">
            <a:extLst xmlns:a="http://schemas.openxmlformats.org/drawingml/2006/main">
              <a:ext uri="{FF2B5EF4-FFF2-40B4-BE49-F238E27FC236}">
                <a16:creationId xmlns:a16="http://schemas.microsoft.com/office/drawing/2014/main" id="{E0E1E120-D247-4BB9-A10B-1BABBBFAEF48}"/>
              </a:ext>
            </a:extLst>
          </p:cNvPr>
          <p:cNvSpPr>
            <a:spLocks xmlns:a="http://schemas.openxmlformats.org/drawingml/2006/main" noGrp="1"/>
          </p:cNvSpPr>
          <p:nvPr/>
        </p:nvSpPr>
        <p:spPr>
          <a:xfrm xmlns:a="http://schemas.openxmlformats.org/drawingml/2006/main">
            <a:off x="804672" y="4453128"/>
            <a:ext cx="50657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Change only one line's home</a:t>
            </a:r>
            <a:endParaRPr sz="1400" b="0" i="0" u="none" cap="none">
              <a:solidFill>
                <a:schemeClr val="dk1"/>
              </a:solidFill>
              <a:latin typeface="Calibri"/>
              <a:ea typeface="Calibri"/>
              <a:cs typeface="Calibri"/>
            </a:endParaRPr>
          </a:p>
        </p:txBody>
      </p:sp>
      <p:sp>
        <p:nvSpPr>
          <p:cNvPr id="130" name="Google Shape;130;p9">
            <a:extLst xmlns:a="http://schemas.openxmlformats.org/drawingml/2006/main">
              <a:ext uri="{FF2B5EF4-FFF2-40B4-BE49-F238E27FC236}">
                <a16:creationId xmlns:a16="http://schemas.microsoft.com/office/drawing/2014/main" id="{BA6B7392-6C64-4C3F-9553-918DA823E3FD}"/>
              </a:ext>
            </a:extLst>
          </p:cNvPr>
          <p:cNvSpPr>
            <a:spLocks xmlns:a="http://schemas.openxmlformats.org/drawingml/2006/main" noGrp="1"/>
          </p:cNvSpPr>
          <p:nvPr/>
        </p:nvSpPr>
        <p:spPr>
          <a:xfrm xmlns:a="http://schemas.openxmlformats.org/drawingml/2006/main">
            <a:off x="804672" y="4818888"/>
            <a:ext cx="5065776"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400"/>
              <a:buFont typeface="Calibri"/>
              <a:buNone/>
              <a:defRPr sz="1300">
                <a:solidFill>
                  <a:srgbClr val="FFFFFF"/>
                </a:solidFill>
                <a:latin typeface="Calibri"/>
                <a:ea typeface="Calibri"/>
                <a:cs typeface="Calibri"/>
              </a:defRPr>
            </a:pPr>
            <a:r>
              <a:rPr sz="1300" b="0" i="0" u="none" cap="none">
                <a:solidFill>
                  <a:srgbClr val="FFFFFF"/>
                </a:solidFill>
                <a:latin typeface="Calibri"/>
                <a:ea typeface="Calibri"/>
                <a:cs typeface="Calibri"/>
              </a:rPr>
              <a:t>Cut background(220); from setup() and paste it as the first line inside draw(). Then compile, run, and move the pointer again.</a:t>
            </a:r>
            <a:endParaRPr sz="1400" b="0" i="0" u="none" cap="none">
              <a:solidFill>
                <a:schemeClr val="dk1"/>
              </a:solidFill>
              <a:latin typeface="Calibri"/>
              <a:ea typeface="Calibri"/>
              <a:cs typeface="Calibri"/>
            </a:endParaRPr>
          </a:p>
        </p:txBody>
      </p:sp>
      <p:sp>
        <p:nvSpPr>
          <p:cNvPr id="131" name="Google Shape;131;p9">
            <a:extLst xmlns:a="http://schemas.openxmlformats.org/drawingml/2006/main">
              <a:ext uri="{FF2B5EF4-FFF2-40B4-BE49-F238E27FC236}">
                <a16:creationId xmlns:a16="http://schemas.microsoft.com/office/drawing/2014/main" id="{7981474B-1FFA-4341-8576-32CADEC1230B}"/>
              </a:ext>
            </a:extLst>
          </p:cNvPr>
          <p:cNvSpPr>
            <a:spLocks xmlns:a="http://schemas.openxmlformats.org/drawingml/2006/main" noGrp="1"/>
          </p:cNvSpPr>
          <p:nvPr/>
        </p:nvSpPr>
        <p:spPr>
          <a:xfrm xmlns:a="http://schemas.openxmlformats.org/drawingml/2006/main">
            <a:off x="6400800" y="1325880"/>
            <a:ext cx="5257800" cy="4800600"/>
          </a:xfrm>
          <a:prstGeom xmlns:a="http://schemas.openxmlformats.org/drawingml/2006/main" prst="roundRect">
            <a:avLst>
              <a:gd name="adj" fmla="val 1905"/>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9">
            <a:extLst xmlns:a="http://schemas.openxmlformats.org/drawingml/2006/main">
              <a:ext uri="{FF2B5EF4-FFF2-40B4-BE49-F238E27FC236}">
                <a16:creationId xmlns:a16="http://schemas.microsoft.com/office/drawing/2014/main" id="{A4EBC718-45C3-4511-B5A7-D803DCBEEC34}"/>
              </a:ext>
            </a:extLst>
          </p:cNvPr>
          <p:cNvSpPr>
            <a:spLocks xmlns:a="http://schemas.openxmlformats.org/drawingml/2006/main" noGrp="1"/>
          </p:cNvSpPr>
          <p:nvPr/>
        </p:nvSpPr>
        <p:spPr>
          <a:xfrm xmlns:a="http://schemas.openxmlformats.org/drawingml/2006/main">
            <a:off x="6656832" y="1527048"/>
            <a:ext cx="474573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Success check</a:t>
            </a:r>
            <a:endParaRPr sz="1400" b="0" i="0" u="none" cap="none">
              <a:solidFill>
                <a:schemeClr val="dk1"/>
              </a:solidFill>
              <a:latin typeface="Calibri"/>
              <a:ea typeface="Calibri"/>
              <a:cs typeface="Calibri"/>
            </a:endParaRPr>
          </a:p>
        </p:txBody>
      </p:sp>
      <p:sp>
        <p:nvSpPr>
          <p:cNvPr id="133" name="Google Shape;133;p9">
            <a:extLst xmlns:a="http://schemas.openxmlformats.org/drawingml/2006/main">
              <a:ext uri="{FF2B5EF4-FFF2-40B4-BE49-F238E27FC236}">
                <a16:creationId xmlns:a16="http://schemas.microsoft.com/office/drawing/2014/main" id="{BC081A8B-6FAB-4A26-A2C4-ACE5E9775A81}"/>
              </a:ext>
            </a:extLst>
          </p:cNvPr>
          <p:cNvSpPr>
            <a:spLocks xmlns:a="http://schemas.openxmlformats.org/drawingml/2006/main" noGrp="1"/>
          </p:cNvSpPr>
          <p:nvPr/>
        </p:nvSpPr>
        <p:spPr>
          <a:xfrm xmlns:a="http://schemas.openxmlformats.org/drawingml/2006/main">
            <a:off x="6656832" y="1892808"/>
            <a:ext cx="4745736" cy="4069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Only one circle follows the pointer.</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Every frame now begins by repainting the background, which covers the previous circle before the new one is drawn.</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Explain this in your own words.</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62226512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FCFCCA84-8E9E-45BC-8EBC-BDEDE0341497}"/>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One Line Changes the Result</a:t>
            </a:r>
            <a:endParaRPr sz="2900" b="0" i="0" u="none" cap="none">
              <a:solidFill>
                <a:schemeClr val="dk1"/>
              </a:solidFill>
              <a:latin typeface="Calibri"/>
              <a:ea typeface="Calibri"/>
              <a:cs typeface="Calibri"/>
            </a:endParaRPr>
          </a:p>
        </p:txBody>
      </p:sp>
      <p:sp>
        <p:nvSpPr>
          <p:cNvPr id="27" name="Google Shape;27;p4">
            <a:extLst xmlns:a="http://schemas.openxmlformats.org/drawingml/2006/main">
              <a:ext uri="{FF2B5EF4-FFF2-40B4-BE49-F238E27FC236}">
                <a16:creationId xmlns:a16="http://schemas.microsoft.com/office/drawing/2014/main" id="{0BB60E49-70C5-410A-92AE-63BB02FA66B6}"/>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The location of background() decides whether old pixels remain</a:t>
            </a:r>
            <a:endParaRPr sz="1500" b="0" i="0" u="none" cap="none">
              <a:solidFill>
                <a:schemeClr val="dk1"/>
              </a:solidFill>
              <a:latin typeface="Calibri"/>
              <a:ea typeface="Calibri"/>
              <a:cs typeface="Calibri"/>
            </a:endParaRPr>
          </a:p>
        </p:txBody>
      </p:sp>
      <p:sp>
        <p:nvSpPr>
          <p:cNvPr id="28" name="Google Shape;28;p4">
            <a:extLst xmlns:a="http://schemas.openxmlformats.org/drawingml/2006/main">
              <a:ext uri="{FF2B5EF4-FFF2-40B4-BE49-F238E27FC236}">
                <a16:creationId xmlns:a16="http://schemas.microsoft.com/office/drawing/2014/main" id="{39B51EB8-75A6-4231-8A11-3E81AA9FB906}"/>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29" name="Google Shape;29;p4">
            <a:extLst xmlns:a="http://schemas.openxmlformats.org/drawingml/2006/main">
              <a:ext uri="{FF2B5EF4-FFF2-40B4-BE49-F238E27FC236}">
                <a16:creationId xmlns:a16="http://schemas.microsoft.com/office/drawing/2014/main" id="{228B6CC2-CDD5-4887-B94D-DBEF43A68078}"/>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30" name="Google Shape;30;p4">
            <a:extLst xmlns:a="http://schemas.openxmlformats.org/drawingml/2006/main">
              <a:ext uri="{FF2B5EF4-FFF2-40B4-BE49-F238E27FC236}">
                <a16:creationId xmlns:a16="http://schemas.microsoft.com/office/drawing/2014/main" id="{DBD24E06-3AC1-4B7A-A16F-A007DFED52EA}"/>
              </a:ext>
            </a:extLst>
          </p:cNvPr>
          <p:cNvSpPr>
            <a:spLocks xmlns:a="http://schemas.openxmlformats.org/drawingml/2006/main" noGrp="1"/>
          </p:cNvSpPr>
          <p:nvPr/>
        </p:nvSpPr>
        <p:spPr>
          <a:xfrm xmlns:a="http://schemas.openxmlformats.org/drawingml/2006/main">
            <a:off x="548640" y="1371600"/>
            <a:ext cx="5577840" cy="4480560"/>
          </a:xfrm>
          <a:prstGeom xmlns:a="http://schemas.openxmlformats.org/drawingml/2006/main" prst="roundRect">
            <a:avLst>
              <a:gd name="adj" fmla="val 1633"/>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4">
            <a:extLst xmlns:a="http://schemas.openxmlformats.org/drawingml/2006/main">
              <a:ext uri="{FF2B5EF4-FFF2-40B4-BE49-F238E27FC236}">
                <a16:creationId xmlns:a16="http://schemas.microsoft.com/office/drawing/2014/main" id="{A5ED01E6-5F4B-47DA-BE63-1E7E52F5F26A}"/>
              </a:ext>
            </a:extLst>
          </p:cNvPr>
          <p:cNvSpPr>
            <a:spLocks xmlns:a="http://schemas.openxmlformats.org/drawingml/2006/main" noGrp="1"/>
          </p:cNvSpPr>
          <p:nvPr/>
        </p:nvSpPr>
        <p:spPr>
          <a:xfrm xmlns:a="http://schemas.openxmlformats.org/drawingml/2006/main">
            <a:off x="777240" y="1536192"/>
            <a:ext cx="5120640" cy="415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400">
                <a:solidFill>
                  <a:srgbClr val="1E2761"/>
                </a:solidFill>
                <a:latin typeface="Calibri"/>
                <a:ea typeface="Calibri"/>
                <a:cs typeface="Calibri"/>
              </a:defRPr>
            </a:pPr>
            <a:r>
              <a:rPr sz="1400" b="1">
                <a:solidFill>
                  <a:srgbClr val="1E2761"/>
                </a:solidFill>
                <a:latin typeface="Calibri"/>
                <a:ea typeface="Calibri"/>
                <a:cs typeface="Calibri"/>
              </a:rPr>
              <a:t>background() in setup()</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clears the canvas once</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earlier circles remain</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moving the pointer creates a trail</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useful when you want marks to accumulate</a:t>
            </a:r>
          </a:p>
        </p:txBody>
      </p:sp>
      <p:sp>
        <p:nvSpPr>
          <p:cNvPr id="32" name="Google Shape;32;p4">
            <a:extLst xmlns:a="http://schemas.openxmlformats.org/drawingml/2006/main">
              <a:ext uri="{FF2B5EF4-FFF2-40B4-BE49-F238E27FC236}">
                <a16:creationId xmlns:a16="http://schemas.microsoft.com/office/drawing/2014/main" id="{E71A3D64-1120-4A4C-8B79-88E6FB988AC1}"/>
              </a:ext>
            </a:extLst>
          </p:cNvPr>
          <p:cNvSpPr>
            <a:spLocks xmlns:a="http://schemas.openxmlformats.org/drawingml/2006/main" noGrp="1"/>
          </p:cNvSpPr>
          <p:nvPr/>
        </p:nvSpPr>
        <p:spPr>
          <a:xfrm xmlns:a="http://schemas.openxmlformats.org/drawingml/2006/main">
            <a:off x="6309360" y="1371600"/>
            <a:ext cx="5349240" cy="4480560"/>
          </a:xfrm>
          <a:prstGeom xmlns:a="http://schemas.openxmlformats.org/drawingml/2006/main" prst="roundRect">
            <a:avLst>
              <a:gd name="adj" fmla="val 2041"/>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 name="Google Shape;33;p4">
            <a:extLst xmlns:a="http://schemas.openxmlformats.org/drawingml/2006/main">
              <a:ext uri="{FF2B5EF4-FFF2-40B4-BE49-F238E27FC236}">
                <a16:creationId xmlns:a16="http://schemas.microsoft.com/office/drawing/2014/main" id="{24834F78-81E2-41F7-90DC-7DD5E9010323}"/>
              </a:ext>
            </a:extLst>
          </p:cNvPr>
          <p:cNvSpPr>
            <a:spLocks xmlns:a="http://schemas.openxmlformats.org/drawingml/2006/main" noGrp="1"/>
          </p:cNvSpPr>
          <p:nvPr/>
        </p:nvSpPr>
        <p:spPr>
          <a:xfrm xmlns:a="http://schemas.openxmlformats.org/drawingml/2006/main">
            <a:off x="6565392" y="157276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background() in draw()</a:t>
            </a:r>
            <a:endParaRPr sz="1400" b="0" i="0" u="none" cap="none">
              <a:solidFill>
                <a:schemeClr val="dk1"/>
              </a:solidFill>
              <a:latin typeface="Calibri"/>
              <a:ea typeface="Calibri"/>
              <a:cs typeface="Calibri"/>
            </a:endParaRPr>
          </a:p>
        </p:txBody>
      </p:sp>
      <p:sp>
        <p:nvSpPr>
          <p:cNvPr id="34" name="Google Shape;34;p4">
            <a:extLst xmlns:a="http://schemas.openxmlformats.org/drawingml/2006/main">
              <a:ext uri="{FF2B5EF4-FFF2-40B4-BE49-F238E27FC236}">
                <a16:creationId xmlns:a16="http://schemas.microsoft.com/office/drawing/2014/main" id="{169CC915-2433-4007-932C-A411E47470A8}"/>
              </a:ext>
            </a:extLst>
          </p:cNvPr>
          <p:cNvSpPr>
            <a:spLocks xmlns:a="http://schemas.openxmlformats.org/drawingml/2006/main" noGrp="1"/>
          </p:cNvSpPr>
          <p:nvPr/>
        </p:nvSpPr>
        <p:spPr>
          <a:xfrm xmlns:a="http://schemas.openxmlformats.org/drawingml/2006/main">
            <a:off x="6565392" y="1938528"/>
            <a:ext cx="4837176" cy="3749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 clears the canvas before every new circle</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 earlier circles are covered</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 one clean follower remains</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Same ellipse() call. Different timing.</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57003956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Google Shape;61;p6">
            <a:extLst xmlns:a="http://schemas.openxmlformats.org/drawingml/2006/main">
              <a:ext uri="{FF2B5EF4-FFF2-40B4-BE49-F238E27FC236}">
                <a16:creationId xmlns:a16="http://schemas.microsoft.com/office/drawing/2014/main" id="{85A0A9E2-4342-49C6-BF7C-DFCED94B264E}"/>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Sort the Code</a:t>
            </a:r>
            <a:endParaRPr sz="2900" b="0" i="0" u="none" cap="none">
              <a:solidFill>
                <a:schemeClr val="dk1"/>
              </a:solidFill>
              <a:latin typeface="Calibri"/>
              <a:ea typeface="Calibri"/>
              <a:cs typeface="Calibri"/>
            </a:endParaRPr>
          </a:p>
        </p:txBody>
      </p:sp>
      <p:sp>
        <p:nvSpPr>
          <p:cNvPr id="62" name="Google Shape;62;p6">
            <a:extLst xmlns:a="http://schemas.openxmlformats.org/drawingml/2006/main">
              <a:ext uri="{FF2B5EF4-FFF2-40B4-BE49-F238E27FC236}">
                <a16:creationId xmlns:a16="http://schemas.microsoft.com/office/drawing/2014/main" id="{F183E43F-26CA-41D2-B502-D05A822ABCCC}"/>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Choose a method by asking when the line must run</a:t>
            </a:r>
            <a:endParaRPr sz="1500" b="0" i="0" u="none" cap="none">
              <a:solidFill>
                <a:schemeClr val="dk1"/>
              </a:solidFill>
              <a:latin typeface="Calibri"/>
              <a:ea typeface="Calibri"/>
              <a:cs typeface="Calibri"/>
            </a:endParaRPr>
          </a:p>
        </p:txBody>
      </p:sp>
      <p:sp>
        <p:nvSpPr>
          <p:cNvPr id="63" name="Google Shape;63;p6">
            <a:extLst xmlns:a="http://schemas.openxmlformats.org/drawingml/2006/main">
              <a:ext uri="{FF2B5EF4-FFF2-40B4-BE49-F238E27FC236}">
                <a16:creationId xmlns:a16="http://schemas.microsoft.com/office/drawing/2014/main" id="{1BEF2D21-2A77-4F79-A5C1-102E8461ED55}"/>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64" name="Google Shape;64;p6">
            <a:extLst xmlns:a="http://schemas.openxmlformats.org/drawingml/2006/main">
              <a:ext uri="{FF2B5EF4-FFF2-40B4-BE49-F238E27FC236}">
                <a16:creationId xmlns:a16="http://schemas.microsoft.com/office/drawing/2014/main" id="{B75D02DF-7EF6-4A21-BCE2-909AC61ACDB6}"/>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65" name="Google Shape;65;p6">
            <a:extLst xmlns:a="http://schemas.openxmlformats.org/drawingml/2006/main">
              <a:ext uri="{FF2B5EF4-FFF2-40B4-BE49-F238E27FC236}">
                <a16:creationId xmlns:a16="http://schemas.microsoft.com/office/drawing/2014/main" id="{90A753D6-8FC6-4467-BE85-305A46DA14E1}"/>
              </a:ext>
            </a:extLst>
          </p:cNvPr>
          <p:cNvSpPr>
            <a:spLocks xmlns:a="http://schemas.openxmlformats.org/drawingml/2006/main" noGrp="1"/>
          </p:cNvSpPr>
          <p:nvPr/>
        </p:nvSpPr>
        <p:spPr>
          <a:xfrm xmlns:a="http://schemas.openxmlformats.org/drawingml/2006/main">
            <a:off x="548640" y="1325880"/>
            <a:ext cx="5120640" cy="2651760"/>
          </a:xfrm>
          <a:prstGeom xmlns:a="http://schemas.openxmlformats.org/drawingml/2006/main" prst="roundRect">
            <a:avLst>
              <a:gd name="adj" fmla="val 2759"/>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 name="Google Shape;66;p6">
            <a:extLst xmlns:a="http://schemas.openxmlformats.org/drawingml/2006/main">
              <a:ext uri="{FF2B5EF4-FFF2-40B4-BE49-F238E27FC236}">
                <a16:creationId xmlns:a16="http://schemas.microsoft.com/office/drawing/2014/main" id="{A7AE6F30-E3B1-47EC-AC99-3AB105F02DDE}"/>
              </a:ext>
            </a:extLst>
          </p:cNvPr>
          <p:cNvSpPr>
            <a:spLocks xmlns:a="http://schemas.openxmlformats.org/drawingml/2006/main" noGrp="1"/>
          </p:cNvSpPr>
          <p:nvPr/>
        </p:nvSpPr>
        <p:spPr>
          <a:xfrm xmlns:a="http://schemas.openxmlformats.org/drawingml/2006/main">
            <a:off x="822960" y="1527048"/>
            <a:ext cx="4572000" cy="22494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E8A33D"/>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size(500, 350);</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chemeClr val="dk1"/>
              </a:buClr>
              <a:buSzPts val="1350"/>
              <a:buFont typeface="Calibri"/>
              <a:buNone/>
            </a:pPr>
            <a:r>
              <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background(220);</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chemeClr val="dk1"/>
              </a:buClr>
              <a:buSzPts val="1350"/>
              <a:buFont typeface="Calibri"/>
              <a:buNone/>
            </a:pPr>
            <a:r>
              <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noStroke();</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chemeClr val="dk1"/>
              </a:buClr>
              <a:buSzPts val="1350"/>
              <a:buFont typeface="Calibri"/>
              <a:buNone/>
              <a:defRPr sz="1300" i="0">
                <a:solidFill>
                  <a:srgbClr val="CADCFC"/>
                </a:solidFill>
                <a:latin typeface="Courier New"/>
                <a:ea typeface="Courier New"/>
                <a:cs typeface="Courier New"/>
              </a:defRPr>
            </a:pPr>
            <a:r>
              <a:rPr sz="1300" i="0">
                <a:solidFill>
                  <a:srgbClr val="CADCFC"/>
                </a:solidFill>
                <a:latin typeface="Courier New"/>
                <a:ea typeface="Courier New"/>
                <a:cs typeface="Courier New"/>
              </a:rPr>
              <a:t>fill(255, 170, 0);</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892B0"/>
              </a:buClr>
              <a:buSzPts val="1350"/>
              <a:buFont typeface="Courier New"/>
              <a:buNone/>
            </a:pPr>
            <a:r>
              <a:rPr sz="1350" b="0" i="0" u="none" cap="none">
                <a:solidFill>
                  <a:srgbClr val="8892B0"/>
                </a:solidFill>
                <a:latin typeface="Courier New"/>
                <a:ea typeface="Courier New"/>
                <a:cs typeface="Courier New"/>
              </a:rPr>
              <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892B0"/>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ellipse(mouseX, mouseY, 40, 40);</a:t>
            </a:r>
            <a:endParaRPr sz="1350" b="0" i="0" u="none" cap="none">
              <a:solidFill>
                <a:schemeClr val="dk1"/>
              </a:solidFill>
              <a:latin typeface="Calibri"/>
              <a:ea typeface="Calibri"/>
              <a:cs typeface="Calibri"/>
            </a:endParaRPr>
          </a:p>
        </p:txBody>
      </p:sp>
      <p:sp>
        <p:nvSpPr>
          <p:cNvPr id="67" name="Google Shape;67;p6">
            <a:extLst xmlns:a="http://schemas.openxmlformats.org/drawingml/2006/main">
              <a:ext uri="{FF2B5EF4-FFF2-40B4-BE49-F238E27FC236}">
                <a16:creationId xmlns:a16="http://schemas.microsoft.com/office/drawing/2014/main" id="{530789BB-A7A0-4E16-9E69-DB7349E690F9}"/>
              </a:ext>
            </a:extLst>
          </p:cNvPr>
          <p:cNvSpPr>
            <a:spLocks xmlns:a="http://schemas.openxmlformats.org/drawingml/2006/main" noGrp="1"/>
          </p:cNvSpPr>
          <p:nvPr/>
        </p:nvSpPr>
        <p:spPr>
          <a:xfrm xmlns:a="http://schemas.openxmlformats.org/drawingml/2006/main">
            <a:off x="548640" y="4160520"/>
            <a:ext cx="5120640" cy="2194560"/>
          </a:xfrm>
          <a:prstGeom xmlns:a="http://schemas.openxmlformats.org/drawingml/2006/main" prst="roundRect">
            <a:avLst>
              <a:gd name="adj" fmla="val 4167"/>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 name="Google Shape;68;p6">
            <a:extLst xmlns:a="http://schemas.openxmlformats.org/drawingml/2006/main">
              <a:ext uri="{FF2B5EF4-FFF2-40B4-BE49-F238E27FC236}">
                <a16:creationId xmlns:a16="http://schemas.microsoft.com/office/drawing/2014/main" id="{96012F3B-CCDB-4287-99E5-41396173137C}"/>
              </a:ext>
            </a:extLst>
          </p:cNvPr>
          <p:cNvSpPr>
            <a:spLocks xmlns:a="http://schemas.openxmlformats.org/drawingml/2006/main" noGrp="1"/>
          </p:cNvSpPr>
          <p:nvPr/>
        </p:nvSpPr>
        <p:spPr>
          <a:xfrm xmlns:a="http://schemas.openxmlformats.org/drawingml/2006/main">
            <a:off x="804672" y="4361688"/>
            <a:ext cx="46085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Your task</a:t>
            </a:r>
            <a:endParaRPr sz="1400" b="0" i="0" u="none" cap="none">
              <a:solidFill>
                <a:schemeClr val="dk1"/>
              </a:solidFill>
              <a:latin typeface="Calibri"/>
              <a:ea typeface="Calibri"/>
              <a:cs typeface="Calibri"/>
            </a:endParaRPr>
          </a:p>
        </p:txBody>
      </p:sp>
      <p:sp>
        <p:nvSpPr>
          <p:cNvPr id="69" name="Google Shape;69;p6">
            <a:extLst xmlns:a="http://schemas.openxmlformats.org/drawingml/2006/main">
              <a:ext uri="{FF2B5EF4-FFF2-40B4-BE49-F238E27FC236}">
                <a16:creationId xmlns:a16="http://schemas.microsoft.com/office/drawing/2014/main" id="{A985E153-3B18-4B27-BC7F-67D8DA098448}"/>
              </a:ext>
            </a:extLst>
          </p:cNvPr>
          <p:cNvSpPr>
            <a:spLocks xmlns:a="http://schemas.openxmlformats.org/drawingml/2006/main" noGrp="1"/>
          </p:cNvSpPr>
          <p:nvPr/>
        </p:nvSpPr>
        <p:spPr>
          <a:xfrm xmlns:a="http://schemas.openxmlformats.org/drawingml/2006/main">
            <a:off x="804672" y="4727448"/>
            <a:ext cx="4608576" cy="1463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With a partner, place each line in settings(), setup(), or draw().</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Some lines can have more than one correct home. State the visual result you want, then justify the timing.</a:t>
            </a:r>
            <a:endParaRPr sz="1400" b="0" i="0" u="none" cap="none">
              <a:solidFill>
                <a:schemeClr val="dk1"/>
              </a:solidFill>
              <a:latin typeface="Calibri"/>
              <a:ea typeface="Calibri"/>
              <a:cs typeface="Calibri"/>
            </a:endParaRPr>
          </a:p>
        </p:txBody>
      </p:sp>
      <p:sp>
        <p:nvSpPr>
          <p:cNvPr id="70" name="Google Shape;70;p6">
            <a:extLst xmlns:a="http://schemas.openxmlformats.org/drawingml/2006/main">
              <a:ext uri="{FF2B5EF4-FFF2-40B4-BE49-F238E27FC236}">
                <a16:creationId xmlns:a16="http://schemas.microsoft.com/office/drawing/2014/main" id="{9CB10E00-12DD-4C67-B08D-FCA5A9FF9F43}"/>
              </a:ext>
            </a:extLst>
          </p:cNvPr>
          <p:cNvSpPr>
            <a:spLocks xmlns:a="http://schemas.openxmlformats.org/drawingml/2006/main" noGrp="1"/>
          </p:cNvSpPr>
          <p:nvPr/>
        </p:nvSpPr>
        <p:spPr>
          <a:xfrm xmlns:a="http://schemas.openxmlformats.org/drawingml/2006/main">
            <a:off x="5943600" y="1325880"/>
            <a:ext cx="5715000" cy="3520440"/>
          </a:xfrm>
          <a:prstGeom xmlns:a="http://schemas.openxmlformats.org/drawingml/2006/main" prst="roundRect">
            <a:avLst>
              <a:gd name="adj" fmla="val 2078"/>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1" name="Google Shape;71;p6">
            <a:extLst xmlns:a="http://schemas.openxmlformats.org/drawingml/2006/main">
              <a:ext uri="{FF2B5EF4-FFF2-40B4-BE49-F238E27FC236}">
                <a16:creationId xmlns:a16="http://schemas.microsoft.com/office/drawing/2014/main" id="{6CFB85D5-D4BA-44D5-8D1C-D61EB0725F1B}"/>
              </a:ext>
            </a:extLst>
          </p:cNvPr>
          <p:cNvSpPr>
            <a:spLocks xmlns:a="http://schemas.openxmlformats.org/drawingml/2006/main" noGrp="1"/>
          </p:cNvSpPr>
          <p:nvPr/>
        </p:nvSpPr>
        <p:spPr>
          <a:xfrm xmlns:a="http://schemas.openxmlformats.org/drawingml/2006/main">
            <a:off x="6172200" y="1490472"/>
            <a:ext cx="5257800" cy="31912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1  Which line belongs in settings() in our BlueJ project?</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2  Which lines are normally one-time style choices?</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3  Where can background() go? How does the result change?</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4  Why must the mouse-position ellipse be in draw()?</a:t>
            </a:r>
          </a:p>
        </p:txBody>
      </p:sp>
      <p:sp>
        <p:nvSpPr>
          <p:cNvPr id="72" name="Google Shape;72;p6">
            <a:extLst xmlns:a="http://schemas.openxmlformats.org/drawingml/2006/main">
              <a:ext uri="{FF2B5EF4-FFF2-40B4-BE49-F238E27FC236}">
                <a16:creationId xmlns:a16="http://schemas.microsoft.com/office/drawing/2014/main" id="{5C38C59F-ADFB-4EEE-8497-473A1EF1E97B}"/>
              </a:ext>
            </a:extLst>
          </p:cNvPr>
          <p:cNvSpPr>
            <a:spLocks xmlns:a="http://schemas.openxmlformats.org/drawingml/2006/main" noGrp="1"/>
          </p:cNvSpPr>
          <p:nvPr/>
        </p:nvSpPr>
        <p:spPr>
          <a:xfrm xmlns:a="http://schemas.openxmlformats.org/drawingml/2006/main">
            <a:off x="5943600" y="4983480"/>
            <a:ext cx="5715000" cy="1325880"/>
          </a:xfrm>
          <a:prstGeom xmlns:a="http://schemas.openxmlformats.org/drawingml/2006/main" prst="roundRect">
            <a:avLst>
              <a:gd name="adj" fmla="val 6897"/>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3" name="Google Shape;73;p6">
            <a:extLst xmlns:a="http://schemas.openxmlformats.org/drawingml/2006/main">
              <a:ext uri="{FF2B5EF4-FFF2-40B4-BE49-F238E27FC236}">
                <a16:creationId xmlns:a16="http://schemas.microsoft.com/office/drawing/2014/main" id="{90524609-50BA-4188-B044-44BAFE4C3A69}"/>
              </a:ext>
            </a:extLst>
          </p:cNvPr>
          <p:cNvSpPr>
            <a:spLocks xmlns:a="http://schemas.openxmlformats.org/drawingml/2006/main" noGrp="1"/>
          </p:cNvSpPr>
          <p:nvPr/>
        </p:nvSpPr>
        <p:spPr>
          <a:xfrm xmlns:a="http://schemas.openxmlformats.org/drawingml/2006/main">
            <a:off x="6199632" y="5184648"/>
            <a:ext cx="520293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The decision rule</a:t>
            </a:r>
            <a:endParaRPr sz="1400" b="0" i="0" u="none" cap="none">
              <a:solidFill>
                <a:schemeClr val="dk1"/>
              </a:solidFill>
              <a:latin typeface="Calibri"/>
              <a:ea typeface="Calibri"/>
              <a:cs typeface="Calibri"/>
            </a:endParaRPr>
          </a:p>
        </p:txBody>
      </p:sp>
      <p:sp>
        <p:nvSpPr>
          <p:cNvPr id="74" name="Google Shape;74;p6">
            <a:extLst xmlns:a="http://schemas.openxmlformats.org/drawingml/2006/main">
              <a:ext uri="{FF2B5EF4-FFF2-40B4-BE49-F238E27FC236}">
                <a16:creationId xmlns:a16="http://schemas.microsoft.com/office/drawing/2014/main" id="{BC32CA32-9F94-4C1B-AB97-799A9F7C38C1}"/>
              </a:ext>
            </a:extLst>
          </p:cNvPr>
          <p:cNvSpPr>
            <a:spLocks xmlns:a="http://schemas.openxmlformats.org/drawingml/2006/main" noGrp="1"/>
          </p:cNvSpPr>
          <p:nvPr/>
        </p:nvSpPr>
        <p:spPr>
          <a:xfrm xmlns:a="http://schemas.openxmlformats.org/drawingml/2006/main">
            <a:off x="6199632" y="5550408"/>
            <a:ext cx="5202936"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Ask: does this need to happen once, or must it keep happening while the sketch runs?</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24629051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9" name="Google Shape;139;p10">
            <a:extLst xmlns:a="http://schemas.openxmlformats.org/drawingml/2006/main">
              <a:ext uri="{FF2B5EF4-FFF2-40B4-BE49-F238E27FC236}">
                <a16:creationId xmlns:a16="http://schemas.microsoft.com/office/drawing/2014/main" id="{2DD641F0-8253-4DF3-BECE-DD8AFE730EBA}"/>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pPr>
            <a:r>
              <a:rPr sz="2900" b="1" i="0" u="none" cap="none">
                <a:solidFill>
                  <a:srgbClr val="1E2761"/>
                </a:solidFill>
                <a:latin typeface="Cambria"/>
                <a:ea typeface="Cambria"/>
                <a:cs typeface="Cambria"/>
              </a:rPr>
              <a:t>Recap: Setup vs. Continuous Draw</a:t>
            </a:r>
            <a:endParaRPr sz="2900" b="0" i="0" u="none" cap="none">
              <a:solidFill>
                <a:schemeClr val="dk1"/>
              </a:solidFill>
              <a:latin typeface="Calibri"/>
              <a:ea typeface="Calibri"/>
              <a:cs typeface="Calibri"/>
            </a:endParaRPr>
          </a:p>
        </p:txBody>
      </p:sp>
      <p:sp>
        <p:nvSpPr>
          <p:cNvPr id="140" name="Google Shape;140;p10">
            <a:extLst xmlns:a="http://schemas.openxmlformats.org/drawingml/2006/main">
              <a:ext uri="{FF2B5EF4-FFF2-40B4-BE49-F238E27FC236}">
                <a16:creationId xmlns:a16="http://schemas.microsoft.com/office/drawing/2014/main" id="{308A21A7-8E92-4530-B0C7-563540503FC2}"/>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1" u="none" cap="none">
                <a:solidFill>
                  <a:srgbClr val="3B4A78"/>
                </a:solidFill>
                <a:latin typeface="Calibri"/>
                <a:ea typeface="Calibri"/>
                <a:cs typeface="Calibri"/>
              </a:rPr>
              <a:t>What you should be able to do now</a:t>
            </a:r>
            <a:endParaRPr sz="1500" b="0" i="0" u="none" cap="none">
              <a:solidFill>
                <a:schemeClr val="dk1"/>
              </a:solidFill>
              <a:latin typeface="Calibri"/>
              <a:ea typeface="Calibri"/>
              <a:cs typeface="Calibri"/>
            </a:endParaRPr>
          </a:p>
        </p:txBody>
      </p:sp>
      <p:sp>
        <p:nvSpPr>
          <p:cNvPr id="141" name="Google Shape;141;p10">
            <a:extLst xmlns:a="http://schemas.openxmlformats.org/drawingml/2006/main">
              <a:ext uri="{FF2B5EF4-FFF2-40B4-BE49-F238E27FC236}">
                <a16:creationId xmlns:a16="http://schemas.microsoft.com/office/drawing/2014/main" id="{F275EC9D-6611-4451-89B9-C1BEBFF81088}"/>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142" name="Google Shape;142;p10">
            <a:extLst xmlns:a="http://schemas.openxmlformats.org/drawingml/2006/main">
              <a:ext uri="{FF2B5EF4-FFF2-40B4-BE49-F238E27FC236}">
                <a16:creationId xmlns:a16="http://schemas.microsoft.com/office/drawing/2014/main" id="{D0F38C05-FD97-4118-9718-25CFC0EC76B5}"/>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143" name="Google Shape;143;p10">
            <a:extLst xmlns:a="http://schemas.openxmlformats.org/drawingml/2006/main">
              <a:ext uri="{FF2B5EF4-FFF2-40B4-BE49-F238E27FC236}">
                <a16:creationId xmlns:a16="http://schemas.microsoft.com/office/drawing/2014/main" id="{BE297759-3142-4DF7-B8AA-B14960F28748}"/>
              </a:ext>
            </a:extLst>
          </p:cNvPr>
          <p:cNvSpPr>
            <a:spLocks xmlns:a="http://schemas.openxmlformats.org/drawingml/2006/main" noGrp="1"/>
          </p:cNvSpPr>
          <p:nvPr/>
        </p:nvSpPr>
        <p:spPr>
          <a:xfrm xmlns:a="http://schemas.openxmlformats.org/drawingml/2006/main">
            <a:off x="548640" y="1325880"/>
            <a:ext cx="5486400" cy="3017520"/>
          </a:xfrm>
          <a:prstGeom xmlns:a="http://schemas.openxmlformats.org/drawingml/2006/main" prst="roundRect">
            <a:avLst>
              <a:gd name="adj" fmla="val 2424"/>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4" name="Google Shape;144;p10">
            <a:extLst xmlns:a="http://schemas.openxmlformats.org/drawingml/2006/main">
              <a:ext uri="{FF2B5EF4-FFF2-40B4-BE49-F238E27FC236}">
                <a16:creationId xmlns:a16="http://schemas.microsoft.com/office/drawing/2014/main" id="{19372A4F-B347-47B7-867D-1512D7CDBEDE}"/>
              </a:ext>
            </a:extLst>
          </p:cNvPr>
          <p:cNvSpPr>
            <a:spLocks xmlns:a="http://schemas.openxmlformats.org/drawingml/2006/main" noGrp="1"/>
          </p:cNvSpPr>
          <p:nvPr/>
        </p:nvSpPr>
        <p:spPr>
          <a:xfrm xmlns:a="http://schemas.openxmlformats.org/drawingml/2006/main">
            <a:off x="777240" y="1490472"/>
            <a:ext cx="5029200" cy="2688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228600" marR="0" lvl="0" indent="-228600" algn="l">
              <a:spcBef>
                <a:spcPts val="0"/>
              </a:spcBef>
              <a:spcAft>
                <a:spcPts val="0"/>
              </a:spcAft>
              <a:buClr>
                <a:srgbClr val="1E2761"/>
              </a:buClr>
              <a:buSzPts val="1400"/>
              <a:buFont typeface="Calibri"/>
              <a:buChar char="•"/>
            </a:pPr>
            <a:r>
              <a:rPr sz="1400" b="0" i="0" u="none" cap="none">
                <a:solidFill>
                  <a:srgbClr val="1E2761"/>
                </a:solidFill>
                <a:latin typeface="Calibri"/>
                <a:ea typeface="Calibri"/>
                <a:cs typeface="Calibri"/>
              </a:rPr>
              <a:t>Decide where a line of code should go, based on WHEN it needs to run — not a fixed rule per statement</a:t>
            </a:r>
            <a:endParaRPr sz="1400" b="0" i="0" u="none" cap="none">
              <a:solidFill>
                <a:schemeClr val="dk1"/>
              </a:solidFill>
              <a:latin typeface="Calibri"/>
              <a:ea typeface="Calibri"/>
              <a:cs typeface="Calibri"/>
            </a:endParaRPr>
          </a:p>
          <a:p xmlns:a="http://schemas.openxmlformats.org/drawingml/2006/main">
            <a:pPr marL="228600" marR="0" lvl="0" indent="-228600" algn="l">
              <a:spcBef>
                <a:spcPts val="600"/>
              </a:spcBef>
              <a:spcAft>
                <a:spcPts val="0"/>
              </a:spcAft>
              <a:buClr>
                <a:srgbClr val="1E2761"/>
              </a:buClr>
              <a:buSzPts val="1400"/>
              <a:buFont typeface="Calibri"/>
              <a:buChar char="•"/>
            </a:pPr>
            <a:r>
              <a:rPr sz="1400" b="0" i="0" u="none" cap="none">
                <a:solidFill>
                  <a:srgbClr val="1E2761"/>
                </a:solidFill>
                <a:latin typeface="Calibri"/>
                <a:ea typeface="Calibri"/>
                <a:cs typeface="Calibri"/>
              </a:rPr>
              <a:t>Build a sketch that places code correctly across all three</a:t>
            </a:r>
            <a:endParaRPr sz="1400" b="0" i="0" u="none" cap="none">
              <a:solidFill>
                <a:schemeClr val="dk1"/>
              </a:solidFill>
              <a:latin typeface="Calibri"/>
              <a:ea typeface="Calibri"/>
              <a:cs typeface="Calibri"/>
            </a:endParaRPr>
          </a:p>
          <a:p xmlns:a="http://schemas.openxmlformats.org/drawingml/2006/main">
            <a:pPr marL="228600" marR="0" lvl="0" indent="-228600" algn="l">
              <a:spcBef>
                <a:spcPts val="600"/>
              </a:spcBef>
              <a:spcAft>
                <a:spcPts val="0"/>
              </a:spcAft>
              <a:buClr>
                <a:srgbClr val="1E2761"/>
              </a:buClr>
              <a:buSzPts val="1400"/>
              <a:buFont typeface="Calibri"/>
              <a:buChar char="•"/>
            </a:pPr>
            <a:r>
              <a:rPr sz="1400" b="0" i="0" u="none" cap="none">
                <a:solidFill>
                  <a:srgbClr val="1E2761"/>
                </a:solidFill>
                <a:latin typeface="Calibri"/>
                <a:ea typeface="Calibri"/>
                <a:cs typeface="Calibri"/>
              </a:rPr>
              <a:t>Explain that draw() runs repeatedly by default, and that repetition is what enables change over time</a:t>
            </a:r>
            <a:endParaRPr sz="1400" b="0" i="0" u="none" cap="none">
              <a:solidFill>
                <a:schemeClr val="dk1"/>
              </a:solidFill>
              <a:latin typeface="Calibri"/>
              <a:ea typeface="Calibri"/>
              <a:cs typeface="Calibri"/>
            </a:endParaRPr>
          </a:p>
        </p:txBody>
      </p:sp>
      <p:sp>
        <p:nvSpPr>
          <p:cNvPr id="145" name="Google Shape;145;p10">
            <a:extLst xmlns:a="http://schemas.openxmlformats.org/drawingml/2006/main">
              <a:ext uri="{FF2B5EF4-FFF2-40B4-BE49-F238E27FC236}">
                <a16:creationId xmlns:a16="http://schemas.microsoft.com/office/drawing/2014/main" id="{24AD6173-B7F8-438A-9242-62A5680965F3}"/>
              </a:ext>
            </a:extLst>
          </p:cNvPr>
          <p:cNvSpPr>
            <a:spLocks xmlns:a="http://schemas.openxmlformats.org/drawingml/2006/main" noGrp="1"/>
          </p:cNvSpPr>
          <p:nvPr/>
        </p:nvSpPr>
        <p:spPr>
          <a:xfrm xmlns:a="http://schemas.openxmlformats.org/drawingml/2006/main">
            <a:off x="548640" y="4572000"/>
            <a:ext cx="5486400" cy="1371600"/>
          </a:xfrm>
          <a:prstGeom xmlns:a="http://schemas.openxmlformats.org/drawingml/2006/main" prst="roundRect">
            <a:avLst>
              <a:gd name="adj" fmla="val 6667"/>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6" name="Google Shape;146;p10">
            <a:extLst xmlns:a="http://schemas.openxmlformats.org/drawingml/2006/main">
              <a:ext uri="{FF2B5EF4-FFF2-40B4-BE49-F238E27FC236}">
                <a16:creationId xmlns:a16="http://schemas.microsoft.com/office/drawing/2014/main" id="{DFFB960D-099A-4819-9F9D-28C2059C72C1}"/>
              </a:ext>
            </a:extLst>
          </p:cNvPr>
          <p:cNvSpPr>
            <a:spLocks xmlns:a="http://schemas.openxmlformats.org/drawingml/2006/main" noGrp="1"/>
          </p:cNvSpPr>
          <p:nvPr/>
        </p:nvSpPr>
        <p:spPr>
          <a:xfrm xmlns:a="http://schemas.openxmlformats.org/drawingml/2006/main">
            <a:off x="804672" y="4773168"/>
            <a:ext cx="497433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pPr>
            <a:r>
              <a:rPr sz="1400" b="1" i="0" u="none" cap="none">
                <a:solidFill>
                  <a:srgbClr val="E8A33D"/>
                </a:solidFill>
                <a:latin typeface="Calibri"/>
                <a:ea typeface="Calibri"/>
                <a:cs typeface="Calibri"/>
              </a:rPr>
              <a:t>Key idea</a:t>
            </a:r>
            <a:endParaRPr sz="1400" b="0" i="0" u="none" cap="none">
              <a:solidFill>
                <a:schemeClr val="dk1"/>
              </a:solidFill>
              <a:latin typeface="Calibri"/>
              <a:ea typeface="Calibri"/>
              <a:cs typeface="Calibri"/>
            </a:endParaRPr>
          </a:p>
        </p:txBody>
      </p:sp>
      <p:sp>
        <p:nvSpPr>
          <p:cNvPr id="147" name="Google Shape;147;p10">
            <a:extLst xmlns:a="http://schemas.openxmlformats.org/drawingml/2006/main">
              <a:ext uri="{FF2B5EF4-FFF2-40B4-BE49-F238E27FC236}">
                <a16:creationId xmlns:a16="http://schemas.microsoft.com/office/drawing/2014/main" id="{AD5C13BD-9728-4785-9DF9-42CB7A1CEF28}"/>
              </a:ext>
            </a:extLst>
          </p:cNvPr>
          <p:cNvSpPr>
            <a:spLocks xmlns:a="http://schemas.openxmlformats.org/drawingml/2006/main" noGrp="1"/>
          </p:cNvSpPr>
          <p:nvPr/>
        </p:nvSpPr>
        <p:spPr>
          <a:xfrm xmlns:a="http://schemas.openxmlformats.org/drawingml/2006/main">
            <a:off x="804672" y="5138928"/>
            <a:ext cx="4974336"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400"/>
              <a:buFont typeface="Calibri"/>
              <a:buNone/>
            </a:pPr>
            <a:r>
              <a:rPr sz="1400" b="0" i="0" u="none" cap="none">
                <a:solidFill>
                  <a:srgbClr val="FFFFFF"/>
                </a:solidFill>
                <a:latin typeface="Calibri"/>
                <a:ea typeface="Calibri"/>
                <a:cs typeface="Calibri"/>
              </a:rPr>
              <a:t>setup() sets the stage once. draw() is what keeps the show running.</a:t>
            </a:r>
            <a:endParaRPr sz="1400" b="0" i="0" u="none" cap="none">
              <a:solidFill>
                <a:schemeClr val="dk1"/>
              </a:solidFill>
              <a:latin typeface="Calibri"/>
              <a:ea typeface="Calibri"/>
              <a:cs typeface="Calibri"/>
            </a:endParaRPr>
          </a:p>
        </p:txBody>
      </p:sp>
      <p:sp>
        <p:nvSpPr>
          <p:cNvPr id="148" name="Google Shape;148;p10">
            <a:extLst xmlns:a="http://schemas.openxmlformats.org/drawingml/2006/main">
              <a:ext uri="{FF2B5EF4-FFF2-40B4-BE49-F238E27FC236}">
                <a16:creationId xmlns:a16="http://schemas.microsoft.com/office/drawing/2014/main" id="{A90E8AE2-6697-4E5F-A9E2-3AF4D82AC9D9}"/>
              </a:ext>
            </a:extLst>
          </p:cNvPr>
          <p:cNvSpPr>
            <a:spLocks xmlns:a="http://schemas.openxmlformats.org/drawingml/2006/main" noGrp="1"/>
          </p:cNvSpPr>
          <p:nvPr/>
        </p:nvSpPr>
        <p:spPr>
          <a:xfrm xmlns:a="http://schemas.openxmlformats.org/drawingml/2006/main">
            <a:off x="6309360" y="1325880"/>
            <a:ext cx="5349240" cy="4663440"/>
          </a:xfrm>
          <a:prstGeom xmlns:a="http://schemas.openxmlformats.org/drawingml/2006/main" prst="roundRect">
            <a:avLst>
              <a:gd name="adj" fmla="val 1961"/>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10">
            <a:extLst xmlns:a="http://schemas.openxmlformats.org/drawingml/2006/main">
              <a:ext uri="{FF2B5EF4-FFF2-40B4-BE49-F238E27FC236}">
                <a16:creationId xmlns:a16="http://schemas.microsoft.com/office/drawing/2014/main" id="{C6B98ADE-F027-4FE7-B336-777332032090}"/>
              </a:ext>
            </a:extLst>
          </p:cNvPr>
          <p:cNvSpPr>
            <a:spLocks xmlns:a="http://schemas.openxmlformats.org/drawingml/2006/main" noGrp="1"/>
          </p:cNvSpPr>
          <p:nvPr/>
        </p:nvSpPr>
        <p:spPr>
          <a:xfrm xmlns:a="http://schemas.openxmlformats.org/drawingml/2006/main">
            <a:off x="6565392" y="152704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pPr>
            <a:r>
              <a:rPr sz="1400" b="1" i="0" u="none" cap="none">
                <a:solidFill>
                  <a:srgbClr val="E8A33D"/>
                </a:solidFill>
                <a:latin typeface="Calibri"/>
                <a:ea typeface="Calibri"/>
                <a:cs typeface="Calibri"/>
              </a:rPr>
              <a:t>Next lesson: B1.2</a:t>
            </a:r>
            <a:endParaRPr sz="1400" b="0" i="0" u="none" cap="none">
              <a:solidFill>
                <a:schemeClr val="dk1"/>
              </a:solidFill>
              <a:latin typeface="Calibri"/>
              <a:ea typeface="Calibri"/>
              <a:cs typeface="Calibri"/>
            </a:endParaRPr>
          </a:p>
        </p:txBody>
      </p:sp>
      <p:sp>
        <p:nvSpPr>
          <p:cNvPr id="150" name="Google Shape;150;p10">
            <a:extLst xmlns:a="http://schemas.openxmlformats.org/drawingml/2006/main">
              <a:ext uri="{FF2B5EF4-FFF2-40B4-BE49-F238E27FC236}">
                <a16:creationId xmlns:a16="http://schemas.microsoft.com/office/drawing/2014/main" id="{6D7B97BC-6C90-4F66-B807-65BC3EF21359}"/>
              </a:ext>
            </a:extLst>
          </p:cNvPr>
          <p:cNvSpPr>
            <a:spLocks xmlns:a="http://schemas.openxmlformats.org/drawingml/2006/main" noGrp="1"/>
          </p:cNvSpPr>
          <p:nvPr/>
        </p:nvSpPr>
        <p:spPr>
          <a:xfrm xmlns:a="http://schemas.openxmlformats.org/drawingml/2006/main">
            <a:off x="6565392" y="1892808"/>
            <a:ext cx="4837176" cy="3931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You'll expand beyond ellipse() to a full family of drawing primitives, and control how they look — size, color, stroke and fill — not just where they are.</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The lifecycle rules you learned today (settings/setup/draw) don't change — you're just about to have a lot more to put inside them.</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60431719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FCFCCA84-8E9E-45BC-8EBC-BDEDE0341497}"/>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Exit Ticket: Explain the Difference</a:t>
            </a:r>
            <a:endParaRPr sz="2900" b="0" i="0" u="none" cap="none">
              <a:solidFill>
                <a:schemeClr val="dk1"/>
              </a:solidFill>
              <a:latin typeface="Calibri"/>
              <a:ea typeface="Calibri"/>
              <a:cs typeface="Calibri"/>
            </a:endParaRPr>
          </a:p>
        </p:txBody>
      </p:sp>
      <p:sp>
        <p:nvSpPr>
          <p:cNvPr id="27" name="Google Shape;27;p4">
            <a:extLst xmlns:a="http://schemas.openxmlformats.org/drawingml/2006/main">
              <a:ext uri="{FF2B5EF4-FFF2-40B4-BE49-F238E27FC236}">
                <a16:creationId xmlns:a16="http://schemas.microsoft.com/office/drawing/2014/main" id="{0BB60E49-70C5-410A-92AE-63BB02FA66B6}"/>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Answer before you close BlueJ</a:t>
            </a:r>
            <a:endParaRPr sz="1500" b="0" i="0" u="none" cap="none">
              <a:solidFill>
                <a:schemeClr val="dk1"/>
              </a:solidFill>
              <a:latin typeface="Calibri"/>
              <a:ea typeface="Calibri"/>
              <a:cs typeface="Calibri"/>
            </a:endParaRPr>
          </a:p>
        </p:txBody>
      </p:sp>
      <p:sp>
        <p:nvSpPr>
          <p:cNvPr id="28" name="Google Shape;28;p4">
            <a:extLst xmlns:a="http://schemas.openxmlformats.org/drawingml/2006/main">
              <a:ext uri="{FF2B5EF4-FFF2-40B4-BE49-F238E27FC236}">
                <a16:creationId xmlns:a16="http://schemas.microsoft.com/office/drawing/2014/main" id="{39B51EB8-75A6-4231-8A11-3E81AA9FB906}"/>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29" name="Google Shape;29;p4">
            <a:extLst xmlns:a="http://schemas.openxmlformats.org/drawingml/2006/main">
              <a:ext uri="{FF2B5EF4-FFF2-40B4-BE49-F238E27FC236}">
                <a16:creationId xmlns:a16="http://schemas.microsoft.com/office/drawing/2014/main" id="{228B6CC2-CDD5-4887-B94D-DBEF43A68078}"/>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30" name="Google Shape;30;p4">
            <a:extLst xmlns:a="http://schemas.openxmlformats.org/drawingml/2006/main">
              <a:ext uri="{FF2B5EF4-FFF2-40B4-BE49-F238E27FC236}">
                <a16:creationId xmlns:a16="http://schemas.microsoft.com/office/drawing/2014/main" id="{DBD24E06-3AC1-4B7A-A16F-A007DFED52EA}"/>
              </a:ext>
            </a:extLst>
          </p:cNvPr>
          <p:cNvSpPr>
            <a:spLocks xmlns:a="http://schemas.openxmlformats.org/drawingml/2006/main" noGrp="1"/>
          </p:cNvSpPr>
          <p:nvPr/>
        </p:nvSpPr>
        <p:spPr>
          <a:xfrm xmlns:a="http://schemas.openxmlformats.org/drawingml/2006/main">
            <a:off x="548640" y="1371600"/>
            <a:ext cx="5577840" cy="4480560"/>
          </a:xfrm>
          <a:prstGeom xmlns:a="http://schemas.openxmlformats.org/drawingml/2006/main" prst="roundRect">
            <a:avLst>
              <a:gd name="adj" fmla="val 1633"/>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4">
            <a:extLst xmlns:a="http://schemas.openxmlformats.org/drawingml/2006/main">
              <a:ext uri="{FF2B5EF4-FFF2-40B4-BE49-F238E27FC236}">
                <a16:creationId xmlns:a16="http://schemas.microsoft.com/office/drawing/2014/main" id="{A5ED01E6-5F4B-47DA-BE63-1E7E52F5F26A}"/>
              </a:ext>
            </a:extLst>
          </p:cNvPr>
          <p:cNvSpPr>
            <a:spLocks xmlns:a="http://schemas.openxmlformats.org/drawingml/2006/main" noGrp="1"/>
          </p:cNvSpPr>
          <p:nvPr/>
        </p:nvSpPr>
        <p:spPr>
          <a:xfrm xmlns:a="http://schemas.openxmlformats.org/drawingml/2006/main">
            <a:off x="777240" y="1536192"/>
            <a:ext cx="5120640" cy="415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1  Which method configures the canvas in our BlueJ projects?</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2  Which method runs once after settings()?</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3  Why did the first version leave a trail?</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4  Why did the second version show one clean follower?</a:t>
            </a:r>
          </a:p>
        </p:txBody>
      </p:sp>
      <p:sp>
        <p:nvSpPr>
          <p:cNvPr id="32" name="Google Shape;32;p4">
            <a:extLst xmlns:a="http://schemas.openxmlformats.org/drawingml/2006/main">
              <a:ext uri="{FF2B5EF4-FFF2-40B4-BE49-F238E27FC236}">
                <a16:creationId xmlns:a16="http://schemas.microsoft.com/office/drawing/2014/main" id="{E71A3D64-1120-4A4C-8B79-88E6FB988AC1}"/>
              </a:ext>
            </a:extLst>
          </p:cNvPr>
          <p:cNvSpPr>
            <a:spLocks xmlns:a="http://schemas.openxmlformats.org/drawingml/2006/main" noGrp="1"/>
          </p:cNvSpPr>
          <p:nvPr/>
        </p:nvSpPr>
        <p:spPr>
          <a:xfrm xmlns:a="http://schemas.openxmlformats.org/drawingml/2006/main">
            <a:off x="6309360" y="1371600"/>
            <a:ext cx="5349240" cy="4480560"/>
          </a:xfrm>
          <a:prstGeom xmlns:a="http://schemas.openxmlformats.org/drawingml/2006/main" prst="roundRect">
            <a:avLst>
              <a:gd name="adj" fmla="val 2041"/>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 name="Google Shape;33;p4">
            <a:extLst xmlns:a="http://schemas.openxmlformats.org/drawingml/2006/main">
              <a:ext uri="{FF2B5EF4-FFF2-40B4-BE49-F238E27FC236}">
                <a16:creationId xmlns:a16="http://schemas.microsoft.com/office/drawing/2014/main" id="{24834F78-81E2-41F7-90DC-7DD5E9010323}"/>
              </a:ext>
            </a:extLst>
          </p:cNvPr>
          <p:cNvSpPr>
            <a:spLocks xmlns:a="http://schemas.openxmlformats.org/drawingml/2006/main" noGrp="1"/>
          </p:cNvSpPr>
          <p:nvPr/>
        </p:nvSpPr>
        <p:spPr>
          <a:xfrm xmlns:a="http://schemas.openxmlformats.org/drawingml/2006/main">
            <a:off x="6565392" y="157276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Show your evidence</a:t>
            </a:r>
            <a:endParaRPr sz="1400" b="0" i="0" u="none" cap="none">
              <a:solidFill>
                <a:schemeClr val="dk1"/>
              </a:solidFill>
              <a:latin typeface="Calibri"/>
              <a:ea typeface="Calibri"/>
              <a:cs typeface="Calibri"/>
            </a:endParaRPr>
          </a:p>
        </p:txBody>
      </p:sp>
      <p:sp>
        <p:nvSpPr>
          <p:cNvPr id="34" name="Google Shape;34;p4">
            <a:extLst xmlns:a="http://schemas.openxmlformats.org/drawingml/2006/main">
              <a:ext uri="{FF2B5EF4-FFF2-40B4-BE49-F238E27FC236}">
                <a16:creationId xmlns:a16="http://schemas.microsoft.com/office/drawing/2014/main" id="{169CC915-2433-4007-932C-A411E47470A8}"/>
              </a:ext>
            </a:extLst>
          </p:cNvPr>
          <p:cNvSpPr>
            <a:spLocks xmlns:a="http://schemas.openxmlformats.org/drawingml/2006/main" noGrp="1"/>
          </p:cNvSpPr>
          <p:nvPr/>
        </p:nvSpPr>
        <p:spPr>
          <a:xfrm xmlns:a="http://schemas.openxmlformats.org/drawingml/2006/main">
            <a:off x="6565392" y="1938528"/>
            <a:ext cx="4837176" cy="3749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 A successful compile</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 The clean follower running</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 background(220); as the first line in draw()</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 One sentence explaining what changed</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57003956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7" name="Google Shape;97;p8">
            <a:extLst xmlns:a="http://schemas.openxmlformats.org/drawingml/2006/main">
              <a:ext uri="{FF2B5EF4-FFF2-40B4-BE49-F238E27FC236}">
                <a16:creationId xmlns:a16="http://schemas.microsoft.com/office/drawing/2014/main" id="{FCA42E42-7AB2-412D-89D3-F024AAF68E3D}"/>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Appendix: Complete Trail Program</a:t>
            </a:r>
            <a:endParaRPr sz="2900" b="0" i="0" u="none" cap="none">
              <a:solidFill>
                <a:schemeClr val="dk1"/>
              </a:solidFill>
              <a:latin typeface="Calibri"/>
              <a:ea typeface="Calibri"/>
              <a:cs typeface="Calibri"/>
            </a:endParaRPr>
          </a:p>
        </p:txBody>
      </p:sp>
      <p:sp>
        <p:nvSpPr>
          <p:cNvPr id="98" name="Google Shape;98;p8">
            <a:extLst xmlns:a="http://schemas.openxmlformats.org/drawingml/2006/main">
              <a:ext uri="{FF2B5EF4-FFF2-40B4-BE49-F238E27FC236}">
                <a16:creationId xmlns:a16="http://schemas.microsoft.com/office/drawing/2014/main" id="{33E0E731-06B7-449B-AA4D-A121319BF2AA}"/>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Use this only to recover or compare after the checkpoints</a:t>
            </a:r>
            <a:endParaRPr sz="1500" b="0" i="0" u="none" cap="none">
              <a:solidFill>
                <a:schemeClr val="dk1"/>
              </a:solidFill>
              <a:latin typeface="Calibri"/>
              <a:ea typeface="Calibri"/>
              <a:cs typeface="Calibri"/>
            </a:endParaRPr>
          </a:p>
        </p:txBody>
      </p:sp>
      <p:sp>
        <p:nvSpPr>
          <p:cNvPr id="99" name="Google Shape;99;p8">
            <a:extLst xmlns:a="http://schemas.openxmlformats.org/drawingml/2006/main">
              <a:ext uri="{FF2B5EF4-FFF2-40B4-BE49-F238E27FC236}">
                <a16:creationId xmlns:a16="http://schemas.microsoft.com/office/drawing/2014/main" id="{527D28A2-E688-40FF-8B58-BD30F35ED13B}"/>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100" name="Google Shape;100;p8">
            <a:extLst xmlns:a="http://schemas.openxmlformats.org/drawingml/2006/main">
              <a:ext uri="{FF2B5EF4-FFF2-40B4-BE49-F238E27FC236}">
                <a16:creationId xmlns:a16="http://schemas.microsoft.com/office/drawing/2014/main" id="{97FAD421-2639-49CB-A29F-8B3214EF973C}"/>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101" name="Google Shape;101;p8">
            <a:extLst xmlns:a="http://schemas.openxmlformats.org/drawingml/2006/main">
              <a:ext uri="{FF2B5EF4-FFF2-40B4-BE49-F238E27FC236}">
                <a16:creationId xmlns:a16="http://schemas.microsoft.com/office/drawing/2014/main" id="{6546CB29-8A34-4C04-BEB2-EB961C8D598D}"/>
              </a:ext>
            </a:extLst>
          </p:cNvPr>
          <p:cNvSpPr>
            <a:spLocks xmlns:a="http://schemas.openxmlformats.org/drawingml/2006/main" noGrp="1"/>
          </p:cNvSpPr>
          <p:nvPr/>
        </p:nvSpPr>
        <p:spPr>
          <a:xfrm xmlns:a="http://schemas.openxmlformats.org/drawingml/2006/main">
            <a:off x="548640" y="1325880"/>
            <a:ext cx="5577840" cy="2743200"/>
          </a:xfrm>
          <a:prstGeom xmlns:a="http://schemas.openxmlformats.org/drawingml/2006/main" prst="roundRect">
            <a:avLst>
              <a:gd name="adj" fmla="val 2667"/>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2" name="Google Shape;102;p8">
            <a:extLst xmlns:a="http://schemas.openxmlformats.org/drawingml/2006/main">
              <a:ext uri="{FF2B5EF4-FFF2-40B4-BE49-F238E27FC236}">
                <a16:creationId xmlns:a16="http://schemas.microsoft.com/office/drawing/2014/main" id="{CCCC8491-5758-4FFF-9AA6-07DDA8506FCB}"/>
              </a:ext>
            </a:extLst>
          </p:cNvPr>
          <p:cNvSpPr>
            <a:spLocks xmlns:a="http://schemas.openxmlformats.org/drawingml/2006/main" noGrp="1"/>
          </p:cNvSpPr>
          <p:nvPr/>
        </p:nvSpPr>
        <p:spPr>
          <a:xfrm xmlns:a="http://schemas.openxmlformats.org/drawingml/2006/main">
            <a:off x="777240" y="1490472"/>
            <a:ext cx="5120640" cy="24140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400">
                <a:solidFill>
                  <a:srgbClr val="1E2761"/>
                </a:solidFill>
                <a:latin typeface="Calibri"/>
                <a:ea typeface="Calibri"/>
                <a:cs typeface="Calibri"/>
              </a:defRPr>
            </a:pPr>
            <a:r>
              <a:rPr sz="1400" b="1">
                <a:solidFill>
                  <a:srgbClr val="1E2761"/>
                </a:solidFill>
                <a:latin typeface="Calibri"/>
                <a:ea typeface="Calibri"/>
                <a:cs typeface="Calibri"/>
              </a:rPr>
              <a:t>Behavior</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Move the pointer across the window. Each frame adds another orange circle, and earlier circles remain visible.</a:t>
            </a:r>
          </a:p>
        </p:txBody>
      </p:sp>
      <p:sp>
        <p:nvSpPr>
          <p:cNvPr id="103" name="Google Shape;103;p8">
            <a:extLst xmlns:a="http://schemas.openxmlformats.org/drawingml/2006/main">
              <a:ext uri="{FF2B5EF4-FFF2-40B4-BE49-F238E27FC236}">
                <a16:creationId xmlns:a16="http://schemas.microsoft.com/office/drawing/2014/main" id="{1E784ED6-CE1C-45D3-A28F-AE08D359A235}"/>
              </a:ext>
            </a:extLst>
          </p:cNvPr>
          <p:cNvSpPr>
            <a:spLocks xmlns:a="http://schemas.openxmlformats.org/drawingml/2006/main" noGrp="1"/>
          </p:cNvSpPr>
          <p:nvPr/>
        </p:nvSpPr>
        <p:spPr>
          <a:xfrm xmlns:a="http://schemas.openxmlformats.org/drawingml/2006/main">
            <a:off x="548640" y="4251960"/>
            <a:ext cx="5577840" cy="1737360"/>
          </a:xfrm>
          <a:prstGeom xmlns:a="http://schemas.openxmlformats.org/drawingml/2006/main" prst="roundRect">
            <a:avLst>
              <a:gd name="adj" fmla="val 5263"/>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4" name="Google Shape;104;p8">
            <a:extLst xmlns:a="http://schemas.openxmlformats.org/drawingml/2006/main">
              <a:ext uri="{FF2B5EF4-FFF2-40B4-BE49-F238E27FC236}">
                <a16:creationId xmlns:a16="http://schemas.microsoft.com/office/drawing/2014/main" id="{FD9B4B9D-80CA-445D-A30C-B66AC9A9D7AF}"/>
              </a:ext>
            </a:extLst>
          </p:cNvPr>
          <p:cNvSpPr>
            <a:spLocks xmlns:a="http://schemas.openxmlformats.org/drawingml/2006/main" noGrp="1"/>
          </p:cNvSpPr>
          <p:nvPr/>
        </p:nvSpPr>
        <p:spPr>
          <a:xfrm xmlns:a="http://schemas.openxmlformats.org/drawingml/2006/main">
            <a:off x="804672" y="4453128"/>
            <a:ext cx="50657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Key placement</a:t>
            </a:r>
            <a:endParaRPr sz="1400" b="0" i="0" u="none" cap="none">
              <a:solidFill>
                <a:schemeClr val="dk1"/>
              </a:solidFill>
              <a:latin typeface="Calibri"/>
              <a:ea typeface="Calibri"/>
              <a:cs typeface="Calibri"/>
            </a:endParaRPr>
          </a:p>
        </p:txBody>
      </p:sp>
      <p:sp>
        <p:nvSpPr>
          <p:cNvPr id="105" name="Google Shape;105;p8">
            <a:extLst xmlns:a="http://schemas.openxmlformats.org/drawingml/2006/main">
              <a:ext uri="{FF2B5EF4-FFF2-40B4-BE49-F238E27FC236}">
                <a16:creationId xmlns:a16="http://schemas.microsoft.com/office/drawing/2014/main" id="{DB85FCF3-1086-4074-8FA8-85C978820D10}"/>
              </a:ext>
            </a:extLst>
          </p:cNvPr>
          <p:cNvSpPr>
            <a:spLocks xmlns:a="http://schemas.openxmlformats.org/drawingml/2006/main" noGrp="1"/>
          </p:cNvSpPr>
          <p:nvPr/>
        </p:nvSpPr>
        <p:spPr>
          <a:xfrm xmlns:a="http://schemas.openxmlformats.org/drawingml/2006/main">
            <a:off x="804672" y="4818888"/>
            <a:ext cx="5065776"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background(220); is inside setup(), so it runs only once.</a:t>
            </a:r>
            <a:endParaRPr sz="1400" b="0" i="0" u="none" cap="none">
              <a:solidFill>
                <a:schemeClr val="dk1"/>
              </a:solidFill>
              <a:latin typeface="Calibri"/>
              <a:ea typeface="Calibri"/>
              <a:cs typeface="Calibri"/>
            </a:endParaRPr>
          </a:p>
        </p:txBody>
      </p:sp>
      <p:sp>
        <p:nvSpPr>
          <p:cNvPr id="106" name="Google Shape;106;p8">
            <a:extLst xmlns:a="http://schemas.openxmlformats.org/drawingml/2006/main">
              <a:ext uri="{FF2B5EF4-FFF2-40B4-BE49-F238E27FC236}">
                <a16:creationId xmlns:a16="http://schemas.microsoft.com/office/drawing/2014/main" id="{26DDF37A-C82E-4EB7-85D3-CD9682AF595B}"/>
              </a:ext>
            </a:extLst>
          </p:cNvPr>
          <p:cNvSpPr>
            <a:spLocks xmlns:a="http://schemas.openxmlformats.org/drawingml/2006/main" noGrp="1"/>
          </p:cNvSpPr>
          <p:nvPr/>
        </p:nvSpPr>
        <p:spPr>
          <a:xfrm xmlns:a="http://schemas.openxmlformats.org/drawingml/2006/main">
            <a:off x="6400800" y="1325880"/>
            <a:ext cx="5257800" cy="4663440"/>
          </a:xfrm>
          <a:prstGeom xmlns:a="http://schemas.openxmlformats.org/drawingml/2006/main" prst="roundRect">
            <a:avLst>
              <a:gd name="adj" fmla="val 1176"/>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5" name="Google Shape;115;p8">
            <a:extLst xmlns:a="http://schemas.openxmlformats.org/drawingml/2006/main">
              <a:ext uri="{FF2B5EF4-FFF2-40B4-BE49-F238E27FC236}">
                <a16:creationId xmlns:a16="http://schemas.microsoft.com/office/drawing/2014/main" id="{87D312E3-2D3C-476D-A2F7-0F538D7020B6}"/>
              </a:ext>
            </a:extLst>
          </p:cNvPr>
          <p:cNvSpPr>
            <a:spLocks xmlns:a="http://schemas.openxmlformats.org/drawingml/2006/main" noGrp="1"/>
          </p:cNvSpPr>
          <p:nvPr/>
        </p:nvSpPr>
        <p:spPr>
          <a:xfrm xmlns:a="http://schemas.openxmlformats.org/drawingml/2006/main">
            <a:off x="6656832" y="1463040"/>
            <a:ext cx="4745736" cy="457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import processing.core.PApplet;</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public class SetupDrawSketch extends PApplet</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public void settings()</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size(500, 350);</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public void setup()</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background(220);</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noStroke();</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fill(255, 170, 0);</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public void draw()</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ellipse(mouseX, mouseY, 40, 40);</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public static void main(String[] args)</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PApplet.main("SetupDrawSketch");</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99574040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7" name="Google Shape;97;p8">
            <a:extLst xmlns:a="http://schemas.openxmlformats.org/drawingml/2006/main">
              <a:ext uri="{FF2B5EF4-FFF2-40B4-BE49-F238E27FC236}">
                <a16:creationId xmlns:a16="http://schemas.microsoft.com/office/drawing/2014/main" id="{FCA42E42-7AB2-412D-89D3-F024AAF68E3D}"/>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Appendix: Complete Clean-Follower Program</a:t>
            </a:r>
            <a:endParaRPr sz="2900" b="0" i="0" u="none" cap="none">
              <a:solidFill>
                <a:schemeClr val="dk1"/>
              </a:solidFill>
              <a:latin typeface="Calibri"/>
              <a:ea typeface="Calibri"/>
              <a:cs typeface="Calibri"/>
            </a:endParaRPr>
          </a:p>
        </p:txBody>
      </p:sp>
      <p:sp>
        <p:nvSpPr>
          <p:cNvPr id="98" name="Google Shape;98;p8">
            <a:extLst xmlns:a="http://schemas.openxmlformats.org/drawingml/2006/main">
              <a:ext uri="{FF2B5EF4-FFF2-40B4-BE49-F238E27FC236}">
                <a16:creationId xmlns:a16="http://schemas.microsoft.com/office/drawing/2014/main" id="{33E0E731-06B7-449B-AA4D-A121319BF2AA}"/>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Compare it line by line with the trail version</a:t>
            </a:r>
            <a:endParaRPr sz="1500" b="0" i="0" u="none" cap="none">
              <a:solidFill>
                <a:schemeClr val="dk1"/>
              </a:solidFill>
              <a:latin typeface="Calibri"/>
              <a:ea typeface="Calibri"/>
              <a:cs typeface="Calibri"/>
            </a:endParaRPr>
          </a:p>
        </p:txBody>
      </p:sp>
      <p:sp>
        <p:nvSpPr>
          <p:cNvPr id="99" name="Google Shape;99;p8">
            <a:extLst xmlns:a="http://schemas.openxmlformats.org/drawingml/2006/main">
              <a:ext uri="{FF2B5EF4-FFF2-40B4-BE49-F238E27FC236}">
                <a16:creationId xmlns:a16="http://schemas.microsoft.com/office/drawing/2014/main" id="{527D28A2-E688-40FF-8B58-BD30F35ED13B}"/>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100" name="Google Shape;100;p8">
            <a:extLst xmlns:a="http://schemas.openxmlformats.org/drawingml/2006/main">
              <a:ext uri="{FF2B5EF4-FFF2-40B4-BE49-F238E27FC236}">
                <a16:creationId xmlns:a16="http://schemas.microsoft.com/office/drawing/2014/main" id="{97FAD421-2639-49CB-A29F-8B3214EF973C}"/>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101" name="Google Shape;101;p8">
            <a:extLst xmlns:a="http://schemas.openxmlformats.org/drawingml/2006/main">
              <a:ext uri="{FF2B5EF4-FFF2-40B4-BE49-F238E27FC236}">
                <a16:creationId xmlns:a16="http://schemas.microsoft.com/office/drawing/2014/main" id="{6546CB29-8A34-4C04-BEB2-EB961C8D598D}"/>
              </a:ext>
            </a:extLst>
          </p:cNvPr>
          <p:cNvSpPr>
            <a:spLocks xmlns:a="http://schemas.openxmlformats.org/drawingml/2006/main" noGrp="1"/>
          </p:cNvSpPr>
          <p:nvPr/>
        </p:nvSpPr>
        <p:spPr>
          <a:xfrm xmlns:a="http://schemas.openxmlformats.org/drawingml/2006/main">
            <a:off x="548640" y="1325880"/>
            <a:ext cx="5577840" cy="2743200"/>
          </a:xfrm>
          <a:prstGeom xmlns:a="http://schemas.openxmlformats.org/drawingml/2006/main" prst="roundRect">
            <a:avLst>
              <a:gd name="adj" fmla="val 2667"/>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2" name="Google Shape;102;p8">
            <a:extLst xmlns:a="http://schemas.openxmlformats.org/drawingml/2006/main">
              <a:ext uri="{FF2B5EF4-FFF2-40B4-BE49-F238E27FC236}">
                <a16:creationId xmlns:a16="http://schemas.microsoft.com/office/drawing/2014/main" id="{CCCC8491-5758-4FFF-9AA6-07DDA8506FCB}"/>
              </a:ext>
            </a:extLst>
          </p:cNvPr>
          <p:cNvSpPr>
            <a:spLocks xmlns:a="http://schemas.openxmlformats.org/drawingml/2006/main" noGrp="1"/>
          </p:cNvSpPr>
          <p:nvPr/>
        </p:nvSpPr>
        <p:spPr>
          <a:xfrm xmlns:a="http://schemas.openxmlformats.org/drawingml/2006/main">
            <a:off x="777240" y="1490472"/>
            <a:ext cx="5120640" cy="24140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400">
                <a:solidFill>
                  <a:srgbClr val="1E2761"/>
                </a:solidFill>
                <a:latin typeface="Calibri"/>
                <a:ea typeface="Calibri"/>
                <a:cs typeface="Calibri"/>
              </a:defRPr>
            </a:pPr>
            <a:r>
              <a:rPr sz="1400" b="1">
                <a:solidFill>
                  <a:srgbClr val="1E2761"/>
                </a:solidFill>
                <a:latin typeface="Calibri"/>
                <a:ea typeface="Calibri"/>
                <a:cs typeface="Calibri"/>
              </a:rPr>
              <a:t>Behavior</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Move the pointer across the window. Only the newest orange circle remains visible.</a:t>
            </a:r>
          </a:p>
        </p:txBody>
      </p:sp>
      <p:sp>
        <p:nvSpPr>
          <p:cNvPr id="103" name="Google Shape;103;p8">
            <a:extLst xmlns:a="http://schemas.openxmlformats.org/drawingml/2006/main">
              <a:ext uri="{FF2B5EF4-FFF2-40B4-BE49-F238E27FC236}">
                <a16:creationId xmlns:a16="http://schemas.microsoft.com/office/drawing/2014/main" id="{1E784ED6-CE1C-45D3-A28F-AE08D359A235}"/>
              </a:ext>
            </a:extLst>
          </p:cNvPr>
          <p:cNvSpPr>
            <a:spLocks xmlns:a="http://schemas.openxmlformats.org/drawingml/2006/main" noGrp="1"/>
          </p:cNvSpPr>
          <p:nvPr/>
        </p:nvSpPr>
        <p:spPr>
          <a:xfrm xmlns:a="http://schemas.openxmlformats.org/drawingml/2006/main">
            <a:off x="548640" y="4251960"/>
            <a:ext cx="5577840" cy="1737360"/>
          </a:xfrm>
          <a:prstGeom xmlns:a="http://schemas.openxmlformats.org/drawingml/2006/main" prst="roundRect">
            <a:avLst>
              <a:gd name="adj" fmla="val 5263"/>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4" name="Google Shape;104;p8">
            <a:extLst xmlns:a="http://schemas.openxmlformats.org/drawingml/2006/main">
              <a:ext uri="{FF2B5EF4-FFF2-40B4-BE49-F238E27FC236}">
                <a16:creationId xmlns:a16="http://schemas.microsoft.com/office/drawing/2014/main" id="{FD9B4B9D-80CA-445D-A30C-B66AC9A9D7AF}"/>
              </a:ext>
            </a:extLst>
          </p:cNvPr>
          <p:cNvSpPr>
            <a:spLocks xmlns:a="http://schemas.openxmlformats.org/drawingml/2006/main" noGrp="1"/>
          </p:cNvSpPr>
          <p:nvPr/>
        </p:nvSpPr>
        <p:spPr>
          <a:xfrm xmlns:a="http://schemas.openxmlformats.org/drawingml/2006/main">
            <a:off x="804672" y="4453128"/>
            <a:ext cx="50657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Key placement</a:t>
            </a:r>
            <a:endParaRPr sz="1400" b="0" i="0" u="none" cap="none">
              <a:solidFill>
                <a:schemeClr val="dk1"/>
              </a:solidFill>
              <a:latin typeface="Calibri"/>
              <a:ea typeface="Calibri"/>
              <a:cs typeface="Calibri"/>
            </a:endParaRPr>
          </a:p>
        </p:txBody>
      </p:sp>
      <p:sp>
        <p:nvSpPr>
          <p:cNvPr id="105" name="Google Shape;105;p8">
            <a:extLst xmlns:a="http://schemas.openxmlformats.org/drawingml/2006/main">
              <a:ext uri="{FF2B5EF4-FFF2-40B4-BE49-F238E27FC236}">
                <a16:creationId xmlns:a16="http://schemas.microsoft.com/office/drawing/2014/main" id="{DB85FCF3-1086-4074-8FA8-85C978820D10}"/>
              </a:ext>
            </a:extLst>
          </p:cNvPr>
          <p:cNvSpPr>
            <a:spLocks xmlns:a="http://schemas.openxmlformats.org/drawingml/2006/main" noGrp="1"/>
          </p:cNvSpPr>
          <p:nvPr/>
        </p:nvSpPr>
        <p:spPr>
          <a:xfrm xmlns:a="http://schemas.openxmlformats.org/drawingml/2006/main">
            <a:off x="804672" y="4818888"/>
            <a:ext cx="5065776"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background(220); is the first line in draw(), so every frame begins with a clear canvas.</a:t>
            </a:r>
            <a:endParaRPr sz="1400" b="0" i="0" u="none" cap="none">
              <a:solidFill>
                <a:schemeClr val="dk1"/>
              </a:solidFill>
              <a:latin typeface="Calibri"/>
              <a:ea typeface="Calibri"/>
              <a:cs typeface="Calibri"/>
            </a:endParaRPr>
          </a:p>
        </p:txBody>
      </p:sp>
      <p:sp>
        <p:nvSpPr>
          <p:cNvPr id="106" name="Google Shape;106;p8">
            <a:extLst xmlns:a="http://schemas.openxmlformats.org/drawingml/2006/main">
              <a:ext uri="{FF2B5EF4-FFF2-40B4-BE49-F238E27FC236}">
                <a16:creationId xmlns:a16="http://schemas.microsoft.com/office/drawing/2014/main" id="{26DDF37A-C82E-4EB7-85D3-CD9682AF595B}"/>
              </a:ext>
            </a:extLst>
          </p:cNvPr>
          <p:cNvSpPr>
            <a:spLocks xmlns:a="http://schemas.openxmlformats.org/drawingml/2006/main" noGrp="1"/>
          </p:cNvSpPr>
          <p:nvPr/>
        </p:nvSpPr>
        <p:spPr>
          <a:xfrm xmlns:a="http://schemas.openxmlformats.org/drawingml/2006/main">
            <a:off x="6400800" y="1325880"/>
            <a:ext cx="5257800" cy="4663440"/>
          </a:xfrm>
          <a:prstGeom xmlns:a="http://schemas.openxmlformats.org/drawingml/2006/main" prst="roundRect">
            <a:avLst>
              <a:gd name="adj" fmla="val 1176"/>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5" name="Google Shape;115;p8">
            <a:extLst xmlns:a="http://schemas.openxmlformats.org/drawingml/2006/main">
              <a:ext uri="{FF2B5EF4-FFF2-40B4-BE49-F238E27FC236}">
                <a16:creationId xmlns:a16="http://schemas.microsoft.com/office/drawing/2014/main" id="{87D312E3-2D3C-476D-A2F7-0F538D7020B6}"/>
              </a:ext>
            </a:extLst>
          </p:cNvPr>
          <p:cNvSpPr>
            <a:spLocks xmlns:a="http://schemas.openxmlformats.org/drawingml/2006/main" noGrp="1"/>
          </p:cNvSpPr>
          <p:nvPr/>
        </p:nvSpPr>
        <p:spPr>
          <a:xfrm xmlns:a="http://schemas.openxmlformats.org/drawingml/2006/main">
            <a:off x="6656832" y="1463040"/>
            <a:ext cx="4745736" cy="457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import processing.core.PApplet;</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public class SetupDrawSketch extends PApplet</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public void settings()</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size(500, 350);</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public void setup()</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noStroke();</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fill(255, 170, 0);</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public void draw()</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background(220);</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ellipse(mouseX, mouseY, 40, 40);</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public static void main(String[] args)</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PApplet.main("SetupDrawSketch");</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CADCFC"/>
              </a:buClr>
              <a:buSzPts val="1300"/>
              <a:buFont typeface="Calibri"/>
              <a:buNone/>
              <a:defRPr sz="950" i="0">
                <a:solidFill>
                  <a:srgbClr val="CADCFC"/>
                </a:solidFill>
                <a:latin typeface="Courier New"/>
                <a:ea typeface="Courier New"/>
                <a:cs typeface="Courier New"/>
              </a:defRPr>
            </a:pPr>
            <a:r>
              <a:rPr sz="950"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99574040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 name="Google Shape;80;p7">
            <a:extLst xmlns:a="http://schemas.openxmlformats.org/drawingml/2006/main">
              <a:ext uri="{FF2B5EF4-FFF2-40B4-BE49-F238E27FC236}">
                <a16:creationId xmlns:a16="http://schemas.microsoft.com/office/drawing/2014/main" id="{091B39BF-118F-4560-817E-FAB7D6BC9649}"/>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pPr>
            <a:r>
              <a:rPr sz="2900" b="1" i="0" u="none" cap="none">
                <a:solidFill>
                  <a:srgbClr val="1E2761"/>
                </a:solidFill>
                <a:latin typeface="Cambria"/>
                <a:ea typeface="Cambria"/>
                <a:cs typeface="Cambria"/>
              </a:rPr>
              <a:t>Watch draw() Run Repeatedly</a:t>
            </a:r>
            <a:endParaRPr sz="2900" b="0" i="0" u="none" cap="none">
              <a:solidFill>
                <a:schemeClr val="dk1"/>
              </a:solidFill>
              <a:latin typeface="Calibri"/>
              <a:ea typeface="Calibri"/>
              <a:cs typeface="Calibri"/>
            </a:endParaRPr>
          </a:p>
        </p:txBody>
      </p:sp>
      <p:sp>
        <p:nvSpPr>
          <p:cNvPr id="81" name="Google Shape;81;p7">
            <a:extLst xmlns:a="http://schemas.openxmlformats.org/drawingml/2006/main">
              <a:ext uri="{FF2B5EF4-FFF2-40B4-BE49-F238E27FC236}">
                <a16:creationId xmlns:a16="http://schemas.microsoft.com/office/drawing/2014/main" id="{2F198568-8837-4FC6-97F8-90C7334F722A}"/>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Optional teacher preview — open the verified MovingCircleDemo project</a:t>
            </a:r>
            <a:endParaRPr sz="1500" b="0" i="0" u="none" cap="none">
              <a:solidFill>
                <a:schemeClr val="dk1"/>
              </a:solidFill>
              <a:latin typeface="Calibri"/>
              <a:ea typeface="Calibri"/>
              <a:cs typeface="Calibri"/>
            </a:endParaRPr>
          </a:p>
        </p:txBody>
      </p:sp>
      <p:sp>
        <p:nvSpPr>
          <p:cNvPr id="82" name="Google Shape;82;p7">
            <a:extLst xmlns:a="http://schemas.openxmlformats.org/drawingml/2006/main">
              <a:ext uri="{FF2B5EF4-FFF2-40B4-BE49-F238E27FC236}">
                <a16:creationId xmlns:a16="http://schemas.microsoft.com/office/drawing/2014/main" id="{3315ED83-2595-4652-8CEE-351E6607816A}"/>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83" name="Google Shape;83;p7">
            <a:extLst xmlns:a="http://schemas.openxmlformats.org/drawingml/2006/main">
              <a:ext uri="{FF2B5EF4-FFF2-40B4-BE49-F238E27FC236}">
                <a16:creationId xmlns:a16="http://schemas.microsoft.com/office/drawing/2014/main" id="{1C5700ED-911B-4826-96AE-628DD5399042}"/>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84" name="Google Shape;84;p7">
            <a:extLst xmlns:a="http://schemas.openxmlformats.org/drawingml/2006/main">
              <a:ext uri="{FF2B5EF4-FFF2-40B4-BE49-F238E27FC236}">
                <a16:creationId xmlns:a16="http://schemas.microsoft.com/office/drawing/2014/main" id="{0FD27B14-3C10-46AF-B10E-2783531ACC2B}"/>
              </a:ext>
            </a:extLst>
          </p:cNvPr>
          <p:cNvSpPr>
            <a:spLocks xmlns:a="http://schemas.openxmlformats.org/drawingml/2006/main" noGrp="1"/>
          </p:cNvSpPr>
          <p:nvPr/>
        </p:nvSpPr>
        <p:spPr>
          <a:xfrm xmlns:a="http://schemas.openxmlformats.org/drawingml/2006/main">
            <a:off x="548640" y="1325880"/>
            <a:ext cx="5577840" cy="3017520"/>
          </a:xfrm>
          <a:prstGeom xmlns:a="http://schemas.openxmlformats.org/drawingml/2006/main" prst="roundRect">
            <a:avLst>
              <a:gd name="adj" fmla="val 2424"/>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5" name="Google Shape;85;p7">
            <a:extLst xmlns:a="http://schemas.openxmlformats.org/drawingml/2006/main">
              <a:ext uri="{FF2B5EF4-FFF2-40B4-BE49-F238E27FC236}">
                <a16:creationId xmlns:a16="http://schemas.microsoft.com/office/drawing/2014/main" id="{87799ECD-0076-49C9-8B4C-7AC71AF4EAA2}"/>
              </a:ext>
            </a:extLst>
          </p:cNvPr>
          <p:cNvSpPr>
            <a:spLocks xmlns:a="http://schemas.openxmlformats.org/drawingml/2006/main" noGrp="1"/>
          </p:cNvSpPr>
          <p:nvPr/>
        </p:nvSpPr>
        <p:spPr>
          <a:xfrm xmlns:a="http://schemas.openxmlformats.org/drawingml/2006/main">
            <a:off x="822960" y="1527048"/>
            <a:ext cx="5029200" cy="2615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FD0FF"/>
              </a:buClr>
              <a:buSzPts val="1350"/>
              <a:buFont typeface="Courier New"/>
              <a:buNone/>
            </a:pPr>
            <a:r>
              <a:rPr sz="1350" b="0" i="0" u="none" cap="none">
                <a:solidFill>
                  <a:srgbClr val="8FD0FF"/>
                </a:solidFill>
                <a:latin typeface="Courier New"/>
                <a:ea typeface="Courier New"/>
                <a:cs typeface="Courier New"/>
              </a:rPr>
              <a:t>float </a:t>
            </a:r>
            <a:r>
              <a:rPr sz="1350" b="0" i="0" u="none" cap="none">
                <a:solidFill>
                  <a:srgbClr val="CADCFC"/>
                </a:solidFill>
                <a:latin typeface="Courier New"/>
                <a:ea typeface="Courier New"/>
                <a:cs typeface="Courier New"/>
              </a:rPr>
              <a:t>x = 0;</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chemeClr val="dk1"/>
              </a:buClr>
              <a:buSzPts val="1350"/>
              <a:buFont typeface="Calibri"/>
              <a:buNone/>
            </a:pPr>
            <a:r>
              <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50"/>
              <a:buFont typeface="Courier New"/>
              <a:buNone/>
            </a:pPr>
            <a:r>
              <a:rPr sz="1350" b="0" i="0" u="none" cap="none">
                <a:solidFill>
                  <a:srgbClr val="8FD0FF"/>
                </a:solidFill>
                <a:latin typeface="Courier New"/>
                <a:ea typeface="Courier New"/>
                <a:cs typeface="Courier New"/>
              </a:rPr>
              <a:t>public void </a:t>
            </a:r>
            <a:r>
              <a:rPr sz="1350" b="0" i="0" u="none" cap="none">
                <a:solidFill>
                  <a:srgbClr val="E8A33D"/>
                </a:solidFill>
                <a:latin typeface="Courier New"/>
                <a:ea typeface="Courier New"/>
                <a:cs typeface="Courier New"/>
              </a:rPr>
              <a:t>draw</a:t>
            </a:r>
            <a:r>
              <a:rPr sz="1350" b="0" i="0" u="none" cap="none">
                <a:solidFill>
                  <a:srgbClr val="CADCFC"/>
                </a:solidFill>
                <a:latin typeface="Courier New"/>
                <a:ea typeface="Courier New"/>
                <a:cs typeface="Courier New"/>
              </a:rPr>
              <a:t>() {</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50"/>
              <a:buFont typeface="Courier New"/>
              <a:buNone/>
            </a:pPr>
            <a:r>
              <a:rPr sz="1350" b="0" i="0" u="none" cap="none">
                <a:solidFill>
                  <a:srgbClr val="E8A33D"/>
                </a:solidFill>
                <a:latin typeface="Courier New"/>
                <a:ea typeface="Courier New"/>
                <a:cs typeface="Courier New"/>
              </a:rPr>
              <a:t>  background</a:t>
            </a:r>
            <a:r>
              <a:rPr sz="1350" b="0" i="0" u="none" cap="none">
                <a:solidFill>
                  <a:srgbClr val="CADCFC"/>
                </a:solidFill>
                <a:latin typeface="Courier New"/>
                <a:ea typeface="Courier New"/>
                <a:cs typeface="Courier New"/>
              </a:rPr>
              <a:t>(220);</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50"/>
              <a:buFont typeface="Courier New"/>
              <a:buNone/>
            </a:pPr>
            <a:r>
              <a:rPr sz="1350" b="0" i="0" u="none" cap="none">
                <a:solidFill>
                  <a:srgbClr val="E8A33D"/>
                </a:solidFill>
                <a:latin typeface="Courier New"/>
                <a:ea typeface="Courier New"/>
                <a:cs typeface="Courier New"/>
              </a:rPr>
              <a:t>  ellipse</a:t>
            </a:r>
            <a:r>
              <a:rPr sz="1350" b="0" i="0" u="none" cap="none">
                <a:solidFill>
                  <a:srgbClr val="CADCFC"/>
                </a:solidFill>
                <a:latin typeface="Courier New"/>
                <a:ea typeface="Courier New"/>
                <a:cs typeface="Courier New"/>
              </a:rPr>
              <a:t>(x, 200, 40, 40);</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  x = x + 1;</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a:t>
            </a:r>
            <a:endParaRPr sz="1350" b="0" i="0" u="none" cap="none">
              <a:solidFill>
                <a:schemeClr val="dk1"/>
              </a:solidFill>
              <a:latin typeface="Calibri"/>
              <a:ea typeface="Calibri"/>
              <a:cs typeface="Calibri"/>
            </a:endParaRPr>
          </a:p>
        </p:txBody>
      </p:sp>
      <p:sp>
        <p:nvSpPr>
          <p:cNvPr id="86" name="Google Shape;86;p7">
            <a:extLst xmlns:a="http://schemas.openxmlformats.org/drawingml/2006/main">
              <a:ext uri="{FF2B5EF4-FFF2-40B4-BE49-F238E27FC236}">
                <a16:creationId xmlns:a16="http://schemas.microsoft.com/office/drawing/2014/main" id="{B89866AF-9479-460F-BFBD-EA70CFEDA9D1}"/>
              </a:ext>
            </a:extLst>
          </p:cNvPr>
          <p:cNvSpPr>
            <a:spLocks xmlns:a="http://schemas.openxmlformats.org/drawingml/2006/main" noGrp="1"/>
          </p:cNvSpPr>
          <p:nvPr/>
        </p:nvSpPr>
        <p:spPr>
          <a:xfrm xmlns:a="http://schemas.openxmlformats.org/drawingml/2006/main">
            <a:off x="548640" y="4480560"/>
            <a:ext cx="5577840" cy="1874520"/>
          </a:xfrm>
          <a:prstGeom xmlns:a="http://schemas.openxmlformats.org/drawingml/2006/main" prst="roundRect">
            <a:avLst>
              <a:gd name="adj" fmla="val 4878"/>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7" name="Google Shape;87;p7">
            <a:extLst xmlns:a="http://schemas.openxmlformats.org/drawingml/2006/main">
              <a:ext uri="{FF2B5EF4-FFF2-40B4-BE49-F238E27FC236}">
                <a16:creationId xmlns:a16="http://schemas.microsoft.com/office/drawing/2014/main" id="{8DC460FC-DD85-461C-8881-73D4C1EE1D45}"/>
              </a:ext>
            </a:extLst>
          </p:cNvPr>
          <p:cNvSpPr>
            <a:spLocks xmlns:a="http://schemas.openxmlformats.org/drawingml/2006/main" noGrp="1"/>
          </p:cNvSpPr>
          <p:nvPr/>
        </p:nvSpPr>
        <p:spPr>
          <a:xfrm xmlns:a="http://schemas.openxmlformats.org/drawingml/2006/main">
            <a:off x="804672" y="4681728"/>
            <a:ext cx="50657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pPr>
            <a:r>
              <a:rPr sz="1400" b="1" i="0" u="none" cap="none">
                <a:solidFill>
                  <a:srgbClr val="E8A33D"/>
                </a:solidFill>
                <a:latin typeface="Calibri"/>
                <a:ea typeface="Calibri"/>
                <a:cs typeface="Calibri"/>
              </a:rPr>
              <a:t>What's happening</a:t>
            </a:r>
            <a:endParaRPr sz="1400" b="0" i="0" u="none" cap="none">
              <a:solidFill>
                <a:schemeClr val="dk1"/>
              </a:solidFill>
              <a:latin typeface="Calibri"/>
              <a:ea typeface="Calibri"/>
              <a:cs typeface="Calibri"/>
            </a:endParaRPr>
          </a:p>
        </p:txBody>
      </p:sp>
      <p:sp>
        <p:nvSpPr>
          <p:cNvPr id="88" name="Google Shape;88;p7">
            <a:extLst xmlns:a="http://schemas.openxmlformats.org/drawingml/2006/main">
              <a:ext uri="{FF2B5EF4-FFF2-40B4-BE49-F238E27FC236}">
                <a16:creationId xmlns:a16="http://schemas.microsoft.com/office/drawing/2014/main" id="{675F85F7-2452-49A0-98E5-06D6D0008FDC}"/>
              </a:ext>
            </a:extLst>
          </p:cNvPr>
          <p:cNvSpPr>
            <a:spLocks xmlns:a="http://schemas.openxmlformats.org/drawingml/2006/main" noGrp="1"/>
          </p:cNvSpPr>
          <p:nvPr/>
        </p:nvSpPr>
        <p:spPr>
          <a:xfrm xmlns:a="http://schemas.openxmlformats.org/drawingml/2006/main">
            <a:off x="804672" y="5047488"/>
            <a:ext cx="5065776"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draw() runs repeatedly by default — many times per second. Each time draw() runs, x increases by 1, so the circle's center moves one pixel to the right. That's the whole trick behind animation: repeated execution plus a value that changes.</a:t>
            </a:r>
            <a:endParaRPr sz="1400" b="0" i="0" u="none" cap="none">
              <a:solidFill>
                <a:schemeClr val="dk1"/>
              </a:solidFill>
              <a:latin typeface="Calibri"/>
              <a:ea typeface="Calibri"/>
              <a:cs typeface="Calibri"/>
            </a:endParaRPr>
          </a:p>
        </p:txBody>
      </p:sp>
      <p:sp>
        <p:nvSpPr>
          <p:cNvPr id="89" name="Google Shape;89;p7">
            <a:extLst xmlns:a="http://schemas.openxmlformats.org/drawingml/2006/main">
              <a:ext uri="{FF2B5EF4-FFF2-40B4-BE49-F238E27FC236}">
                <a16:creationId xmlns:a16="http://schemas.microsoft.com/office/drawing/2014/main" id="{1ACE341F-7B3E-4BAD-975D-DAA7BEB6274F}"/>
              </a:ext>
            </a:extLst>
          </p:cNvPr>
          <p:cNvSpPr>
            <a:spLocks xmlns:a="http://schemas.openxmlformats.org/drawingml/2006/main" noGrp="1"/>
          </p:cNvSpPr>
          <p:nvPr/>
        </p:nvSpPr>
        <p:spPr>
          <a:xfrm xmlns:a="http://schemas.openxmlformats.org/drawingml/2006/main">
            <a:off x="6400800" y="1325880"/>
            <a:ext cx="5257800" cy="5029200"/>
          </a:xfrm>
          <a:prstGeom xmlns:a="http://schemas.openxmlformats.org/drawingml/2006/main" prst="roundRect">
            <a:avLst>
              <a:gd name="adj" fmla="val 1818"/>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0" name="Google Shape;90;p7">
            <a:extLst xmlns:a="http://schemas.openxmlformats.org/drawingml/2006/main">
              <a:ext uri="{FF2B5EF4-FFF2-40B4-BE49-F238E27FC236}">
                <a16:creationId xmlns:a16="http://schemas.microsoft.com/office/drawing/2014/main" id="{A5643058-763B-407D-8EAF-049E4D69CEBE}"/>
              </a:ext>
            </a:extLst>
          </p:cNvPr>
          <p:cNvSpPr>
            <a:spLocks xmlns:a="http://schemas.openxmlformats.org/drawingml/2006/main" noGrp="1"/>
          </p:cNvSpPr>
          <p:nvPr/>
        </p:nvSpPr>
        <p:spPr>
          <a:xfrm xmlns:a="http://schemas.openxmlformats.org/drawingml/2006/main">
            <a:off x="6656832" y="1527048"/>
            <a:ext cx="474573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Use the complete example project</a:t>
            </a:r>
            <a:endParaRPr sz="1400" b="0" i="0" u="none" cap="none">
              <a:solidFill>
                <a:schemeClr val="dk1"/>
              </a:solidFill>
              <a:latin typeface="Calibri"/>
              <a:ea typeface="Calibri"/>
              <a:cs typeface="Calibri"/>
            </a:endParaRPr>
          </a:p>
        </p:txBody>
      </p:sp>
      <p:sp>
        <p:nvSpPr>
          <p:cNvPr id="91" name="Google Shape;91;p7">
            <a:extLst xmlns:a="http://schemas.openxmlformats.org/drawingml/2006/main">
              <a:ext uri="{FF2B5EF4-FFF2-40B4-BE49-F238E27FC236}">
                <a16:creationId xmlns:a16="http://schemas.microsoft.com/office/drawing/2014/main" id="{F7091472-CDB1-4BE7-9900-3BF0EDE4D86C}"/>
              </a:ext>
            </a:extLst>
          </p:cNvPr>
          <p:cNvSpPr>
            <a:spLocks xmlns:a="http://schemas.openxmlformats.org/drawingml/2006/main" noGrp="1"/>
          </p:cNvSpPr>
          <p:nvPr/>
        </p:nvSpPr>
        <p:spPr>
          <a:xfrm xmlns:a="http://schemas.openxmlformats.org/drawingml/2006/main">
            <a:off x="6656832" y="1892808"/>
            <a:ext cx="4745736" cy="429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This remains a watch-only preview. The full BlueJ project includes settings(), setup(), draw(), and main().</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Focus on the evidence: draw() repeats, x changes by 1 each frame, and the circle is redrawn at a new position.</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pPr>
            <a:r>
              <a:rPr sz="1400" b="0" i="0" u="none" cap="none">
                <a:solidFill>
                  <a:srgbClr val="FFFFFF"/>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Controlled motion, velocity, and edge behavior are taught later in B1.3.</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3212192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FCFCCA84-8E9E-45BC-8EBC-BDEDE0341497}"/>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If It Doesn't Work</a:t>
            </a:r>
            <a:endParaRPr sz="2900" b="0" i="0" u="none" cap="none">
              <a:solidFill>
                <a:schemeClr val="dk1"/>
              </a:solidFill>
              <a:latin typeface="Calibri"/>
              <a:ea typeface="Calibri"/>
              <a:cs typeface="Calibri"/>
            </a:endParaRPr>
          </a:p>
        </p:txBody>
      </p:sp>
      <p:sp>
        <p:nvSpPr>
          <p:cNvPr id="27" name="Google Shape;27;p4">
            <a:extLst xmlns:a="http://schemas.openxmlformats.org/drawingml/2006/main">
              <a:ext uri="{FF2B5EF4-FFF2-40B4-BE49-F238E27FC236}">
                <a16:creationId xmlns:a16="http://schemas.microsoft.com/office/drawing/2014/main" id="{0BB60E49-70C5-410A-92AE-63BB02FA66B6}"/>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Check these in order before rewriting the whole program</a:t>
            </a:r>
            <a:endParaRPr sz="1500" b="0" i="0" u="none" cap="none">
              <a:solidFill>
                <a:schemeClr val="dk1"/>
              </a:solidFill>
              <a:latin typeface="Calibri"/>
              <a:ea typeface="Calibri"/>
              <a:cs typeface="Calibri"/>
            </a:endParaRPr>
          </a:p>
        </p:txBody>
      </p:sp>
      <p:sp>
        <p:nvSpPr>
          <p:cNvPr id="28" name="Google Shape;28;p4">
            <a:extLst xmlns:a="http://schemas.openxmlformats.org/drawingml/2006/main">
              <a:ext uri="{FF2B5EF4-FFF2-40B4-BE49-F238E27FC236}">
                <a16:creationId xmlns:a16="http://schemas.microsoft.com/office/drawing/2014/main" id="{39B51EB8-75A6-4231-8A11-3E81AA9FB906}"/>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29" name="Google Shape;29;p4">
            <a:extLst xmlns:a="http://schemas.openxmlformats.org/drawingml/2006/main">
              <a:ext uri="{FF2B5EF4-FFF2-40B4-BE49-F238E27FC236}">
                <a16:creationId xmlns:a16="http://schemas.microsoft.com/office/drawing/2014/main" id="{228B6CC2-CDD5-4887-B94D-DBEF43A68078}"/>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B1.1 (Part 2 of 2) · Setup vs. Continuous Draw</a:t>
            </a:r>
            <a:endParaRPr sz="1100" b="0" i="0" u="none" cap="none">
              <a:solidFill>
                <a:schemeClr val="dk1"/>
              </a:solidFill>
              <a:latin typeface="Calibri"/>
              <a:ea typeface="Calibri"/>
              <a:cs typeface="Calibri"/>
            </a:endParaRPr>
          </a:p>
        </p:txBody>
      </p:sp>
      <p:sp>
        <p:nvSpPr>
          <p:cNvPr id="30" name="Google Shape;30;p4">
            <a:extLst xmlns:a="http://schemas.openxmlformats.org/drawingml/2006/main">
              <a:ext uri="{FF2B5EF4-FFF2-40B4-BE49-F238E27FC236}">
                <a16:creationId xmlns:a16="http://schemas.microsoft.com/office/drawing/2014/main" id="{DBD24E06-3AC1-4B7A-A16F-A007DFED52EA}"/>
              </a:ext>
            </a:extLst>
          </p:cNvPr>
          <p:cNvSpPr>
            <a:spLocks xmlns:a="http://schemas.openxmlformats.org/drawingml/2006/main" noGrp="1"/>
          </p:cNvSpPr>
          <p:nvPr/>
        </p:nvSpPr>
        <p:spPr>
          <a:xfrm xmlns:a="http://schemas.openxmlformats.org/drawingml/2006/main">
            <a:off x="548640" y="1371600"/>
            <a:ext cx="5577840" cy="4480560"/>
          </a:xfrm>
          <a:prstGeom xmlns:a="http://schemas.openxmlformats.org/drawingml/2006/main" prst="roundRect">
            <a:avLst>
              <a:gd name="adj" fmla="val 1633"/>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4">
            <a:extLst xmlns:a="http://schemas.openxmlformats.org/drawingml/2006/main">
              <a:ext uri="{FF2B5EF4-FFF2-40B4-BE49-F238E27FC236}">
                <a16:creationId xmlns:a16="http://schemas.microsoft.com/office/drawing/2014/main" id="{A5ED01E6-5F4B-47DA-BE63-1E7E52F5F26A}"/>
              </a:ext>
            </a:extLst>
          </p:cNvPr>
          <p:cNvSpPr>
            <a:spLocks xmlns:a="http://schemas.openxmlformats.org/drawingml/2006/main" noGrp="1"/>
          </p:cNvSpPr>
          <p:nvPr/>
        </p:nvSpPr>
        <p:spPr>
          <a:xfrm xmlns:a="http://schemas.openxmlformats.org/drawingml/2006/main">
            <a:off x="777240" y="1536192"/>
            <a:ext cx="5120640" cy="415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300">
                <a:solidFill>
                  <a:srgbClr val="1E2761"/>
                </a:solidFill>
                <a:latin typeface="Calibri"/>
                <a:ea typeface="Calibri"/>
                <a:cs typeface="Calibri"/>
              </a:defRPr>
            </a:pPr>
            <a:r>
              <a:rPr sz="1300" b="1">
                <a:solidFill>
                  <a:srgbClr val="1E2761"/>
                </a:solidFill>
                <a:latin typeface="Calibri"/>
                <a:ea typeface="Calibri"/>
                <a:cs typeface="Calibri"/>
              </a:rPr>
              <a:t>Compile error?</a:t>
            </a:r>
          </a:p>
          <a:p xmlns:a="http://schemas.openxmlformats.org/drawingml/2006/main">
            <a:pPr marL="0" indent="0">
              <a:buNone/>
              <a:defRPr sz="1300">
                <a:solidFill>
                  <a:srgbClr val="1E2761"/>
                </a:solidFill>
                <a:latin typeface="Calibri"/>
                <a:ea typeface="Calibri"/>
                <a:cs typeface="Calibri"/>
              </a:defRPr>
            </a:pPr>
            <a:r>
              <a:rPr sz="1300">
                <a:solidFill>
                  <a:srgbClr val="1E2761"/>
                </a:solidFill>
                <a:latin typeface="Calibri"/>
                <a:ea typeface="Calibri"/>
                <a:cs typeface="Calibri"/>
              </a:rPr>
              <a:t> </a:t>
            </a:r>
          </a:p>
          <a:p xmlns:a="http://schemas.openxmlformats.org/drawingml/2006/main">
            <a:pPr marL="0" indent="0">
              <a:buNone/>
              <a:defRPr sz="1300">
                <a:solidFill>
                  <a:srgbClr val="1E2761"/>
                </a:solidFill>
                <a:latin typeface="Calibri"/>
                <a:ea typeface="Calibri"/>
                <a:cs typeface="Calibri"/>
              </a:defRPr>
            </a:pPr>
            <a:r>
              <a:rPr sz="1300">
                <a:solidFill>
                  <a:srgbClr val="1E2761"/>
                </a:solidFill>
                <a:latin typeface="Calibri"/>
                <a:ea typeface="Calibri"/>
                <a:cs typeface="Calibri"/>
              </a:rPr>
              <a:t>• import processing.core.PApplet;</a:t>
            </a:r>
          </a:p>
          <a:p xmlns:a="http://schemas.openxmlformats.org/drawingml/2006/main">
            <a:pPr marL="0" indent="0">
              <a:buNone/>
              <a:defRPr sz="1300">
                <a:solidFill>
                  <a:srgbClr val="1E2761"/>
                </a:solidFill>
                <a:latin typeface="Calibri"/>
                <a:ea typeface="Calibri"/>
                <a:cs typeface="Calibri"/>
              </a:defRPr>
            </a:pPr>
            <a:r>
              <a:rPr sz="1300">
                <a:solidFill>
                  <a:srgbClr val="1E2761"/>
                </a:solidFill>
                <a:latin typeface="Calibri"/>
                <a:ea typeface="Calibri"/>
                <a:cs typeface="Calibri"/>
              </a:rPr>
              <a:t> </a:t>
            </a:r>
          </a:p>
          <a:p xmlns:a="http://schemas.openxmlformats.org/drawingml/2006/main">
            <a:pPr marL="0" indent="0">
              <a:buNone/>
              <a:defRPr sz="1300">
                <a:solidFill>
                  <a:srgbClr val="1E2761"/>
                </a:solidFill>
                <a:latin typeface="Calibri"/>
                <a:ea typeface="Calibri"/>
                <a:cs typeface="Calibri"/>
              </a:defRPr>
            </a:pPr>
            <a:r>
              <a:rPr sz="1300">
                <a:solidFill>
                  <a:srgbClr val="1E2761"/>
                </a:solidFill>
                <a:latin typeface="Calibri"/>
                <a:ea typeface="Calibri"/>
                <a:cs typeface="Calibri"/>
              </a:rPr>
              <a:t>• Class name is SetupDrawSketch</a:t>
            </a:r>
          </a:p>
          <a:p xmlns:a="http://schemas.openxmlformats.org/drawingml/2006/main">
            <a:pPr marL="0" indent="0">
              <a:buNone/>
              <a:defRPr sz="1300">
                <a:solidFill>
                  <a:srgbClr val="1E2761"/>
                </a:solidFill>
                <a:latin typeface="Calibri"/>
                <a:ea typeface="Calibri"/>
                <a:cs typeface="Calibri"/>
              </a:defRPr>
            </a:pPr>
            <a:r>
              <a:rPr sz="1300">
                <a:solidFill>
                  <a:srgbClr val="1E2761"/>
                </a:solidFill>
                <a:latin typeface="Calibri"/>
                <a:ea typeface="Calibri"/>
                <a:cs typeface="Calibri"/>
              </a:rPr>
              <a:t> </a:t>
            </a:r>
          </a:p>
          <a:p xmlns:a="http://schemas.openxmlformats.org/drawingml/2006/main">
            <a:pPr marL="0" indent="0">
              <a:buNone/>
              <a:defRPr sz="1300">
                <a:solidFill>
                  <a:srgbClr val="1E2761"/>
                </a:solidFill>
                <a:latin typeface="Calibri"/>
                <a:ea typeface="Calibri"/>
                <a:cs typeface="Calibri"/>
              </a:defRPr>
            </a:pPr>
            <a:r>
              <a:rPr sz="1300">
                <a:solidFill>
                  <a:srgbClr val="1E2761"/>
                </a:solidFill>
                <a:latin typeface="Calibri"/>
                <a:ea typeface="Calibri"/>
                <a:cs typeface="Calibri"/>
              </a:rPr>
              <a:t>• Semicolon after every command</a:t>
            </a:r>
          </a:p>
          <a:p xmlns:a="http://schemas.openxmlformats.org/drawingml/2006/main">
            <a:pPr marL="0" indent="0">
              <a:buNone/>
              <a:defRPr sz="1300">
                <a:solidFill>
                  <a:srgbClr val="1E2761"/>
                </a:solidFill>
                <a:latin typeface="Calibri"/>
                <a:ea typeface="Calibri"/>
                <a:cs typeface="Calibri"/>
              </a:defRPr>
            </a:pPr>
            <a:r>
              <a:rPr sz="1300">
                <a:solidFill>
                  <a:srgbClr val="1E2761"/>
                </a:solidFill>
                <a:latin typeface="Calibri"/>
                <a:ea typeface="Calibri"/>
                <a:cs typeface="Calibri"/>
              </a:rPr>
              <a:t> </a:t>
            </a:r>
          </a:p>
          <a:p xmlns:a="http://schemas.openxmlformats.org/drawingml/2006/main">
            <a:pPr marL="0" indent="0">
              <a:buNone/>
              <a:defRPr sz="1300">
                <a:solidFill>
                  <a:srgbClr val="1E2761"/>
                </a:solidFill>
                <a:latin typeface="Calibri"/>
                <a:ea typeface="Calibri"/>
                <a:cs typeface="Calibri"/>
              </a:defRPr>
            </a:pPr>
            <a:r>
              <a:rPr sz="1300">
                <a:solidFill>
                  <a:srgbClr val="1E2761"/>
                </a:solidFill>
                <a:latin typeface="Calibri"/>
                <a:ea typeface="Calibri"/>
                <a:cs typeface="Calibri"/>
              </a:rPr>
              <a:t>• Opening and closing braces match</a:t>
            </a:r>
          </a:p>
          <a:p xmlns:a="http://schemas.openxmlformats.org/drawingml/2006/main">
            <a:pPr marL="0" indent="0">
              <a:buNone/>
              <a:defRPr sz="1300">
                <a:solidFill>
                  <a:srgbClr val="1E2761"/>
                </a:solidFill>
                <a:latin typeface="Calibri"/>
                <a:ea typeface="Calibri"/>
                <a:cs typeface="Calibri"/>
              </a:defRPr>
            </a:pPr>
            <a:r>
              <a:rPr sz="1300">
                <a:solidFill>
                  <a:srgbClr val="1E2761"/>
                </a:solidFill>
                <a:latin typeface="Calibri"/>
                <a:ea typeface="Calibri"/>
                <a:cs typeface="Calibri"/>
              </a:rPr>
              <a:t> </a:t>
            </a:r>
          </a:p>
          <a:p xmlns:a="http://schemas.openxmlformats.org/drawingml/2006/main">
            <a:pPr marL="0" indent="0">
              <a:buNone/>
              <a:defRPr sz="1300">
                <a:solidFill>
                  <a:srgbClr val="1E2761"/>
                </a:solidFill>
                <a:latin typeface="Calibri"/>
                <a:ea typeface="Calibri"/>
                <a:cs typeface="Calibri"/>
              </a:defRPr>
            </a:pPr>
            <a:r>
              <a:rPr sz="1300">
                <a:solidFill>
                  <a:srgbClr val="1E2761"/>
                </a:solidFill>
                <a:latin typeface="Calibri"/>
                <a:ea typeface="Calibri"/>
                <a:cs typeface="Calibri"/>
              </a:rPr>
              <a:t>• main() names SetupDrawSketch exactly</a:t>
            </a:r>
          </a:p>
        </p:txBody>
      </p:sp>
      <p:sp>
        <p:nvSpPr>
          <p:cNvPr id="32" name="Google Shape;32;p4">
            <a:extLst xmlns:a="http://schemas.openxmlformats.org/drawingml/2006/main">
              <a:ext uri="{FF2B5EF4-FFF2-40B4-BE49-F238E27FC236}">
                <a16:creationId xmlns:a16="http://schemas.microsoft.com/office/drawing/2014/main" id="{E71A3D64-1120-4A4C-8B79-88E6FB988AC1}"/>
              </a:ext>
            </a:extLst>
          </p:cNvPr>
          <p:cNvSpPr>
            <a:spLocks xmlns:a="http://schemas.openxmlformats.org/drawingml/2006/main" noGrp="1"/>
          </p:cNvSpPr>
          <p:nvPr/>
        </p:nvSpPr>
        <p:spPr>
          <a:xfrm xmlns:a="http://schemas.openxmlformats.org/drawingml/2006/main">
            <a:off x="6309360" y="1371600"/>
            <a:ext cx="5349240" cy="4480560"/>
          </a:xfrm>
          <a:prstGeom xmlns:a="http://schemas.openxmlformats.org/drawingml/2006/main" prst="roundRect">
            <a:avLst>
              <a:gd name="adj" fmla="val 2041"/>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 name="Google Shape;33;p4">
            <a:extLst xmlns:a="http://schemas.openxmlformats.org/drawingml/2006/main">
              <a:ext uri="{FF2B5EF4-FFF2-40B4-BE49-F238E27FC236}">
                <a16:creationId xmlns:a16="http://schemas.microsoft.com/office/drawing/2014/main" id="{24834F78-81E2-41F7-90DC-7DD5E9010323}"/>
              </a:ext>
            </a:extLst>
          </p:cNvPr>
          <p:cNvSpPr>
            <a:spLocks xmlns:a="http://schemas.openxmlformats.org/drawingml/2006/main" noGrp="1"/>
          </p:cNvSpPr>
          <p:nvPr/>
        </p:nvSpPr>
        <p:spPr>
          <a:xfrm xmlns:a="http://schemas.openxmlformats.org/drawingml/2006/main">
            <a:off x="6565392" y="157276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Sketch does not open or react?</a:t>
            </a:r>
            <a:endParaRPr sz="1400" b="0" i="0" u="none" cap="none">
              <a:solidFill>
                <a:schemeClr val="dk1"/>
              </a:solidFill>
              <a:latin typeface="Calibri"/>
              <a:ea typeface="Calibri"/>
              <a:cs typeface="Calibri"/>
            </a:endParaRPr>
          </a:p>
        </p:txBody>
      </p:sp>
      <p:sp>
        <p:nvSpPr>
          <p:cNvPr id="34" name="Google Shape;34;p4">
            <a:extLst xmlns:a="http://schemas.openxmlformats.org/drawingml/2006/main">
              <a:ext uri="{FF2B5EF4-FFF2-40B4-BE49-F238E27FC236}">
                <a16:creationId xmlns:a16="http://schemas.microsoft.com/office/drawing/2014/main" id="{169CC915-2433-4007-932C-A411E47470A8}"/>
              </a:ext>
            </a:extLst>
          </p:cNvPr>
          <p:cNvSpPr>
            <a:spLocks xmlns:a="http://schemas.openxmlformats.org/drawingml/2006/main" noGrp="1"/>
          </p:cNvSpPr>
          <p:nvPr/>
        </p:nvSpPr>
        <p:spPr>
          <a:xfrm xmlns:a="http://schemas.openxmlformats.org/drawingml/2006/main">
            <a:off x="6565392" y="1938528"/>
            <a:ext cx="4837176" cy="3749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300">
                <a:solidFill>
                  <a:srgbClr val="1E2761"/>
                </a:solidFill>
                <a:latin typeface="Calibri"/>
                <a:ea typeface="Calibri"/>
                <a:cs typeface="Calibri"/>
              </a:defRPr>
            </a:pPr>
            <a:r>
              <a:rPr sz="1300" b="0" i="0" u="none" cap="none">
                <a:solidFill>
                  <a:srgbClr val="1E2761"/>
                </a:solidFill>
                <a:latin typeface="Calibri"/>
                <a:ea typeface="Calibri"/>
                <a:cs typeface="Calibri"/>
              </a:rPr>
              <a:t>• Confirm core-4.5.6.jar says (Loaded)</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300">
                <a:solidFill>
                  <a:srgbClr val="1E2761"/>
                </a:solidFill>
                <a:latin typeface="Calibri"/>
                <a:ea typeface="Calibri"/>
                <a:cs typeface="Calibri"/>
              </a:defRPr>
            </a:pPr>
            <a:r>
              <a:rPr sz="1300" b="0" i="0" u="none" cap="none">
                <a:solidFill>
                  <a:srgbClr val="1E2761"/>
                </a:solidFill>
                <a:latin typeface="Calibri"/>
                <a:ea typeface="Calibri"/>
                <a:cs typeface="Calibri"/>
              </a:rPr>
              <a:t>• Right-click the class and run void main(String[] args)</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300">
                <a:solidFill>
                  <a:srgbClr val="1E2761"/>
                </a:solidFill>
                <a:latin typeface="Calibri"/>
                <a:ea typeface="Calibri"/>
                <a:cs typeface="Calibri"/>
              </a:defRPr>
            </a:pPr>
            <a:r>
              <a:rPr sz="1300" b="0" i="0" u="none" cap="none">
                <a:solidFill>
                  <a:srgbClr val="1E2761"/>
                </a:solidFill>
                <a:latin typeface="Calibri"/>
                <a:ea typeface="Calibri"/>
                <a:cs typeface="Calibri"/>
              </a:rPr>
              <a:t>• Look behind BlueJ for the sketch window</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300">
                <a:solidFill>
                  <a:srgbClr val="1E2761"/>
                </a:solidFill>
                <a:latin typeface="Calibri"/>
                <a:ea typeface="Calibri"/>
                <a:cs typeface="Calibri"/>
              </a:defRPr>
            </a:pPr>
            <a:r>
              <a:rPr sz="1300" b="0" i="0" u="none" cap="none">
                <a:solidFill>
                  <a:srgbClr val="1E2761"/>
                </a:solidFill>
                <a:latin typeface="Calibri"/>
                <a:ea typeface="Calibri"/>
                <a:cs typeface="Calibri"/>
              </a:rPr>
              <a:t>• Move the pointer inside the sketch window</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300">
                <a:solidFill>
                  <a:srgbClr val="1E2761"/>
                </a:solidFill>
                <a:latin typeface="Calibri"/>
                <a:ea typeface="Calibri"/>
                <a:cs typeface="Calibri"/>
              </a:defRPr>
            </a:pPr>
            <a:r>
              <a:rPr sz="1300" b="0" i="0" u="none" cap="none">
                <a:solidFill>
                  <a:srgbClr val="1E2761"/>
                </a:solidFill>
                <a:latin typeface="Calibri"/>
                <a:ea typeface="Calibri"/>
                <a:cs typeface="Calibri"/>
              </a:rPr>
              <a:t>• Put background() before ellipse() in draw()</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570039562"/>
      </p:ext>
    </p:extLst>
  </p:cSld>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2026-08-25T10:17:17.9860000Z</dcterms:created>
  <dcterms:modified xsi:type="dcterms:W3CDTF">2026-08-25T10:17:17.9860000Z</dcterms:modified>
</coreProperties>
</file>