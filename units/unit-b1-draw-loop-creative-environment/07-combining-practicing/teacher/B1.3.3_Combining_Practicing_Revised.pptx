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b0ceb2a734d80" /><Relationship Type="http://schemas.openxmlformats.org/officeDocument/2006/relationships/extended-properties" Target="/docProps/app.xml" Id="Rb678d5b20c324ee3" /><Relationship Type="http://schemas.openxmlformats.org/officeDocument/2006/relationships/officeDocument" Target="/ppt/presentation.xml" Id="R2524db77f02145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4dbcb000064741"/>
  </p:sldMasterIdLst>
  <p:notesMasterIdLst>
    <p:notesMasterId xmlns:r="http://schemas.openxmlformats.org/officeDocument/2006/relationships" r:id="R491e811b9af64e7c"/>
  </p:notesMasterIdLst>
  <p:sldIdLst>
    <p:sldId xmlns:r="http://schemas.openxmlformats.org/officeDocument/2006/relationships" id="256" r:id="Rcb7ca3c235904dcb"/>
    <p:sldId xmlns:r="http://schemas.openxmlformats.org/officeDocument/2006/relationships" id="257" r:id="R7540ab2d3ea34516"/>
    <p:sldId xmlns:r="http://schemas.openxmlformats.org/officeDocument/2006/relationships" id="258" r:id="Reb9303527ff44a1c"/>
    <p:sldId xmlns:r="http://schemas.openxmlformats.org/officeDocument/2006/relationships" id="259" r:id="R902b093bf1cb409a"/>
    <p:sldId xmlns:r="http://schemas.openxmlformats.org/officeDocument/2006/relationships" id="260" r:id="Rb1dd5176c87a43f7"/>
    <p:sldId xmlns:r="http://schemas.openxmlformats.org/officeDocument/2006/relationships" id="261" r:id="R9d3f8e46f04a4499"/>
    <p:sldId xmlns:r="http://schemas.openxmlformats.org/officeDocument/2006/relationships" id="262" r:id="Re3ccbd16c96543c7"/>
    <p:sldId xmlns:r="http://schemas.openxmlformats.org/officeDocument/2006/relationships" id="263" r:id="R3c80692cda52409a"/>
    <p:sldId xmlns:r="http://schemas.openxmlformats.org/officeDocument/2006/relationships" id="264" r:id="R2342a90a57cb448b"/>
    <p:sldId xmlns:r="http://schemas.openxmlformats.org/officeDocument/2006/relationships" id="265" r:id="R4ad2ca12a805410b"/>
    <p:sldId xmlns:r="http://schemas.openxmlformats.org/officeDocument/2006/relationships" id="266" r:id="R9e1a9c9e65574c22"/>
    <p:sldId xmlns:r="http://schemas.openxmlformats.org/officeDocument/2006/relationships" id="267" r:id="R44a6e596a14247f6"/>
    <p:sldId xmlns:r="http://schemas.openxmlformats.org/officeDocument/2006/relationships" id="268" r:id="Re01a23df60da4bda"/>
    <p:sldId xmlns:r="http://schemas.openxmlformats.org/officeDocument/2006/relationships" id="269" r:id="R54787c5ebfd04a75"/>
    <p:sldId xmlns:r="http://schemas.openxmlformats.org/officeDocument/2006/relationships" id="270" r:id="R86c045fc872e47db"/>
    <p:sldId xmlns:r="http://schemas.openxmlformats.org/officeDocument/2006/relationships" id="271" r:id="Rfe4f0eda684c4e03"/>
    <p:sldId xmlns:r="http://schemas.openxmlformats.org/officeDocument/2006/relationships" id="272" r:id="R4b7ca3dab2a14284"/>
    <p:sldId xmlns:r="http://schemas.openxmlformats.org/officeDocument/2006/relationships" id="273" r:id="R274154c99e0746e3"/>
    <p:sldId xmlns:r="http://schemas.openxmlformats.org/officeDocument/2006/relationships" id="274" r:id="R611a4300851545a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9f7ab67e946f9" /><Relationship Type="http://schemas.openxmlformats.org/officeDocument/2006/relationships/slideMaster" Target="/ppt/slideMasters/slideMaster1.xml" Id="Rd44dbcb000064741" /><Relationship Type="http://schemas.openxmlformats.org/officeDocument/2006/relationships/notesMaster" Target="/ppt/notesMasters/notesMaster1.xml" Id="R491e811b9af64e7c" /><Relationship Type="http://schemas.openxmlformats.org/officeDocument/2006/relationships/presProps" Target="/ppt/presProps.xml" Id="Raf7385ee13b44501" /><Relationship Type="http://schemas.openxmlformats.org/officeDocument/2006/relationships/tableStyles" Target="/ppt/tableStyles.xml" Id="Rf9298e1a588c440a" /><Relationship Type="http://schemas.openxmlformats.org/officeDocument/2006/relationships/slide" Target="/ppt/slides/slide1.xml" Id="Rcb7ca3c235904dcb" /><Relationship Type="http://schemas.openxmlformats.org/officeDocument/2006/relationships/slide" Target="/ppt/slides/slide2.xml" Id="R7540ab2d3ea34516" /><Relationship Type="http://schemas.openxmlformats.org/officeDocument/2006/relationships/slide" Target="/ppt/slides/slide3.xml" Id="Reb9303527ff44a1c" /><Relationship Type="http://schemas.openxmlformats.org/officeDocument/2006/relationships/slide" Target="/ppt/slides/slide4.xml" Id="R902b093bf1cb409a" /><Relationship Type="http://schemas.openxmlformats.org/officeDocument/2006/relationships/slide" Target="/ppt/slides/slide5.xml" Id="Rb1dd5176c87a43f7" /><Relationship Type="http://schemas.openxmlformats.org/officeDocument/2006/relationships/slide" Target="/ppt/slides/slide6.xml" Id="R9d3f8e46f04a4499" /><Relationship Type="http://schemas.openxmlformats.org/officeDocument/2006/relationships/slide" Target="/ppt/slides/slide7.xml" Id="Re3ccbd16c96543c7" /><Relationship Type="http://schemas.openxmlformats.org/officeDocument/2006/relationships/slide" Target="/ppt/slides/slide8.xml" Id="R3c80692cda52409a" /><Relationship Type="http://schemas.openxmlformats.org/officeDocument/2006/relationships/slide" Target="/ppt/slides/slide9.xml" Id="R2342a90a57cb448b" /><Relationship Type="http://schemas.openxmlformats.org/officeDocument/2006/relationships/slide" Target="/ppt/slides/slide10.xml" Id="R4ad2ca12a805410b" /><Relationship Type="http://schemas.openxmlformats.org/officeDocument/2006/relationships/slide" Target="/ppt/slides/slide11.xml" Id="R9e1a9c9e65574c22" /><Relationship Type="http://schemas.openxmlformats.org/officeDocument/2006/relationships/slide" Target="/ppt/slides/slide12.xml" Id="R44a6e596a14247f6" /><Relationship Type="http://schemas.openxmlformats.org/officeDocument/2006/relationships/slide" Target="/ppt/slides/slide13.xml" Id="Re01a23df60da4bda" /><Relationship Type="http://schemas.openxmlformats.org/officeDocument/2006/relationships/slide" Target="/ppt/slides/slide14.xml" Id="R54787c5ebfd04a75" /><Relationship Type="http://schemas.openxmlformats.org/officeDocument/2006/relationships/slide" Target="/ppt/slides/slide15.xml" Id="R86c045fc872e47db" /><Relationship Type="http://schemas.openxmlformats.org/officeDocument/2006/relationships/slide" Target="/ppt/slides/slide16.xml" Id="Rfe4f0eda684c4e03" /><Relationship Type="http://schemas.openxmlformats.org/officeDocument/2006/relationships/slide" Target="/ppt/slides/slide17.xml" Id="R4b7ca3dab2a14284" /><Relationship Type="http://schemas.openxmlformats.org/officeDocument/2006/relationships/slide" Target="/ppt/slides/slide18.xml" Id="R274154c99e0746e3" /><Relationship Type="http://schemas.openxmlformats.org/officeDocument/2006/relationships/slide" Target="/ppt/slides/slide19.xml" Id="R611a4300851545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335794cabd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8aecec12d452f" /><Relationship Type="http://schemas.openxmlformats.org/officeDocument/2006/relationships/notesMaster" Target="/ppt/notesMasters/notesMaster1.xml" Id="R779ab89dafc2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41e6e3d9d45f7" /><Relationship Type="http://schemas.openxmlformats.org/officeDocument/2006/relationships/notesMaster" Target="/ppt/notesMasters/notesMaster1.xml" Id="Rbe06dd593592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17c3844b145e1" /><Relationship Type="http://schemas.openxmlformats.org/officeDocument/2006/relationships/notesMaster" Target="/ppt/notesMasters/notesMaster1.xml" Id="R89546178cb83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bcfe5f9ffd4995" /><Relationship Type="http://schemas.openxmlformats.org/officeDocument/2006/relationships/notesMaster" Target="/ppt/notesMasters/notesMaster1.xml" Id="Re87c0bee08ff4d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101e60b4b54853" /><Relationship Type="http://schemas.openxmlformats.org/officeDocument/2006/relationships/notesMaster" Target="/ppt/notesMasters/notesMaster1.xml" Id="R6814c670292a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9a2359cc84393" /><Relationship Type="http://schemas.openxmlformats.org/officeDocument/2006/relationships/notesMaster" Target="/ppt/notesMasters/notesMaster1.xml" Id="Rdf8cff425c88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5f6b7151e41a8" /><Relationship Type="http://schemas.openxmlformats.org/officeDocument/2006/relationships/notesMaster" Target="/ppt/notesMasters/notesMaster1.xml" Id="Rc09778b4cd6a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7cedfea82a4f62" /><Relationship Type="http://schemas.openxmlformats.org/officeDocument/2006/relationships/notesMaster" Target="/ppt/notesMasters/notesMaster1.xml" Id="Rbfc0694d451e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4a549c816f4070" /><Relationship Type="http://schemas.openxmlformats.org/officeDocument/2006/relationships/notesMaster" Target="/ppt/notesMasters/notesMaster1.xml" Id="Ra47bd54b83c0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ad2aa6a0114340" /><Relationship Type="http://schemas.openxmlformats.org/officeDocument/2006/relationships/notesMaster" Target="/ppt/notesMasters/notesMaster1.xml" Id="R4b40d35342c844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7fd6663c204704" /><Relationship Type="http://schemas.openxmlformats.org/officeDocument/2006/relationships/notesMaster" Target="/ppt/notesMasters/notesMaster1.xml" Id="R5c78e69379e745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81fbf727034c72" /><Relationship Type="http://schemas.openxmlformats.org/officeDocument/2006/relationships/notesMaster" Target="/ppt/notesMasters/notesMaster1.xml" Id="R46d25d3e258149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e10d8d475a4817" /><Relationship Type="http://schemas.openxmlformats.org/officeDocument/2006/relationships/notesMaster" Target="/ppt/notesMasters/notesMaster1.xml" Id="R21c0feb6227044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1cfdb945114e03" /><Relationship Type="http://schemas.openxmlformats.org/officeDocument/2006/relationships/notesMaster" Target="/ppt/notesMasters/notesMaster1.xml" Id="R9301efeae0d149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9fe90a08434929" /><Relationship Type="http://schemas.openxmlformats.org/officeDocument/2006/relationships/notesMaster" Target="/ppt/notesMasters/notesMaster1.xml" Id="R75ab9f7312d041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b458b4093140f8" /><Relationship Type="http://schemas.openxmlformats.org/officeDocument/2006/relationships/notesMaster" Target="/ppt/notesMasters/notesMaster1.xml" Id="Rc1966832a52b44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cc24935f2e41a7" /><Relationship Type="http://schemas.openxmlformats.org/officeDocument/2006/relationships/notesMaster" Target="/ppt/notesMasters/notesMaster1.xml" Id="Rd0a24c8f618a4c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238a47392d4e67" /><Relationship Type="http://schemas.openxmlformats.org/officeDocument/2006/relationships/notesMaster" Target="/ppt/notesMasters/notesMaster1.xml" Id="R3b0adfe0c7a54b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92484b83e74a27" /><Relationship Type="http://schemas.openxmlformats.org/officeDocument/2006/relationships/notesMaster" Target="/ppt/notesMasters/notesMaster1.xml" Id="R970f8e80655543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“One shape will move and grow because two persistent values are updated on every draw() call.”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recognize this as a combination of the previous two lessons.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all four questions before revealing explanations. Require the assignment to be read from right to left.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Persistent fields survive draw() calls; x = x + vx reads the old x and stores the new x; the sign of vx sets horizontal direction; background() clears old pixels when called first each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success criteria. Emphasize prediction and explanation, not only watching the animation.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know the target contains two persistent values, two update lines, and one ellipse() call using both.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the clicks and pause until each student has a class tile named CombinedSketch.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Project: B1_3_3_Combining_Practice. Class: CombinedSketch.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Java file, public class, and PApplet.main() string must use the same spelling.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Paste, compile, and run before adding fields or updates.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blank white 400 × 300 window opens. frameRate(20) requests an observable pace; the actual rate may be lower.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https://processing.org/reference/frameRate_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Circle each pair: x/vx and d/growth. Then connect each update to the ellipse() argument it affects.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x controls horizontal center; d controls width and height. vx and growth are signed per-frame changes.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LANGUAGE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velocity-style change for vx. Speed is the nonnegative magnitude.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trace independently before revealing the worked values. Insist on update-before-draw order.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Visible pairs: (52,11), (54,12), (56,13), (58,14). Movement comes from x = x + vx; growth comes from d = d + growth.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add the four fields and three draw() lines to the verified shell. Predict first-visible values before running.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First visible x = 33 and d = 21. The circle moves right and grows with a clean background.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Compare the two options line by line. Ask what ellipse() argument each updated value controls.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Move + grow changes x and d. Diagonal motion changes x and y. Both use the same persistent-state pattern.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commit both values and both visible behaviors before running.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After 3 frames x = 94 and d = 33. The circle moves left because vx is negative and grows because growth is positive.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Run the supplied projects. Compare only one meaningful change at a time.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MoveGrow moves right and grows; LeftGrow moves left and grows; Diagonal changes x and y while diameter stays constant.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None contains edge behavior. Leaving the canvas is expected.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6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Release students to construct from Starter. Ask for the first visible x and d before the first run. Keep appendix slide 16 hidden unless recovery is needed.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First visible values: x = 32, d = 21. One orange circle moves right and grows without a trail.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Scan fields, background placement, both updates, and ellipse arguments in that order.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 a prediction before each one-field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Negative vx reverses horizontal direction; larger growth increases diameter faster; initial d changes the starting size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partner points; the other explains. Diagnose the symptom with the smallest edit.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Update x in draw() and use x as ellipse()’s first argument.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answer independently in one concise response.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x = 68 and d = 26 after 3 frames. The circle moves left and grows. All fields must persist so every frame starts from the previous frame’s values.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Reveal only after an attempt. Compare every complete line with the construction steps.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orange circle moves right by 2 pixels and grows by 1 pixel in diameter per draw() call.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Trace x and y separately, then connect them to ellipse(x, y, 30, 30).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First visible center: (43,42). The circle moves down and right at constant size.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as the runnable check for slide 10. Pause after three visible updates if possible.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After three draw() calls: x = 94 and d = 33. frameRate(10) requests a slower observable pace.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https://processing.org/reference/frameRate_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Diagnose one category at a time: library/class, persistent fields, clearing, updates, drawing arguments, then expected edge behavior.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identify a specific line and explain the smallest correction before editing.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6455255c048d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6bc07d589348e7" /><Relationship Type="http://schemas.openxmlformats.org/officeDocument/2006/relationships/slideLayout" Target="/ppt/slideLayouts/slideLayout1.xml" Id="R1657765ee19a4a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57765ee19a4a0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62f0dff2497f" /><Relationship Type="http://schemas.openxmlformats.org/officeDocument/2006/relationships/notesSlide" Target="/ppt/notesSlides/notesSlide1.xml" Id="R519cba1044d643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b6058ef8a49d6" /><Relationship Type="http://schemas.openxmlformats.org/officeDocument/2006/relationships/notesSlide" Target="/ppt/notesSlides/notesSlide2.xml" Id="Rab17eea7e8c846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1e87bdc18481e" /><Relationship Type="http://schemas.openxmlformats.org/officeDocument/2006/relationships/notesSlide" Target="/ppt/notesSlides/notesSlide3.xml" Id="Rb5d2cf97f016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0227a3c024122" /><Relationship Type="http://schemas.openxmlformats.org/officeDocument/2006/relationships/notesSlide" Target="/ppt/notesSlides/notesSlide4.xml" Id="R6ef63b7b134640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ae56ec49e44dc" /><Relationship Type="http://schemas.openxmlformats.org/officeDocument/2006/relationships/notesSlide" Target="/ppt/notesSlides/notesSlide5.xml" Id="R8ebe1b89a1ce4f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a0c5b5fec4e38" /><Relationship Type="http://schemas.openxmlformats.org/officeDocument/2006/relationships/notesSlide" Target="/ppt/notesSlides/notesSlide6.xml" Id="Rd0a3fa667d3643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76d6527e544ce" /><Relationship Type="http://schemas.openxmlformats.org/officeDocument/2006/relationships/notesSlide" Target="/ppt/notesSlides/notesSlide7.xml" Id="R036705ce50744f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5e27cb3ec4eb7" /><Relationship Type="http://schemas.openxmlformats.org/officeDocument/2006/relationships/notesSlide" Target="/ppt/notesSlides/notesSlide8.xml" Id="R0677e172604f41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06454026c4e72" /><Relationship Type="http://schemas.openxmlformats.org/officeDocument/2006/relationships/notesSlide" Target="/ppt/notesSlides/notesSlide9.xml" Id="R31085281858545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0ab5becfe4ac2" /><Relationship Type="http://schemas.openxmlformats.org/officeDocument/2006/relationships/notesSlide" Target="/ppt/notesSlides/notesSlide10.xml" Id="R565b730955dd46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8934619a340e5" /><Relationship Type="http://schemas.openxmlformats.org/officeDocument/2006/relationships/notesSlide" Target="/ppt/notesSlides/notesSlide11.xml" Id="Rae344f591c574a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5c201cb30406e" /><Relationship Type="http://schemas.openxmlformats.org/officeDocument/2006/relationships/notesSlide" Target="/ppt/notesSlides/notesSlide12.xml" Id="R6c54dc90638744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1bb0e95dc4549" /><Relationship Type="http://schemas.openxmlformats.org/officeDocument/2006/relationships/notesSlide" Target="/ppt/notesSlides/notesSlide13.xml" Id="Rfdf2eb9643c94b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1fc8e18fd4e7b" /><Relationship Type="http://schemas.openxmlformats.org/officeDocument/2006/relationships/notesSlide" Target="/ppt/notesSlides/notesSlide14.xml" Id="Rf174da0ee25043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616a84d434276" /><Relationship Type="http://schemas.openxmlformats.org/officeDocument/2006/relationships/notesSlide" Target="/ppt/notesSlides/notesSlide15.xml" Id="R2b26bc7d83ca4b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ea6fb98194ae2" /><Relationship Type="http://schemas.openxmlformats.org/officeDocument/2006/relationships/notesSlide" Target="/ppt/notesSlides/notesSlide16.xml" Id="Rabab6c9f169444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3de588b0443b4" /><Relationship Type="http://schemas.openxmlformats.org/officeDocument/2006/relationships/notesSlide" Target="/ppt/notesSlides/notesSlide17.xml" Id="R30ec3412cdf24c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be91c42b40e3" /><Relationship Type="http://schemas.openxmlformats.org/officeDocument/2006/relationships/notesSlide" Target="/ppt/notesSlides/notesSlide18.xml" Id="R3ffbacd7ac4148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aff51c524c38" /><Relationship Type="http://schemas.openxmlformats.org/officeDocument/2006/relationships/notesSlide" Target="/ppt/notesSlides/notesSlide19.xml" Id="R471fc92ef154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4BA961D-6A11-49E8-801C-37CC271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B3535977-FE63-4A34-B510-1AD8F9AD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4577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B1.3.3 — Combining &amp; Practicing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3B9C2C9-C63C-4673-9FB8-FD8757F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  <a:defRPr sz="1800" i="1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Make one shape change in two ways—using the pattern you already know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905BFCC-141D-4F4C-A992-76495325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9037020-B99B-4E81-853A-5C8D2CA7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7270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Parts 1 and 2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Bring persistent change and signed movement into one sketch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Why must a changing value be declared outside draw()?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Read x = x + vx aloud. Which x is used first?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What does the sign of vx tell us?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Why should background() run first in draw() for clean motion?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TODAY’S BRIDGE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mechanism can update more than one property.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We will pair x with vx and diameter d with growth. Each value remembers its state, changes once per frame, and is then used by ellipse().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Today’s Mission: Combine Two Changes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Read, predict, build, and explain one shape doing two things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the end, you can: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keep two changing properties persistent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update each property once inside draw()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predict both values after several frames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explain which line controls each visible change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SUCCESS LOOKS LIKE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BlueJ class compiles and opens a 400 × 300 sketch.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circle moves and grows at the same time.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trace x and d separately, then connect both values to ellipse(x, 150, d, 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the Lesson Project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one class for every checkpoint today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B1_3_3_Combining_Practice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THE CLASS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CombinedSketch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generated template with the shell on the next slide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Paste, Compile, and Run the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Prove the BlueJ/Processing wrapper works before combining changes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CombinedSketch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fill(240, 170, 50);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 background(255);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PApplet.main("CombinedSketch");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THE SHELL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Compile, close the editor, then right-click CombinedSketch and run void main(String[] args).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Expected: a blank white 400 × 300 window.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IT DOES NOT COMPILE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PApplet unresolved → confirm core-4.5.6.jar is (Loaded); restart BlueJ.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mismatch → file, public class, and PApplet.main() spelling must agree.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Persistent Property Systems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Position and size each get a stored value and a per-frame change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30;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3;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d = 20;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</a:pPr>
            <a:r>
              <a:rPr sz="13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d, d);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PAIR 1: POSITION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 stores the current horizontal position. vx stores its signed change per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update x = x + vx changes position once.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PAIR 2: SIZE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 stores diameter; growth stores its signed change per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 = d + growth updates size once. ellipse() uses the newest x and 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00BF9F81-F2B1-4DB3-A244-3149CCF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Trace Both Values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C8040923-F193-48BB-9EA2-9DCB5AAC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Work x and d separately, in the same order as draw()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7F6470FA-E2AC-4DB1-B1DF-D8AA088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FB58476E-90C8-496A-A0F1-54AA7B2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D734245A-0E87-4DFD-AF90-D53DBA7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4A72E0B2-321A-48B9-93D2-2688F1E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50;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d = 10;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50"/>
              <a:buFont typeface="Courier New"/>
              <a:buNone/>
            </a:pPr>
            <a:r>
              <a:rPr sz="13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each frame: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F2CF8A9A-9493-4DD1-8B32-43FBA38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1206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A0E89285-C4D2-4CDD-8726-0483C585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5578"/>
            <a:ext cx="4718304" cy="1958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WORKED TRACE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Start: x = 50, d = 10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1: x = 52, d = 11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2: x = 54, d = 12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3: x = 56, d = 13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4: x = 58, d = 14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Each update uses only its own previous value.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E72DFBFE-5DF4-4966-917F-9C8D3C4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Answer before running: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EF763B3B-5388-4655-B8F4-5CE6D1B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0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4B9660F1-9177-41D2-A13C-9090754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02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56FD3E9B-4ED6-4E1F-90A7-076A924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505663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x and d are visible on frame 1? Why are they not 50 and 10?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79CB5701-3E4E-4FAF-8844-B312563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DBBD61E1-D1A0-4EC3-B18C-C407CF7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5F1632FD-123C-4168-829D-BD994BA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34640"/>
            <a:ext cx="505663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are both values on frame 4? Show both update chains.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76931EBC-DFC8-40F3-8412-41D73A4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6E8A3828-60ED-45E4-AA81-A2AA960D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303C8AE3-0116-4184-BCE6-017DE4A2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94760"/>
            <a:ext cx="5056632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line makes the circle move, and which line makes it grow?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4403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Build Move + Grow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Add four fields and three lines to the verified shell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30;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3;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d = 20;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</a:pPr>
            <a:r>
              <a:rPr sz="13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d, d);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BEFORE RUNNING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the first visible x and 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Then identify the four fields, two update lines, and the drawing call that uses both properties.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 visible values: x = 33 and d = 21.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circle moves right and grows. Leaving the canvas is expected; edge behavior comes later.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861A172C-479A-47C3-B5BA-CC03D4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More Than One Way to Combine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00EBFF66-E767-4EAF-A0F2-92259D2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updates can affect different properties or different axes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82A45CFB-57E8-4334-A0E2-D714AC36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0AFE3709-12B6-4A01-903C-591529FD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E08FC0F7-F1FD-4BA4-807A-09FA01A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 A — Move + Grow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2EE91F6B-FE55-4DB4-A901-B9650CE3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4FBFEFCC-4F94-4481-8349-213FAAE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 = d + growth;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ellipse(x, 150, d, d);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9EA410C9-6844-4D03-8825-D2060B4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CF40DF0B-44E9-4288-8DAF-69EE7B9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8378"/>
            <a:ext cx="4992624" cy="113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 changes the horizontal center. d changes both width and height. The circle moves and grows.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3E8E2CE1-94D4-4825-AD91-B4D4428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 B — Move in x + 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B457C9B-8AAF-48DC-AB5B-083DC727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737360"/>
            <a:ext cx="539496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2BD831D3-1722-4484-8582-32F40C9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92024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y = y + vy;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ellipse(x, y,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816DAB6B-9CEE-42E4-96AF-569B0BE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3375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345B5D75-A025-4D24-BE87-2BB71350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78378"/>
            <a:ext cx="4992624" cy="113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 and y both change position. With nonzero vx and vy, the circle moves diagonally at a constant size.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E2A79D41-9A27-46FD-8231-5081953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9167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B555B2BF-A357-4A02-897A-6DDC845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32858"/>
            <a:ext cx="10689336" cy="7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Same mechanism: each property has a persistent value, its own named per-frame change, one update in draw(), and a matching ellipse() argument.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2365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00BF9F81-F2B1-4DB3-A244-3149CCF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Predict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C8040923-F193-48BB-9EA2-9DCB5AAC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Formative check — leftward movement and growth together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7F6470FA-E2AC-4DB1-B1DF-D8AA088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FB58476E-90C8-496A-A0F1-54AA7B2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D734245A-0E87-4DFD-AF90-D53DBA7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4A72E0B2-321A-48B9-93D2-2688F1E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96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100;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-2;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d = 30;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50"/>
              <a:buFont typeface="Courier New"/>
              <a:buNone/>
            </a:pPr>
            <a:r>
              <a:rPr sz="13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each frame: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F2CF8A9A-9493-4DD1-8B32-43FBA38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1206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A0E89285-C4D2-4CDD-8726-0483C585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5578"/>
            <a:ext cx="4718304" cy="1958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CHECK YOUR TRACE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x: 100 → 98 → 96 → 94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d: 30 → 31 → 32 → 33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After 3 frames: x = 94 and d = 33.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Negative vx moves left; positive growth increases diameter.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E72DFBFE-5DF4-4966-917F-9C8D3C4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Answer before running: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EF763B3B-5388-4655-B8F4-5CE6D1B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0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4B9660F1-9177-41D2-A13C-9090754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02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56FD3E9B-4ED6-4E1F-90A7-076A924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505663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do x and d equal after 3 frames?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79CB5701-3E4E-4FAF-8844-B312563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DBBD61E1-D1A0-4EC3-B18C-C407CF7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5F1632FD-123C-4168-829D-BD994BA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34640"/>
            <a:ext cx="505663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direction does it move? Does it grow or shrink? Use both signs.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76931EBC-DFC8-40F3-8412-41D73A4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6E8A3828-60ED-45E4-AA81-A2AA960D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303C8AE3-0116-4184-BCE6-017DE4A2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94760"/>
            <a:ext cx="5056632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CombinedSketch_LeftGrow and compare with your trace.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4403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861A172C-479A-47C3-B5BA-CC03D4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Run Three Verified Versions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00EBFF66-E767-4EAF-A0F2-92259D2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Compare one intentional combination at a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82A45CFB-57E8-4334-A0E2-D714AC36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0AFE3709-12B6-4A01-903C-591529FD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E08FC0F7-F1FD-4BA4-807A-09FA01A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MoveGrow + LeftGrow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2EE91F6B-FE55-4DB4-A901-B9650CE3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4FBFEFCC-4F94-4481-8349-213FAAE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MoveGrow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vx = 3; growth = 1;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LeftGrow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vx = -2; growth = 1;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9EA410C9-6844-4D03-8825-D2060B4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CF40DF0B-44E9-4288-8DAF-69EE7B9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8378"/>
            <a:ext cx="4992624" cy="113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Both grow. The sign of vx reverses only the horizontal direction.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3E8E2CE1-94D4-4825-AD91-B4D4428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Diagonal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B457C9B-8AAF-48DC-AB5B-083DC727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737360"/>
            <a:ext cx="539496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2BD831D3-1722-4484-8582-32F40C9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92024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3, vy = 2;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y = y + vy;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ellipse(x, y,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816DAB6B-9CEE-42E4-96AF-569B0BE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33756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345B5D75-A025-4D24-BE87-2BB71350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78378"/>
            <a:ext cx="4992624" cy="113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size stays constant. Two position coordinates change, so the circle moves diagonally.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E2A79D41-9A27-46FD-8231-5081953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9167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B555B2BF-A357-4A02-897A-6DDC845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32858"/>
            <a:ext cx="10689336" cy="7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 each run, name the two changing properties, their update lines, and the ellipse() arguments that use them. Leaving the canvas is expected today.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2365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BF9F6C1F-089B-45CC-8B0B-6467D42A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Combine It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BA1CA4E-6142-4997-AB5F-C8F72AB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Construct move + grow from the verified starter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9F648698-DCEC-4034-AE77-CA33A9B9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BB9311E0-6F87-4737-B505-9D284008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B9A9F36E-6D19-4BF3-BBAB-DD63444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0408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4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Open CombinedSketch_Starter. Compile and run its blank white window.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239BF32A-5685-4849-AFBF-4EE23D0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F3FC87BB-C9C4-4C6D-8BAE-F653E94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77305D3F-72B7-48B5-AD25-257001F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6446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Above settings(), declare x = 30, vx = 2, d = 20, and growth = 1.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D6470248-1B1D-44A5-9A31-F49E9FCA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295A44FD-E12E-4581-849C-40307F9B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02CE1525-FD47-4A13-AC0E-1CCCEB33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4640"/>
            <a:ext cx="6446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 draw(), keep background(255) first. Update x, then update 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8B85D5A6-337F-415E-A55B-C49B3F0D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D2C110EA-0B1D-4566-A3E4-7ADC5CE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93DD0330-F215-4F2C-8DB7-6CC96388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0480"/>
            <a:ext cx="6446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 ellipse(x, 150, d, d) after both updates.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884613FC-F073-4DFD-9F2A-3FC4D7FB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B0BF8E2C-4F1B-450A-85EB-19BA0957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D3888479-0E7F-4B14-848D-45717FBC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6320"/>
            <a:ext cx="6446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the first visible x and d. Compile, run, and explain both changes.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2550CC6C-0A16-439C-A7FA-3952F3C8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8D79106C-E7C2-4DAA-8E60-7F85571C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173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IF IT ONLY DOES ONE THING…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Check that both changing values are fields above settings(), both update lines are inside draw(), and ellipse() uses x and 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56E4B59-8854-484F-BCA4-A47F29D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0440"/>
            <a:ext cx="386791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0F90D3BE-3570-48A4-9D73-73F5207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661258"/>
            <a:ext cx="346557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 LOOKS LIKE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orange circle moves right and grows. First visible values: x = 32 and d = 21. No trail appears because background() clears first.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2048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Modify One Update at a Time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Predict first, edit one field, then run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Set vx = -3. Predict what changes and what stays the same.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Restore vx = 2; set growth = 2. Predict again.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Set d = 60. Predict the first visible diameter.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Restore x = 30, vx = 2, d = 20, growth = 1.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SEPARATE THE ROLES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Sign of vx → horizontal direction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Magnitude of vx → pixels per frame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Initial d → starting diameter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Sign and magnitude of growth → diameter change per frame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Changing one field should have one explainable effect.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Partner Check: Explain and Debug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Declaration → clearing → updates → drawing call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Point to all four persistent fields.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Point to the line that clears the old frame.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Point to both update lines and say each new value.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Point to where ellipse() uses x and d.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DEBUG THIS SYMPTOM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circle grows, but it does not move.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Check whether x = x + vx is missing, outside draw(), or followed by ellipse(200, 150, d, 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Smallest fix: update x inside draw() and pass x as ellipse()’s first argument.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AF5A867D-5B98-462E-9D6D-7ECD5A6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Combining &amp; Practicing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A68FFE31-D9DF-49DB-A8D8-A1447A1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Finish with state, updates, and visible behavior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25844443-821C-4A05-9D75-812DB6F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E5355349-F12D-4DC2-BD88-CC46722E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DDE333C2-5131-4583-A05F-D21434D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F03BC401-D911-4A05-B777-670C272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NOW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Store multiple changing properties.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Update each once per frame.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each value independently.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Connect every update to a drawing argument.</a:t>
            </a: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2C820228-F89E-4ECF-8356-39D6F3F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69494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E624BE8C-FD18-4014-BF1C-054FA14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72738"/>
            <a:ext cx="6547104" cy="163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NEXT: B1.4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 an unfamiliar sketch, identify its setup, draw() behavior, variables, and frame-by-frame change before modifying it.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E09A1991-86C2-41D8-BC7C-09D79DA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84C963FF-E8A7-4DAF-9BAD-B193FA2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EXIT TICKET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float x = 80, vx = -4;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float d = 20, growth = 2;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After 3 frames, what are x and d? Which way does the circle move? Is it growing or shrinking? Why must all four fields persist?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Expected: x = 68, d = 26; left and growing.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3191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Move + Grow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Matches the construction task on slide 12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CombinedSketch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30, vx = 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d = 20,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fill(240, 170, 50);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d, d);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PApplet.main("CombinedSketch");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orange circle moves right by 2 pixels and grows by 1 pixel in diameter per draw() call.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NOTICE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first visible values are x = 32 and d = 21 because both updates run before ellipse().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CombinedSketch_Complete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Diagonal Motion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changing coordinates; constant diameter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CombinedSketch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40, vx = 3;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y = 40, vy = 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fill(80, 170, 230);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y = y + vy;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y, 30, 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PApplet.main("CombinedSketch");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blue circle moves down and right while staying 30 pixels wide and high.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NOTICE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first visible center is (43, 42). Positive vx increases x; positive vy increases screen y, which is downward.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CombinedSketch_Diagonal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9E6686F2-F2DC-4177-8B46-6B3720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Left + Grow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EE9E2B53-6F10-40BE-A8CE-8A604AC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runnable check for slide 10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4A17607-259A-44A1-B0CF-ED33C5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50E1EC5-9CD4-4255-AC8D-EF5912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75EC4FC-E63A-4349-AF70-FBDD82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4B0597A-EEC7-4CBB-9BA7-4676CEB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CombinedSketch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100, vx = -2;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d = 30, growth = 1;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fill(130, 95, 210);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frameRate(10);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 = d + growth;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d, d);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PApplet.main("CombinedSketch");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DCE78FC2-DCC0-4C15-B360-1B8427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D235EB2-B9B5-4B8A-90E9-161EB4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145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purple circle moves left while growing.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26BEC21-BA54-46D5-922B-197DF5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46120"/>
            <a:ext cx="496519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C42F35D2-515F-4760-8CF6-C3EFE60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86938"/>
            <a:ext cx="456285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NOTICE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After 3 calls: x = 94 and d = 33. The slower frame rate makes the changes easier to observe.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CombinedSketch_LeftGrow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78EF9BE-A892-42EE-A0B6-6AA446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Troubleshooting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F64551D-F87D-4D6E-8247-5EF403F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Diagnose one layer at a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8889AD-F4E0-4B25-B7A4-E76EC388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5AC20A-55F8-4642-8D31-DAA4786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B1.3.3 · Combining &amp; Practicing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A634134-F306-4375-BCC8-138B5D51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D7A8A0F-8CAB-40EE-BD18-5DC8DFD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movement → update x in draw() and pass x to ellipse().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growth → update d in draw() and use d for width and height.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Trail → put background(255) first inside draw().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Values restart → declare fields above settings(), not inside draw().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Shape leaves canvas → expected here; close and run again.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0F17AFB-64A4-4B62-B06F-2BD8585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9FA4248-A3BE-4F0F-8703-A711D6D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PROGRAM WILL NOT RUN?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PApplet unresolved → confirm core-4.5.6.jar is (Loaded), then restart BlueJ.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 mismatch → file, public class, and PApplet.main("CombinedSketch") must agree.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Red stripes → compile and fix the first error before later lines.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885400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2026-08-25T15:18:22.5010000Z</dcterms:created>
  <dcterms:modified xsi:type="dcterms:W3CDTF">2026-08-25T15:18:22.5010000Z</dcterms:modified>
</coreProperties>
</file>