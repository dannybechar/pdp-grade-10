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79659b4dd4ae5" /><Relationship Type="http://schemas.openxmlformats.org/officeDocument/2006/relationships/extended-properties" Target="/docProps/app.xml" Id="R9df858c91e6e4883" /><Relationship Type="http://schemas.openxmlformats.org/officeDocument/2006/relationships/officeDocument" Target="/ppt/presentation.xml" Id="R06157bee2788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905462a24141d4"/>
  </p:sldMasterIdLst>
  <p:notesMasterIdLst>
    <p:notesMasterId xmlns:r="http://schemas.openxmlformats.org/officeDocument/2006/relationships" r:id="R7a9a41d2fd92453e"/>
  </p:notesMasterIdLst>
  <p:sldIdLst>
    <p:sldId xmlns:r="http://schemas.openxmlformats.org/officeDocument/2006/relationships" id="256" r:id="R79d98d9d0b85426f"/>
    <p:sldId xmlns:r="http://schemas.openxmlformats.org/officeDocument/2006/relationships" id="257" r:id="R65af57a84ec74d4d"/>
    <p:sldId xmlns:r="http://schemas.openxmlformats.org/officeDocument/2006/relationships" id="258" r:id="Rf931b963f9324697"/>
    <p:sldId xmlns:r="http://schemas.openxmlformats.org/officeDocument/2006/relationships" id="259" r:id="Rcb13af94557a4176"/>
    <p:sldId xmlns:r="http://schemas.openxmlformats.org/officeDocument/2006/relationships" id="260" r:id="Rb887dec02ddc406b"/>
    <p:sldId xmlns:r="http://schemas.openxmlformats.org/officeDocument/2006/relationships" id="261" r:id="R28faaa5b819f42ef"/>
    <p:sldId xmlns:r="http://schemas.openxmlformats.org/officeDocument/2006/relationships" id="262" r:id="Rbb3eb759511a4890"/>
    <p:sldId xmlns:r="http://schemas.openxmlformats.org/officeDocument/2006/relationships" id="263" r:id="R1ffea12c1ceb4605"/>
    <p:sldId xmlns:r="http://schemas.openxmlformats.org/officeDocument/2006/relationships" id="264" r:id="R4eee7ddd3b064a44"/>
    <p:sldId xmlns:r="http://schemas.openxmlformats.org/officeDocument/2006/relationships" id="265" r:id="Rf1421f92403f460b"/>
    <p:sldId xmlns:r="http://schemas.openxmlformats.org/officeDocument/2006/relationships" id="266" r:id="Raced543a51f14726"/>
    <p:sldId xmlns:r="http://schemas.openxmlformats.org/officeDocument/2006/relationships" id="267" r:id="R014e6eec2889440a"/>
    <p:sldId xmlns:r="http://schemas.openxmlformats.org/officeDocument/2006/relationships" id="268" r:id="R75a095cad39345b9"/>
    <p:sldId xmlns:r="http://schemas.openxmlformats.org/officeDocument/2006/relationships" id="269" r:id="R880fb854c98e47ab"/>
    <p:sldId xmlns:r="http://schemas.openxmlformats.org/officeDocument/2006/relationships" id="270" r:id="R44d6c24428c34eb7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1076fad7dd4996" /><Relationship Type="http://schemas.openxmlformats.org/officeDocument/2006/relationships/slideMaster" Target="/ppt/slideMasters/slideMaster1.xml" Id="Rff905462a24141d4" /><Relationship Type="http://schemas.openxmlformats.org/officeDocument/2006/relationships/notesMaster" Target="/ppt/notesMasters/notesMaster1.xml" Id="R7a9a41d2fd92453e" /><Relationship Type="http://schemas.openxmlformats.org/officeDocument/2006/relationships/presProps" Target="/ppt/presProps.xml" Id="Rf137823f79c749a2" /><Relationship Type="http://schemas.openxmlformats.org/officeDocument/2006/relationships/tableStyles" Target="/ppt/tableStyles.xml" Id="Reba2a4ad7be24f83" /><Relationship Type="http://schemas.openxmlformats.org/officeDocument/2006/relationships/slide" Target="/ppt/slides/slide1.xml" Id="R79d98d9d0b85426f" /><Relationship Type="http://schemas.openxmlformats.org/officeDocument/2006/relationships/slide" Target="/ppt/slides/slide2.xml" Id="R65af57a84ec74d4d" /><Relationship Type="http://schemas.openxmlformats.org/officeDocument/2006/relationships/slide" Target="/ppt/slides/slide3.xml" Id="Rf931b963f9324697" /><Relationship Type="http://schemas.openxmlformats.org/officeDocument/2006/relationships/slide" Target="/ppt/slides/slide4.xml" Id="Rcb13af94557a4176" /><Relationship Type="http://schemas.openxmlformats.org/officeDocument/2006/relationships/slide" Target="/ppt/slides/slide5.xml" Id="Rb887dec02ddc406b" /><Relationship Type="http://schemas.openxmlformats.org/officeDocument/2006/relationships/slide" Target="/ppt/slides/slide6.xml" Id="R28faaa5b819f42ef" /><Relationship Type="http://schemas.openxmlformats.org/officeDocument/2006/relationships/slide" Target="/ppt/slides/slide7.xml" Id="Rbb3eb759511a4890" /><Relationship Type="http://schemas.openxmlformats.org/officeDocument/2006/relationships/slide" Target="/ppt/slides/slide8.xml" Id="R1ffea12c1ceb4605" /><Relationship Type="http://schemas.openxmlformats.org/officeDocument/2006/relationships/slide" Target="/ppt/slides/slide9.xml" Id="R4eee7ddd3b064a44" /><Relationship Type="http://schemas.openxmlformats.org/officeDocument/2006/relationships/slide" Target="/ppt/slides/slide10.xml" Id="Rf1421f92403f460b" /><Relationship Type="http://schemas.openxmlformats.org/officeDocument/2006/relationships/slide" Target="/ppt/slides/slide11.xml" Id="Raced543a51f14726" /><Relationship Type="http://schemas.openxmlformats.org/officeDocument/2006/relationships/slide" Target="/ppt/slides/slide12.xml" Id="R014e6eec2889440a" /><Relationship Type="http://schemas.openxmlformats.org/officeDocument/2006/relationships/slide" Target="/ppt/slides/slide13.xml" Id="R75a095cad39345b9" /><Relationship Type="http://schemas.openxmlformats.org/officeDocument/2006/relationships/slide" Target="/ppt/slides/slide14.xml" Id="R880fb854c98e47ab" /><Relationship Type="http://schemas.openxmlformats.org/officeDocument/2006/relationships/slide" Target="/ppt/slides/slide15.xml" Id="R44d6c24428c3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521100095c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a3c29cbb154fa2" /><Relationship Type="http://schemas.openxmlformats.org/officeDocument/2006/relationships/notesMaster" Target="/ppt/notesMasters/notesMaster1.xml" Id="Rd4b1a6a830d34b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d937e8fe7a4095" /><Relationship Type="http://schemas.openxmlformats.org/officeDocument/2006/relationships/notesMaster" Target="/ppt/notesMasters/notesMaster1.xml" Id="Re92777bb189845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0374c09e2a499b" /><Relationship Type="http://schemas.openxmlformats.org/officeDocument/2006/relationships/notesMaster" Target="/ppt/notesMasters/notesMaster1.xml" Id="R4a583c00bd054c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db23a472824ca4" /><Relationship Type="http://schemas.openxmlformats.org/officeDocument/2006/relationships/notesMaster" Target="/ppt/notesMasters/notesMaster1.xml" Id="R4927f3e18b7d40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2bad9de5994318" /><Relationship Type="http://schemas.openxmlformats.org/officeDocument/2006/relationships/notesMaster" Target="/ppt/notesMasters/notesMaster1.xml" Id="Rd2f54bd83c004d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26176406642cf" /><Relationship Type="http://schemas.openxmlformats.org/officeDocument/2006/relationships/notesMaster" Target="/ppt/notesMasters/notesMaster1.xml" Id="R1d25255dc92943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ad36ccd596466c" /><Relationship Type="http://schemas.openxmlformats.org/officeDocument/2006/relationships/notesMaster" Target="/ppt/notesMasters/notesMaster1.xml" Id="R78aa4a332f4640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8b18eb59474527" /><Relationship Type="http://schemas.openxmlformats.org/officeDocument/2006/relationships/notesMaster" Target="/ppt/notesMasters/notesMaster1.xml" Id="Raaf396c7a5ae45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fce7431f074c1e" /><Relationship Type="http://schemas.openxmlformats.org/officeDocument/2006/relationships/notesMaster" Target="/ppt/notesMasters/notesMaster1.xml" Id="R6c12261809a241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5be25fe81d4da9" /><Relationship Type="http://schemas.openxmlformats.org/officeDocument/2006/relationships/notesMaster" Target="/ppt/notesMasters/notesMaster1.xml" Id="R979937d6d71e40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48f7dc853444a1" /><Relationship Type="http://schemas.openxmlformats.org/officeDocument/2006/relationships/notesMaster" Target="/ppt/notesMasters/notesMaster1.xml" Id="Rfe6d66319b2c46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9ba601268a4c60" /><Relationship Type="http://schemas.openxmlformats.org/officeDocument/2006/relationships/notesMaster" Target="/ppt/notesMasters/notesMaster1.xml" Id="R616caac3077d4b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3fa997747c4061" /><Relationship Type="http://schemas.openxmlformats.org/officeDocument/2006/relationships/notesMaster" Target="/ppt/notesMasters/notesMaster1.xml" Id="R7f069214c6014f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f8cc8e564c4581" /><Relationship Type="http://schemas.openxmlformats.org/officeDocument/2006/relationships/notesMaster" Target="/ppt/notesMasters/notesMaster1.xml" Id="R7d5022f1c40c4a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0e8f6a247d4372" /><Relationship Type="http://schemas.openxmlformats.org/officeDocument/2006/relationships/notesMaster" Target="/ppt/notesMasters/notesMaster1.xml" Id="Rc20b0179ffcc4a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finish line: “By the end of today, you will create a canvas, read its coordinate system, and run a BlueJ program that places two circles where you predicted.”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this brisk. The environment should already be working from the onboarding lesson.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RETRIEVAL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Ask: “Which method runs once? Which method repeats?” Expected: setup() runs once; draw() repeats.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students to identify braces, method calls, and arguments. Do not reteach the full setup process here; slide 3 begins the explicit workflow for this lesson.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THIS TOGETHER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each click and wait until every student has the project window open before moving 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shared course-workspace convention. Do not display a teacher-specific personal path as if students must copy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should see one class tile named CanvasSketch.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6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THIS TOGETHER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Open CanvasSketch.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Replace the generated class with the complete code shown.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Click Compile.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Close the editor, right-click CanvasSketch, choose void main(String[] args), accept the argument, and click OK.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separate 400 × 400 sketch window opens. It contains no drawn shapes yet. Close that window and return to BlueJ.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LANGUAGE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“The wrapper makes a Processing sketch runnable as a Java class in BlueJ. You do not need to memorize it today. We will change settings() and setup().”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PApplet is unresolved, check BlueJ → Preferences → Libraries and confirm core-4.5.6.jar is Loaded, then restart BlueJ.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PApplet Javadocs: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settings() reference: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this BlueJ/PApplet course structure, settings() is the reliable place for size(). Processing runs it before setup() so the drawing surface can be created first.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IMPORTANT CORRECTION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Avoid the universal claim that size() can never appear in setup(). The course convention shown here is the accurate, dependable instruction for these BlueJ projects.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Ask: “What window should size(500, 300) create?” Expected: 500 pixels wide and 300 pixels tall.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settings() reference: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size() reference: https://processing.org/reference/size_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origin is at the top-left. x increases to the right; y increases downward.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QUICK 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students to point to where (350, 20) would be on the diagram. Expected: near the top and toward the right.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MISCONCEPTION TO SURFACE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may expect positive y to go upward because of mathematics graphs. Contrast the screen coordinate system explicitly.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Coordinate System and Shapes tutorial: https://processing.org/tutorials/coordinatesystemandshapes/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ellipse(x, y, width, height) aloud. In the default ellipse mode, x and y identify the center.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For ellipse(200, 100, 60, 40), ask for the center, width, and height before revealing the labels.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ellipse() reference: https://processing.org/reference/ellipse_.html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FORMATIVE ROUTINE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BlueJ closed. Give 60–90 seconds of silent paper prediction, then partner comparison.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Which circles are closest to the top? Which is closest to the bottom? Require coordinate evidence, not guesses based on the order of the code.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reveal the answer on this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REVEAL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and second circles tie for closest to the top because both centers have y = 50. The third is closest to the bottom because y = 250.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VERIFY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may add the three ellipse() calls to setup(), compile, and run. Have them compare the result with their paper prediction.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Emphasize: changing x moves left/right; changing y moves up/down.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5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CHECKPOINT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work from their runnable CanvasSketch. Change the canvas to 500 × 300 and add only the first ellipse() call.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 a prediction before Compile → Run. Circulate and check that the ellipse call is inside setup(), not settings().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SUCCESS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50 × 50 circle appears with its center at (100, 75).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5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CHECKPOINT 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add the second ellipse() call without altering the first. Ask them to explain why x = 400 places the center toward the right and y = 225 places it toward the bottom.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SUCCESS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Two circles appear near opposite corners. Both calls remain inside setup().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RECAP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Cold-call three students for one statement each: what size() controls; where the origin is; what the four ellipse() arguments mean.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Listen for “center” when students explain x and 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EXIT TICKET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Collect or spot-check answers. Students should also show the running output or a successful compiled class.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ANSWERS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Origin: top-left. x: increases right. y: increases down. ellipse(400, 225, 50, 50): center x, center y, width, height.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timing for slides 1–13 totals 45 minutes.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APPENDIX — NO PLANNED CLASS TIME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only if a student needs to recover from a damaged file or compare after completing the task. Do not reveal this program before the construction checkpoints.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VERIFICATION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exact source compiled successfully against Processing 4.5.6 using the BlueJ JDK on the verified Windows environment.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PApplet Javadocs: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size() reference: https://processing.org/reference/size_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Processing ellipse() reference: https://processing.org/reference/ellipse_.html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APPENDIX — NO PLANNED CLASS TIME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checklist from top to bottom. Fix one issue, compile again, and only then proceed to the next check.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the library changes from Loaded to Not Loaded, re-add the correct Processing core JAR if needed and restart BlueJ. The verified classroom environment used BlueJ 6.0.0 and Processing 4.5.6.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15d72985c454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2c706f458c4d2b" /><Relationship Type="http://schemas.openxmlformats.org/officeDocument/2006/relationships/slideLayout" Target="/ppt/slideLayouts/slideLayout1.xml" Id="R2b9aff4fa3e44e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9aff4fa3e44e9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f93f742ca4818" /><Relationship Type="http://schemas.openxmlformats.org/officeDocument/2006/relationships/notesSlide" Target="/ppt/notesSlides/notesSlide1.xml" Id="Rac1b1d55ad3542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1d343fe9f4f70" /><Relationship Type="http://schemas.openxmlformats.org/officeDocument/2006/relationships/notesSlide" Target="/ppt/notesSlides/notesSlide2.xml" Id="R8e2bea102b334a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409ade4e94290" /><Relationship Type="http://schemas.openxmlformats.org/officeDocument/2006/relationships/notesSlide" Target="/ppt/notesSlides/notesSlide3.xml" Id="Rd471c4a047e24b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92845d00b4e6d" /><Relationship Type="http://schemas.openxmlformats.org/officeDocument/2006/relationships/notesSlide" Target="/ppt/notesSlides/notesSlide4.xml" Id="R24f605b216424e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be2cd7eef4104" /><Relationship Type="http://schemas.openxmlformats.org/officeDocument/2006/relationships/notesSlide" Target="/ppt/notesSlides/notesSlide5.xml" Id="Rb8853879388e43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9330d3e14d99" /><Relationship Type="http://schemas.openxmlformats.org/officeDocument/2006/relationships/notesSlide" Target="/ppt/notesSlides/notesSlide6.xml" Id="R9ae4aefb9a9341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9e58ccfbe46dd" /><Relationship Type="http://schemas.openxmlformats.org/officeDocument/2006/relationships/notesSlide" Target="/ppt/notesSlides/notesSlide7.xml" Id="R83f6e98b726540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2f17594df456f" /><Relationship Type="http://schemas.openxmlformats.org/officeDocument/2006/relationships/notesSlide" Target="/ppt/notesSlides/notesSlide8.xml" Id="R494d59ce33e548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2e85a6f634baa" /><Relationship Type="http://schemas.openxmlformats.org/officeDocument/2006/relationships/notesSlide" Target="/ppt/notesSlides/notesSlide9.xml" Id="Ra01aa6b23f5740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b26acc4d94381" /><Relationship Type="http://schemas.openxmlformats.org/officeDocument/2006/relationships/notesSlide" Target="/ppt/notesSlides/notesSlide10.xml" Id="R6256bc25ce8c4a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814ef61a144c4" /><Relationship Type="http://schemas.openxmlformats.org/officeDocument/2006/relationships/notesSlide" Target="/ppt/notesSlides/notesSlide11.xml" Id="R9f8afef3dc6c4a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24cae623b4ea2" /><Relationship Type="http://schemas.openxmlformats.org/officeDocument/2006/relationships/notesSlide" Target="/ppt/notesSlides/notesSlide12.xml" Id="Rd9f37de002f747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9e8d509074a4e" /><Relationship Type="http://schemas.openxmlformats.org/officeDocument/2006/relationships/notesSlide" Target="/ppt/notesSlides/notesSlide13.xml" Id="Rac06fd6a5fdf43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197df362c47ae" /><Relationship Type="http://schemas.openxmlformats.org/officeDocument/2006/relationships/notesSlide" Target="/ppt/notesSlides/notesSlide14.xml" Id="Rcba02279631047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1912886d24bcc" /><Relationship Type="http://schemas.openxmlformats.org/officeDocument/2006/relationships/notesSlide" Target="/ppt/notesSlides/notesSlide15.xml" Id="R5d0ef68a89a44c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C285CADE-FA66-4168-9E10-940B5F54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B1 THE DRAW LOOP &amp; CREATIVE ENVIRONMENT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A7713970-F48C-4ED1-ADAE-A9C203F7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B1.1 (Part 1 of 2) — The Canvas &amp; Coordinate System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644C78E-B619-4EBB-8656-ED8F8237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Setting up your first sketch and placing shapes precisely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5DFD7B7A-E7C0-4079-BB51-34AE500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CF656098-AB9B-4E78-A2A5-C244B6C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357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512DDA5-D918-4CC6-8F33-D8DFEE4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2D72587-2A5E-4863-B3FF-9BF8726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last lesson: the shape of every sketch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A558BA1-FE6E-42E1-B91B-9D4D160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EE6317D-4BBF-4D1A-BC9A-EBFFAFB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0EDB79A4-9782-41FF-ACDE-697B1A4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430EF47A-8203-4E2C-9937-AE08211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 our BlueJ setup, every sketch uses a fixed class that extends PApplet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settings() runs once, before anything else — in our course, we use it for size()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setup() runs once, after settings() — for one-time initialization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draw() runs repeatedly by default — you'll start using this in Part 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main() is boilerplate that starts the sketch — you never touch it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8BF7701A-A209-4511-88D9-A3E4A60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8679CA9-0201-4B11-B0B8-CE4F1A5B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focus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95DFFDF5-9DFF-4269-A77C-ED6A703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You'll use settings() for real for the first time — to size your canvas — and learn the coordinate system that decides exactly where everything you draw appears on screen.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422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512DDA5-D918-4CC6-8F33-D8DFEE4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Start in BlueJ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2D72587-2A5E-4863-B3FF-9BF8726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Create today’s project and class before we discuss coordinates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A558BA1-FE6E-42E1-B91B-9D4D160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EE6317D-4BBF-4D1A-BC9A-EBFFAFB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0EDB79A4-9782-41FF-ACDE-697B1A4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430EF47A-8203-4E2C-9937-AE08211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Project → New Project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B1_1_1_Canvas_Coordinates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Save it in your course workspace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Click OK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8BF7701A-A209-4511-88D9-A3E4A60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8679CA9-0201-4B11-B0B8-CE4F1A5B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8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1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Create the class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95DFFDF5-9DFF-4269-A77C-ED6A703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Click New Class…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CanvasSketch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Leave Class selected; click OK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Open the editor and replace the template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422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7B064E4D-394A-4448-9007-CB95A239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Paste the First Runnable Class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5336E820-16B1-4891-B3AD-8A49507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the complete BlueJ wrapper once — then focus on the lines we change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8407CCF9-9B37-47E8-95B2-D7002D6C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0F821D41-2756-499C-A195-3EDA6E6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2795D046-0DA4-4FB5-9B44-8E6FCB9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B9B03F0D-57CD-4BCC-8EED-6D887D6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CanvasSketch extends PApplet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settings()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size(400, 400);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setup()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static void main(String[] args)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PApplet.main("CanvasSketch");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A1873300-829C-4FF6-8E2E-9B32624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DF6DA2E5-B5F2-4F54-B731-901B6F5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B1D96877-88FC-4698-8F85-24BB56F6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44568"/>
            <a:ext cx="46177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Click Compile. Confirm: no syntax errors.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AD1687B0-B186-4D14-8AD7-1301676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8353523-841D-45CC-AEAF-DA91A0D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740C9C1D-119C-4C76-A8D1-0234702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46177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Close the editor. Right-click CanvasSketch.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238ACE8D-45A6-45FA-AC91-B5F24AE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15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90EBA258-535F-44CF-91A3-451071D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15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535623A9-BA19-4ED2-AF05-C1C73DF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8756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void main(String[] args); accept the argument.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AE5CB57C-CE9C-4C90-AC9B-F9A4FE2F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3566160" cy="356616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78E37BE6-5BB3-4462-A2C7-0994FD5F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42E9239E-D78A-4F38-9A0E-FF207747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Expected: a 400 × 400 sketch window opens. Close it, then return to BlueJ.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5158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008BC956-235F-4220-A9C3-B3D9A85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Every Sketch Starts with a Canvas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AB155C5E-7161-484E-A702-FBCC586B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settings() { size(width, height); 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3074CFEE-F2B9-465E-AFFE-38D7B0E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F8198264-2F98-492B-AF34-E9F48B0C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E5DA3222-FC69-43A5-8693-6E475130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5BEB84CB-604D-411B-96A8-7F7C629D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</a:t>
            </a:r>
            <a:r>
              <a:rPr sz="14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settings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size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(400, 400);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AD12252A-F8F7-471E-8494-32978F03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57784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CDE78B59-4944-4613-B4F5-774840E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587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Why settings(), specifically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D51F964-CD2B-42A2-8027-704B1044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 our BlueJ/PApplet projects, put size() inside settings(). Processing calls settings() before setup(), so it can create the drawing surface first. size(width, height) sets the canvas dimensions in pixels.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76FF2460-5608-40C4-B9EA-FCD4FB49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3657600" cy="36576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" name="Google Shape;50;p5"/>
          <p:cNvCxnSpPr/>
          <p:nvPr/>
        </p:nvCxnSpPr>
        <p:spPr>
          <a:xfrm xmlns:a="http://schemas.openxmlformats.org/drawingml/2006/main">
            <a:off x="6583680" y="137160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3B4A78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A4C0C3DF-D275-4A28-930A-08D1F515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03327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400 px wide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79" name="Google Shape;52;p5"/>
          <p:cNvCxnSpPr/>
          <p:nvPr/>
        </p:nvCxnSpPr>
        <p:spPr>
          <a:xfrm xmlns:a="http://schemas.openxmlformats.org/drawingml/2006/main">
            <a:off x="10469880" y="1600200"/>
            <a:ext cx="0" cy="365760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3B4A78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2F1C5F4D-2740-4247-96D7-3E8ADF1D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306324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400 px tall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4072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688C13D7-8558-4852-A06A-EE359C29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Finding Your Way Around the Canvas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D425D878-4A37-442F-A1BA-2E471E27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origin sits in the top-left corner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65E715D2-841E-4F01-A0F7-62B80FE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BC4E9B17-AA7A-4F17-BC43-042E8439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CB7C9719-65D3-4D69-A018-4A4E6218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4206240" cy="420624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64;p6"/>
          <p:cNvCxnSpPr/>
          <p:nvPr/>
        </p:nvCxnSpPr>
        <p:spPr>
          <a:xfrm xmlns:a="http://schemas.openxmlformats.org/drawingml/2006/main">
            <a:off x="685800" y="1554480"/>
            <a:ext cx="374904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8FD0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309DF7AA-5E04-40FA-9243-C383AF85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459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8FD0FF"/>
                </a:solidFill>
                <a:latin typeface="Calibri"/>
                <a:ea typeface="Calibri"/>
                <a:cs typeface="Calibri"/>
              </a:rPr>
              <a:t>x →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3" name="Google Shape;66;p6"/>
          <p:cNvCxnSpPr/>
          <p:nvPr/>
        </p:nvCxnSpPr>
        <p:spPr>
          <a:xfrm xmlns:a="http://schemas.openxmlformats.org/drawingml/2006/main">
            <a:off x="777240" y="1463040"/>
            <a:ext cx="0" cy="374904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E8A33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D1AB0721-A015-43A1-B0FD-63052AC3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9204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y ↓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13AFE62D-14C1-42C6-B417-81FAA836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9047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83DD371E-58E2-4710-AECB-2349402D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90472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(0, 0)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662ED984-477D-4B9D-B088-385FC27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3191256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3C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D0E990B6-6C92-42A4-8DFC-8352DF42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0896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8E3C8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B8E3C8"/>
                </a:solidFill>
                <a:latin typeface="Courier New"/>
                <a:ea typeface="Courier New"/>
                <a:cs typeface="Courier New"/>
              </a:rPr>
              <a:t>(150, 100)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9" name="Google Shape;72;p6"/>
          <p:cNvCxnSpPr/>
          <p:nvPr/>
        </p:nvCxnSpPr>
        <p:spPr>
          <a:xfrm xmlns:a="http://schemas.openxmlformats.org/drawingml/2006/main">
            <a:off x="777240" y="3246120"/>
            <a:ext cx="24231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E3C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10" name="Google Shape;73;p6"/>
          <p:cNvCxnSpPr/>
          <p:nvPr/>
        </p:nvCxnSpPr>
        <p:spPr>
          <a:xfrm xmlns:a="http://schemas.openxmlformats.org/drawingml/2006/main">
            <a:off x="3200400" y="1554480"/>
            <a:ext cx="0" cy="169164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E3C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5ECDD525-CB02-4AC4-935D-43281232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325880"/>
            <a:ext cx="653796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EF0FB823-3343-42BE-8839-487141A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527048"/>
            <a:ext cx="60258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Flip the switch from math class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FE19D14F-EA5B-421F-974F-34DD785E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892808"/>
            <a:ext cx="6025896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 math, y usually increases as you go UP. In this environment, y increases as you go DOWN the screen.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D634CACA-010D-4C8D-BBDA-D73E3EEA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00400"/>
            <a:ext cx="653796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244DEF54-DDA5-401A-9F83-1C22B071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364992"/>
            <a:ext cx="608076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x-coordinate tells you how far right a point is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y-coordinate tells you how far down a point is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Every position on the canvas is written as (x, y)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point (0, 0) is always the top-left corner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28B37BAE-6E25-4952-9CA8-33A8789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669280"/>
            <a:ext cx="653796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51EE63FD-5EEC-46EC-8725-2C99917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5870448"/>
            <a:ext cx="60258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Try it: is the point (350, 20) near the top or the bottom of a 400×400 canvas?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1865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56F8AD51-4687-4C16-B2B8-5A3561CA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Placing a Shape with Coordinates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9A5D2BE6-D72E-4CF7-A05D-B9A9C175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ellipse(x, y, width, height)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001637C8-ABDB-440C-A17E-87E340D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1DDE212B-C4AC-4243-BB12-D4EF5D2E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1E7BF242-1E60-4CA7-A94A-F79ABAE1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88C009CD-105E-4BE5-85F6-B70CCA62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2112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</a:t>
            </a:r>
            <a:r>
              <a:rPr sz="14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settings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size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(400, 400);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</a:t>
            </a:r>
            <a:r>
              <a:rPr sz="14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setup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ellipse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(100, 150, 40,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00A38108-3B75-4AB4-9C97-9BC2C2B6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557784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A1647FEE-05B9-4169-9ECA-2804FD3C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Reading the parameters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0C9E453E-95D7-4590-A087-A4D504E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90288"/>
            <a:ext cx="5065776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For ellipse(), the first two numbers (100, 150) are the CENTER of the circle by default — not a corner. The last two numbers (40, 40) set its width and height in pixels.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44AFF453-43E9-458A-BF90-B0B47DA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96;p7"/>
          <p:cNvCxnSpPr/>
          <p:nvPr/>
        </p:nvCxnSpPr>
        <p:spPr>
          <a:xfrm xmlns:a="http://schemas.openxmlformats.org/drawingml/2006/main">
            <a:off x="76123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Google Shape;97;p7"/>
          <p:cNvCxnSpPr/>
          <p:nvPr/>
        </p:nvCxnSpPr>
        <p:spPr>
          <a:xfrm xmlns:a="http://schemas.openxmlformats.org/drawingml/2006/main">
            <a:off x="6583680" y="23545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98;p7"/>
          <p:cNvCxnSpPr/>
          <p:nvPr/>
        </p:nvCxnSpPr>
        <p:spPr>
          <a:xfrm xmlns:a="http://schemas.openxmlformats.org/drawingml/2006/main">
            <a:off x="86410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" name="Google Shape;99;p7"/>
          <p:cNvCxnSpPr/>
          <p:nvPr/>
        </p:nvCxnSpPr>
        <p:spPr>
          <a:xfrm xmlns:a="http://schemas.openxmlformats.org/drawingml/2006/main">
            <a:off x="6583680" y="33832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00;p7"/>
          <p:cNvCxnSpPr/>
          <p:nvPr/>
        </p:nvCxnSpPr>
        <p:spPr>
          <a:xfrm xmlns:a="http://schemas.openxmlformats.org/drawingml/2006/main">
            <a:off x="96697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01;p7"/>
          <p:cNvCxnSpPr/>
          <p:nvPr/>
        </p:nvCxnSpPr>
        <p:spPr>
          <a:xfrm xmlns:a="http://schemas.openxmlformats.org/drawingml/2006/main">
            <a:off x="6583680" y="44119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39C63789-AFE4-4AEF-9E23-72759B8E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66319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F1AB4E81-74D9-4AB1-8754-4C9F026D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4" y="283235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9D77837A-7E50-47F8-B309-A71F4AE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31770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(100, 150) — the center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98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7B064E4D-394A-4448-9007-CB95A239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Predict Before You Run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5336E820-16B1-4891-B3AD-8A49507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Formative check — predict first; do not run yet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8407CCF9-9B37-47E8-95B2-D7002D6C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0F821D41-2756-499C-A195-3EDA6E6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2795D046-0DA4-4FB5-9B44-8E6FCB9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B9B03F0D-57CD-4BCC-8EED-6D887D6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</a:t>
            </a: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settings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size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(300, 300);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</a:t>
            </a: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setup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ellipse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(50, 50, 30, 30);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ellipse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(250, 50, 30, 30);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ellipse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(150, 250, 30, 30);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A1873300-829C-4FF6-8E2E-9B32624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DF6DA2E5-B5F2-4F54-B731-901B6F5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B1D96877-88FC-4698-8F85-24BB56F6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44568"/>
            <a:ext cx="46177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 paper, sketch a 300×300 box and mark where each circle's CENTER will land.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AD1687B0-B186-4D14-8AD7-1301676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8353523-841D-45CC-AEAF-DA91A0D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740C9C1D-119C-4C76-A8D1-0234702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46177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circle is closest to the top of the canvas? Which is closest to the bottom?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238ACE8D-45A6-45FA-AC91-B5F24AE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15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90EBA258-535F-44CF-91A3-451071D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15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535623A9-BA19-4ED2-AF05-C1C73DF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8756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Show your prediction. Keep BlueJ closed for now.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AE5CB57C-CE9C-4C90-AC9B-F9A4FE2F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3566160" cy="356616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5F1E8C82-FD75-4682-89A4-824CC90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4630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(0, 0)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71E2B3C0-371A-497A-9752-F98845DE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57200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300, 300 →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78E37BE6-5BB3-4462-A2C7-0994FD5F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42E9239E-D78A-4F38-9A0E-FF207747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Blank on purpose — plot the three circles' centers yourself before checking the code.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5158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512DDA5-D918-4CC6-8F33-D8DFEE4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 Your Prediction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2D72587-2A5E-4863-B3FF-9BF8726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top pair tie; the third circle sits closest to the bottom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A558BA1-FE6E-42E1-B91B-9D4D160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EE6317D-4BBF-4D1A-BC9A-EBFFAFB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0EDB79A4-9782-41FF-ACDE-697B1A4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430EF47A-8203-4E2C-9937-AE08211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Centers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(50, 50): top-left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(250, 50): top-right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(150, 250): bottom-center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Closest to top: first and second tie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Closest to bottom: third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8BF7701A-A209-4511-88D9-A3E4A60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8679CA9-0201-4B11-B0B8-CE4F1A5B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8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1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Now verify in BlueJ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95DFFDF5-9DFF-4269-A77C-ED6A703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Paste the three ellipse() calls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Compile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Run void main(String[] args)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Compare the window with your sketch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422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9D0FA038-7DF2-43CD-A7D9-20637C57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Build It: Place the First Circle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D5137600-900B-4F29-AD91-8B7F7FE6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Complete one checkpoint before adding the second shape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5034B08C-51A0-4224-8780-5D09CB45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9">
            <a:extLst xmlns:a="http://schemas.openxmlformats.org/drawingml/2006/main">
              <a:ext uri="{FF2B5EF4-FFF2-40B4-BE49-F238E27FC236}">
                <a16:creationId xmlns:a16="http://schemas.microsoft.com/office/drawing/2014/main" id="{D56CD8B4-26DC-4C76-B822-C5C7D2A2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FDB1F4D1-A3E2-4FED-9644-58F44464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12D862F6-6856-46A1-A5E3-55056F7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8878929-7BAD-453B-B79B-A015A6CD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4416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Create or open B1_1_1_Canvas_Coordinates.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0541AC9E-0ECD-445D-8554-DF7FD63D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231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3E687758-B7E7-40D2-807A-1BBDCC25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231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434B9830-05AF-44C3-8EA1-3AEA04E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9572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Set size(500, 300) inside settings().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4A8C646F-9F9F-4410-9D54-1E4D95E0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>
            <a:extLst xmlns:a="http://schemas.openxmlformats.org/drawingml/2006/main">
              <a:ext uri="{FF2B5EF4-FFF2-40B4-BE49-F238E27FC236}">
                <a16:creationId xmlns:a16="http://schemas.microsoft.com/office/drawing/2014/main" id="{7F384FF7-5560-45B6-9141-B30BAD88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9">
            <a:extLst xmlns:a="http://schemas.openxmlformats.org/drawingml/2006/main">
              <a:ext uri="{FF2B5EF4-FFF2-40B4-BE49-F238E27FC236}">
                <a16:creationId xmlns:a16="http://schemas.microsoft.com/office/drawing/2014/main" id="{5D0D65F8-DDEC-47B9-9AEF-8676B90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4728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ellipse(100, 75, 50, 50) inside setup().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9">
            <a:extLst xmlns:a="http://schemas.openxmlformats.org/drawingml/2006/main">
              <a:ext uri="{FF2B5EF4-FFF2-40B4-BE49-F238E27FC236}">
                <a16:creationId xmlns:a16="http://schemas.microsoft.com/office/drawing/2014/main" id="{0B8682CA-5054-4667-94A4-94239960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>
            <a:extLst xmlns:a="http://schemas.openxmlformats.org/drawingml/2006/main">
              <a:ext uri="{FF2B5EF4-FFF2-40B4-BE49-F238E27FC236}">
                <a16:creationId xmlns:a16="http://schemas.microsoft.com/office/drawing/2014/main" id="{6BA1A8C1-7138-4B3A-B5CB-C3C3BF5B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676F9126-85BA-45D9-B127-4752DE79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9884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→ Compile → Run → Observe.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F4902B41-0DFD-43EC-B76E-BDB3CB4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557784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A22531D8-8D07-4693-A3B7-D70F7EEA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41848"/>
            <a:ext cx="506577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Checkpoint: one 50 × 50 circle appears near the top-left area.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705A2F5C-62DC-460A-B482-35D49D4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166360" cy="3099816"/>
          </a:xfrm>
          <a:prstGeom xmlns:a="http://schemas.openxmlformats.org/drawingml/2006/main" prst="roundRect">
            <a:avLst>
              <a:gd name="adj" fmla="val 118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7D2D9643-1BFB-487B-B9D8-386EB9E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194" y="1842516"/>
            <a:ext cx="516636" cy="516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F136DC37-3C04-4B7B-8874-872896F4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522476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(100, 75)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9">
            <a:extLst xmlns:a="http://schemas.openxmlformats.org/drawingml/2006/main">
              <a:ext uri="{FF2B5EF4-FFF2-40B4-BE49-F238E27FC236}">
                <a16:creationId xmlns:a16="http://schemas.microsoft.com/office/drawing/2014/main" id="{95973971-4E6E-4492-8ED6-AA390855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54296"/>
            <a:ext cx="5166360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6072AD85-B3CA-4053-A4D5-0201839D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855464"/>
            <a:ext cx="46542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First checkpoint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40C6C2AE-50BB-48CC-9AA4-21AEA1B6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221224"/>
            <a:ext cx="46542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If the circle is where you predicted, close the sketch and return to BlueJ.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14795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9D0FA038-7DF2-43CD-A7D9-20637C57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Build It: Add the Second Circle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D5137600-900B-4F29-AD91-8B7F7FE6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Extend the working program without changing the first ellipse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5034B08C-51A0-4224-8780-5D09CB45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9">
            <a:extLst xmlns:a="http://schemas.openxmlformats.org/drawingml/2006/main">
              <a:ext uri="{FF2B5EF4-FFF2-40B4-BE49-F238E27FC236}">
                <a16:creationId xmlns:a16="http://schemas.microsoft.com/office/drawing/2014/main" id="{D56CD8B4-26DC-4C76-B822-C5C7D2A2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FDB1F4D1-A3E2-4FED-9644-58F44464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12D862F6-6856-46A1-A5E3-55056F7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8878929-7BAD-453B-B79B-A015A6CD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4416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Keep the first ellipse() line unchanged.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0541AC9E-0ECD-445D-8554-DF7FD63D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231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3E687758-B7E7-40D2-807A-1BBDCC25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231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434B9830-05AF-44C3-8EA1-3AEA04E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9572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ellipse(400, 225, 50, 50) directly below it.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4A8C646F-9F9F-4410-9D54-1E4D95E0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>
            <a:extLst xmlns:a="http://schemas.openxmlformats.org/drawingml/2006/main">
              <a:ext uri="{FF2B5EF4-FFF2-40B4-BE49-F238E27FC236}">
                <a16:creationId xmlns:a16="http://schemas.microsoft.com/office/drawing/2014/main" id="{7F384FF7-5560-45B6-9141-B30BAD88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9">
            <a:extLst xmlns:a="http://schemas.openxmlformats.org/drawingml/2006/main">
              <a:ext uri="{FF2B5EF4-FFF2-40B4-BE49-F238E27FC236}">
                <a16:creationId xmlns:a16="http://schemas.microsoft.com/office/drawing/2014/main" id="{5D0D65F8-DDEC-47B9-9AEF-8676B90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4728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where its center will appear.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9">
            <a:extLst xmlns:a="http://schemas.openxmlformats.org/drawingml/2006/main">
              <a:ext uri="{FF2B5EF4-FFF2-40B4-BE49-F238E27FC236}">
                <a16:creationId xmlns:a16="http://schemas.microsoft.com/office/drawing/2014/main" id="{0B8682CA-5054-4667-94A4-94239960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>
            <a:extLst xmlns:a="http://schemas.openxmlformats.org/drawingml/2006/main">
              <a:ext uri="{FF2B5EF4-FFF2-40B4-BE49-F238E27FC236}">
                <a16:creationId xmlns:a16="http://schemas.microsoft.com/office/drawing/2014/main" id="{6BA1A8C1-7138-4B3A-B5CB-C3C3BF5B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676F9126-85BA-45D9-B127-4752DE79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9884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→ Run → Observe again.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F4902B41-0DFD-43EC-B76E-BDB3CB4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557784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A22531D8-8D07-4693-A3B7-D70F7EEA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41848"/>
            <a:ext cx="506577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Success: two 50 × 50 circles appear near opposite corners.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705A2F5C-62DC-460A-B482-35D49D4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166360" cy="3099816"/>
          </a:xfrm>
          <a:prstGeom xmlns:a="http://schemas.openxmlformats.org/drawingml/2006/main" prst="roundRect">
            <a:avLst>
              <a:gd name="adj" fmla="val 118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7D2D9643-1BFB-487B-B9D8-386EB9E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194" y="1842516"/>
            <a:ext cx="516636" cy="516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F136DC37-3C04-4B7B-8874-872896F4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522476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(100, 75)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77D18BB1-D3E3-44E7-A4BF-9825523D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10" y="3392424"/>
            <a:ext cx="516636" cy="516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0FF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96228902-1C8F-4B52-B417-2AE246A0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395478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(400, 225)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9">
            <a:extLst xmlns:a="http://schemas.openxmlformats.org/drawingml/2006/main">
              <a:ext uri="{FF2B5EF4-FFF2-40B4-BE49-F238E27FC236}">
                <a16:creationId xmlns:a16="http://schemas.microsoft.com/office/drawing/2014/main" id="{95973971-4E6E-4492-8ED6-AA390855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54296"/>
            <a:ext cx="5166360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6072AD85-B3CA-4053-A4D5-0201839D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855464"/>
            <a:ext cx="46542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500 × 300 canvas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40C6C2AE-50BB-48CC-9AA4-21AEA1B6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221224"/>
            <a:ext cx="46542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final window should show both circles at the labeled center coordinates.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1479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Google Shape;166;p10">
            <a:extLst xmlns:a="http://schemas.openxmlformats.org/drawingml/2006/main">
              <a:ext uri="{FF2B5EF4-FFF2-40B4-BE49-F238E27FC236}">
                <a16:creationId xmlns:a16="http://schemas.microsoft.com/office/drawing/2014/main" id="{A632D046-FA35-4925-9ADF-81F1BA77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Recap: Canvas &amp; Coordinates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10">
            <a:extLst xmlns:a="http://schemas.openxmlformats.org/drawingml/2006/main">
              <a:ext uri="{FF2B5EF4-FFF2-40B4-BE49-F238E27FC236}">
                <a16:creationId xmlns:a16="http://schemas.microsoft.com/office/drawing/2014/main" id="{D29D6F31-AA5E-440A-BE0A-398EB23A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you should be able to do now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10">
            <a:extLst xmlns:a="http://schemas.openxmlformats.org/drawingml/2006/main">
              <a:ext uri="{FF2B5EF4-FFF2-40B4-BE49-F238E27FC236}">
                <a16:creationId xmlns:a16="http://schemas.microsoft.com/office/drawing/2014/main" id="{148531AD-F062-4261-9785-DC98ADD5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10">
            <a:extLst xmlns:a="http://schemas.openxmlformats.org/drawingml/2006/main">
              <a:ext uri="{FF2B5EF4-FFF2-40B4-BE49-F238E27FC236}">
                <a16:creationId xmlns:a16="http://schemas.microsoft.com/office/drawing/2014/main" id="{3D314B98-B73D-4D81-8650-9CFC242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10">
            <a:extLst xmlns:a="http://schemas.openxmlformats.org/drawingml/2006/main">
              <a:ext uri="{FF2B5EF4-FFF2-40B4-BE49-F238E27FC236}">
                <a16:creationId xmlns:a16="http://schemas.microsoft.com/office/drawing/2014/main" id="{28FF3ECC-DCE8-47DB-B1A9-C8D93672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48640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>
            <a:extLst xmlns:a="http://schemas.openxmlformats.org/drawingml/2006/main">
              <a:ext uri="{FF2B5EF4-FFF2-40B4-BE49-F238E27FC236}">
                <a16:creationId xmlns:a16="http://schemas.microsoft.com/office/drawing/2014/main" id="{BA3C0C0C-8CC8-401A-B2B5-403CF62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90472"/>
            <a:ext cx="5029200" cy="2322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Create a canvas with size(width, height) inside settings()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 that the origin (0, 0) is the top-left corner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State that x increases to the right and y increases downward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Place a shape at a specific position, knowing ellipse()'s (x, y) is its center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10">
            <a:extLst xmlns:a="http://schemas.openxmlformats.org/drawingml/2006/main">
              <a:ext uri="{FF2B5EF4-FFF2-40B4-BE49-F238E27FC236}">
                <a16:creationId xmlns:a16="http://schemas.microsoft.com/office/drawing/2014/main" id="{52CC8867-F195-47B7-8AA0-46161C7D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548640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>
            <a:extLst xmlns:a="http://schemas.openxmlformats.org/drawingml/2006/main">
              <a:ext uri="{FF2B5EF4-FFF2-40B4-BE49-F238E27FC236}">
                <a16:creationId xmlns:a16="http://schemas.microsoft.com/office/drawing/2014/main" id="{4CE00F73-A0E4-4982-8BEF-36A1E6F3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6168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10">
            <a:extLst xmlns:a="http://schemas.openxmlformats.org/drawingml/2006/main">
              <a:ext uri="{FF2B5EF4-FFF2-40B4-BE49-F238E27FC236}">
                <a16:creationId xmlns:a16="http://schemas.microsoft.com/office/drawing/2014/main" id="{3A5CB3C1-88C6-425A-A36E-A71963D0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27448"/>
            <a:ext cx="4974336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shape you place on the canvas has a position — and that position can be described using an (x, y) coordinate.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10">
            <a:extLst xmlns:a="http://schemas.openxmlformats.org/drawingml/2006/main">
              <a:ext uri="{FF2B5EF4-FFF2-40B4-BE49-F238E27FC236}">
                <a16:creationId xmlns:a16="http://schemas.microsoft.com/office/drawing/2014/main" id="{3AFF8B84-9514-4B24-A489-5311E39D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534924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>
            <a:extLst xmlns:a="http://schemas.openxmlformats.org/drawingml/2006/main">
              <a:ext uri="{FF2B5EF4-FFF2-40B4-BE49-F238E27FC236}">
                <a16:creationId xmlns:a16="http://schemas.microsoft.com/office/drawing/2014/main" id="{D6525C1F-E9A5-4CC6-B9B7-E3572FA7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2704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lesson: B1.1 (Part 2 of 2)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10">
            <a:extLst xmlns:a="http://schemas.openxmlformats.org/drawingml/2006/main">
              <a:ext uri="{FF2B5EF4-FFF2-40B4-BE49-F238E27FC236}">
                <a16:creationId xmlns:a16="http://schemas.microsoft.com/office/drawing/2014/main" id="{03ABA620-2454-4D6B-95E6-E7E8A565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92808"/>
            <a:ext cx="4837176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 far, everything you've placed sits still. In the next lesson, you'll see draw() actually do something — and learn exactly which code belongs in settings(), setup(), or draw().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You'll also get a first glimpse of a value changing frame to frame — the real technique for that comes later, in B1.3.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92770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512DDA5-D918-4CC6-8F33-D8DFEE4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Exit Ticket: Read Coordinates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2D72587-2A5E-4863-B3FF-9BF8726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Answer before you close BlueJ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A558BA1-FE6E-42E1-B91B-9D4D160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EE6317D-4BBF-4D1A-BC9A-EBFFAFB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0EDB79A4-9782-41FF-ACDE-697B1A4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430EF47A-8203-4E2C-9937-AE08211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Where is the origin?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Which direction does x increase?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Which direction does y increase?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In ellipse(400, 225, 50, 50), what does each number mean?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8BF7701A-A209-4511-88D9-A3E4A60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8679CA9-0201-4B11-B0B8-CE4F1A5B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8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1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Show your evidence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95DFFDF5-9DFF-4269-A77C-ED6A703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A 500 × 300 sketch window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Two circles at the requested centers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A successful compile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One prediction you corrected or confirmed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4229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7B064E4D-394A-4448-9007-CB95A239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Program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5336E820-16B1-4891-B3AD-8A49507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this only to recover or compare after completing the task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8407CCF9-9B37-47E8-95B2-D7002D6C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0F821D41-2756-499C-A195-3EDA6E6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2795D046-0DA4-4FB5-9B44-8E6FCB9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B9B03F0D-57CD-4BCC-8EED-6D887D6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CanvasSketch extends PApplet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settings()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size(500, 300);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setup()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ellipse(100, 75, 50, 50);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ellipse(400, 225, 50, 50);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static void main(String[] args)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PApplet.main("CanvasSketch");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175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75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A1873300-829C-4FF6-8E2E-9B32624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124" y="2166366"/>
            <a:ext cx="356616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DF6DA2E5-B5F2-4F54-B731-901B6F5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 sz="1100" b="1">
                <a:solidFill>
                  <a:srgbClr val="1E2761"/>
                </a:solidFill>
                <a:latin typeface="Courier New"/>
                <a:ea typeface="Courier New"/>
                <a:cs typeface="Courier New"/>
              </a:defRPr>
            </a:pPr>
            <a:r>
              <a:rPr sz="11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(100, 75)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AD1687B0-B186-4D14-8AD7-1301676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820" y="3236214"/>
            <a:ext cx="356616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8353523-841D-45CC-AEAF-DA91A0D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 sz="1100" b="1">
                <a:solidFill>
                  <a:srgbClr val="1E2761"/>
                </a:solidFill>
                <a:latin typeface="Courier New"/>
                <a:ea typeface="Courier New"/>
                <a:cs typeface="Courier New"/>
              </a:defRPr>
            </a:pPr>
            <a:r>
              <a:rPr sz="11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(400, 225)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AE5CB57C-CE9C-4C90-AC9B-F9A4FE2F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3566160" cy="2139696"/>
          </a:xfrm>
          <a:prstGeom xmlns:a="http://schemas.openxmlformats.org/drawingml/2006/main" prst="roundRect">
            <a:avLst>
              <a:gd name="adj" fmla="val 102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E276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78E37BE6-5BB3-4462-A2C7-0994FD5F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42E9239E-D78A-4F38-9A0E-FF207747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Expected: two 50 × 50 circles centered at (100, 75) and (400, 225).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5158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512DDA5-D918-4CC6-8F33-D8DFEE4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If It Doesn’t Work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2D72587-2A5E-4863-B3FF-9BF8726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Check these in order before rewriting the whole program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A558BA1-FE6E-42E1-B91B-9D4D160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EE6317D-4BBF-4D1A-BC9A-EBFFAFB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B1.1 (Part 1 of 2) · Canvas &amp; Coordinate System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0EDB79A4-9782-41FF-ACDE-697B1A4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430EF47A-8203-4E2C-9937-AE08211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error?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import processing.core.PApplet;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Class name is CanvasSketch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Semicolon after size() and ellipse()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Opening and closing braces match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8BF7701A-A209-4511-88D9-A3E4A60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8679CA9-0201-4B11-B0B8-CE4F1A5B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8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1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Sketch does not open?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95DFFDF5-9DFF-4269-A77C-ED6A703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core-4.5.6.jar says (Loaded)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Right-click CanvasSketch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Run void main(String[] args)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Accept the argument and click OK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Look behind BlueJ for the window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422944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2026-08-25T09:34:14.6230000Z</dcterms:created>
  <dcterms:modified xsi:type="dcterms:W3CDTF">2026-08-25T09:34:14.6230000Z</dcterms:modified>
</coreProperties>
</file>