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4a3246cffa4dfd" /><Relationship Type="http://schemas.openxmlformats.org/officeDocument/2006/relationships/extended-properties" Target="/docProps/app.xml" Id="R50b6b28561b345f5" /><Relationship Type="http://schemas.openxmlformats.org/officeDocument/2006/relationships/officeDocument" Target="/ppt/presentation.xml" Id="R861fcb0dc7db42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f156cf7a074d00"/>
  </p:sldMasterIdLst>
  <p:notesMasterIdLst>
    <p:notesMasterId xmlns:r="http://schemas.openxmlformats.org/officeDocument/2006/relationships" r:id="R699f4b3301834597"/>
  </p:notesMasterIdLst>
  <p:sldIdLst>
    <p:sldId xmlns:r="http://schemas.openxmlformats.org/officeDocument/2006/relationships" id="256" r:id="R77209faad2de4c1f"/>
    <p:sldId xmlns:r="http://schemas.openxmlformats.org/officeDocument/2006/relationships" id="257" r:id="Re0bd475145a641e0"/>
    <p:sldId xmlns:r="http://schemas.openxmlformats.org/officeDocument/2006/relationships" id="258" r:id="R22c7862cd2924984"/>
    <p:sldId xmlns:r="http://schemas.openxmlformats.org/officeDocument/2006/relationships" id="259" r:id="R5a686b5186614d14"/>
    <p:sldId xmlns:r="http://schemas.openxmlformats.org/officeDocument/2006/relationships" id="260" r:id="R1ac778a40df241ed"/>
    <p:sldId xmlns:r="http://schemas.openxmlformats.org/officeDocument/2006/relationships" id="261" r:id="R36611c64c6dd4b56"/>
    <p:sldId xmlns:r="http://schemas.openxmlformats.org/officeDocument/2006/relationships" id="262" r:id="Rbc0db73f66d8475d"/>
    <p:sldId xmlns:r="http://schemas.openxmlformats.org/officeDocument/2006/relationships" id="263" r:id="R5a809d73db844c66"/>
    <p:sldId xmlns:r="http://schemas.openxmlformats.org/officeDocument/2006/relationships" id="264" r:id="R0f37667a080341be"/>
    <p:sldId xmlns:r="http://schemas.openxmlformats.org/officeDocument/2006/relationships" id="265" r:id="R1a72d7173a5e4376"/>
    <p:sldId xmlns:r="http://schemas.openxmlformats.org/officeDocument/2006/relationships" id="266" r:id="R0db04d83bfaf46bc"/>
    <p:sldId xmlns:r="http://schemas.openxmlformats.org/officeDocument/2006/relationships" id="267" r:id="Re668619ac66c42f1"/>
    <p:sldId xmlns:r="http://schemas.openxmlformats.org/officeDocument/2006/relationships" id="268" r:id="R3864b5b8fcef43b9"/>
    <p:sldId xmlns:r="http://schemas.openxmlformats.org/officeDocument/2006/relationships" id="269" r:id="Rc05df545cd0046d2"/>
    <p:sldId xmlns:r="http://schemas.openxmlformats.org/officeDocument/2006/relationships" id="270" r:id="R58abb63372e84977"/>
    <p:sldId xmlns:r="http://schemas.openxmlformats.org/officeDocument/2006/relationships" id="271" r:id="R869a36e151074c40"/>
    <p:sldId xmlns:r="http://schemas.openxmlformats.org/officeDocument/2006/relationships" id="272" r:id="R153a088774c0407a"/>
    <p:sldId xmlns:r="http://schemas.openxmlformats.org/officeDocument/2006/relationships" id="273" r:id="R568720ff0dd84851"/>
    <p:sldId xmlns:r="http://schemas.openxmlformats.org/officeDocument/2006/relationships" id="274" r:id="Redc292f395e04558"/>
  </p:sldIdLst>
  <p:sldSz cx="1219167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449dca82664443" /><Relationship Type="http://schemas.openxmlformats.org/officeDocument/2006/relationships/slideMaster" Target="/ppt/slideMasters/slideMaster1.xml" Id="Rcbf156cf7a074d00" /><Relationship Type="http://schemas.openxmlformats.org/officeDocument/2006/relationships/notesMaster" Target="/ppt/notesMasters/notesMaster1.xml" Id="R699f4b3301834597" /><Relationship Type="http://schemas.openxmlformats.org/officeDocument/2006/relationships/presProps" Target="/ppt/presProps.xml" Id="Rfbfc951105454afd" /><Relationship Type="http://schemas.openxmlformats.org/officeDocument/2006/relationships/tableStyles" Target="/ppt/tableStyles.xml" Id="R45237a28a05e448f" /><Relationship Type="http://schemas.openxmlformats.org/officeDocument/2006/relationships/slide" Target="/ppt/slides/slide1.xml" Id="R77209faad2de4c1f" /><Relationship Type="http://schemas.openxmlformats.org/officeDocument/2006/relationships/slide" Target="/ppt/slides/slide2.xml" Id="Re0bd475145a641e0" /><Relationship Type="http://schemas.openxmlformats.org/officeDocument/2006/relationships/slide" Target="/ppt/slides/slide3.xml" Id="R22c7862cd2924984" /><Relationship Type="http://schemas.openxmlformats.org/officeDocument/2006/relationships/slide" Target="/ppt/slides/slide4.xml" Id="R5a686b5186614d14" /><Relationship Type="http://schemas.openxmlformats.org/officeDocument/2006/relationships/slide" Target="/ppt/slides/slide5.xml" Id="R1ac778a40df241ed" /><Relationship Type="http://schemas.openxmlformats.org/officeDocument/2006/relationships/slide" Target="/ppt/slides/slide6.xml" Id="R36611c64c6dd4b56" /><Relationship Type="http://schemas.openxmlformats.org/officeDocument/2006/relationships/slide" Target="/ppt/slides/slide7.xml" Id="Rbc0db73f66d8475d" /><Relationship Type="http://schemas.openxmlformats.org/officeDocument/2006/relationships/slide" Target="/ppt/slides/slide8.xml" Id="R5a809d73db844c66" /><Relationship Type="http://schemas.openxmlformats.org/officeDocument/2006/relationships/slide" Target="/ppt/slides/slide9.xml" Id="R0f37667a080341be" /><Relationship Type="http://schemas.openxmlformats.org/officeDocument/2006/relationships/slide" Target="/ppt/slides/slide10.xml" Id="R1a72d7173a5e4376" /><Relationship Type="http://schemas.openxmlformats.org/officeDocument/2006/relationships/slide" Target="/ppt/slides/slide11.xml" Id="R0db04d83bfaf46bc" /><Relationship Type="http://schemas.openxmlformats.org/officeDocument/2006/relationships/slide" Target="/ppt/slides/slide12.xml" Id="Re668619ac66c42f1" /><Relationship Type="http://schemas.openxmlformats.org/officeDocument/2006/relationships/slide" Target="/ppt/slides/slide13.xml" Id="R3864b5b8fcef43b9" /><Relationship Type="http://schemas.openxmlformats.org/officeDocument/2006/relationships/slide" Target="/ppt/slides/slide14.xml" Id="Rc05df545cd0046d2" /><Relationship Type="http://schemas.openxmlformats.org/officeDocument/2006/relationships/slide" Target="/ppt/slides/slide15.xml" Id="R58abb63372e84977" /><Relationship Type="http://schemas.openxmlformats.org/officeDocument/2006/relationships/slide" Target="/ppt/slides/slide16.xml" Id="R869a36e151074c40" /><Relationship Type="http://schemas.openxmlformats.org/officeDocument/2006/relationships/slide" Target="/ppt/slides/slide17.xml" Id="R153a088774c0407a" /><Relationship Type="http://schemas.openxmlformats.org/officeDocument/2006/relationships/slide" Target="/ppt/slides/slide18.xml" Id="R568720ff0dd84851" /><Relationship Type="http://schemas.openxmlformats.org/officeDocument/2006/relationships/slide" Target="/ppt/slides/slide19.xml" Id="Redc292f395e045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8bf3e27fee43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38ebcd323b4581" /><Relationship Type="http://schemas.openxmlformats.org/officeDocument/2006/relationships/notesMaster" Target="/ppt/notesMasters/notesMaster1.xml" Id="R384300a619ed4b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adfeb588574f21" /><Relationship Type="http://schemas.openxmlformats.org/officeDocument/2006/relationships/notesMaster" Target="/ppt/notesMasters/notesMaster1.xml" Id="Re1d33f07b6b744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e101aa49de41e4" /><Relationship Type="http://schemas.openxmlformats.org/officeDocument/2006/relationships/notesMaster" Target="/ppt/notesMasters/notesMaster1.xml" Id="Rd1d44994bd4d4f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85c6d1f0c34fc8" /><Relationship Type="http://schemas.openxmlformats.org/officeDocument/2006/relationships/notesMaster" Target="/ppt/notesMasters/notesMaster1.xml" Id="R3d252a5b324f46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2c0bcb350e4420" /><Relationship Type="http://schemas.openxmlformats.org/officeDocument/2006/relationships/notesMaster" Target="/ppt/notesMasters/notesMaster1.xml" Id="Reb4bb6cf7aa840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d8b6e5fdac46eb" /><Relationship Type="http://schemas.openxmlformats.org/officeDocument/2006/relationships/notesMaster" Target="/ppt/notesMasters/notesMaster1.xml" Id="Re43c9b64711249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8d0ae08f1443ea" /><Relationship Type="http://schemas.openxmlformats.org/officeDocument/2006/relationships/notesMaster" Target="/ppt/notesMasters/notesMaster1.xml" Id="R19faf80814db43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98e891061d48e1" /><Relationship Type="http://schemas.openxmlformats.org/officeDocument/2006/relationships/notesMaster" Target="/ppt/notesMasters/notesMaster1.xml" Id="R6ea0403cfa3440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484ad15e184df0" /><Relationship Type="http://schemas.openxmlformats.org/officeDocument/2006/relationships/notesMaster" Target="/ppt/notesMasters/notesMaster1.xml" Id="R6390881b9efa4c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61324c5fac4322" /><Relationship Type="http://schemas.openxmlformats.org/officeDocument/2006/relationships/notesMaster" Target="/ppt/notesMasters/notesMaster1.xml" Id="Rf431f05f895542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44b4e7ef3d425d" /><Relationship Type="http://schemas.openxmlformats.org/officeDocument/2006/relationships/notesMaster" Target="/ppt/notesMasters/notesMaster1.xml" Id="R9933aa0e5e0e4b4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fd86251f5b4af9" /><Relationship Type="http://schemas.openxmlformats.org/officeDocument/2006/relationships/notesMaster" Target="/ppt/notesMasters/notesMaster1.xml" Id="Rfd7c312a59f6462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e6dab26380c4aec" /><Relationship Type="http://schemas.openxmlformats.org/officeDocument/2006/relationships/notesMaster" Target="/ppt/notesMasters/notesMaster1.xml" Id="R2899e5585dbc4c4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dbf61e673749f0" /><Relationship Type="http://schemas.openxmlformats.org/officeDocument/2006/relationships/notesMaster" Target="/ppt/notesMasters/notesMaster1.xml" Id="Rc64acd34175c460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e49e524ca7e4792" /><Relationship Type="http://schemas.openxmlformats.org/officeDocument/2006/relationships/notesMaster" Target="/ppt/notesMasters/notesMaster1.xml" Id="Rb0183c932ee6484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fcaf195f4a04886" /><Relationship Type="http://schemas.openxmlformats.org/officeDocument/2006/relationships/notesMaster" Target="/ppt/notesMasters/notesMaster1.xml" Id="R0142151642704c1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37c4e44b2a84736" /><Relationship Type="http://schemas.openxmlformats.org/officeDocument/2006/relationships/notesMaster" Target="/ppt/notesMasters/notesMaster1.xml" Id="R813137ad0c9449f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cf45b3efe3c4d7f" /><Relationship Type="http://schemas.openxmlformats.org/officeDocument/2006/relationships/notesMaster" Target="/ppt/notesMasters/notesMaster1.xml" Id="R30bb471fb2e7409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6ad04ce34234abc" /><Relationship Type="http://schemas.openxmlformats.org/officeDocument/2006/relationships/notesMaster" Target="/ppt/notesMasters/notesMaster1.xml" Id="R83bd536bf1c04c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1 minute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State the finish line: “Today the coordinates stay familiar; we will control the drawing state that determines how later shapes look.”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should recognize this as a continuation of B1.2.1, not a new environment setup.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Ask students to answer before revealing or discussing. Require complete sentences for rect(), ellipse(), and line().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rect() uses the upper-left corner by default; ellipse() uses its centre; line() uses two endpoints; static scene code belongs in setup().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SUPPORT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Have students point to an imaginary top-left origin and trace increasing x and 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https://processing.org/reference/rect_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https://processing.org/reference/line_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https://processing.org/reference/setup_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2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Read the success criteria. Emphasize the explanation requirement: students must identify the active fill, stroke, and stroke weight before a shape call.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understand that the final scene needs four visibly different style outcomes.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https://processing.org/reference/fill_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https://processing.org/reference/stroke_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https://processing.org/reference/strokeWeight_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https://processing.org/reference/noFill_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https://processing.org/reference/noStroke_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Model the clicks and pause until every student has a BlueJ tile named StyleSketch.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Project folder: B1_2_2_Color_Stroke_Fill. Class: StyleSketch.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TROUBLESHOOTING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Spelling matters because the public class name, Java file, and PApplet.main() string must match.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Paste together, compile, and run the shell before introducing style calls.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blank light-gray 400 × 300 window opens.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TROUBLESHOOTING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If PApplet is unresolved, confirm core-4.5.6.jar is Loaded and restart BlueJ. If main is missing, confirm the class is named StyleSketch.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https://processing.github.io/processing4-javadocs/processing/core/PApplet.html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https://processing.org/reference/background_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4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Read each line aloud before the rectangle is drawn: inside, outline colour, thickness, then shape.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fill(220) produces a light-gray interior; stroke(0) produces a black border; strokeWeight(3) makes the border 3 pixels wide.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CHECK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Ask: “Which call changes position?” Expected: none; rect() still controls geometry.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https://processing.org/reference/fill_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https://processing.org/reference/stroke_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https://processing.org/reference/strokeWeight_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4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predict, run, then change only strokeWeight(3) to strokeWeight(8).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outline becomes thicker; fill colour, outline colour, position, and size stay unchanged.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TROUBLESHOOTING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If the background is missing, confirm background(240) remains first in setup().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https://processing.org/reference/strokeWeight_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https://processing.org/reference/background_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Trace the program top to bottom. Pause after fill(220) and ask which later shapes inherit it.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first ellipse and rectangle use 220. The last ellipse uses 80 because the later fill() call changes the current state.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MISCONCEPTION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fill() is not attached only to the next shape; it affects all subsequent shapes until changed.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https://processing.org/reference/fill_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write their three predicted fills before compiling. Ask them to circle the exact line where the state changes.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Predictions are 220, 220, then 80.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TROUBLESHOOTING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If all shapes use 80, check whether fill(80) was accidentally moved above the first shapes.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https://processing.org/reference/fill_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Ask students to predict whether the line will be red or black before running.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line is black and 4 pixels thick. fill(255, 0, 0) has no effect because a line has no inside.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TROUBLESHOOTING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If the line disappears, look for an active noStroke(). Restore it with stroke(...).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https://processing.org/reference/line_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https://processing.org/reference/stroke_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https://processing.org/reference/strokeWeight_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https://processing.org/reference/fill_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Ask which code is grayscale and which is RGB. Have students identify the strongest RGB channel.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fill(180) is gray. fill(180, 80, 40) is a warm reddish-brown because red is the largest component.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SUPPORT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the phrase “red, green, blue—in that order.” Keep all values in the default 0–255 range.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https://processing.org/reference/fill_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https://processing.org/reference/stroke_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Contrast “outline-only” with “fill-only.” Trace the restoration call fill(80) before noStroke().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rectangle has no interior but keeps its outline. The ellipse has an interior but no outline.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TROUBLESHOOTING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If nothing appears, both noFill() and noStroke() may be active. Restore one with fill(...) or stroke(...).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https://processing.org/reference/noFill_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https://processing.org/reference/noStroke_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https://processing.org/reference/fill_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https://processing.org/reference/stroke_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6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Release students to construct the scene. Require a written or spoken prediction before each run. Keep appendix slides hidden initially.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One filled rectangle with a 4-pixel outline; one outline-only ellipse; one coloured 5-pixel line; one fill-only circle.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TROUBLESHOOTING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Ask “What is the most recent style call above this shape?” before suggesting a code change.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https://processing.org/reference/fill_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https://processing.org/reference/stroke_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https://processing.org/reference/strokeWeight_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https://processing.org/reference/noFill_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https://processing.org/reference/noStroke_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https://processing.org/reference/line_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2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Pair students. The reviewer points to each shape call and asks for the active fill, stroke, and weight.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explain state from the nearest preceding style calls rather than from visual guesswork.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SUPPORT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If time is short, review only the outline-only ellipse and fill-only circle.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https://processing.org/reference/fill_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https://processing.org/reference/stroke_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https://processing.org/reference/noFill_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https://processing.org/reference/noStroke_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2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answer the exit ticket independently. Collect the explanation, not a screenshot.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First ellipse: no fill, current/default stroke visible. Second ellipse: RGB fill, no outline. fill(...) changes the fill state; noStroke() changes the stroke state.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LOOK FOR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may incorrectly claim noFill() affects only one shape. Their answer should show that state persists until changed.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https://processing.org/reference/fill_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https://processing.org/reference/noFill_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https://processing.org/reference/noStroke_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Use as needed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Reveal only when a student cannot recover the Java/PApplet wrapper after attempting the checkpoint.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shell compiles and opens a blank 400 × 300 window.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TROUBLESHOOTING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Confirm all three occurrences of StyleSketch agree: file/class name and PApplet.main() string.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https://processing.github.io/processing4-javadocs/processing/core/PApplet.html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https://processing.org/reference/background_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Use as needed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as recovery after checkpoint 3. Ask students to explain each state transition before copying.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rectangle is filled with a thick outline. noFill() then makes the ellipse outline-only.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https://processing.org/reference/fill_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https://processing.org/reference/stroke_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https://processing.org/reference/strokeWeight_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https://processing.org/reference/noFill_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Use as needed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Append these lines to slide 17. Require students to identify why fill(80) is necessary before noStroke().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line uses blue stroke and a 5-pixel weight. The final circle has fill but no outline.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https://processing.org/reference/line_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https://processing.org/reference/fill_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https://processing.org/reference/stroke_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https://processing.org/reference/strokeWeight_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https://processing.org/reference/noStroke_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Use as needed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Diagnose one category at a time: visibility, fill colour, stroke colour, weight, then Java/BlueJ setup.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locate the most recent relevant state-setting call before editing.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TROUBLESHOOTING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If the first compiler error is unresolved PApplet, fix the library before addressing later errors.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https://processing.org/reference/fill_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https://processing.org/reference/stroke_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https://processing.org/reference/strokeWeight_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https://processing.org/reference/noFill_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https://processing.org/reference/noStroke_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https://processing.github.io/processing4-javadocs/processing/core/PApplet.html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a71864a3294673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e0a1b42077402c" /><Relationship Type="http://schemas.openxmlformats.org/officeDocument/2006/relationships/slideLayout" Target="/ppt/slideLayouts/slideLayout1.xml" Id="R2cbcb74498ae470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bcb74498ae470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e79a5641c461b" /><Relationship Type="http://schemas.openxmlformats.org/officeDocument/2006/relationships/notesSlide" Target="/ppt/notesSlides/notesSlide1.xml" Id="Rf17c438af4e044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9fd174c884411" /><Relationship Type="http://schemas.openxmlformats.org/officeDocument/2006/relationships/notesSlide" Target="/ppt/notesSlides/notesSlide2.xml" Id="R6e8ee35a711f40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6edb4c53449af" /><Relationship Type="http://schemas.openxmlformats.org/officeDocument/2006/relationships/notesSlide" Target="/ppt/notesSlides/notesSlide3.xml" Id="R31635e0f029c41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96086676d4bcb" /><Relationship Type="http://schemas.openxmlformats.org/officeDocument/2006/relationships/notesSlide" Target="/ppt/notesSlides/notesSlide4.xml" Id="R9863c288d0f54e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713d318ec4e23" /><Relationship Type="http://schemas.openxmlformats.org/officeDocument/2006/relationships/notesSlide" Target="/ppt/notesSlides/notesSlide5.xml" Id="Rf928cf11eeb54d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9243d509b4d05" /><Relationship Type="http://schemas.openxmlformats.org/officeDocument/2006/relationships/notesSlide" Target="/ppt/notesSlides/notesSlide6.xml" Id="R834ef4dfd88645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a837221014843" /><Relationship Type="http://schemas.openxmlformats.org/officeDocument/2006/relationships/notesSlide" Target="/ppt/notesSlides/notesSlide7.xml" Id="R7b1094e55ef04e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df09bd4354ae8" /><Relationship Type="http://schemas.openxmlformats.org/officeDocument/2006/relationships/notesSlide" Target="/ppt/notesSlides/notesSlide8.xml" Id="Rf0396497db4e4f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2007949a6457e" /><Relationship Type="http://schemas.openxmlformats.org/officeDocument/2006/relationships/notesSlide" Target="/ppt/notesSlides/notesSlide9.xml" Id="R01e16cd436cc40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0c9e71bba4bd4" /><Relationship Type="http://schemas.openxmlformats.org/officeDocument/2006/relationships/notesSlide" Target="/ppt/notesSlides/notesSlide10.xml" Id="Rcd07bfd50d1242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a1ea06acd40a4" /><Relationship Type="http://schemas.openxmlformats.org/officeDocument/2006/relationships/notesSlide" Target="/ppt/notesSlides/notesSlide11.xml" Id="R6bfbc74577e743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3d5f0f36e4ef0" /><Relationship Type="http://schemas.openxmlformats.org/officeDocument/2006/relationships/notesSlide" Target="/ppt/notesSlides/notesSlide12.xml" Id="Rbf79e920dc5e49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9026ed6604208" /><Relationship Type="http://schemas.openxmlformats.org/officeDocument/2006/relationships/notesSlide" Target="/ppt/notesSlides/notesSlide13.xml" Id="R516a015d56e646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5b57d077345ba" /><Relationship Type="http://schemas.openxmlformats.org/officeDocument/2006/relationships/notesSlide" Target="/ppt/notesSlides/notesSlide14.xml" Id="R13b4258363f740d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5bc4515954e4d" /><Relationship Type="http://schemas.openxmlformats.org/officeDocument/2006/relationships/notesSlide" Target="/ppt/notesSlides/notesSlide15.xml" Id="Rbddd6157754244b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4b09bf71a424a" /><Relationship Type="http://schemas.openxmlformats.org/officeDocument/2006/relationships/notesSlide" Target="/ppt/notesSlides/notesSlide16.xml" Id="R76f69a40315840b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f936a759a457d" /><Relationship Type="http://schemas.openxmlformats.org/officeDocument/2006/relationships/notesSlide" Target="/ppt/notesSlides/notesSlide17.xml" Id="R9c00e2d7d3d849f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2ad36d8dc4d13" /><Relationship Type="http://schemas.openxmlformats.org/officeDocument/2006/relationships/notesSlide" Target="/ppt/notesSlides/notesSlide18.xml" Id="R7e77a93f54154b3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99ee101954b16" /><Relationship Type="http://schemas.openxmlformats.org/officeDocument/2006/relationships/notesSlide" Target="/ppt/notesSlides/notesSlide19.xml" Id="R45cacb1207ad4c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5BCE6F3D-7728-41FA-8CB2-4CC2A22D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10515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PDP COMPUTER SCIENCE · B1 THE DRAW LOOP &amp; CREATIVE ENVIRONMENT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458297C8-42DD-4056-8715-B6A43745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1051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  <a:defRPr sz="4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4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B1.2.2 — Color, Stroke &amp; Fill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5B5603AA-F2BC-4B74-B0F3-9139F0F6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98755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  <a:defRPr sz="1800" i="1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pPr>
            <a:r>
              <a:rPr sz="1800" b="0" i="1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Control how shapes look—and which style each shape inherits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7E258F0D-4CA5-49A4-9D64-90BE29E8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98191B29-BF44-4F78-BC44-1B4766ED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B1.2.2 · Color, Stroke &amp; Fill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86452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C7AF7F88-2331-4842-9EB9-572A2CC4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Retrieve the Geometry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3DB1B71F-75E6-4627-8895-B6AC6826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Style makes sense only when placement already makes sense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08E4B314-C329-4204-8E23-A48ED415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B0AE2A40-9138-4AB3-A615-281CED6A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B1.2.2 · Color, Stroke &amp; Fill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74601DE4-D932-4FC4-843A-101B459D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5778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6C97500B-A4CC-48D7-B917-81C09DB9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51206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 What does (x, y) identify in rect(x, y, w, h)?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  What does (x, y) identify in ellipse(x, y, w, h)?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  What do the two coordinate pairs identify in line(x1, y1, x2, y2)?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  Where did we put static drawing code in our BlueJ class?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38F16BED-B08E-4D61-A7EF-951E6671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349240" cy="448056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73C71AE2-EBE8-4DC8-918A-43ECF5E6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572768"/>
            <a:ext cx="48371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Partner check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E5D96534-C11C-4E67-9F8F-D803D426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938528"/>
            <a:ext cx="4837176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Say one complete sentence for each primitive.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Then predict: if the coordinates stay unchanged but the rectangle becomes orange with a thick outline, which part of the code must be new?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90165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C7AF7F88-2331-4842-9EB9-572A2CC4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Today's Mission: Control the Drawing Style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3DB1B71F-75E6-4627-8895-B6AC6826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Set a style, draw a shape, and explain what remains active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08E4B314-C329-4204-8E23-A48ED415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B0AE2A40-9138-4AB3-A615-281CED6A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B1.2.2 · Color, Stroke &amp; Fill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74601DE4-D932-4FC4-843A-101B459D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5778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6C97500B-A4CC-48D7-B917-81C09DB9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51206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By the end, you can: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use fill(), stroke(), and strokeWeight()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explain why style calls affect later shapes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use grayscale and RGB values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use noFill() and noStroke() deliberately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38F16BED-B08E-4D61-A7EF-951E6671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349240" cy="448056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73C71AE2-EBE8-4DC8-918A-43ECF5E6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572768"/>
            <a:ext cx="48371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What counts as success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E5D96534-C11C-4E67-9F8F-D803D426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938528"/>
            <a:ext cx="4837176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Your BlueJ class compiles and opens a 400 × 300 sketch.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scene includes a filled shape, an outline-only shape, a styled line, and a fill-only shape.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You can name the active fill and stroke before each shape is drawn.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90165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C7AF7F88-2331-4842-9EB9-572A2CC4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Start the Lesson Project in BlueJ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3DB1B71F-75E6-4627-8895-B6AC6826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Use one class for every checkpoint today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08E4B314-C329-4204-8E23-A48ED415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B0AE2A40-9138-4AB3-A615-281CED6A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B1.2.2 · Color, Stroke &amp; Fill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74601DE4-D932-4FC4-843A-101B459D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5778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6C97500B-A4CC-48D7-B917-81C09DB9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51206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 Project → New Project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  Name: B1_2_2_Color_Stroke_Fill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  Save it in your course workspace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  Click OK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38F16BED-B08E-4D61-A7EF-951E6671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349240" cy="448056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73C71AE2-EBE8-4DC8-918A-43ECF5E6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572768"/>
            <a:ext cx="48371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Create the class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E5D96534-C11C-4E67-9F8F-D803D426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938528"/>
            <a:ext cx="4837176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 Click New Class…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  Name: StyleSketch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  Leave Class selected; click OK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  Open the editor and replace the template with the shell on the next slide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90165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Google Shape;134;p10">
            <a:extLst xmlns:a="http://schemas.openxmlformats.org/drawingml/2006/main">
              <a:ext uri="{FF2B5EF4-FFF2-40B4-BE49-F238E27FC236}">
                <a16:creationId xmlns:a16="http://schemas.microsoft.com/office/drawing/2014/main" id="{A600F0E8-B783-4533-8B31-CDFE1D33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Paste, Compile, and Run the Shell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5" name="Google Shape;135;p10">
            <a:extLst xmlns:a="http://schemas.openxmlformats.org/drawingml/2006/main">
              <a:ext uri="{FF2B5EF4-FFF2-40B4-BE49-F238E27FC236}">
                <a16:creationId xmlns:a16="http://schemas.microsoft.com/office/drawing/2014/main" id="{BCD77C16-46AC-4E44-9FD5-724CCFEE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Prove the class works before changing its style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6" name="Google Shape;136;p10">
            <a:extLst xmlns:a="http://schemas.openxmlformats.org/drawingml/2006/main">
              <a:ext uri="{FF2B5EF4-FFF2-40B4-BE49-F238E27FC236}">
                <a16:creationId xmlns:a16="http://schemas.microsoft.com/office/drawing/2014/main" id="{82C59D24-4713-481C-8621-171BD0BA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7" name="Google Shape;137;p10">
            <a:extLst xmlns:a="http://schemas.openxmlformats.org/drawingml/2006/main">
              <a:ext uri="{FF2B5EF4-FFF2-40B4-BE49-F238E27FC236}">
                <a16:creationId xmlns:a16="http://schemas.microsoft.com/office/drawing/2014/main" id="{76D19EC4-6002-470F-B6BE-5ACF5C64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B1.2.2 · Color, Stroke &amp; Fill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8" name="Google Shape;138;p10">
            <a:extLst xmlns:a="http://schemas.openxmlformats.org/drawingml/2006/main">
              <a:ext uri="{FF2B5EF4-FFF2-40B4-BE49-F238E27FC236}">
                <a16:creationId xmlns:a16="http://schemas.microsoft.com/office/drawing/2014/main" id="{B6651F0F-E0DE-4F20-A69E-5586067A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57784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">
            <a:extLst xmlns:a="http://schemas.openxmlformats.org/drawingml/2006/main">
              <a:ext uri="{FF2B5EF4-FFF2-40B4-BE49-F238E27FC236}">
                <a16:creationId xmlns:a16="http://schemas.microsoft.com/office/drawing/2014/main" id="{4601C4CC-C773-4368-8648-79D6B0FD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27048"/>
            <a:ext cx="5029200" cy="1975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import processing.core.PApplet;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class StyleSketch extends PApplet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settings() { size(400, 300);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setup() { background(240);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draw() {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static void main(String[] args) { PApplet.main("StyleSketch");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" name="Google Shape;140;p10">
            <a:extLst xmlns:a="http://schemas.openxmlformats.org/drawingml/2006/main">
              <a:ext uri="{FF2B5EF4-FFF2-40B4-BE49-F238E27FC236}">
                <a16:creationId xmlns:a16="http://schemas.microsoft.com/office/drawing/2014/main" id="{86D61CF0-9244-478C-8683-655CCA95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">
            <a:extLst xmlns:a="http://schemas.openxmlformats.org/drawingml/2006/main">
              <a:ext uri="{FF2B5EF4-FFF2-40B4-BE49-F238E27FC236}">
                <a16:creationId xmlns:a16="http://schemas.microsoft.com/office/drawing/2014/main" id="{7545CAB9-FDB6-4017-93A2-C28ABD7F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2" name="Google Shape;142;p10">
            <a:extLst xmlns:a="http://schemas.openxmlformats.org/drawingml/2006/main">
              <a:ext uri="{FF2B5EF4-FFF2-40B4-BE49-F238E27FC236}">
                <a16:creationId xmlns:a16="http://schemas.microsoft.com/office/drawing/2014/main" id="{74DC62E4-5C08-4C7E-9D72-2AE69E37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995928"/>
            <a:ext cx="507492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Replace the generated class with the complete shell.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3" name="Google Shape;143;p10">
            <a:extLst xmlns:a="http://schemas.openxmlformats.org/drawingml/2006/main">
              <a:ext uri="{FF2B5EF4-FFF2-40B4-BE49-F238E27FC236}">
                <a16:creationId xmlns:a16="http://schemas.microsoft.com/office/drawing/2014/main" id="{BEEAAE05-DB26-4457-B06F-8FC5598A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920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">
            <a:extLst xmlns:a="http://schemas.openxmlformats.org/drawingml/2006/main">
              <a:ext uri="{FF2B5EF4-FFF2-40B4-BE49-F238E27FC236}">
                <a16:creationId xmlns:a16="http://schemas.microsoft.com/office/drawing/2014/main" id="{A736C675-992B-4636-BF0B-369B3F39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920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5" name="Google Shape;145;p10">
            <a:extLst xmlns:a="http://schemas.openxmlformats.org/drawingml/2006/main">
              <a:ext uri="{FF2B5EF4-FFF2-40B4-BE49-F238E27FC236}">
                <a16:creationId xmlns:a16="http://schemas.microsoft.com/office/drawing/2014/main" id="{9383629E-CCD3-436B-B331-9C62440D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64608"/>
            <a:ext cx="507492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Compile. Close the editor. Right-click StyleSketch.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6" name="Google Shape;146;p10">
            <a:extLst xmlns:a="http://schemas.openxmlformats.org/drawingml/2006/main">
              <a:ext uri="{FF2B5EF4-FFF2-40B4-BE49-F238E27FC236}">
                <a16:creationId xmlns:a16="http://schemas.microsoft.com/office/drawing/2014/main" id="{FE26B67F-BB42-4DA9-9F51-1ED0B984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607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">
            <a:extLst xmlns:a="http://schemas.openxmlformats.org/drawingml/2006/main">
              <a:ext uri="{FF2B5EF4-FFF2-40B4-BE49-F238E27FC236}">
                <a16:creationId xmlns:a16="http://schemas.microsoft.com/office/drawing/2014/main" id="{51D33A7A-27A9-49A7-9BFF-4818B91A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607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8" name="Google Shape;148;p10">
            <a:extLst xmlns:a="http://schemas.openxmlformats.org/drawingml/2006/main">
              <a:ext uri="{FF2B5EF4-FFF2-40B4-BE49-F238E27FC236}">
                <a16:creationId xmlns:a16="http://schemas.microsoft.com/office/drawing/2014/main" id="{39EE312B-2705-4BC2-9F1A-E7480B75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733288"/>
            <a:ext cx="50749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Run void main(String[] args).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9" name="Google Shape;149;p10">
            <a:extLst xmlns:a="http://schemas.openxmlformats.org/drawingml/2006/main">
              <a:ext uri="{FF2B5EF4-FFF2-40B4-BE49-F238E27FC236}">
                <a16:creationId xmlns:a16="http://schemas.microsoft.com/office/drawing/2014/main" id="{456D8223-5AA4-4081-B79A-568BA06D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325880"/>
            <a:ext cx="5257800" cy="512064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">
            <a:extLst xmlns:a="http://schemas.openxmlformats.org/drawingml/2006/main">
              <a:ext uri="{FF2B5EF4-FFF2-40B4-BE49-F238E27FC236}">
                <a16:creationId xmlns:a16="http://schemas.microsoft.com/office/drawing/2014/main" id="{FE1D87EA-E827-4658-9C33-3B3DA7A3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1527048"/>
            <a:ext cx="4745736" cy="4754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4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Expected: a blank, light-gray 400 × 300 window.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4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If PApplet is unresolved, open Preferences → Libraries and confirm core-4.5.6.jar is marked (Loaded), then restart BlueJ.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3000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9201FA6D-94B3-451F-96DD-21DF493E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Three Calls Control the Current Style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0C802608-B9ED-42ED-9B30-E3A4D55D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Inside colour, outline colour, and outline thickness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A2F304E2-152D-41F2-8491-3C2EB774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2D26D02A-1CCE-4ABB-8A31-59F94F6A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B1.2.2 · Color, Stroke &amp; Fill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D9FA5A8B-08C7-4D37-92DB-54737CE2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577840" cy="251460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860C4655-72E4-4E8C-8CE8-A37D890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27048"/>
            <a:ext cx="5029200" cy="2112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fill(220);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stroke(0);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strokeWeight(3);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rect(50, 50, 150, 100);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5ED7D71A-189D-49D1-9E2F-3FE3914E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5577840" cy="210312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969CE39C-4D00-4EEA-A598-CC550B90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224528"/>
            <a:ext cx="50657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Read the calls in order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B0CBE1FB-757B-4020-87FF-3086EF03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590288"/>
            <a:ext cx="5065776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fill(220) sets the inside to light gray. stroke(0) sets a black outline. strokeWeight(3) makes that outline 3 pixels thick.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later rect() uses all three active settings.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29ED0F21-6DF5-4B31-A78B-5803585A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325880"/>
            <a:ext cx="4114800" cy="411480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905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3DFC40AD-36DC-4218-B653-3C32B265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1840230"/>
            <a:ext cx="1543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4445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C10440ED-F20A-45C8-AE35-B368D187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00609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100"/>
              <a:buFont typeface="Courier New"/>
              <a:buNone/>
              <a:defRPr sz="1100">
                <a:solidFill>
                  <a:srgbClr val="3B4A78"/>
                </a:solidFill>
                <a:latin typeface="Courier New"/>
                <a:ea typeface="Courier New"/>
                <a:cs typeface="Courier New"/>
              </a:defRPr>
            </a:pPr>
            <a:r>
              <a:rPr sz="1100" b="0" i="0" u="none" cap="none">
                <a:solidFill>
                  <a:srgbClr val="3B4A78"/>
                </a:solidFill>
                <a:latin typeface="Courier New"/>
                <a:ea typeface="Courier New"/>
                <a:cs typeface="Courier New"/>
              </a:rPr>
              <a:t>fill(220) → light-gray inside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F9A0548C-02F4-42C0-9169-8431A7F6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80410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100"/>
              <a:buFont typeface="Courier New"/>
              <a:buNone/>
              <a:defRPr sz="1100">
                <a:solidFill>
                  <a:srgbClr val="3B4A78"/>
                </a:solidFill>
                <a:latin typeface="Courier New"/>
                <a:ea typeface="Courier New"/>
                <a:cs typeface="Courier New"/>
              </a:defRPr>
            </a:pPr>
            <a:r>
              <a:rPr sz="1100" b="0" i="0" u="none" cap="none">
                <a:solidFill>
                  <a:srgbClr val="3B4A78"/>
                </a:solidFill>
                <a:latin typeface="Courier New"/>
                <a:ea typeface="Courier New"/>
                <a:cs typeface="Courier New"/>
              </a:rPr>
              <a:t>stroke(0), weight 3 → black outline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48783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9201FA6D-94B3-451F-96DD-21DF493E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Checkpoint 1: Style the Rectangle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0C802608-B9ED-42ED-9B30-E3A4D55D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Predict first; then change one value and observe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A2F304E2-152D-41F2-8491-3C2EB774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2D26D02A-1CCE-4ABB-8A31-59F94F6A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B1.2.2 · Color, Stroke &amp; Fill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D9FA5A8B-08C7-4D37-92DB-54737CE2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577840" cy="251460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860C4655-72E4-4E8C-8CE8-A37D890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27048"/>
            <a:ext cx="5029200" cy="2112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void setup()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{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background(240);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fill(220);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stroke(0);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strokeWeight(3);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rect(50, 50, 150, 100);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5ED7D71A-189D-49D1-9E2F-3FE3914E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5577840" cy="210312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969CE39C-4D00-4EEA-A598-CC550B90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224528"/>
            <a:ext cx="50657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Compile → Run → Edit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B0CBE1FB-757B-4020-87FF-3086EF03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590288"/>
            <a:ext cx="5065776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Replace setup() with the code above. Before running, describe the inside, outline colour, and outline thickness.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Then change only strokeWeight(3) to strokeWeight(8). Explain what changes and what stays the same.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29ED0F21-6DF5-4B31-A78B-5803585A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325880"/>
            <a:ext cx="4114800" cy="411480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905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3DFC40AD-36DC-4218-B653-3C32B265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1840230"/>
            <a:ext cx="1543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4445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C10440ED-F20A-45C8-AE35-B368D187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00609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100"/>
              <a:buFont typeface="Courier New"/>
              <a:buNone/>
              <a:defRPr sz="1100">
                <a:solidFill>
                  <a:srgbClr val="3B4A78"/>
                </a:solidFill>
                <a:latin typeface="Courier New"/>
                <a:ea typeface="Courier New"/>
                <a:cs typeface="Courier New"/>
              </a:defRPr>
            </a:pPr>
            <a:r>
              <a:rPr sz="1100" b="0" i="0" u="none" cap="none">
                <a:solidFill>
                  <a:srgbClr val="3B4A78"/>
                </a:solidFill>
                <a:latin typeface="Courier New"/>
                <a:ea typeface="Courier New"/>
                <a:cs typeface="Courier New"/>
              </a:rPr>
              <a:t>Inside: fill(220)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F9A0548C-02F4-42C0-9169-8431A7F6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80410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100"/>
              <a:buFont typeface="Courier New"/>
              <a:buNone/>
              <a:defRPr sz="1100">
                <a:solidFill>
                  <a:srgbClr val="3B4A78"/>
                </a:solidFill>
                <a:latin typeface="Courier New"/>
                <a:ea typeface="Courier New"/>
                <a:cs typeface="Courier New"/>
              </a:defRPr>
            </a:pPr>
            <a:r>
              <a:rPr sz="1100" b="0" i="0" u="none" cap="none">
                <a:solidFill>
                  <a:srgbClr val="3B4A78"/>
                </a:solidFill>
                <a:latin typeface="Courier New"/>
                <a:ea typeface="Courier New"/>
                <a:cs typeface="Courier New"/>
              </a:rPr>
              <a:t>Outline: stroke(0), weight 3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48783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oogle Shape;58;p6">
            <a:extLst xmlns:a="http://schemas.openxmlformats.org/drawingml/2006/main">
              <a:ext uri="{FF2B5EF4-FFF2-40B4-BE49-F238E27FC236}">
                <a16:creationId xmlns:a16="http://schemas.microsoft.com/office/drawing/2014/main" id="{35111FC2-7525-42F0-8665-2AC0CE6C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Style Commands Stay Active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Google Shape;59;p6">
            <a:extLst xmlns:a="http://schemas.openxmlformats.org/drawingml/2006/main">
              <a:ext uri="{FF2B5EF4-FFF2-40B4-BE49-F238E27FC236}">
                <a16:creationId xmlns:a16="http://schemas.microsoft.com/office/drawing/2014/main" id="{13FA4FAD-E9A5-403F-A818-31199BF1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A setting persists until another call changes it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6">
            <a:extLst xmlns:a="http://schemas.openxmlformats.org/drawingml/2006/main">
              <a:ext uri="{FF2B5EF4-FFF2-40B4-BE49-F238E27FC236}">
                <a16:creationId xmlns:a16="http://schemas.microsoft.com/office/drawing/2014/main" id="{524EA744-D82C-490A-A2B6-CFCE39DF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" name="Google Shape;61;p6">
            <a:extLst xmlns:a="http://schemas.openxmlformats.org/drawingml/2006/main">
              <a:ext uri="{FF2B5EF4-FFF2-40B4-BE49-F238E27FC236}">
                <a16:creationId xmlns:a16="http://schemas.microsoft.com/office/drawing/2014/main" id="{3133E670-5E0E-4940-8821-80077D77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B1.2.2 · Color, Stroke &amp; Fill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E87E36C1-FD14-4301-989A-E7D6B88D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577840" cy="283464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30C40BC2-0A53-4702-A0E9-E87A10F1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27048"/>
            <a:ext cx="5029200" cy="2432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fill(220);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ellipse(70, 150, 80, 80);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rect(160, 110, 90, 80);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fill(80);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ellipse(320, 150, 80, 80);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Google Shape;64;p6">
            <a:extLst xmlns:a="http://schemas.openxmlformats.org/drawingml/2006/main">
              <a:ext uri="{FF2B5EF4-FFF2-40B4-BE49-F238E27FC236}">
                <a16:creationId xmlns:a16="http://schemas.microsoft.com/office/drawing/2014/main" id="{B1E9B17B-A48F-47CF-ACDA-FB808A54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43400"/>
            <a:ext cx="5577840" cy="1828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24F114EB-DD18-412E-A344-6059916B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544568"/>
            <a:ext cx="50657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The rule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Google Shape;66;p6">
            <a:extLst xmlns:a="http://schemas.openxmlformats.org/drawingml/2006/main">
              <a:ext uri="{FF2B5EF4-FFF2-40B4-BE49-F238E27FC236}">
                <a16:creationId xmlns:a16="http://schemas.microsoft.com/office/drawing/2014/main" id="{EFE1101C-2E77-4566-BE20-90AB0CAB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910328"/>
            <a:ext cx="5065776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4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Style calls set the current drawing state. Every later shape uses that state until another style call changes it.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4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Trace top to bottom: style call → affected shapes.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" name="Google Shape;67;p6">
            <a:extLst xmlns:a="http://schemas.openxmlformats.org/drawingml/2006/main">
              <a:ext uri="{FF2B5EF4-FFF2-40B4-BE49-F238E27FC236}">
                <a16:creationId xmlns:a16="http://schemas.microsoft.com/office/drawing/2014/main" id="{F583F94F-B549-4649-B06D-FABB7462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325880"/>
            <a:ext cx="4114800" cy="411480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905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>
            <a:extLst xmlns:a="http://schemas.openxmlformats.org/drawingml/2006/main">
              <a:ext uri="{FF2B5EF4-FFF2-40B4-BE49-F238E27FC236}">
                <a16:creationId xmlns:a16="http://schemas.microsoft.com/office/drawing/2014/main" id="{6E88BDA1-9FD3-47D4-B1DD-6F797E0C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2290" y="245745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>
            <a:extLst xmlns:a="http://schemas.openxmlformats.org/drawingml/2006/main">
              <a:ext uri="{FF2B5EF4-FFF2-40B4-BE49-F238E27FC236}">
                <a16:creationId xmlns:a16="http://schemas.microsoft.com/office/drawing/2014/main" id="{F006FC94-398C-412C-BDB7-82FAFAAC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92583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>
            <a:extLst xmlns:a="http://schemas.openxmlformats.org/drawingml/2006/main">
              <a:ext uri="{FF2B5EF4-FFF2-40B4-BE49-F238E27FC236}">
                <a16:creationId xmlns:a16="http://schemas.microsoft.com/office/drawing/2014/main" id="{A29A64E1-8775-4A37-AECF-E4155495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45745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5050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>
            <a:extLst xmlns:a="http://schemas.openxmlformats.org/drawingml/2006/main">
              <a:ext uri="{FF2B5EF4-FFF2-40B4-BE49-F238E27FC236}">
                <a16:creationId xmlns:a16="http://schemas.microsoft.com/office/drawing/2014/main" id="{474669EA-A6F2-44B4-A6F1-9B723B59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754880"/>
            <a:ext cx="37490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050"/>
              <a:buFont typeface="Courier New"/>
              <a:buNone/>
              <a:defRPr sz="1100">
                <a:solidFill>
                  <a:srgbClr val="3B4A78"/>
                </a:solidFill>
                <a:latin typeface="Courier New"/>
                <a:ea typeface="Courier New"/>
                <a:cs typeface="Courier New"/>
              </a:defRPr>
            </a:pPr>
            <a:r>
              <a:rPr sz="1100" b="0" i="0" u="none" cap="none">
                <a:solidFill>
                  <a:srgbClr val="3B4A78"/>
                </a:solidFill>
                <a:latin typeface="Courier New"/>
                <a:ea typeface="Courier New"/>
                <a:cs typeface="Courier New"/>
              </a:rPr>
              <a:t>Both inherit fill(220)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Google Shape;72;p6">
            <a:extLst xmlns:a="http://schemas.openxmlformats.org/drawingml/2006/main">
              <a:ext uri="{FF2B5EF4-FFF2-40B4-BE49-F238E27FC236}">
                <a16:creationId xmlns:a16="http://schemas.microsoft.com/office/drawing/2014/main" id="{94ED3A71-D985-4C0C-9692-3E95418B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507492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050"/>
              <a:buFont typeface="Courier New"/>
              <a:buNone/>
              <a:defRPr sz="1100">
                <a:solidFill>
                  <a:srgbClr val="3B4A78"/>
                </a:solidFill>
                <a:latin typeface="Courier New"/>
                <a:ea typeface="Courier New"/>
                <a:cs typeface="Courier New"/>
              </a:defRPr>
            </a:pPr>
            <a:r>
              <a:rPr sz="1100" b="0" i="0" u="none" cap="none">
                <a:solidFill>
                  <a:srgbClr val="3B4A78"/>
                </a:solidFill>
                <a:latin typeface="Courier New"/>
                <a:ea typeface="Courier New"/>
                <a:cs typeface="Courier New"/>
              </a:rPr>
              <a:t>This one inherits fill(80)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0133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Google Shape;134;p10">
            <a:extLst xmlns:a="http://schemas.openxmlformats.org/drawingml/2006/main">
              <a:ext uri="{FF2B5EF4-FFF2-40B4-BE49-F238E27FC236}">
                <a16:creationId xmlns:a16="http://schemas.microsoft.com/office/drawing/2014/main" id="{A600F0E8-B783-4533-8B31-CDFE1D33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Checkpoint 2: Prove the State Persists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5" name="Google Shape;135;p10">
            <a:extLst xmlns:a="http://schemas.openxmlformats.org/drawingml/2006/main">
              <a:ext uri="{FF2B5EF4-FFF2-40B4-BE49-F238E27FC236}">
                <a16:creationId xmlns:a16="http://schemas.microsoft.com/office/drawing/2014/main" id="{BCD77C16-46AC-4E44-9FD5-724CCFEE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Trace the active fill before you compile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6" name="Google Shape;136;p10">
            <a:extLst xmlns:a="http://schemas.openxmlformats.org/drawingml/2006/main">
              <a:ext uri="{FF2B5EF4-FFF2-40B4-BE49-F238E27FC236}">
                <a16:creationId xmlns:a16="http://schemas.microsoft.com/office/drawing/2014/main" id="{82C59D24-4713-481C-8621-171BD0BA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7" name="Google Shape;137;p10">
            <a:extLst xmlns:a="http://schemas.openxmlformats.org/drawingml/2006/main">
              <a:ext uri="{FF2B5EF4-FFF2-40B4-BE49-F238E27FC236}">
                <a16:creationId xmlns:a16="http://schemas.microsoft.com/office/drawing/2014/main" id="{76D19EC4-6002-470F-B6BE-5ACF5C64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B1.2.2 · Color, Stroke &amp; Fill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8" name="Google Shape;138;p10">
            <a:extLst xmlns:a="http://schemas.openxmlformats.org/drawingml/2006/main">
              <a:ext uri="{FF2B5EF4-FFF2-40B4-BE49-F238E27FC236}">
                <a16:creationId xmlns:a16="http://schemas.microsoft.com/office/drawing/2014/main" id="{B6651F0F-E0DE-4F20-A69E-5586067A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57784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">
            <a:extLst xmlns:a="http://schemas.openxmlformats.org/drawingml/2006/main">
              <a:ext uri="{FF2B5EF4-FFF2-40B4-BE49-F238E27FC236}">
                <a16:creationId xmlns:a16="http://schemas.microsoft.com/office/drawing/2014/main" id="{4601C4CC-C773-4368-8648-79D6B0FD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27048"/>
            <a:ext cx="5029200" cy="1975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background(240);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stroke(30);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strokeWeight(2);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fill(220);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ellipse(70, 150, 80, 80);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rect(160, 110, 90, 80);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fill(80);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ellipse(320, 150, 80, 80);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" name="Google Shape;140;p10">
            <a:extLst xmlns:a="http://schemas.openxmlformats.org/drawingml/2006/main">
              <a:ext uri="{FF2B5EF4-FFF2-40B4-BE49-F238E27FC236}">
                <a16:creationId xmlns:a16="http://schemas.microsoft.com/office/drawing/2014/main" id="{86D61CF0-9244-478C-8683-655CCA95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">
            <a:extLst xmlns:a="http://schemas.openxmlformats.org/drawingml/2006/main">
              <a:ext uri="{FF2B5EF4-FFF2-40B4-BE49-F238E27FC236}">
                <a16:creationId xmlns:a16="http://schemas.microsoft.com/office/drawing/2014/main" id="{7545CAB9-FDB6-4017-93A2-C28ABD7F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2" name="Google Shape;142;p10">
            <a:extLst xmlns:a="http://schemas.openxmlformats.org/drawingml/2006/main">
              <a:ext uri="{FF2B5EF4-FFF2-40B4-BE49-F238E27FC236}">
                <a16:creationId xmlns:a16="http://schemas.microsoft.com/office/drawing/2014/main" id="{74DC62E4-5C08-4C7E-9D72-2AE69E37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995928"/>
            <a:ext cx="507492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Paste these lines inside setup().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3" name="Google Shape;143;p10">
            <a:extLst xmlns:a="http://schemas.openxmlformats.org/drawingml/2006/main">
              <a:ext uri="{FF2B5EF4-FFF2-40B4-BE49-F238E27FC236}">
                <a16:creationId xmlns:a16="http://schemas.microsoft.com/office/drawing/2014/main" id="{BEEAAE05-DB26-4457-B06F-8FC5598A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920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">
            <a:extLst xmlns:a="http://schemas.openxmlformats.org/drawingml/2006/main">
              <a:ext uri="{FF2B5EF4-FFF2-40B4-BE49-F238E27FC236}">
                <a16:creationId xmlns:a16="http://schemas.microsoft.com/office/drawing/2014/main" id="{A736C675-992B-4636-BF0B-369B3F39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920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5" name="Google Shape;145;p10">
            <a:extLst xmlns:a="http://schemas.openxmlformats.org/drawingml/2006/main">
              <a:ext uri="{FF2B5EF4-FFF2-40B4-BE49-F238E27FC236}">
                <a16:creationId xmlns:a16="http://schemas.microsoft.com/office/drawing/2014/main" id="{9383629E-CCD3-436B-B331-9C62440D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64608"/>
            <a:ext cx="507492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Predict the fill of all three shapes.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6" name="Google Shape;146;p10">
            <a:extLst xmlns:a="http://schemas.openxmlformats.org/drawingml/2006/main">
              <a:ext uri="{FF2B5EF4-FFF2-40B4-BE49-F238E27FC236}">
                <a16:creationId xmlns:a16="http://schemas.microsoft.com/office/drawing/2014/main" id="{FE26B67F-BB42-4DA9-9F51-1ED0B984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607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">
            <a:extLst xmlns:a="http://schemas.openxmlformats.org/drawingml/2006/main">
              <a:ext uri="{FF2B5EF4-FFF2-40B4-BE49-F238E27FC236}">
                <a16:creationId xmlns:a16="http://schemas.microsoft.com/office/drawing/2014/main" id="{51D33A7A-27A9-49A7-9BFF-4818B91A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607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8" name="Google Shape;148;p10">
            <a:extLst xmlns:a="http://schemas.openxmlformats.org/drawingml/2006/main">
              <a:ext uri="{FF2B5EF4-FFF2-40B4-BE49-F238E27FC236}">
                <a16:creationId xmlns:a16="http://schemas.microsoft.com/office/drawing/2014/main" id="{39EE312B-2705-4BC2-9F1A-E7480B75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733288"/>
            <a:ext cx="50749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Compile, run, and explain the evidence.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9" name="Google Shape;149;p10">
            <a:extLst xmlns:a="http://schemas.openxmlformats.org/drawingml/2006/main">
              <a:ext uri="{FF2B5EF4-FFF2-40B4-BE49-F238E27FC236}">
                <a16:creationId xmlns:a16="http://schemas.microsoft.com/office/drawing/2014/main" id="{456D8223-5AA4-4081-B79A-568BA06D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325880"/>
            <a:ext cx="5257800" cy="512064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">
            <a:extLst xmlns:a="http://schemas.openxmlformats.org/drawingml/2006/main">
              <a:ext uri="{FF2B5EF4-FFF2-40B4-BE49-F238E27FC236}">
                <a16:creationId xmlns:a16="http://schemas.microsoft.com/office/drawing/2014/main" id="{FE1D87EA-E827-4658-9C33-3B3DA7A3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1527048"/>
            <a:ext cx="4745736" cy="4754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4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Expected: the first ellipse and the rectangle share fill(220), even though only one fill() call appears before them. The final ellipse uses fill(80).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4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shape call does not reset the style.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3000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Google Shape;78;p7">
            <a:extLst xmlns:a="http://schemas.openxmlformats.org/drawingml/2006/main">
              <a:ext uri="{FF2B5EF4-FFF2-40B4-BE49-F238E27FC236}">
                <a16:creationId xmlns:a16="http://schemas.microsoft.com/office/drawing/2014/main" id="{8EDFF6F3-2F25-449D-9192-CB153480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 Line Has Stroke, Not Fill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" name="Google Shape;79;p7">
            <a:extLst xmlns:a="http://schemas.openxmlformats.org/drawingml/2006/main">
              <a:ext uri="{FF2B5EF4-FFF2-40B4-BE49-F238E27FC236}">
                <a16:creationId xmlns:a16="http://schemas.microsoft.com/office/drawing/2014/main" id="{3C7E640D-71D6-48BC-864E-42D0A917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fill() cannot colour a path with no inside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" name="Google Shape;80;p7">
            <a:extLst xmlns:a="http://schemas.openxmlformats.org/drawingml/2006/main">
              <a:ext uri="{FF2B5EF4-FFF2-40B4-BE49-F238E27FC236}">
                <a16:creationId xmlns:a16="http://schemas.microsoft.com/office/drawing/2014/main" id="{79A45105-93FD-4C59-8346-70988354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" name="Google Shape;81;p7">
            <a:extLst xmlns:a="http://schemas.openxmlformats.org/drawingml/2006/main">
              <a:ext uri="{FF2B5EF4-FFF2-40B4-BE49-F238E27FC236}">
                <a16:creationId xmlns:a16="http://schemas.microsoft.com/office/drawing/2014/main" id="{C5817B3E-91E2-4C46-A787-C12C9B2E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B1.2.2 · Color, Stroke &amp; Fill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" name="Google Shape;82;p7">
            <a:extLst xmlns:a="http://schemas.openxmlformats.org/drawingml/2006/main">
              <a:ext uri="{FF2B5EF4-FFF2-40B4-BE49-F238E27FC236}">
                <a16:creationId xmlns:a16="http://schemas.microsoft.com/office/drawing/2014/main" id="{BE4A2378-7D86-4068-96CB-E327AB9C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577840" cy="251460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>
            <a:extLst xmlns:a="http://schemas.openxmlformats.org/drawingml/2006/main">
              <a:ext uri="{FF2B5EF4-FFF2-40B4-BE49-F238E27FC236}">
                <a16:creationId xmlns:a16="http://schemas.microsoft.com/office/drawing/2014/main" id="{B3ADB159-B711-4EED-A92D-469F8C66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27048"/>
            <a:ext cx="5029200" cy="2112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fill(255, 0, 0);  // no effect below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stroke(0);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strokeWeight(4);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line(50, 200, 300, 80);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4" name="Google Shape;84;p7">
            <a:extLst xmlns:a="http://schemas.openxmlformats.org/drawingml/2006/main">
              <a:ext uri="{FF2B5EF4-FFF2-40B4-BE49-F238E27FC236}">
                <a16:creationId xmlns:a16="http://schemas.microsoft.com/office/drawing/2014/main" id="{37A1AD3C-1EDA-4B22-9220-0BBE8E88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5577840" cy="210312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>
            <a:extLst xmlns:a="http://schemas.openxmlformats.org/drawingml/2006/main">
              <a:ext uri="{FF2B5EF4-FFF2-40B4-BE49-F238E27FC236}">
                <a16:creationId xmlns:a16="http://schemas.microsoft.com/office/drawing/2014/main" id="{89915291-951A-490E-805C-0640966D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224528"/>
            <a:ext cx="50657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What controls the line?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" name="Google Shape;86;p7">
            <a:extLst xmlns:a="http://schemas.openxmlformats.org/drawingml/2006/main">
              <a:ext uri="{FF2B5EF4-FFF2-40B4-BE49-F238E27FC236}">
                <a16:creationId xmlns:a16="http://schemas.microsoft.com/office/drawing/2014/main" id="{4677A1DE-88E9-4837-A673-6F3F3CB2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590288"/>
            <a:ext cx="5065776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stroke() sets the line colour. strokeWeight() sets its thickness. fill() and noFill() do not affect a line because a line has no interior.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Predict the result before you run it.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Google Shape;87;p7">
            <a:extLst xmlns:a="http://schemas.openxmlformats.org/drawingml/2006/main">
              <a:ext uri="{FF2B5EF4-FFF2-40B4-BE49-F238E27FC236}">
                <a16:creationId xmlns:a16="http://schemas.microsoft.com/office/drawing/2014/main" id="{6BD4A80A-E1D4-44FA-8B78-8A143D08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325880"/>
            <a:ext cx="4114800" cy="411480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905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" name="Google Shape;88;p7"/>
          <p:cNvCxnSpPr/>
          <p:nvPr/>
        </p:nvCxnSpPr>
        <p:spPr>
          <a:xfrm xmlns:a="http://schemas.openxmlformats.org/drawingml/2006/main">
            <a:off x="7098030" y="2148840"/>
            <a:ext cx="2571750" cy="123444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" name="Google Shape;89;p7">
            <a:extLst xmlns:a="http://schemas.openxmlformats.org/drawingml/2006/main">
              <a:ext uri="{FF2B5EF4-FFF2-40B4-BE49-F238E27FC236}">
                <a16:creationId xmlns:a16="http://schemas.microsoft.com/office/drawing/2014/main" id="{452289B1-642B-4F50-AF7B-83D86A0E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92040"/>
            <a:ext cx="35661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200"/>
              <a:buFont typeface="Calibri"/>
              <a:buNone/>
              <a:defRPr sz="11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1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Black and 4 px thick—fill(255, 0, 0) changes nothing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56229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Google Shape;95;p8">
            <a:extLst xmlns:a="http://schemas.openxmlformats.org/drawingml/2006/main">
              <a:ext uri="{FF2B5EF4-FFF2-40B4-BE49-F238E27FC236}">
                <a16:creationId xmlns:a16="http://schemas.microsoft.com/office/drawing/2014/main" id="{4DCFD766-E119-4ED5-B6EC-25469CFB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One Value Is Gray; Three Values Are RGB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8">
            <a:extLst xmlns:a="http://schemas.openxmlformats.org/drawingml/2006/main">
              <a:ext uri="{FF2B5EF4-FFF2-40B4-BE49-F238E27FC236}">
                <a16:creationId xmlns:a16="http://schemas.microsoft.com/office/drawing/2014/main" id="{52D74706-1680-47FE-B32B-A51D883E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Use Processing's default 0–255 RGB ranges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8">
            <a:extLst xmlns:a="http://schemas.openxmlformats.org/drawingml/2006/main">
              <a:ext uri="{FF2B5EF4-FFF2-40B4-BE49-F238E27FC236}">
                <a16:creationId xmlns:a16="http://schemas.microsoft.com/office/drawing/2014/main" id="{C8D7C32A-4133-4B3E-B0A0-E3CA581A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Google Shape;98;p8">
            <a:extLst xmlns:a="http://schemas.openxmlformats.org/drawingml/2006/main">
              <a:ext uri="{FF2B5EF4-FFF2-40B4-BE49-F238E27FC236}">
                <a16:creationId xmlns:a16="http://schemas.microsoft.com/office/drawing/2014/main" id="{4D41111C-149C-4958-9375-9C9BB6D6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B1.2.2 · Color, Stroke &amp; Fill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" name="Google Shape;99;p8">
            <a:extLst xmlns:a="http://schemas.openxmlformats.org/drawingml/2006/main">
              <a:ext uri="{FF2B5EF4-FFF2-40B4-BE49-F238E27FC236}">
                <a16:creationId xmlns:a16="http://schemas.microsoft.com/office/drawing/2014/main" id="{5D77E969-1765-4150-904A-E4E659A3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1106424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">
            <a:extLst xmlns:a="http://schemas.openxmlformats.org/drawingml/2006/main">
              <a:ext uri="{FF2B5EF4-FFF2-40B4-BE49-F238E27FC236}">
                <a16:creationId xmlns:a16="http://schemas.microsoft.com/office/drawing/2014/main" id="{B93DC8E7-6BFB-4805-AA19-3B70D513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27048"/>
            <a:ext cx="10515600" cy="649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fill(180);           // grayscale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fill(180, 80, 40);   // red, green, blue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Google Shape;101;p8">
            <a:extLst xmlns:a="http://schemas.openxmlformats.org/drawingml/2006/main">
              <a:ext uri="{FF2B5EF4-FFF2-40B4-BE49-F238E27FC236}">
                <a16:creationId xmlns:a16="http://schemas.microsoft.com/office/drawing/2014/main" id="{3210C97E-D8DB-4A55-A741-95EF8CB5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5349240" cy="246888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">
            <a:extLst xmlns:a="http://schemas.openxmlformats.org/drawingml/2006/main">
              <a:ext uri="{FF2B5EF4-FFF2-40B4-BE49-F238E27FC236}">
                <a16:creationId xmlns:a16="http://schemas.microsoft.com/office/drawing/2014/main" id="{AE0A2553-E7BC-45DD-BA09-EBA9BD8B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63240"/>
            <a:ext cx="164592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B4B4"/>
          </a:solidFill>
          <a:ln xmlns:a="http://schemas.openxmlformats.org/drawingml/2006/main"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">
            <a:extLst xmlns:a="http://schemas.openxmlformats.org/drawingml/2006/main">
              <a:ext uri="{FF2B5EF4-FFF2-40B4-BE49-F238E27FC236}">
                <a16:creationId xmlns:a16="http://schemas.microsoft.com/office/drawing/2014/main" id="{618B0A4D-C140-4014-8681-A639C104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0"/>
            <a:ext cx="5349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  <a:defRPr sz="110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00" b="0" i="0" u="none" cap="none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fill(180) → grayscale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Google Shape;104;p8">
            <a:extLst xmlns:a="http://schemas.openxmlformats.org/drawingml/2006/main">
              <a:ext uri="{FF2B5EF4-FFF2-40B4-BE49-F238E27FC236}">
                <a16:creationId xmlns:a16="http://schemas.microsoft.com/office/drawing/2014/main" id="{A0D835F6-1204-4CCF-A17C-3FABD159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606040"/>
            <a:ext cx="5349240" cy="246888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>
            <a:extLst xmlns:a="http://schemas.openxmlformats.org/drawingml/2006/main">
              <a:ext uri="{FF2B5EF4-FFF2-40B4-BE49-F238E27FC236}">
                <a16:creationId xmlns:a16="http://schemas.microsoft.com/office/drawing/2014/main" id="{D63D8E4F-957D-480C-996A-C8D0DE13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63240"/>
            <a:ext cx="164592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028"/>
          </a:solidFill>
          <a:ln xmlns:a="http://schemas.openxmlformats.org/drawingml/2006/main"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>
            <a:extLst xmlns:a="http://schemas.openxmlformats.org/drawingml/2006/main">
              <a:ext uri="{FF2B5EF4-FFF2-40B4-BE49-F238E27FC236}">
                <a16:creationId xmlns:a16="http://schemas.microsoft.com/office/drawing/2014/main" id="{9DD73583-93AC-4832-BDBA-4AEAD113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572000"/>
            <a:ext cx="5349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  <a:defRPr sz="110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00" b="0" i="0" u="none" cap="none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fill(180, 80, 40) → RGB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8">
            <a:extLst xmlns:a="http://schemas.openxmlformats.org/drawingml/2006/main">
              <a:ext uri="{FF2B5EF4-FFF2-40B4-BE49-F238E27FC236}">
                <a16:creationId xmlns:a16="http://schemas.microsoft.com/office/drawing/2014/main" id="{DDB7408D-3DFB-4B34-A68A-B3FF6D93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7800"/>
            <a:ext cx="1106424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">
            <a:extLst xmlns:a="http://schemas.openxmlformats.org/drawingml/2006/main">
              <a:ext uri="{FF2B5EF4-FFF2-40B4-BE49-F238E27FC236}">
                <a16:creationId xmlns:a16="http://schemas.microsoft.com/office/drawing/2014/main" id="{57DA324A-FD09-4BF4-B45D-B962A72D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458968"/>
            <a:ext cx="105521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Predict before you run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8">
            <a:extLst xmlns:a="http://schemas.openxmlformats.org/drawingml/2006/main">
              <a:ext uri="{FF2B5EF4-FFF2-40B4-BE49-F238E27FC236}">
                <a16:creationId xmlns:a16="http://schemas.microsoft.com/office/drawing/2014/main" id="{D8AA2B7E-EC5F-436F-8C46-374CF7E0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824728"/>
            <a:ext cx="105521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Which result is gray, and which looks warmer because its red value is strongest?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59314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" name="Google Shape;115;p9">
            <a:extLst xmlns:a="http://schemas.openxmlformats.org/drawingml/2006/main">
              <a:ext uri="{FF2B5EF4-FFF2-40B4-BE49-F238E27FC236}">
                <a16:creationId xmlns:a16="http://schemas.microsoft.com/office/drawing/2014/main" id="{3DA1736B-2A42-4CF7-962D-7A88BB35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noFill() and noStroke() Turn Parts Off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Google Shape;116;p9">
            <a:extLst xmlns:a="http://schemas.openxmlformats.org/drawingml/2006/main">
              <a:ext uri="{FF2B5EF4-FFF2-40B4-BE49-F238E27FC236}">
                <a16:creationId xmlns:a16="http://schemas.microsoft.com/office/drawing/2014/main" id="{A0FB5EE8-CDC1-4802-A1E4-E86135D4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Disable the inside or outline until a later style call restores it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" name="Google Shape;117;p9">
            <a:extLst xmlns:a="http://schemas.openxmlformats.org/drawingml/2006/main">
              <a:ext uri="{FF2B5EF4-FFF2-40B4-BE49-F238E27FC236}">
                <a16:creationId xmlns:a16="http://schemas.microsoft.com/office/drawing/2014/main" id="{C41F858C-3A7D-4D15-B677-103C351A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Google Shape;118;p9">
            <a:extLst xmlns:a="http://schemas.openxmlformats.org/drawingml/2006/main">
              <a:ext uri="{FF2B5EF4-FFF2-40B4-BE49-F238E27FC236}">
                <a16:creationId xmlns:a16="http://schemas.microsoft.com/office/drawing/2014/main" id="{9D67E456-851C-49F1-92AA-0600540C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B1.2.2 · Color, Stroke &amp; Fill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Google Shape;119;p9">
            <a:extLst xmlns:a="http://schemas.openxmlformats.org/drawingml/2006/main">
              <a:ext uri="{FF2B5EF4-FFF2-40B4-BE49-F238E27FC236}">
                <a16:creationId xmlns:a16="http://schemas.microsoft.com/office/drawing/2014/main" id="{EB05BF1A-74D0-4CC7-A8A2-7AD18C09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577840" cy="27432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>
            <a:extLst xmlns:a="http://schemas.openxmlformats.org/drawingml/2006/main">
              <a:ext uri="{FF2B5EF4-FFF2-40B4-BE49-F238E27FC236}">
                <a16:creationId xmlns:a16="http://schemas.microsoft.com/office/drawing/2014/main" id="{4AFE8167-6CB0-4877-B99D-E64FDF25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27048"/>
            <a:ext cx="5029200" cy="2340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noFill();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stroke(0);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rect(40, 40, 120, 100);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fill(80);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noStroke();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ellipse(280, 90, 100, 100);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1" name="Google Shape;121;p9">
            <a:extLst xmlns:a="http://schemas.openxmlformats.org/drawingml/2006/main">
              <a:ext uri="{FF2B5EF4-FFF2-40B4-BE49-F238E27FC236}">
                <a16:creationId xmlns:a16="http://schemas.microsoft.com/office/drawing/2014/main" id="{33FBF201-256A-4C4D-9F06-A844FD3B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577840" cy="192024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">
            <a:extLst xmlns:a="http://schemas.openxmlformats.org/drawingml/2006/main">
              <a:ext uri="{FF2B5EF4-FFF2-40B4-BE49-F238E27FC236}">
                <a16:creationId xmlns:a16="http://schemas.microsoft.com/office/drawing/2014/main" id="{715F4817-DA98-4E59-B114-3F39B99E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453128"/>
            <a:ext cx="50657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Two different kinds of “off”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3" name="Google Shape;123;p9">
            <a:extLst xmlns:a="http://schemas.openxmlformats.org/drawingml/2006/main">
              <a:ext uri="{FF2B5EF4-FFF2-40B4-BE49-F238E27FC236}">
                <a16:creationId xmlns:a16="http://schemas.microsoft.com/office/drawing/2014/main" id="{2244489D-588A-43DC-8498-BAF0CF78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18888"/>
            <a:ext cx="5065776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noFill() makes the rectangle outline-only. fill(80) restores filling; noStroke() then makes the ellipse fill-only.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If noFill() and noStroke() are both active, the next shape is invisible.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4" name="Google Shape;124;p9">
            <a:extLst xmlns:a="http://schemas.openxmlformats.org/drawingml/2006/main">
              <a:ext uri="{FF2B5EF4-FFF2-40B4-BE49-F238E27FC236}">
                <a16:creationId xmlns:a16="http://schemas.microsoft.com/office/drawing/2014/main" id="{B8C7A73A-5297-4684-B1EF-A5383926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325880"/>
            <a:ext cx="4114800" cy="411480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905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">
            <a:extLst xmlns:a="http://schemas.openxmlformats.org/drawingml/2006/main">
              <a:ext uri="{FF2B5EF4-FFF2-40B4-BE49-F238E27FC236}">
                <a16:creationId xmlns:a16="http://schemas.microsoft.com/office/drawing/2014/main" id="{E09184C8-C4BE-4E12-9FD9-055B9CE3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737360"/>
            <a:ext cx="123444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">
            <a:extLst xmlns:a="http://schemas.openxmlformats.org/drawingml/2006/main">
              <a:ext uri="{FF2B5EF4-FFF2-40B4-BE49-F238E27FC236}">
                <a16:creationId xmlns:a16="http://schemas.microsoft.com/office/drawing/2014/main" id="{8A31CCE6-A028-48B0-B822-576B2E93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857500"/>
            <a:ext cx="123444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050"/>
              <a:buFont typeface="Courier New"/>
              <a:buNone/>
              <a:defRPr sz="1100">
                <a:solidFill>
                  <a:srgbClr val="3B4A78"/>
                </a:solidFill>
                <a:latin typeface="Courier New"/>
                <a:ea typeface="Courier New"/>
                <a:cs typeface="Courier New"/>
              </a:defRPr>
            </a:pPr>
            <a:r>
              <a:rPr sz="1100" b="0" i="0" u="none" cap="none">
                <a:solidFill>
                  <a:srgbClr val="3B4A78"/>
                </a:solidFill>
                <a:latin typeface="Courier New"/>
                <a:ea typeface="Courier New"/>
                <a:cs typeface="Courier New"/>
              </a:rPr>
              <a:t>noFill()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7" name="Google Shape;127;p9">
            <a:extLst xmlns:a="http://schemas.openxmlformats.org/drawingml/2006/main">
              <a:ext uri="{FF2B5EF4-FFF2-40B4-BE49-F238E27FC236}">
                <a16:creationId xmlns:a16="http://schemas.microsoft.com/office/drawing/2014/main" id="{92BCCB94-C5B3-4130-9AB5-6245B58A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9690" y="173736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50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">
            <a:extLst xmlns:a="http://schemas.openxmlformats.org/drawingml/2006/main">
              <a:ext uri="{FF2B5EF4-FFF2-40B4-BE49-F238E27FC236}">
                <a16:creationId xmlns:a16="http://schemas.microsoft.com/office/drawing/2014/main" id="{1EBA4ACE-8E8C-4733-84E2-F760E8FD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9690" y="2857500"/>
            <a:ext cx="10287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050"/>
              <a:buFont typeface="Courier New"/>
              <a:buNone/>
              <a:defRPr sz="1100">
                <a:solidFill>
                  <a:srgbClr val="3B4A78"/>
                </a:solidFill>
                <a:latin typeface="Courier New"/>
                <a:ea typeface="Courier New"/>
                <a:cs typeface="Courier New"/>
              </a:defRPr>
            </a:pPr>
            <a:r>
              <a:rPr sz="1100" b="0" i="0" u="none" cap="none">
                <a:solidFill>
                  <a:srgbClr val="3B4A78"/>
                </a:solidFill>
                <a:latin typeface="Courier New"/>
                <a:ea typeface="Courier New"/>
                <a:cs typeface="Courier New"/>
              </a:rPr>
              <a:t>noStroke()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60172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Google Shape;156;p11">
            <a:extLst xmlns:a="http://schemas.openxmlformats.org/drawingml/2006/main">
              <a:ext uri="{FF2B5EF4-FFF2-40B4-BE49-F238E27FC236}">
                <a16:creationId xmlns:a16="http://schemas.microsoft.com/office/drawing/2014/main" id="{DB105B24-7FB0-4D2B-A049-8604CA82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Checkpoint 3: Build a Styled Scene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7" name="Google Shape;157;p11">
            <a:extLst xmlns:a="http://schemas.openxmlformats.org/drawingml/2006/main">
              <a:ext uri="{FF2B5EF4-FFF2-40B4-BE49-F238E27FC236}">
                <a16:creationId xmlns:a16="http://schemas.microsoft.com/office/drawing/2014/main" id="{3163FBE7-F059-452E-BAA3-91F5EF6C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Use state changes deliberately—not by trial and error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8" name="Google Shape;158;p11">
            <a:extLst xmlns:a="http://schemas.openxmlformats.org/drawingml/2006/main">
              <a:ext uri="{FF2B5EF4-FFF2-40B4-BE49-F238E27FC236}">
                <a16:creationId xmlns:a16="http://schemas.microsoft.com/office/drawing/2014/main" id="{078477A8-B55D-4CC0-A046-95C8C01B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9" name="Google Shape;159;p11">
            <a:extLst xmlns:a="http://schemas.openxmlformats.org/drawingml/2006/main">
              <a:ext uri="{FF2B5EF4-FFF2-40B4-BE49-F238E27FC236}">
                <a16:creationId xmlns:a16="http://schemas.microsoft.com/office/drawing/2014/main" id="{E6A4E00C-BBC3-4CAC-9697-99534A80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B1.2.2 · Color, Stroke &amp; Fill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0" name="Google Shape;160;p11">
            <a:extLst xmlns:a="http://schemas.openxmlformats.org/drawingml/2006/main">
              <a:ext uri="{FF2B5EF4-FFF2-40B4-BE49-F238E27FC236}">
                <a16:creationId xmlns:a16="http://schemas.microsoft.com/office/drawing/2014/main" id="{3C80A73E-6E15-4DF8-86BF-2777E0FB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">
            <a:extLst xmlns:a="http://schemas.openxmlformats.org/drawingml/2006/main">
              <a:ext uri="{FF2B5EF4-FFF2-40B4-BE49-F238E27FC236}">
                <a16:creationId xmlns:a16="http://schemas.microsoft.com/office/drawing/2014/main" id="{7187B640-9812-4832-8D5F-17D0382B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2" name="Google Shape;162;p11">
            <a:extLst xmlns:a="http://schemas.openxmlformats.org/drawingml/2006/main">
              <a:ext uri="{FF2B5EF4-FFF2-40B4-BE49-F238E27FC236}">
                <a16:creationId xmlns:a16="http://schemas.microsoft.com/office/drawing/2014/main" id="{33C47C1C-1229-4F0F-ADAD-01070577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344168"/>
            <a:ext cx="51206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Start from the working StyleSketch shell on a 400 × 300 canvas.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3" name="Google Shape;163;p11">
            <a:extLst xmlns:a="http://schemas.openxmlformats.org/drawingml/2006/main">
              <a:ext uri="{FF2B5EF4-FFF2-40B4-BE49-F238E27FC236}">
                <a16:creationId xmlns:a16="http://schemas.microsoft.com/office/drawing/2014/main" id="{98D7F507-F513-4146-9886-2E6C9A12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2996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">
            <a:extLst xmlns:a="http://schemas.openxmlformats.org/drawingml/2006/main">
              <a:ext uri="{FF2B5EF4-FFF2-40B4-BE49-F238E27FC236}">
                <a16:creationId xmlns:a16="http://schemas.microsoft.com/office/drawing/2014/main" id="{69D98579-998F-4258-AAC3-C36A8772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29968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5" name="Google Shape;165;p11">
            <a:extLst xmlns:a="http://schemas.openxmlformats.org/drawingml/2006/main">
              <a:ext uri="{FF2B5EF4-FFF2-40B4-BE49-F238E27FC236}">
                <a16:creationId xmlns:a16="http://schemas.microsoft.com/office/drawing/2014/main" id="{8457AAFE-B8E2-40B3-81D4-DFC9D84D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02536"/>
            <a:ext cx="51206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Draw a filled rectangle with a 4-pixel outline.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6" name="Google Shape;166;p11">
            <a:extLst xmlns:a="http://schemas.openxmlformats.org/drawingml/2006/main">
              <a:ext uri="{FF2B5EF4-FFF2-40B4-BE49-F238E27FC236}">
                <a16:creationId xmlns:a16="http://schemas.microsoft.com/office/drawing/2014/main" id="{A89100A4-70ED-4B06-9170-298A0E13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88336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">
            <a:extLst xmlns:a="http://schemas.openxmlformats.org/drawingml/2006/main">
              <a:ext uri="{FF2B5EF4-FFF2-40B4-BE49-F238E27FC236}">
                <a16:creationId xmlns:a16="http://schemas.microsoft.com/office/drawing/2014/main" id="{7D549396-2FB4-461B-A4EA-F31D3E92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88336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8" name="Google Shape;168;p11">
            <a:extLst xmlns:a="http://schemas.openxmlformats.org/drawingml/2006/main">
              <a:ext uri="{FF2B5EF4-FFF2-40B4-BE49-F238E27FC236}">
                <a16:creationId xmlns:a16="http://schemas.microsoft.com/office/drawing/2014/main" id="{CBBEE47A-44B5-439B-B756-01B63E73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60904"/>
            <a:ext cx="51206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Draw an outline-only ellipse using noFill().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9" name="Google Shape;169;p11">
            <a:extLst xmlns:a="http://schemas.openxmlformats.org/drawingml/2006/main">
              <a:ext uri="{FF2B5EF4-FFF2-40B4-BE49-F238E27FC236}">
                <a16:creationId xmlns:a16="http://schemas.microsoft.com/office/drawing/2014/main" id="{C8F6E613-A211-4DA1-B4D3-34BCEE76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46704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">
            <a:extLst xmlns:a="http://schemas.openxmlformats.org/drawingml/2006/main">
              <a:ext uri="{FF2B5EF4-FFF2-40B4-BE49-F238E27FC236}">
                <a16:creationId xmlns:a16="http://schemas.microsoft.com/office/drawing/2014/main" id="{A4975BFD-1E4D-4BCF-8E77-3FED8E75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46704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1" name="Google Shape;171;p11">
            <a:extLst xmlns:a="http://schemas.openxmlformats.org/drawingml/2006/main">
              <a:ext uri="{FF2B5EF4-FFF2-40B4-BE49-F238E27FC236}">
                <a16:creationId xmlns:a16="http://schemas.microsoft.com/office/drawing/2014/main" id="{4DDC32B8-7AE5-4064-A726-D63C4A5C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319272"/>
            <a:ext cx="51206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Draw a coloured, 5-pixel line; remember that fill() cannot style it.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2" name="Google Shape;172;p11">
            <a:extLst xmlns:a="http://schemas.openxmlformats.org/drawingml/2006/main">
              <a:ext uri="{FF2B5EF4-FFF2-40B4-BE49-F238E27FC236}">
                <a16:creationId xmlns:a16="http://schemas.microsoft.com/office/drawing/2014/main" id="{76B09502-588B-4C6C-BA4E-96611075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0507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">
            <a:extLst xmlns:a="http://schemas.openxmlformats.org/drawingml/2006/main">
              <a:ext uri="{FF2B5EF4-FFF2-40B4-BE49-F238E27FC236}">
                <a16:creationId xmlns:a16="http://schemas.microsoft.com/office/drawing/2014/main" id="{E13D88AD-583D-42E2-BD03-C6988A1A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05072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" name="Google Shape;174;p11">
            <a:extLst xmlns:a="http://schemas.openxmlformats.org/drawingml/2006/main">
              <a:ext uri="{FF2B5EF4-FFF2-40B4-BE49-F238E27FC236}">
                <a16:creationId xmlns:a16="http://schemas.microsoft.com/office/drawing/2014/main" id="{4834CE86-A485-42B4-9F74-21C3B572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77640"/>
            <a:ext cx="512064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Restore fill(), call noStroke(), and draw one fill-only circle. Keep each style call immediately before the shapes it should control.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5" name="Google Shape;175;p11">
            <a:extLst xmlns:a="http://schemas.openxmlformats.org/drawingml/2006/main">
              <a:ext uri="{FF2B5EF4-FFF2-40B4-BE49-F238E27FC236}">
                <a16:creationId xmlns:a16="http://schemas.microsoft.com/office/drawing/2014/main" id="{237518EB-B6AB-4CD4-9C9D-0265E4AE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77840"/>
            <a:ext cx="5623560" cy="77724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">
            <a:extLst xmlns:a="http://schemas.openxmlformats.org/drawingml/2006/main">
              <a:ext uri="{FF2B5EF4-FFF2-40B4-BE49-F238E27FC236}">
                <a16:creationId xmlns:a16="http://schemas.microsoft.com/office/drawing/2014/main" id="{31575BC0-2973-4671-99DF-FAD4C30C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779008"/>
            <a:ext cx="5111496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4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Success: filled rectangle, noFill() ellipse, styled line, and noStroke() circle.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7" name="Google Shape;177;p11">
            <a:extLst xmlns:a="http://schemas.openxmlformats.org/drawingml/2006/main">
              <a:ext uri="{FF2B5EF4-FFF2-40B4-BE49-F238E27FC236}">
                <a16:creationId xmlns:a16="http://schemas.microsoft.com/office/drawing/2014/main" id="{CFEB91F9-C9E1-4AE4-B52A-55696DEA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325880"/>
            <a:ext cx="5166360" cy="3874770"/>
          </a:xfrm>
          <a:prstGeom xmlns:a="http://schemas.openxmlformats.org/drawingml/2006/main" prst="roundRect">
            <a:avLst>
              <a:gd name="adj" fmla="val 94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905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">
            <a:extLst xmlns:a="http://schemas.openxmlformats.org/drawingml/2006/main">
              <a:ext uri="{FF2B5EF4-FFF2-40B4-BE49-F238E27FC236}">
                <a16:creationId xmlns:a16="http://schemas.microsoft.com/office/drawing/2014/main" id="{596F220B-06D3-4422-BCD8-3538FCEB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876" y="1842516"/>
            <a:ext cx="1291590" cy="904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028"/>
          </a:solidFill>
          <a:ln xmlns:a="http://schemas.openxmlformats.org/drawingml/2006/main" w="381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">
            <a:extLst xmlns:a="http://schemas.openxmlformats.org/drawingml/2006/main">
              <a:ext uri="{FF2B5EF4-FFF2-40B4-BE49-F238E27FC236}">
                <a16:creationId xmlns:a16="http://schemas.microsoft.com/office/drawing/2014/main" id="{3DA06FDE-32EB-48FF-B341-87FE75EF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4953" y="1842516"/>
            <a:ext cx="904113" cy="9041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4" name="Google Shape;180;p11"/>
          <p:cNvCxnSpPr/>
          <p:nvPr/>
        </p:nvCxnSpPr>
        <p:spPr>
          <a:xfrm xmlns:a="http://schemas.openxmlformats.org/drawingml/2006/main">
            <a:off x="7008876" y="4167378"/>
            <a:ext cx="3874770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3B6FD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1" name="Google Shape;181;p11">
            <a:extLst xmlns:a="http://schemas.openxmlformats.org/drawingml/2006/main">
              <a:ext uri="{FF2B5EF4-FFF2-40B4-BE49-F238E27FC236}">
                <a16:creationId xmlns:a16="http://schemas.microsoft.com/office/drawing/2014/main" id="{B670D50B-8AB9-4C1E-943C-D085E135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779901"/>
            <a:ext cx="645795" cy="6457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50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>
            <a:extLst xmlns:a="http://schemas.openxmlformats.org/drawingml/2006/main">
              <a:ext uri="{FF2B5EF4-FFF2-40B4-BE49-F238E27FC236}">
                <a16:creationId xmlns:a16="http://schemas.microsoft.com/office/drawing/2014/main" id="{78A82983-A478-483C-8D65-EF7D02B8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337810"/>
            <a:ext cx="5166360" cy="100584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">
            <a:extLst xmlns:a="http://schemas.openxmlformats.org/drawingml/2006/main">
              <a:ext uri="{FF2B5EF4-FFF2-40B4-BE49-F238E27FC236}">
                <a16:creationId xmlns:a16="http://schemas.microsoft.com/office/drawing/2014/main" id="{C1D6DAD2-4388-4553-B4BA-20C05B4D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5538978"/>
            <a:ext cx="465429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400 × 300 canvas (example)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4" name="Google Shape;184;p11">
            <a:extLst xmlns:a="http://schemas.openxmlformats.org/drawingml/2006/main">
              <a:ext uri="{FF2B5EF4-FFF2-40B4-BE49-F238E27FC236}">
                <a16:creationId xmlns:a16="http://schemas.microsoft.com/office/drawing/2014/main" id="{3536BF6D-F252-4B9A-B6AE-418FE05E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5904738"/>
            <a:ext cx="465429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1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Colours may differ; all four style requirements must be visible.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95914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C7AF7F88-2331-4842-9EB9-572A2CC4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Peer Check: Name the Active State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3DB1B71F-75E6-4627-8895-B6AC6826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A working picture is not enough—explain why it works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08E4B314-C329-4204-8E23-A48ED415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B0AE2A40-9138-4AB3-A615-281CED6A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B1.2.2 · Color, Stroke &amp; Fill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74601DE4-D932-4FC4-843A-101B459D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5778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6C97500B-A4CC-48D7-B917-81C09DB9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51206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 Point to each shape call in order.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  Name the active fill before that call.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  Name the active stroke and weight.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  Find where fill or stroke is restored after being disabled.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38F16BED-B08E-4D61-A7EF-951E6671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349240" cy="448056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73C71AE2-EBE8-4DC8-918A-43ECF5E6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572768"/>
            <a:ext cx="48371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Debug with evidence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E5D96534-C11C-4E67-9F8F-D803D426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938528"/>
            <a:ext cx="4837176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If a shape looks wrong, move upward through the code until you find the most recent fill(), noFill(), stroke(), noStroke(), and strokeWeight() calls.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Explain which earlier call caused the result before changing anything.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90165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0" name="Google Shape;190;p12">
            <a:extLst xmlns:a="http://schemas.openxmlformats.org/drawingml/2006/main">
              <a:ext uri="{FF2B5EF4-FFF2-40B4-BE49-F238E27FC236}">
                <a16:creationId xmlns:a16="http://schemas.microsoft.com/office/drawing/2014/main" id="{96336B68-3656-43DF-9D64-2C6F3D3E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Explain the State Change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1" name="Google Shape;191;p12">
            <a:extLst xmlns:a="http://schemas.openxmlformats.org/drawingml/2006/main">
              <a:ext uri="{FF2B5EF4-FFF2-40B4-BE49-F238E27FC236}">
                <a16:creationId xmlns:a16="http://schemas.microsoft.com/office/drawing/2014/main" id="{46637987-41F3-41E0-9563-16D38658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Finish with a reason, not only a result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2" name="Google Shape;192;p12">
            <a:extLst xmlns:a="http://schemas.openxmlformats.org/drawingml/2006/main">
              <a:ext uri="{FF2B5EF4-FFF2-40B4-BE49-F238E27FC236}">
                <a16:creationId xmlns:a16="http://schemas.microsoft.com/office/drawing/2014/main" id="{A90F8A51-B22F-4131-96B0-D42C9C68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3" name="Google Shape;193;p12">
            <a:extLst xmlns:a="http://schemas.openxmlformats.org/drawingml/2006/main">
              <a:ext uri="{FF2B5EF4-FFF2-40B4-BE49-F238E27FC236}">
                <a16:creationId xmlns:a16="http://schemas.microsoft.com/office/drawing/2014/main" id="{DD3FE525-CAEC-4164-A794-3D549DA6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B1.2.2 · Color, Stroke &amp; Fill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4" name="Google Shape;194;p12">
            <a:extLst xmlns:a="http://schemas.openxmlformats.org/drawingml/2006/main">
              <a:ext uri="{FF2B5EF4-FFF2-40B4-BE49-F238E27FC236}">
                <a16:creationId xmlns:a16="http://schemas.microsoft.com/office/drawing/2014/main" id="{6452B58D-AFA4-4295-99A3-AD0BA2CF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486400" cy="3429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">
            <a:extLst xmlns:a="http://schemas.openxmlformats.org/drawingml/2006/main">
              <a:ext uri="{FF2B5EF4-FFF2-40B4-BE49-F238E27FC236}">
                <a16:creationId xmlns:a16="http://schemas.microsoft.com/office/drawing/2014/main" id="{7D8A489E-1A1E-42E0-8789-61367082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90472"/>
            <a:ext cx="5029200" cy="3099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fill() controls shape interiors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stroke() controls outlines and lines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strokeWeight() sets thickness in pixels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style calls stay active until changed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noFill() and noStroke() disable parts</a:t>
            </a:r>
          </a:p>
        </p:txBody>
      </p:sp>
      <p:sp>
        <p:nvSpPr>
          <p:cNvPr id="196" name="Google Shape;196;p12">
            <a:extLst xmlns:a="http://schemas.openxmlformats.org/drawingml/2006/main">
              <a:ext uri="{FF2B5EF4-FFF2-40B4-BE49-F238E27FC236}">
                <a16:creationId xmlns:a16="http://schemas.microsoft.com/office/drawing/2014/main" id="{77F4B528-97EB-4EF1-A868-406F1A09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92040"/>
            <a:ext cx="5486400" cy="146304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2">
            <a:extLst xmlns:a="http://schemas.openxmlformats.org/drawingml/2006/main">
              <a:ext uri="{FF2B5EF4-FFF2-40B4-BE49-F238E27FC236}">
                <a16:creationId xmlns:a16="http://schemas.microsoft.com/office/drawing/2014/main" id="{24345708-9AD4-451E-8330-DC4EFBB2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093208"/>
            <a:ext cx="497433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Key idea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8" name="Google Shape;198;p12">
            <a:extLst xmlns:a="http://schemas.openxmlformats.org/drawingml/2006/main">
              <a:ext uri="{FF2B5EF4-FFF2-40B4-BE49-F238E27FC236}">
                <a16:creationId xmlns:a16="http://schemas.microsoft.com/office/drawing/2014/main" id="{48C0C591-DC82-40BB-BABE-6DBE2105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458968"/>
            <a:ext cx="4974336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4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Position calls answer “where and how big.” Style calls answer “what it looks like now.”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9" name="Google Shape;199;p12">
            <a:extLst xmlns:a="http://schemas.openxmlformats.org/drawingml/2006/main">
              <a:ext uri="{FF2B5EF4-FFF2-40B4-BE49-F238E27FC236}">
                <a16:creationId xmlns:a16="http://schemas.microsoft.com/office/drawing/2014/main" id="{6CDFC9B5-F0A6-450E-AE78-42652908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25880"/>
            <a:ext cx="5349240" cy="466344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">
            <a:extLst xmlns:a="http://schemas.openxmlformats.org/drawingml/2006/main">
              <a:ext uri="{FF2B5EF4-FFF2-40B4-BE49-F238E27FC236}">
                <a16:creationId xmlns:a16="http://schemas.microsoft.com/office/drawing/2014/main" id="{2713E853-2118-49C7-A026-17A0D7C7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527048"/>
            <a:ext cx="48371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Exit ticket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1" name="Google Shape;201;p12">
            <a:extLst xmlns:a="http://schemas.openxmlformats.org/drawingml/2006/main">
              <a:ext uri="{FF2B5EF4-FFF2-40B4-BE49-F238E27FC236}">
                <a16:creationId xmlns:a16="http://schemas.microsoft.com/office/drawing/2014/main" id="{2BC08640-8F8C-408E-8D50-B68F2B5B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892808"/>
            <a:ext cx="4837176" cy="3931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Without running code, explain this sequence: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noFill();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ellipse(100, 100, 60, 60);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fill(200, 80, 40);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noStroke();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ellipse(200, 100, 60, 60);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Describe the inside and outline of each ellipse, and name the call that changes the state.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12677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Google Shape;134;p10">
            <a:extLst xmlns:a="http://schemas.openxmlformats.org/drawingml/2006/main">
              <a:ext uri="{FF2B5EF4-FFF2-40B4-BE49-F238E27FC236}">
                <a16:creationId xmlns:a16="http://schemas.microsoft.com/office/drawing/2014/main" id="{A600F0E8-B783-4533-8B31-CDFE1D33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Appendix: Complete Starter Shell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5" name="Google Shape;135;p10">
            <a:extLst xmlns:a="http://schemas.openxmlformats.org/drawingml/2006/main">
              <a:ext uri="{FF2B5EF4-FFF2-40B4-BE49-F238E27FC236}">
                <a16:creationId xmlns:a16="http://schemas.microsoft.com/office/drawing/2014/main" id="{BCD77C16-46AC-4E44-9FD5-724CCFEE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Recovery only—use after attempting the first checkpoint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6" name="Google Shape;136;p10">
            <a:extLst xmlns:a="http://schemas.openxmlformats.org/drawingml/2006/main">
              <a:ext uri="{FF2B5EF4-FFF2-40B4-BE49-F238E27FC236}">
                <a16:creationId xmlns:a16="http://schemas.microsoft.com/office/drawing/2014/main" id="{82C59D24-4713-481C-8621-171BD0BA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7" name="Google Shape;137;p10">
            <a:extLst xmlns:a="http://schemas.openxmlformats.org/drawingml/2006/main">
              <a:ext uri="{FF2B5EF4-FFF2-40B4-BE49-F238E27FC236}">
                <a16:creationId xmlns:a16="http://schemas.microsoft.com/office/drawing/2014/main" id="{76D19EC4-6002-470F-B6BE-5ACF5C64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B1.2.2 · Color, Stroke &amp; Fill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8" name="Google Shape;138;p10">
            <a:extLst xmlns:a="http://schemas.openxmlformats.org/drawingml/2006/main">
              <a:ext uri="{FF2B5EF4-FFF2-40B4-BE49-F238E27FC236}">
                <a16:creationId xmlns:a16="http://schemas.microsoft.com/office/drawing/2014/main" id="{B6651F0F-E0DE-4F20-A69E-5586067A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57784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">
            <a:extLst xmlns:a="http://schemas.openxmlformats.org/drawingml/2006/main">
              <a:ext uri="{FF2B5EF4-FFF2-40B4-BE49-F238E27FC236}">
                <a16:creationId xmlns:a16="http://schemas.microsoft.com/office/drawing/2014/main" id="{4601C4CC-C773-4368-8648-79D6B0FD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27048"/>
            <a:ext cx="5029200" cy="1975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import processing.core.PApplet;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class StyleSketch extends PApplet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settings() { size(400, 300);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setup() { background(240);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void draw() {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public static void main(String[] args) { PApplet.main("StyleSketch"); 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" name="Google Shape;140;p10">
            <a:extLst xmlns:a="http://schemas.openxmlformats.org/drawingml/2006/main">
              <a:ext uri="{FF2B5EF4-FFF2-40B4-BE49-F238E27FC236}">
                <a16:creationId xmlns:a16="http://schemas.microsoft.com/office/drawing/2014/main" id="{86D61CF0-9244-478C-8683-655CCA95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">
            <a:extLst xmlns:a="http://schemas.openxmlformats.org/drawingml/2006/main">
              <a:ext uri="{FF2B5EF4-FFF2-40B4-BE49-F238E27FC236}">
                <a16:creationId xmlns:a16="http://schemas.microsoft.com/office/drawing/2014/main" id="{7545CAB9-FDB6-4017-93A2-C28ABD7F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2" name="Google Shape;142;p10">
            <a:extLst xmlns:a="http://schemas.openxmlformats.org/drawingml/2006/main">
              <a:ext uri="{FF2B5EF4-FFF2-40B4-BE49-F238E27FC236}">
                <a16:creationId xmlns:a16="http://schemas.microsoft.com/office/drawing/2014/main" id="{74DC62E4-5C08-4C7E-9D72-2AE69E37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995928"/>
            <a:ext cx="507492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Paste into a class named StyleSketch.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3" name="Google Shape;143;p10">
            <a:extLst xmlns:a="http://schemas.openxmlformats.org/drawingml/2006/main">
              <a:ext uri="{FF2B5EF4-FFF2-40B4-BE49-F238E27FC236}">
                <a16:creationId xmlns:a16="http://schemas.microsoft.com/office/drawing/2014/main" id="{BEEAAE05-DB26-4457-B06F-8FC5598A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920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">
            <a:extLst xmlns:a="http://schemas.openxmlformats.org/drawingml/2006/main">
              <a:ext uri="{FF2B5EF4-FFF2-40B4-BE49-F238E27FC236}">
                <a16:creationId xmlns:a16="http://schemas.microsoft.com/office/drawing/2014/main" id="{A736C675-992B-4636-BF0B-369B3F39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920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5" name="Google Shape;145;p10">
            <a:extLst xmlns:a="http://schemas.openxmlformats.org/drawingml/2006/main">
              <a:ext uri="{FF2B5EF4-FFF2-40B4-BE49-F238E27FC236}">
                <a16:creationId xmlns:a16="http://schemas.microsoft.com/office/drawing/2014/main" id="{9383629E-CCD3-436B-B331-9C62440D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64608"/>
            <a:ext cx="507492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Compile and run main(String[] args).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6" name="Google Shape;146;p10">
            <a:extLst xmlns:a="http://schemas.openxmlformats.org/drawingml/2006/main">
              <a:ext uri="{FF2B5EF4-FFF2-40B4-BE49-F238E27FC236}">
                <a16:creationId xmlns:a16="http://schemas.microsoft.com/office/drawing/2014/main" id="{FE26B67F-BB42-4DA9-9F51-1ED0B984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607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">
            <a:extLst xmlns:a="http://schemas.openxmlformats.org/drawingml/2006/main">
              <a:ext uri="{FF2B5EF4-FFF2-40B4-BE49-F238E27FC236}">
                <a16:creationId xmlns:a16="http://schemas.microsoft.com/office/drawing/2014/main" id="{51D33A7A-27A9-49A7-9BFF-4818B91A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607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8" name="Google Shape;148;p10">
            <a:extLst xmlns:a="http://schemas.openxmlformats.org/drawingml/2006/main">
              <a:ext uri="{FF2B5EF4-FFF2-40B4-BE49-F238E27FC236}">
                <a16:creationId xmlns:a16="http://schemas.microsoft.com/office/drawing/2014/main" id="{39EE312B-2705-4BC2-9F1A-E7480B75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733288"/>
            <a:ext cx="50749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Confirm a blank 400 × 300 window.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9" name="Google Shape;149;p10">
            <a:extLst xmlns:a="http://schemas.openxmlformats.org/drawingml/2006/main">
              <a:ext uri="{FF2B5EF4-FFF2-40B4-BE49-F238E27FC236}">
                <a16:creationId xmlns:a16="http://schemas.microsoft.com/office/drawing/2014/main" id="{456D8223-5AA4-4081-B79A-568BA06D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325880"/>
            <a:ext cx="5257800" cy="512064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">
            <a:extLst xmlns:a="http://schemas.openxmlformats.org/drawingml/2006/main">
              <a:ext uri="{FF2B5EF4-FFF2-40B4-BE49-F238E27FC236}">
                <a16:creationId xmlns:a16="http://schemas.microsoft.com/office/drawing/2014/main" id="{FE1D87EA-E827-4658-9C33-3B3DA7A3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1527048"/>
            <a:ext cx="4745736" cy="4754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4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Recovery only: compare this shell with your code, fix the problem, then return to the checkpoint.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30008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Google Shape;134;p10">
            <a:extLst xmlns:a="http://schemas.openxmlformats.org/drawingml/2006/main">
              <a:ext uri="{FF2B5EF4-FFF2-40B4-BE49-F238E27FC236}">
                <a16:creationId xmlns:a16="http://schemas.microsoft.com/office/drawing/2014/main" id="{A600F0E8-B783-4533-8B31-CDFE1D33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Appendix: Final setup(), Part 1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5" name="Google Shape;135;p10">
            <a:extLst xmlns:a="http://schemas.openxmlformats.org/drawingml/2006/main">
              <a:ext uri="{FF2B5EF4-FFF2-40B4-BE49-F238E27FC236}">
                <a16:creationId xmlns:a16="http://schemas.microsoft.com/office/drawing/2014/main" id="{BCD77C16-46AC-4E44-9FD5-724CCFEE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Rectangle and outline-only ellipse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6" name="Google Shape;136;p10">
            <a:extLst xmlns:a="http://schemas.openxmlformats.org/drawingml/2006/main">
              <a:ext uri="{FF2B5EF4-FFF2-40B4-BE49-F238E27FC236}">
                <a16:creationId xmlns:a16="http://schemas.microsoft.com/office/drawing/2014/main" id="{82C59D24-4713-481C-8621-171BD0BA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7" name="Google Shape;137;p10">
            <a:extLst xmlns:a="http://schemas.openxmlformats.org/drawingml/2006/main">
              <a:ext uri="{FF2B5EF4-FFF2-40B4-BE49-F238E27FC236}">
                <a16:creationId xmlns:a16="http://schemas.microsoft.com/office/drawing/2014/main" id="{76D19EC4-6002-470F-B6BE-5ACF5C64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B1.2.2 · Color, Stroke &amp; Fill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8" name="Google Shape;138;p10">
            <a:extLst xmlns:a="http://schemas.openxmlformats.org/drawingml/2006/main">
              <a:ext uri="{FF2B5EF4-FFF2-40B4-BE49-F238E27FC236}">
                <a16:creationId xmlns:a16="http://schemas.microsoft.com/office/drawing/2014/main" id="{B6651F0F-E0DE-4F20-A69E-5586067A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57784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">
            <a:extLst xmlns:a="http://schemas.openxmlformats.org/drawingml/2006/main">
              <a:ext uri="{FF2B5EF4-FFF2-40B4-BE49-F238E27FC236}">
                <a16:creationId xmlns:a16="http://schemas.microsoft.com/office/drawing/2014/main" id="{4601C4CC-C773-4368-8648-79D6B0FD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27048"/>
            <a:ext cx="5029200" cy="1975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void setup() {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background(240);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stroke(20);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strokeWeight(4);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fill(190, 80, 35);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rect(40, 40, 120, 80);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noFill();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ellipse(300, 80, 80, 80);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" name="Google Shape;140;p10">
            <a:extLst xmlns:a="http://schemas.openxmlformats.org/drawingml/2006/main">
              <a:ext uri="{FF2B5EF4-FFF2-40B4-BE49-F238E27FC236}">
                <a16:creationId xmlns:a16="http://schemas.microsoft.com/office/drawing/2014/main" id="{86D61CF0-9244-478C-8683-655CCA95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">
            <a:extLst xmlns:a="http://schemas.openxmlformats.org/drawingml/2006/main">
              <a:ext uri="{FF2B5EF4-FFF2-40B4-BE49-F238E27FC236}">
                <a16:creationId xmlns:a16="http://schemas.microsoft.com/office/drawing/2014/main" id="{7545CAB9-FDB6-4017-93A2-C28ABD7F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2" name="Google Shape;142;p10">
            <a:extLst xmlns:a="http://schemas.openxmlformats.org/drawingml/2006/main">
              <a:ext uri="{FF2B5EF4-FFF2-40B4-BE49-F238E27FC236}">
                <a16:creationId xmlns:a16="http://schemas.microsoft.com/office/drawing/2014/main" id="{74DC62E4-5C08-4C7E-9D72-2AE69E37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995928"/>
            <a:ext cx="507492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Use this only after attempting checkpoint 3.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3" name="Google Shape;143;p10">
            <a:extLst xmlns:a="http://schemas.openxmlformats.org/drawingml/2006/main">
              <a:ext uri="{FF2B5EF4-FFF2-40B4-BE49-F238E27FC236}">
                <a16:creationId xmlns:a16="http://schemas.microsoft.com/office/drawing/2014/main" id="{BEEAAE05-DB26-4457-B06F-8FC5598A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920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">
            <a:extLst xmlns:a="http://schemas.openxmlformats.org/drawingml/2006/main">
              <a:ext uri="{FF2B5EF4-FFF2-40B4-BE49-F238E27FC236}">
                <a16:creationId xmlns:a16="http://schemas.microsoft.com/office/drawing/2014/main" id="{A736C675-992B-4636-BF0B-369B3F39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920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5" name="Google Shape;145;p10">
            <a:extLst xmlns:a="http://schemas.openxmlformats.org/drawingml/2006/main">
              <a:ext uri="{FF2B5EF4-FFF2-40B4-BE49-F238E27FC236}">
                <a16:creationId xmlns:a16="http://schemas.microsoft.com/office/drawing/2014/main" id="{9383629E-CCD3-436B-B331-9C62440D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64608"/>
            <a:ext cx="507492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Continue directly with part 2 on slide 18.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6" name="Google Shape;146;p10">
            <a:extLst xmlns:a="http://schemas.openxmlformats.org/drawingml/2006/main">
              <a:ext uri="{FF2B5EF4-FFF2-40B4-BE49-F238E27FC236}">
                <a16:creationId xmlns:a16="http://schemas.microsoft.com/office/drawing/2014/main" id="{FE26B67F-BB42-4DA9-9F51-1ED0B984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607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">
            <a:extLst xmlns:a="http://schemas.openxmlformats.org/drawingml/2006/main">
              <a:ext uri="{FF2B5EF4-FFF2-40B4-BE49-F238E27FC236}">
                <a16:creationId xmlns:a16="http://schemas.microsoft.com/office/drawing/2014/main" id="{51D33A7A-27A9-49A7-9BFF-4818B91A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607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8" name="Google Shape;148;p10">
            <a:extLst xmlns:a="http://schemas.openxmlformats.org/drawingml/2006/main">
              <a:ext uri="{FF2B5EF4-FFF2-40B4-BE49-F238E27FC236}">
                <a16:creationId xmlns:a16="http://schemas.microsoft.com/office/drawing/2014/main" id="{39EE312B-2705-4BC2-9F1A-E7480B75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733288"/>
            <a:ext cx="50749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Explain every active state before copying.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9" name="Google Shape;149;p10">
            <a:extLst xmlns:a="http://schemas.openxmlformats.org/drawingml/2006/main">
              <a:ext uri="{FF2B5EF4-FFF2-40B4-BE49-F238E27FC236}">
                <a16:creationId xmlns:a16="http://schemas.microsoft.com/office/drawing/2014/main" id="{456D8223-5AA4-4081-B79A-568BA06D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325880"/>
            <a:ext cx="5257800" cy="512064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">
            <a:extLst xmlns:a="http://schemas.openxmlformats.org/drawingml/2006/main">
              <a:ext uri="{FF2B5EF4-FFF2-40B4-BE49-F238E27FC236}">
                <a16:creationId xmlns:a16="http://schemas.microsoft.com/office/drawing/2014/main" id="{FE1D87EA-E827-4658-9C33-3B3DA7A3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1527048"/>
            <a:ext cx="4745736" cy="4754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4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method remains open at the bottom. Slide 18 completes it and adds the closing brace.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3000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Google Shape;134;p10">
            <a:extLst xmlns:a="http://schemas.openxmlformats.org/drawingml/2006/main">
              <a:ext uri="{FF2B5EF4-FFF2-40B4-BE49-F238E27FC236}">
                <a16:creationId xmlns:a16="http://schemas.microsoft.com/office/drawing/2014/main" id="{A600F0E8-B783-4533-8B31-CDFE1D33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Appendix: Final setup(), Part 2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5" name="Google Shape;135;p10">
            <a:extLst xmlns:a="http://schemas.openxmlformats.org/drawingml/2006/main">
              <a:ext uri="{FF2B5EF4-FFF2-40B4-BE49-F238E27FC236}">
                <a16:creationId xmlns:a16="http://schemas.microsoft.com/office/drawing/2014/main" id="{BCD77C16-46AC-4E44-9FD5-724CCFEE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Styled line and fill-only circle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6" name="Google Shape;136;p10">
            <a:extLst xmlns:a="http://schemas.openxmlformats.org/drawingml/2006/main">
              <a:ext uri="{FF2B5EF4-FFF2-40B4-BE49-F238E27FC236}">
                <a16:creationId xmlns:a16="http://schemas.microsoft.com/office/drawing/2014/main" id="{82C59D24-4713-481C-8621-171BD0BA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7" name="Google Shape;137;p10">
            <a:extLst xmlns:a="http://schemas.openxmlformats.org/drawingml/2006/main">
              <a:ext uri="{FF2B5EF4-FFF2-40B4-BE49-F238E27FC236}">
                <a16:creationId xmlns:a16="http://schemas.microsoft.com/office/drawing/2014/main" id="{76D19EC4-6002-470F-B6BE-5ACF5C64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B1.2.2 · Color, Stroke &amp; Fill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8" name="Google Shape;138;p10">
            <a:extLst xmlns:a="http://schemas.openxmlformats.org/drawingml/2006/main">
              <a:ext uri="{FF2B5EF4-FFF2-40B4-BE49-F238E27FC236}">
                <a16:creationId xmlns:a16="http://schemas.microsoft.com/office/drawing/2014/main" id="{B6651F0F-E0DE-4F20-A69E-5586067A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57784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">
            <a:extLst xmlns:a="http://schemas.openxmlformats.org/drawingml/2006/main">
              <a:ext uri="{FF2B5EF4-FFF2-40B4-BE49-F238E27FC236}">
                <a16:creationId xmlns:a16="http://schemas.microsoft.com/office/drawing/2014/main" id="{4601C4CC-C773-4368-8648-79D6B0FD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27048"/>
            <a:ext cx="5029200" cy="1975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stroke(40, 100, 210);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strokeWeight(5);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line(40, 220, 360, 220);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</a:pPr>
            <a:r>
              <a:rPr sz="1350" b="0" i="0" u="none" cap="none">
                <a:solidFill>
                  <a:srgbClr val="E8A33D"/>
                </a:solidFill>
                <a:latin typeface="Courier New"/>
                <a:ea typeface="Courier New"/>
                <a:cs typeface="Courier New"/>
              </a:rP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fill(80);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noStroke();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ellipse(200, 220, 55, 55);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ourier New"/>
              <a:buNone/>
              <a:defRPr sz="14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" name="Google Shape;140;p10">
            <a:extLst xmlns:a="http://schemas.openxmlformats.org/drawingml/2006/main">
              <a:ext uri="{FF2B5EF4-FFF2-40B4-BE49-F238E27FC236}">
                <a16:creationId xmlns:a16="http://schemas.microsoft.com/office/drawing/2014/main" id="{86D61CF0-9244-478C-8683-655CCA95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">
            <a:extLst xmlns:a="http://schemas.openxmlformats.org/drawingml/2006/main">
              <a:ext uri="{FF2B5EF4-FFF2-40B4-BE49-F238E27FC236}">
                <a16:creationId xmlns:a16="http://schemas.microsoft.com/office/drawing/2014/main" id="{7545CAB9-FDB6-4017-93A2-C28ABD7F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2" name="Google Shape;142;p10">
            <a:extLst xmlns:a="http://schemas.openxmlformats.org/drawingml/2006/main">
              <a:ext uri="{FF2B5EF4-FFF2-40B4-BE49-F238E27FC236}">
                <a16:creationId xmlns:a16="http://schemas.microsoft.com/office/drawing/2014/main" id="{74DC62E4-5C08-4C7E-9D72-2AE69E37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995928"/>
            <a:ext cx="507492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Append these lines after slide 17.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3" name="Google Shape;143;p10">
            <a:extLst xmlns:a="http://schemas.openxmlformats.org/drawingml/2006/main">
              <a:ext uri="{FF2B5EF4-FFF2-40B4-BE49-F238E27FC236}">
                <a16:creationId xmlns:a16="http://schemas.microsoft.com/office/drawing/2014/main" id="{BEEAAE05-DB26-4457-B06F-8FC5598A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920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">
            <a:extLst xmlns:a="http://schemas.openxmlformats.org/drawingml/2006/main">
              <a:ext uri="{FF2B5EF4-FFF2-40B4-BE49-F238E27FC236}">
                <a16:creationId xmlns:a16="http://schemas.microsoft.com/office/drawing/2014/main" id="{A736C675-992B-4636-BF0B-369B3F39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920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5" name="Google Shape;145;p10">
            <a:extLst xmlns:a="http://schemas.openxmlformats.org/drawingml/2006/main">
              <a:ext uri="{FF2B5EF4-FFF2-40B4-BE49-F238E27FC236}">
                <a16:creationId xmlns:a16="http://schemas.microsoft.com/office/drawing/2014/main" id="{9383629E-CCD3-436B-B331-9C62440D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64608"/>
            <a:ext cx="507492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Compile and compare with the specification.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6" name="Google Shape;146;p10">
            <a:extLst xmlns:a="http://schemas.openxmlformats.org/drawingml/2006/main">
              <a:ext uri="{FF2B5EF4-FFF2-40B4-BE49-F238E27FC236}">
                <a16:creationId xmlns:a16="http://schemas.microsoft.com/office/drawing/2014/main" id="{FE26B67F-BB42-4DA9-9F51-1ED0B984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607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">
            <a:extLst xmlns:a="http://schemas.openxmlformats.org/drawingml/2006/main">
              <a:ext uri="{FF2B5EF4-FFF2-40B4-BE49-F238E27FC236}">
                <a16:creationId xmlns:a16="http://schemas.microsoft.com/office/drawing/2014/main" id="{51D33A7A-27A9-49A7-9BFF-4818B91A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607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8" name="Google Shape;148;p10">
            <a:extLst xmlns:a="http://schemas.openxmlformats.org/drawingml/2006/main">
              <a:ext uri="{FF2B5EF4-FFF2-40B4-BE49-F238E27FC236}">
                <a16:creationId xmlns:a16="http://schemas.microsoft.com/office/drawing/2014/main" id="{39EE312B-2705-4BC2-9F1A-E7480B75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733288"/>
            <a:ext cx="50749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Return to the peer explanation on slide 14.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9" name="Google Shape;149;p10">
            <a:extLst xmlns:a="http://schemas.openxmlformats.org/drawingml/2006/main">
              <a:ext uri="{FF2B5EF4-FFF2-40B4-BE49-F238E27FC236}">
                <a16:creationId xmlns:a16="http://schemas.microsoft.com/office/drawing/2014/main" id="{456D8223-5AA4-4081-B79A-568BA06D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325880"/>
            <a:ext cx="5257800" cy="512064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">
            <a:extLst xmlns:a="http://schemas.openxmlformats.org/drawingml/2006/main">
              <a:ext uri="{FF2B5EF4-FFF2-40B4-BE49-F238E27FC236}">
                <a16:creationId xmlns:a16="http://schemas.microsoft.com/office/drawing/2014/main" id="{FE1D87EA-E827-4658-9C33-3B3DA7A3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1527048"/>
            <a:ext cx="4745736" cy="4754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4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complete, standalone program is also available in the StyleSketch_Complete BlueJ example project.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30008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C7AF7F88-2331-4842-9EB9-572A2CC4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Appendix: Troubleshooting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3DB1B71F-75E6-4627-8895-B6AC6826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Diagnose the state before rewriting the scene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08E4B314-C329-4204-8E23-A48ED415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B0AE2A40-9138-4AB3-A615-281CED6A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B1.2.2 · Color, Stroke &amp; Fill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74601DE4-D932-4FC4-843A-101B459D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5778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6C97500B-A4CC-48D7-B917-81C09DB9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51206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Shape invisible? Check whether noFill() and noStroke() are both active.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Wrong colour? Find the most recent fill() or stroke() above the shape.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Line unchanged? Remember that fill() never affects line().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Outline wrong? Check both stroke() and strokeWeight().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38F16BED-B08E-4D61-A7EF-951E6671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349240" cy="448056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73C71AE2-EBE8-4DC8-918A-43ECF5E6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572768"/>
            <a:ext cx="48371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Program will not run?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E5D96534-C11C-4E67-9F8F-D803D426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938528"/>
            <a:ext cx="4837176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PApplet unresolved → confirm core-4.5.6.jar is (Loaded), then restart BlueJ.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Class mismatch → the class name, file name, and PApplet.main("StyleSketch") must agree.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Red stripes → compile and read the first error before changing later lines.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9016512"/>
      </p:ext>
    </p:extLst>
  </p:cSld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2026-08-25T13:44:35.4270000Z</dcterms:created>
  <dcterms:modified xsi:type="dcterms:W3CDTF">2026-08-25T13:44:35.4270000Z</dcterms:modified>
</coreProperties>
</file>