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fbe4e89c7466a" /><Relationship Type="http://schemas.openxmlformats.org/officeDocument/2006/relationships/extended-properties" Target="/docProps/app.xml" Id="Ref78f9ed59d14f64" /><Relationship Type="http://schemas.openxmlformats.org/officeDocument/2006/relationships/officeDocument" Target="/ppt/presentation.xml" Id="Rab0f411b035b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5a7dda1ce4d12"/>
  </p:sldMasterIdLst>
  <p:notesMasterIdLst>
    <p:notesMasterId xmlns:r="http://schemas.openxmlformats.org/officeDocument/2006/relationships" r:id="R1439341887504c2f"/>
  </p:notesMasterIdLst>
  <p:sldIdLst>
    <p:sldId xmlns:r="http://schemas.openxmlformats.org/officeDocument/2006/relationships" id="256" r:id="R01c405712d8e40b0"/>
    <p:sldId xmlns:r="http://schemas.openxmlformats.org/officeDocument/2006/relationships" id="257" r:id="Rab38c7ea903d45e7"/>
    <p:sldId xmlns:r="http://schemas.openxmlformats.org/officeDocument/2006/relationships" id="258" r:id="Rc945c6c291c04b8e"/>
    <p:sldId xmlns:r="http://schemas.openxmlformats.org/officeDocument/2006/relationships" id="259" r:id="Rd76c895bee2141f4"/>
    <p:sldId xmlns:r="http://schemas.openxmlformats.org/officeDocument/2006/relationships" id="260" r:id="Rb7d10b2bf8494bdb"/>
    <p:sldId xmlns:r="http://schemas.openxmlformats.org/officeDocument/2006/relationships" id="261" r:id="R96d7e6a5008b4072"/>
    <p:sldId xmlns:r="http://schemas.openxmlformats.org/officeDocument/2006/relationships" id="262" r:id="R9cb7ee8ac64e4ba8"/>
    <p:sldId xmlns:r="http://schemas.openxmlformats.org/officeDocument/2006/relationships" id="263" r:id="Rf39dd31f96814d64"/>
    <p:sldId xmlns:r="http://schemas.openxmlformats.org/officeDocument/2006/relationships" id="264" r:id="Rf6742225809c4e25"/>
    <p:sldId xmlns:r="http://schemas.openxmlformats.org/officeDocument/2006/relationships" id="265" r:id="R82b946f9a29b4040"/>
    <p:sldId xmlns:r="http://schemas.openxmlformats.org/officeDocument/2006/relationships" id="266" r:id="R9693cc2338ab4f54"/>
    <p:sldId xmlns:r="http://schemas.openxmlformats.org/officeDocument/2006/relationships" id="267" r:id="Rd0d6314ddc6d421a"/>
    <p:sldId xmlns:r="http://schemas.openxmlformats.org/officeDocument/2006/relationships" id="268" r:id="R4346fba31c474641"/>
    <p:sldId xmlns:r="http://schemas.openxmlformats.org/officeDocument/2006/relationships" id="269" r:id="Raf42a4e9b4164a33"/>
    <p:sldId xmlns:r="http://schemas.openxmlformats.org/officeDocument/2006/relationships" id="270" r:id="Rfe45036a23394660"/>
    <p:sldId xmlns:r="http://schemas.openxmlformats.org/officeDocument/2006/relationships" id="271" r:id="R53fa60602c304202"/>
    <p:sldId xmlns:r="http://schemas.openxmlformats.org/officeDocument/2006/relationships" id="272" r:id="R613ee597206c4b18"/>
    <p:sldId xmlns:r="http://schemas.openxmlformats.org/officeDocument/2006/relationships" id="273" r:id="R29d354118d0140c8"/>
    <p:sldId xmlns:r="http://schemas.openxmlformats.org/officeDocument/2006/relationships" id="274" r:id="R63c4b32c14d9434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4b397ae044b22" /><Relationship Type="http://schemas.openxmlformats.org/officeDocument/2006/relationships/slideMaster" Target="/ppt/slideMasters/slideMaster1.xml" Id="R1cd5a7dda1ce4d12" /><Relationship Type="http://schemas.openxmlformats.org/officeDocument/2006/relationships/notesMaster" Target="/ppt/notesMasters/notesMaster1.xml" Id="R1439341887504c2f" /><Relationship Type="http://schemas.openxmlformats.org/officeDocument/2006/relationships/presProps" Target="/ppt/presProps.xml" Id="R37a08948cc8147bb" /><Relationship Type="http://schemas.openxmlformats.org/officeDocument/2006/relationships/tableStyles" Target="/ppt/tableStyles.xml" Id="R65950517652147e4" /><Relationship Type="http://schemas.openxmlformats.org/officeDocument/2006/relationships/slide" Target="/ppt/slides/slide1.xml" Id="R01c405712d8e40b0" /><Relationship Type="http://schemas.openxmlformats.org/officeDocument/2006/relationships/slide" Target="/ppt/slides/slide2.xml" Id="Rab38c7ea903d45e7" /><Relationship Type="http://schemas.openxmlformats.org/officeDocument/2006/relationships/slide" Target="/ppt/slides/slide3.xml" Id="Rc945c6c291c04b8e" /><Relationship Type="http://schemas.openxmlformats.org/officeDocument/2006/relationships/slide" Target="/ppt/slides/slide4.xml" Id="Rd76c895bee2141f4" /><Relationship Type="http://schemas.openxmlformats.org/officeDocument/2006/relationships/slide" Target="/ppt/slides/slide5.xml" Id="Rb7d10b2bf8494bdb" /><Relationship Type="http://schemas.openxmlformats.org/officeDocument/2006/relationships/slide" Target="/ppt/slides/slide6.xml" Id="R96d7e6a5008b4072" /><Relationship Type="http://schemas.openxmlformats.org/officeDocument/2006/relationships/slide" Target="/ppt/slides/slide7.xml" Id="R9cb7ee8ac64e4ba8" /><Relationship Type="http://schemas.openxmlformats.org/officeDocument/2006/relationships/slide" Target="/ppt/slides/slide8.xml" Id="Rf39dd31f96814d64" /><Relationship Type="http://schemas.openxmlformats.org/officeDocument/2006/relationships/slide" Target="/ppt/slides/slide9.xml" Id="Rf6742225809c4e25" /><Relationship Type="http://schemas.openxmlformats.org/officeDocument/2006/relationships/slide" Target="/ppt/slides/slide10.xml" Id="R82b946f9a29b4040" /><Relationship Type="http://schemas.openxmlformats.org/officeDocument/2006/relationships/slide" Target="/ppt/slides/slide11.xml" Id="R9693cc2338ab4f54" /><Relationship Type="http://schemas.openxmlformats.org/officeDocument/2006/relationships/slide" Target="/ppt/slides/slide12.xml" Id="Rd0d6314ddc6d421a" /><Relationship Type="http://schemas.openxmlformats.org/officeDocument/2006/relationships/slide" Target="/ppt/slides/slide13.xml" Id="R4346fba31c474641" /><Relationship Type="http://schemas.openxmlformats.org/officeDocument/2006/relationships/slide" Target="/ppt/slides/slide14.xml" Id="Raf42a4e9b4164a33" /><Relationship Type="http://schemas.openxmlformats.org/officeDocument/2006/relationships/slide" Target="/ppt/slides/slide15.xml" Id="Rfe45036a23394660" /><Relationship Type="http://schemas.openxmlformats.org/officeDocument/2006/relationships/slide" Target="/ppt/slides/slide16.xml" Id="R53fa60602c304202" /><Relationship Type="http://schemas.openxmlformats.org/officeDocument/2006/relationships/slide" Target="/ppt/slides/slide17.xml" Id="R613ee597206c4b18" /><Relationship Type="http://schemas.openxmlformats.org/officeDocument/2006/relationships/slide" Target="/ppt/slides/slide18.xml" Id="R29d354118d0140c8" /><Relationship Type="http://schemas.openxmlformats.org/officeDocument/2006/relationships/slide" Target="/ppt/slides/slide19.xml" Id="R63c4b32c14d9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3632205cc40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337783c79451f" /><Relationship Type="http://schemas.openxmlformats.org/officeDocument/2006/relationships/notesMaster" Target="/ppt/notesMasters/notesMaster1.xml" Id="Rd7024c9e463b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6df34e331c43a4" /><Relationship Type="http://schemas.openxmlformats.org/officeDocument/2006/relationships/notesMaster" Target="/ppt/notesMasters/notesMaster1.xml" Id="R71733febfe6149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1f9f529f941eb" /><Relationship Type="http://schemas.openxmlformats.org/officeDocument/2006/relationships/notesMaster" Target="/ppt/notesMasters/notesMaster1.xml" Id="Rf2180b04298e49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c87f7d8fb94ffc" /><Relationship Type="http://schemas.openxmlformats.org/officeDocument/2006/relationships/notesMaster" Target="/ppt/notesMasters/notesMaster1.xml" Id="Rab18411a4b594b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4a49f97764a03" /><Relationship Type="http://schemas.openxmlformats.org/officeDocument/2006/relationships/notesMaster" Target="/ppt/notesMasters/notesMaster1.xml" Id="R6799c355b43747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7a5ec22be4068" /><Relationship Type="http://schemas.openxmlformats.org/officeDocument/2006/relationships/notesMaster" Target="/ppt/notesMasters/notesMaster1.xml" Id="R32588ffe796240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145278be384909" /><Relationship Type="http://schemas.openxmlformats.org/officeDocument/2006/relationships/notesMaster" Target="/ppt/notesMasters/notesMaster1.xml" Id="R9f939f7189e54f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a870dd0784a17" /><Relationship Type="http://schemas.openxmlformats.org/officeDocument/2006/relationships/notesMaster" Target="/ppt/notesMasters/notesMaster1.xml" Id="R71e29c502a6c48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0659bcd140481a" /><Relationship Type="http://schemas.openxmlformats.org/officeDocument/2006/relationships/notesMaster" Target="/ppt/notesMasters/notesMaster1.xml" Id="R14c5e94146b349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26d85839c24ce7" /><Relationship Type="http://schemas.openxmlformats.org/officeDocument/2006/relationships/notesMaster" Target="/ppt/notesMasters/notesMaster1.xml" Id="R2976b14ede0141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a137361da848b7" /><Relationship Type="http://schemas.openxmlformats.org/officeDocument/2006/relationships/notesMaster" Target="/ppt/notesMasters/notesMaster1.xml" Id="R582c49b3174949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dab2cef3d44c07" /><Relationship Type="http://schemas.openxmlformats.org/officeDocument/2006/relationships/notesMaster" Target="/ppt/notesMasters/notesMaster1.xml" Id="Rba80de0ce8ae49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4bffcff51b40c0" /><Relationship Type="http://schemas.openxmlformats.org/officeDocument/2006/relationships/notesMaster" Target="/ppt/notesMasters/notesMaster1.xml" Id="Rd654d7a7612d47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05e77cf43b48d4" /><Relationship Type="http://schemas.openxmlformats.org/officeDocument/2006/relationships/notesMaster" Target="/ppt/notesMasters/notesMaster1.xml" Id="Rb20f507815d744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9dea05b759416c" /><Relationship Type="http://schemas.openxmlformats.org/officeDocument/2006/relationships/notesMaster" Target="/ppt/notesMasters/notesMaster1.xml" Id="R6ab65ddb9e0449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305d02b3874087" /><Relationship Type="http://schemas.openxmlformats.org/officeDocument/2006/relationships/notesMaster" Target="/ppt/notesMasters/notesMaster1.xml" Id="R7386cbd9f6f049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397d2f74fa4ac1" /><Relationship Type="http://schemas.openxmlformats.org/officeDocument/2006/relationships/notesMaster" Target="/ppt/notesMasters/notesMaster1.xml" Id="R3d77a3b490d841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58ce41406c4ec1" /><Relationship Type="http://schemas.openxmlformats.org/officeDocument/2006/relationships/notesMaster" Target="/ppt/notesMasters/notesMaster1.xml" Id="R6f9d0737427041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b45810ec9c47ff" /><Relationship Type="http://schemas.openxmlformats.org/officeDocument/2006/relationships/notesMaster" Target="/ppt/notesMasters/notesMaster1.xml" Id="R9b032e5834bc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“Today you will prove what an unfamiliar program does before you run or edit it.”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understand that the programming rules remain familiar even when the author is not.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all four retrieval questions before discussing answers.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settings() runs before setup() in this BlueJ/PApplet structure; setup() runs once; draw() repeats; fields persist; update order and drawing arguments determine visible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https://processing.org/reference/setup_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Introduce the routine as a reusable habit. Require students to point to code evidence for every prediction.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can state the four stages: read, trace, predict, modify and check.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the BlueJ clicks and pause until each student has a TraceSketch class tile.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Project: B1_4_Read_Trace_Modify. Class: TraceSketch.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Java file, public class, and PApplet.main() string must use the same spelling.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Paste and compile, but stop students from running main. The delayed run makes the prediction meaningful.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class compiles without syntax errors.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methods in execution order: settings(), setup(), then repeating draw(). Ask what each contributes before discussing variables.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settings() defines the canvas; setup() establishes one-time style and requested frame rate; draw() clears, updates, styles, and draws.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https://processing.org/reference/setup_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label each declaration F for field or L for local and explain what survives.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x, vx, d, and growth are fields. shade is local. x and d accumulate; shade is recreated at 180 and does not accumulate.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MISCONCEPTION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does not mean invisible or useless. shade still affects fill() on every current frame.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build two trace columns and work in exact draw() order before revealing values.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Visible pairs: (24,16), (28,17), (32,18). Frame 4 is (36,19).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 a written prediction covering position, size, color, motion, and trail before running.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Mid-gray circle, small near left, moving right and growing, no trail. The animation should match every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Give silent reading time. Students answer all four prompts on paper before opening the supplied project.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settings() defines the canvas; setup() sets stroke, fill, and frame rate; draw() clears, updates y and w, sets line weight, and draws. y, vy, w, shrink are fields; strokeW is local.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trace y and w independently, then combine the values only after both columns are complete.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After frames 1–3: y is 177, 174, 171; w is 59, 58, 57. The rectangle moves up because screen y decreases and shrinks because w decreases.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Change only vy from -3 to -6. Ask students to retrace before running TraceSketch_Complete.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After frames 1–3: y is 174, 168, 162. Width remains 59, 58, 57 because shrink was not 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MISCONCEPTION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negative velocity is not automatically slower. Its sign controls direction; its magnitude controls the amount of change per frame.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Change the local shade value from 180 to 80. Ask which predictions should stay identical.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circle becomes darker. Its position, growth, direction, and absence of trails do not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Partners audit one claim each for structure, scope, trace, and modification. The author must point to the exact supporting 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Every claim is tied to code evidence, and any disagreement is resolved by the order of statements in draw().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Collect the exit response before revealing the answer. Close by naming the transferable routine.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After two frames, y = 110 and w = 36. The rectangle moves down and shrinks. Students can state read, trace, predict, modify, check.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NEXT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B2 applies this evidence-first habit to more complex program behaviour.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appendix for paste recovery, whole-class comparison, or students who need the complete circle source.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appendix to restore the original rectangle before the deliberate modification.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appendix to compare the one-line vy modification with the unchanged original.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Only vertical displacement per frame changes; width still decreases by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Diagnose in this order: library loaded, class-name agreement, then first trace divergence.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PApplet is unresolved, confirm core-4.5.6.jar is marked Loaded and restart BlueJ. If the wrong class opens, ensure the file, public class, and PApplet.main() string all say TraceSketch.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40dbf39734fd4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4463f7f5a4cb7" /><Relationship Type="http://schemas.openxmlformats.org/officeDocument/2006/relationships/slideLayout" Target="/ppt/slideLayouts/slideLayout1.xml" Id="Rda8bcffb4d2541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8bcffb4d25413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f8ec310484e48" /><Relationship Type="http://schemas.openxmlformats.org/officeDocument/2006/relationships/notesSlide" Target="/ppt/notesSlides/notesSlide1.xml" Id="Rd452d1c025964c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db85339654eb3" /><Relationship Type="http://schemas.openxmlformats.org/officeDocument/2006/relationships/notesSlide" Target="/ppt/notesSlides/notesSlide2.xml" Id="Rc275c6c0ded1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5fe3108fb466c" /><Relationship Type="http://schemas.openxmlformats.org/officeDocument/2006/relationships/notesSlide" Target="/ppt/notesSlides/notesSlide3.xml" Id="Rc45ed1f08171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eae0ff16b4c9c" /><Relationship Type="http://schemas.openxmlformats.org/officeDocument/2006/relationships/notesSlide" Target="/ppt/notesSlides/notesSlide4.xml" Id="Rb2965c897cb8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f811fba243b2" /><Relationship Type="http://schemas.openxmlformats.org/officeDocument/2006/relationships/notesSlide" Target="/ppt/notesSlides/notesSlide5.xml" Id="Rf642f025f327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8d6890fbc4714" /><Relationship Type="http://schemas.openxmlformats.org/officeDocument/2006/relationships/notesSlide" Target="/ppt/notesSlides/notesSlide6.xml" Id="Rc8cd26d2f76a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587a16aa44a5a" /><Relationship Type="http://schemas.openxmlformats.org/officeDocument/2006/relationships/notesSlide" Target="/ppt/notesSlides/notesSlide7.xml" Id="R4a0eb488f63a4e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e12b6bc6e4c49" /><Relationship Type="http://schemas.openxmlformats.org/officeDocument/2006/relationships/notesSlide" Target="/ppt/notesSlides/notesSlide8.xml" Id="Rac6b9f94a6c34c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bc2830ce04027" /><Relationship Type="http://schemas.openxmlformats.org/officeDocument/2006/relationships/notesSlide" Target="/ppt/notesSlides/notesSlide9.xml" Id="R916ef528c61f49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ad26dec04b2d" /><Relationship Type="http://schemas.openxmlformats.org/officeDocument/2006/relationships/notesSlide" Target="/ppt/notesSlides/notesSlide10.xml" Id="R82b2fddce2ba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614d3ddf84e37" /><Relationship Type="http://schemas.openxmlformats.org/officeDocument/2006/relationships/notesSlide" Target="/ppt/notesSlides/notesSlide11.xml" Id="R151467685a3849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771ca7f84aaf" /><Relationship Type="http://schemas.openxmlformats.org/officeDocument/2006/relationships/notesSlide" Target="/ppt/notesSlides/notesSlide12.xml" Id="Re01617ac6d7e4e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dbfdcd6814cb7" /><Relationship Type="http://schemas.openxmlformats.org/officeDocument/2006/relationships/notesSlide" Target="/ppt/notesSlides/notesSlide13.xml" Id="Rfc2378215e3445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ac371f2247c5" /><Relationship Type="http://schemas.openxmlformats.org/officeDocument/2006/relationships/notesSlide" Target="/ppt/notesSlides/notesSlide14.xml" Id="R000ef320304846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2e8bf7a1a4f61" /><Relationship Type="http://schemas.openxmlformats.org/officeDocument/2006/relationships/notesSlide" Target="/ppt/notesSlides/notesSlide15.xml" Id="R6cda27ca070b47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d154060634489" /><Relationship Type="http://schemas.openxmlformats.org/officeDocument/2006/relationships/notesSlide" Target="/ppt/notesSlides/notesSlide16.xml" Id="Rabd0fc5cdb4a46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129ae41f6498f" /><Relationship Type="http://schemas.openxmlformats.org/officeDocument/2006/relationships/notesSlide" Target="/ppt/notesSlides/notesSlide17.xml" Id="R64dd80cb87f445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91693248d488c" /><Relationship Type="http://schemas.openxmlformats.org/officeDocument/2006/relationships/notesSlide" Target="/ppt/notesSlides/notesSlide18.xml" Id="R8d5e877debd844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171b6fe444b72" /><Relationship Type="http://schemas.openxmlformats.org/officeDocument/2006/relationships/notesSlide" Target="/ppt/notesSlides/notesSlide19.xml" Id="R27d5934acc9e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41220B2-26F6-4459-81E4-2D05D80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3313EB-4420-482C-A24F-1F56720D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4577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B1.4 — Read, Trace &amp; Deliberately Modify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CD27017-FB10-4456-B450-ECA9B61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  <a:defRPr sz="1800" i="1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Understand someone else’s sketch before changing it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FA8B25FD-F855-4829-B601-F60A994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7ECCE9-5F44-40A1-8B92-75ED803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264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FC3428-AA5A-449F-9EB9-E94304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the Rules You Already Know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595DE65-2022-4F3F-A275-7CDBC1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Unit B1 knowledge to read code you did not write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699A08F-6159-4B51-B13A-F69F900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DEFE803-B6FA-4DAC-A26A-891BB5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C326AA7-3E9A-4B38-9ECA-6C8EF0A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882640A-E7C6-4C5F-9DB0-ECBCDD2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What runs before setup() in our BlueJ Processing classes?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Which method runs once, and which repeats?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Where must a value live if it must survive between frames?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How do an update line and a drawing call create visible change?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990F121-11C7-4C7E-848D-04AC1A5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98243CE-A69D-4D67-BBCE-DD299D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TODAY’S SHIFT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rules have not changed. The author has.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will inspect unfamiliar code, trace its values on paper, predict what appears, make one deliberate edit, and then check your reasoning by running it.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958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FC3428-AA5A-449F-9EB9-E94304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Use the Read → Trace → Modify Routine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595DE65-2022-4F3F-A275-7CDBC1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repeatable method for unfamiliar sketches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699A08F-6159-4B51-B13A-F69F900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DEFE803-B6FA-4DAC-A26A-891BB5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C326AA7-3E9A-4B38-9ECA-6C8EF0A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882640A-E7C6-4C5F-9DB0-ECBCDD2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  Find settings(), setup(), draw(), fields, and local variables.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 Follow each changing value in draw() order.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 Describe position, size, style, and motion before running.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MODIFY + CHECK  Change one value; predict again; then run.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990F121-11C7-4C7E-848D-04AC1A5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98243CE-A69D-4D67-BBCE-DD299D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SUCCESS LOOKS LIKE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explain an unfamiliar sketch without guessing from its name.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trace matches the first visible frames.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After one edit, you can state exactly what will change—and what will stay the same.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958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FC3428-AA5A-449F-9EB9-E94304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the Lesson Project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595DE65-2022-4F3F-A275-7CDBC1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Create one workspace for today’s unfamiliar programs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699A08F-6159-4B51-B13A-F69F900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DEFE803-B6FA-4DAC-A26A-891BB5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C326AA7-3E9A-4B38-9ECA-6C8EF0A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882640A-E7C6-4C5F-9DB0-ECBCDD2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B1_4_Read_Trace_Modify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990F121-11C7-4C7E-848D-04AC1A5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98243CE-A69D-4D67-BBCE-DD299D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THE CLASS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TraceSketch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generated template with the program on the next slide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958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Load the Unfamiliar Circle—Do Not Run Yet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Compile first; reading and prediction come before animation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TraceSketch extends PApplet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20, vx = 4;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d = 15, growth = 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frameRate(10);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int shade = 180;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 = d + growth;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fill(shade);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d, d);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PApplet.main("TraceSketch");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CHECKPOINT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the program, but do not run main yet.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Expected: “Class compiled — no syntax errors.”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Project supplied: TraceSketch_Circle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IT DOES NOT COMPILE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PApplet unresolved → confirm core-4.5.6.jar is (Loaded); restart BlueJ.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mismatch → file, public class, and PApplet.main() spelling must agree.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Read the Program’s Structure First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Locate what runs before, once, and repeatedly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settings()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size(400, 300);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noStroke();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frameRate(10);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int shade = 180;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background(255);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 = d + growth;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fill(shade);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d, d);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0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BEFORE + ONCE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settings() runs before setup() and defines the 400 × 300 canvas for this external Java sketch.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setup() runs once: no outline and a slower requested frame rate.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REPEATEDLY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draw() clears the frame, updates x and d, sets the gray fill, and draws the circle.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in execution order—not by which line looks most important.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Classify Fields and Local Variables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Location determines what a value can remember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20;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4;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d = 15;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growth = 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int shade = 180;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 = d + growth;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fill(shade);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d, d);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PERSISTENT FIELDS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x, vx, d, and growth are declared in the class. They are available to every method and survive between draw() calls.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 and d accumulate because draw() updates them.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 VALUE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shade is declared inside draw(). A new shade variable is created at 180 on every call.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affects the current fill, but it does not accumulate because no previous shade survives.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624085B3-39C3-4D3E-A49A-2EC923F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Trace x and d in Draw Order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50FA07F0-E438-4BCF-B3E1-BA34F89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Calculate the first three visible frames before running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B25C441F-04DE-433C-A7B0-F90D36D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2C7F762C-83AB-4CF3-A8F2-78757A8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6F4B35F3-768A-496B-A4AF-B4F8130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91AF6F18-513F-4B7C-8D5E-FCDAACC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1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 = d + growth;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141D428-FDB2-4F55-9123-EC1A5B5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512064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BB19C4EF-9046-420F-8662-420EB801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04058"/>
            <a:ext cx="4718304" cy="2644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TABLE — START x = 20, d = 15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1: x = 24, d = 16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2: x = 28, d = 17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3: x = 32, d = 18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updates run before ellipse(), so these are the visible values.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6C23C44F-90CB-49F5-B16F-F0705271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5CE63E43-891F-4452-BC3B-2D91B9C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205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TWO INDEPENDENT CHAINS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uses its own previous x and vx. d uses its own previous d and growth.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each column separately; combine them only when reading ellipse(x, 150, d, 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909A2061-F2BD-46CB-B784-71BCA0E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31920"/>
            <a:ext cx="56052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D3E37356-0C5D-456A-9F60-D85F3FA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72738"/>
            <a:ext cx="520293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center and diameter appear on frame 4?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Expected: x = 36 and d = 19.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144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624085B3-39C3-4D3E-A49A-2EC923F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Turn the Trace into a Prediction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50FA07F0-E438-4BCF-B3E1-BA34F89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Describe what will be visible, then run the program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B25C441F-04DE-433C-A7B0-F90D36D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2C7F762C-83AB-4CF3-A8F2-78757A8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6F4B35F3-768A-496B-A4AF-B4F8130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91AF6F18-513F-4B7C-8D5E-FCDAACC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1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x: 20 → 24 → 28 → 32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d: 15 → 16 → 17 → 18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141D428-FDB2-4F55-9123-EC1A5B5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512064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BB19C4EF-9046-420F-8662-420EB801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04058"/>
            <a:ext cx="4718304" cy="2644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mid-gray circle begins small near the left. It moves right and grows. background(255) clears old pictures, so there is no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It eventually leaves the canvas; no edge behavior is present.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6C23C44F-90CB-49F5-B16F-F0705271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5CE63E43-891F-4452-BC3B-2D91B9C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205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FROM CODE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Right: vx is positive.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Grow: growth is positive.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Gray: shade is 180.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trail: background() runs first in draw().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909A2061-F2BD-46CB-B784-71BCA0E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31920"/>
            <a:ext cx="56052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D3E37356-0C5D-456A-9F60-D85F3FA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72738"/>
            <a:ext cx="520293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+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TraceSketch_Circle. Compare the animation with every part of your written prediction. Record one match and any mismatch.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144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FBC1D261-0FC6-482E-8313-51940B6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Read a Second Unfamiliar Sketch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FFA46B5E-3B7F-434F-8262-A8928F8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Work on paper before running TraceSketch_Rectangle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E272C79A-8AC4-4939-B17E-44EF5C53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CDEC529A-55EF-433E-BF45-D6211F5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BBB1D73E-D90B-46DC-B4B0-0FFC09F7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DF4B996C-CF0D-47E7-81B7-8D3C56E6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y = 180, vy = -3;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w = 60, shrink = -1;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settings()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size(400, 300);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stroke(0); fill(170); frameRate(10);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int strokeW = 2;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background(230);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 = y + vy;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w = w + shrink;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strokeWeight(strokeW);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rect(50, y, w, w);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  <a:defRPr sz="10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20816F9F-C81A-410C-8529-EF504C86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523951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 paper, before running anything: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816D3952-D604-4D80-A696-BA840F1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1367B525-740A-4054-8DEE-212EF37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50B3F97C-7AA3-4527-BDBF-0F05CDA2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64515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Identify what settings(), setup(), and draw() each do.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ACF5058F-1FF8-4D0D-8F71-A4D6BEC5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0F299D92-A75F-46BA-B44E-C65B9A2D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A0058F8D-4C16-4A10-AB99-603D637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60320"/>
            <a:ext cx="464515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Classify y, vy, w, shrink, and strokeW as fields or local variables.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BADF7457-D7D1-49A2-B464-555345FA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5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5222CDC5-71DF-45E8-8F57-DC60E4C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5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C991EDF3-9F39-406A-B2F0-1BFC75ED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291840"/>
            <a:ext cx="464515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y and w for the first 3 visible frames.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0C404B5A-5DE2-4351-870A-17AFD888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D48D835D-B099-4E50-B8EC-4465F50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94076E9E-20F5-4184-B5BD-F03DB5D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23360"/>
            <a:ext cx="464515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position, size, fill, outline, and motion. Then run and check.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7110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624085B3-39C3-4D3E-A49A-2EC923F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Trace y and w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50FA07F0-E438-4BCF-B3E1-BA34F89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the rectangle’s update order to predict three frames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B25C441F-04DE-433C-A7B0-F90D36D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2C7F762C-83AB-4CF3-A8F2-78757A8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6F4B35F3-768A-496B-A4AF-B4F8130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91AF6F18-513F-4B7C-8D5E-FCDAACC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1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y = y + vy;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w = w + shrink;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141D428-FDB2-4F55-9123-EC1A5B5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5120640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BB19C4EF-9046-420F-8662-420EB801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04058"/>
            <a:ext cx="4718304" cy="2644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TABLE — START y = 180, w = 60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1: y = 177, w = 59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2: y = 174, w = 58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 3: y = 171, w = 57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These values become rect(50, y, w, w).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6C23C44F-90CB-49F5-B16F-F0705271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5CE63E43-891F-4452-BC3B-2D91B9C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205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VALUES MEAN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vy decreases screen y, so the rectangle moves up. Negative shrink decreases w, so it becomes narrower and shorter.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strokeW is local and resets to 2 each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909A2061-F2BD-46CB-B784-71BCA0E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31920"/>
            <a:ext cx="56052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D3E37356-0C5D-456A-9F60-D85F3FA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72738"/>
            <a:ext cx="520293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+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TraceSketch_Rectangle. Expected: a gray outlined square moves upward and shrinks, with a 2-pixel outline and no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144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7FA483F3-F165-4934-95B8-B7F5675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Modify vy: Predict Before You Edit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7CFC5843-4C4C-4278-8F2E-6B800D0C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Change one field from -3 to -6; keep everything else identical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593EAE8A-BF07-4BF7-94D1-7607F18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8714813C-8690-4B14-824F-AE2AEF3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9E79A42-F367-46D2-8831-A521E55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5F44D1DD-CC00-4E5B-9E0D-5C4F69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original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1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vy = -3;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deliberate change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vy = -6;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4B1D5865-1167-47B2-AE2C-BF3AAD2F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512064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9A6FD347-A87A-4E4A-B599-C6E796EF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8298"/>
            <a:ext cx="4718304" cy="1181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FIRST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Will direction, starting point, width change, outline, or vertical change per frame be different? State each answer before editing.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47DB22BE-4327-4503-89BE-265D9B31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1206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E1816084-2955-48A6-97E1-7E316EC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38498"/>
            <a:ext cx="4718304" cy="154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WORKED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Original y: 180 → 177 → 174 → 171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Modified y: 180 → 174 → 168 → 162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Same upward direction; twice the vertical change per frame. w still decreases by 1.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97B9718E-3747-4E9F-B27D-710FAED8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Now make the change yourself: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810DE580-842B-477C-A633-05F4618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2C845948-6B66-42A5-B0B4-9AD9561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E4530319-4A6C-43B5-A432-A35E0622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024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TraceSketch_Rectangle and change only vy from -3 to -6.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644A8A0-8F0D-45BC-8D16-9D2E59E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17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D981A9FB-8ADA-4C38-A433-DB1030D5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17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EE785ACC-5462-408C-BD54-D2C4C93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and run. Compare direction and per-frame change with your trace.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64FE437C-C9FF-4256-9C9A-D23A3C52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691C7A31-2057-46CF-AAF5-026A346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2B3E50F-F249-4D60-904A-B1DD460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336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Then run TraceSketch_Complete as the verified modified version.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397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7FA483F3-F165-4934-95B8-B7F5675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Modify a Local Style Value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7CFC5843-4C4C-4278-8F2E-6B800D0C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Change shade from 180 to 80; predict what cannot change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593EAE8A-BF07-4BF7-94D1-7607F18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8714813C-8690-4B14-824F-AE2AEF3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9E79A42-F367-46D2-8831-A521E55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5F44D1DD-CC00-4E5B-9E0D-5C4F69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original inside draw()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1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int shade = 180;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deliberate change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int shade = 80;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4B1D5865-1167-47B2-AE2C-BF3AAD2F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512064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9A6FD347-A87A-4E4A-B599-C6E796EF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8298"/>
            <a:ext cx="4718304" cy="1181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FIRST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Will the circle’s direction, growth, starting values, trail, or color change? Use the variables and drawing calls as evidence.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47DB22BE-4327-4503-89BE-265D9B31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1206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E1816084-2955-48A6-97E1-7E316EC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38498"/>
            <a:ext cx="4718304" cy="154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WORKED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and d traces are unchanged because shade does not appear in either update.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circle becomes darker because fill(shade) now receives 80 on every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97B9718E-3747-4E9F-B27D-710FAED8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  <a:defRPr sz="14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Now make the change yourself: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810DE580-842B-477C-A633-05F4618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2C845948-6B66-42A5-B0B4-9AD9561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E4530319-4A6C-43B5-A432-A35E0622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024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TraceSketch_Circle and change only the local shade from 180 to 80.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644A8A0-8F0D-45BC-8D16-9D2E59E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17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D981A9FB-8ADA-4C38-A433-DB1030D5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17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EE785ACC-5462-408C-BD54-D2C4C93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and run. Confirm the motion and growth are unchanged.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64FE437C-C9FF-4256-9C9A-D23A3C52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691C7A31-2057-46CF-AAF5-026A346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2B3E50F-F249-4D60-904A-B1DD460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3360"/>
            <a:ext cx="501091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Compare with TraceSketch_CircleDark. Explain why shade resets but still affects every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3975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FC3428-AA5A-449F-9EB9-E94304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Partner Audit: Explain Before Running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595DE65-2022-4F3F-A275-7CDBC1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evidence from structure, scope, updates, and drawing calls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699A08F-6159-4B51-B13A-F69F900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DEFE803-B6FA-4DAC-A26A-891BB5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C326AA7-3E9A-4B38-9ECA-6C8EF0A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882640A-E7C6-4C5F-9DB0-ECBCDD2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Name what runs before, once, and repeatedly.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Classify every variable as a field or local value.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Trace each changing field for three frames.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Connect the newest values to the shape arguments.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 Predict, then identify one safe single-value edit.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990F121-11C7-4C7E-848D-04AC1A5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98243CE-A69D-4D67-BBCE-DD299D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DEBUG THIS EXPLANATION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“The rectangle moves up because vy is negative.”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Good start—but incomplete. Add that y is updated before rect(), smaller screen y-values are higher, w also shrinks, strokeW stays 2, and background() prevents a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9589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9DF2FC8-90B8-4D7C-B024-0A5BC33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Read, Trace &amp; Modify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3E2E7977-3C34-43BF-B103-2A6A4EC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Finish Unit B1 with a repeatable code-reading method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B721E177-65F3-402A-BB02-54F9E4C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09B085D8-3651-4AF3-9630-228524E6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564D8BFB-B272-401A-AFD7-6A19069A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72E586E2-20FD-4F3B-9D09-8AEBBB11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  Find structure, fields, locals, updates, and drawing calls.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  Follow each changing value in execution order.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 Describe the visible result using code evidence.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MODIFY + CHECK  Change one value, predict again, then run.</a:t>
            </a: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A7738755-135C-4E60-A3FE-84DCAC0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694944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12D29251-A1D3-4A03-B468-54023728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6547104" cy="99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NEXT: UNIT B2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reading skill continues when programs use collections and more complex state. New mechanisms still need careful reading, tracing, prediction, and deliberate modification.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1A9A57E3-F001-4865-A00C-9445345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933BB9EB-F544-42ED-A793-7EDABAE0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EXIT TICKET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float y = 100, vy = 5;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float w = 40, shrink = -2;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= y + vy;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 = w + shrink;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rect(20, y, w, w);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After 2 frames: y = 110, w = 36. The square moves down and shrinks. Explain why.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93822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Unfamiliar Circle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verified project used on slides 5–9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TraceSketch extends PApplet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20, vx = 4;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d = 15, growth = 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frameRate(10);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int shade = 180;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 = d + growth;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fill(shade);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d, d);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PApplet.main("TraceSketch");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5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mid-gray circle moves right and grows, with no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 visible values: x = 24 and d = 16. After three calls: x = 32 and d = 18.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TraceSketch_Circle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Original Rectangle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verified project used on slides 10–11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TraceSketch extends PApplet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y = 180, vy = -3;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w = 60, shrink = -1;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stroke(0); fill(170); frameRate(10);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int strokeW = 2;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background(230);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y = y + vy;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w = w + shrink;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strokeWeight(strokeW);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rect(50, y, w, w);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PApplet.main("TraceSketch");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gray outlined square moves upward by 3 pixels and shrinks by 1 pixel per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 visible values: y = 177 and w = 59. After three calls: y = 171 and w = 57.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TraceSketch_Rectangle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B687DBF-7BAB-433F-8F85-F62F486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Modified Rectangle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8D356D6-80A3-4744-ACA8-899B951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Only vy changes: -3 becomes -6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4DD9BDF8-84D4-4441-8F6D-4845825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92C60B5-DBE3-4C64-82DE-F22AECD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E7B91F2-5176-4767-85EB-2AD9F52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852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6A6F19B-554C-40E1-B7EF-C808C94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39496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TraceSketch extends PApplet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y = 180, vy = -6;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w = 60, shrink = -1;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stroke(0); fill(170); frameRate(10);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int strokeW = 2;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background(230);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y = y + vy;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w = w + shrink;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strokeWeight(strokeW);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rect(50, y, w, w);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PApplet.main("TraceSketch");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9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E4BFF75-1CF7-480D-B4CC-E0CD819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71600"/>
            <a:ext cx="4965192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6A7BD1E-65AE-47B8-8FD8-A06F30B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12418"/>
            <a:ext cx="4562856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EXPECTED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square moves upward twice as far per frame; its shrink and style are unchanged.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5AB67BB-C726-441D-A34D-E6D66FE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96519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247F2E92-E724-4C21-8DBE-2A4CC4F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35578"/>
            <a:ext cx="4562856" cy="177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 visible values: y = 174 and w = 59. After three calls: y = 162 and w = 57.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TraceSketch_Complete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33456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FFC3428-AA5A-449F-9EB9-E94304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Troubleshooting the Routine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595DE65-2022-4F3F-A275-7CDBC1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When prediction and animation disagree, inspect one layer at a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699A08F-6159-4B51-B13A-F69F900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DEFE803-B6FA-4DAC-A26A-891BB5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B1.4 · Read, Trace &amp; Deliberately Modify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C326AA7-3E9A-4B38-9ECA-6C8EF0A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882640A-E7C6-4C5F-9DB0-ECBCDD2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Structure → identify settings(), setup(), and draw().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Scope → mark fields and local variables.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Order → trace lines exactly as draw() executes them.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Arguments → connect each newest value to ellipse() or rect().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Edit → change one value; keep a before-and-after trace.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990F121-11C7-4C7E-848D-04AC1A5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98243CE-A69D-4D67-BBCE-DD299D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PROGRAM WILL NOT RUN?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PApplet unresolved → confirm core-4.5.6.jar is (Loaded), then restart BlueJ.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 mismatch → file, public class, and PApplet.main("TraceSketch") must agree.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Mismatch after running → keep it; compare the first frame where your trace differs from draw() order.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958958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2026-08-25T20:10:15.1810000Z</dcterms:created>
  <dcterms:modified xsi:type="dcterms:W3CDTF">2026-08-25T20:10:15.1810000Z</dcterms:modified>
</coreProperties>
</file>