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b3f41c22f945df" /><Relationship Type="http://schemas.openxmlformats.org/officeDocument/2006/relationships/extended-properties" Target="/docProps/app.xml" Id="R5fa9c0ce1e504aee" /><Relationship Type="http://schemas.openxmlformats.org/officeDocument/2006/relationships/officeDocument" Target="/ppt/presentation.xml" Id="R76124dfb177a4c8b" /></Relationships>
</file>

<file path=ppt/presentation.xml><?xml version="1.0" encoding="utf-8"?>
<p:presentation xmlns:p="http://schemas.openxmlformats.org/presentationml/2006/main">
  <p:sldMasterIdLst>
    <p:sldMasterId xmlns:r="http://schemas.openxmlformats.org/officeDocument/2006/relationships" id="2147483648" r:id="Raeeafcb24ef74831"/>
  </p:sldMasterIdLst>
  <p:notesMasterIdLst>
    <p:notesMasterId xmlns:r="http://schemas.openxmlformats.org/officeDocument/2006/relationships" r:id="R0d3640737a444f45"/>
  </p:notesMasterIdLst>
  <p:sldIdLst>
    <p:sldId xmlns:r="http://schemas.openxmlformats.org/officeDocument/2006/relationships" id="256" r:id="R368bf6789c024011"/>
    <p:sldId xmlns:r="http://schemas.openxmlformats.org/officeDocument/2006/relationships" id="257" r:id="Rdca1aac88b56495f"/>
    <p:sldId xmlns:r="http://schemas.openxmlformats.org/officeDocument/2006/relationships" id="258" r:id="R59a29fa56130461d"/>
    <p:sldId xmlns:r="http://schemas.openxmlformats.org/officeDocument/2006/relationships" id="259" r:id="Rffe4c54a359a4548"/>
    <p:sldId xmlns:r="http://schemas.openxmlformats.org/officeDocument/2006/relationships" id="260" r:id="R65dd45ffe2964985"/>
    <p:sldId xmlns:r="http://schemas.openxmlformats.org/officeDocument/2006/relationships" id="261" r:id="R7ef90cbf095b4108"/>
    <p:sldId xmlns:r="http://schemas.openxmlformats.org/officeDocument/2006/relationships" id="262" r:id="R4b30f8c7641446bb"/>
    <p:sldId xmlns:r="http://schemas.openxmlformats.org/officeDocument/2006/relationships" id="263" r:id="R44f70a9af5b14474"/>
    <p:sldId xmlns:r="http://schemas.openxmlformats.org/officeDocument/2006/relationships" id="264" r:id="Rc44e01b663d84b23"/>
    <p:sldId xmlns:r="http://schemas.openxmlformats.org/officeDocument/2006/relationships" id="265" r:id="Rb05d27db99eb4627"/>
    <p:sldId xmlns:r="http://schemas.openxmlformats.org/officeDocument/2006/relationships" id="266" r:id="R5b12a91701b948c8"/>
    <p:sldId xmlns:r="http://schemas.openxmlformats.org/officeDocument/2006/relationships" id="267" r:id="Rf4f7e225b73d425b"/>
    <p:sldId xmlns:r="http://schemas.openxmlformats.org/officeDocument/2006/relationships" id="268" r:id="R89723eb0966c4d45"/>
    <p:sldId xmlns:r="http://schemas.openxmlformats.org/officeDocument/2006/relationships" id="269" r:id="Rec26d944616145bc"/>
    <p:sldId xmlns:r="http://schemas.openxmlformats.org/officeDocument/2006/relationships" id="270" r:id="Ra5d22190ecb442a3"/>
    <p:sldId xmlns:r="http://schemas.openxmlformats.org/officeDocument/2006/relationships" id="271" r:id="R41e2008b0f5c4a78"/>
    <p:sldId xmlns:r="http://schemas.openxmlformats.org/officeDocument/2006/relationships" id="272" r:id="R1d5cdae271aa4789"/>
    <p:sldId xmlns:r="http://schemas.openxmlformats.org/officeDocument/2006/relationships" id="273" r:id="R2accd07381584e03"/>
    <p:sldId xmlns:r="http://schemas.openxmlformats.org/officeDocument/2006/relationships" id="274" r:id="R307e4a1837374d8b"/>
  </p:sldIdLst>
  <p:sldSz cx="1219167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abe1cea84c4594" /><Relationship Type="http://schemas.openxmlformats.org/officeDocument/2006/relationships/slideMaster" Target="/ppt/slideMasters/slideMaster1.xml" Id="Raeeafcb24ef74831" /><Relationship Type="http://schemas.openxmlformats.org/officeDocument/2006/relationships/notesMaster" Target="/ppt/notesMasters/notesMaster1.xml" Id="R0d3640737a444f45" /><Relationship Type="http://schemas.openxmlformats.org/officeDocument/2006/relationships/presProps" Target="/ppt/presProps.xml" Id="R86ead5d1e55940a1" /><Relationship Type="http://schemas.openxmlformats.org/officeDocument/2006/relationships/tableStyles" Target="/ppt/tableStyles.xml" Id="Rb16e775d1b18448b" /><Relationship Type="http://schemas.openxmlformats.org/officeDocument/2006/relationships/slide" Target="/ppt/slides/slide1.xml" Id="R368bf6789c024011" /><Relationship Type="http://schemas.openxmlformats.org/officeDocument/2006/relationships/slide" Target="/ppt/slides/slide2.xml" Id="Rdca1aac88b56495f" /><Relationship Type="http://schemas.openxmlformats.org/officeDocument/2006/relationships/slide" Target="/ppt/slides/slide3.xml" Id="R59a29fa56130461d" /><Relationship Type="http://schemas.openxmlformats.org/officeDocument/2006/relationships/slide" Target="/ppt/slides/slide4.xml" Id="Rffe4c54a359a4548" /><Relationship Type="http://schemas.openxmlformats.org/officeDocument/2006/relationships/slide" Target="/ppt/slides/slide5.xml" Id="R65dd45ffe2964985" /><Relationship Type="http://schemas.openxmlformats.org/officeDocument/2006/relationships/slide" Target="/ppt/slides/slide6.xml" Id="R7ef90cbf095b4108" /><Relationship Type="http://schemas.openxmlformats.org/officeDocument/2006/relationships/slide" Target="/ppt/slides/slide7.xml" Id="R4b30f8c7641446bb" /><Relationship Type="http://schemas.openxmlformats.org/officeDocument/2006/relationships/slide" Target="/ppt/slides/slide8.xml" Id="R44f70a9af5b14474" /><Relationship Type="http://schemas.openxmlformats.org/officeDocument/2006/relationships/slide" Target="/ppt/slides/slide9.xml" Id="Rc44e01b663d84b23" /><Relationship Type="http://schemas.openxmlformats.org/officeDocument/2006/relationships/slide" Target="/ppt/slides/slide10.xml" Id="Rb05d27db99eb4627" /><Relationship Type="http://schemas.openxmlformats.org/officeDocument/2006/relationships/slide" Target="/ppt/slides/slide11.xml" Id="R5b12a91701b948c8" /><Relationship Type="http://schemas.openxmlformats.org/officeDocument/2006/relationships/slide" Target="/ppt/slides/slide12.xml" Id="Rf4f7e225b73d425b" /><Relationship Type="http://schemas.openxmlformats.org/officeDocument/2006/relationships/slide" Target="/ppt/slides/slide13.xml" Id="R89723eb0966c4d45" /><Relationship Type="http://schemas.openxmlformats.org/officeDocument/2006/relationships/slide" Target="/ppt/slides/slide14.xml" Id="Rec26d944616145bc" /><Relationship Type="http://schemas.openxmlformats.org/officeDocument/2006/relationships/slide" Target="/ppt/slides/slide15.xml" Id="Ra5d22190ecb442a3" /><Relationship Type="http://schemas.openxmlformats.org/officeDocument/2006/relationships/slide" Target="/ppt/slides/slide16.xml" Id="R41e2008b0f5c4a78" /><Relationship Type="http://schemas.openxmlformats.org/officeDocument/2006/relationships/slide" Target="/ppt/slides/slide17.xml" Id="R1d5cdae271aa4789" /><Relationship Type="http://schemas.openxmlformats.org/officeDocument/2006/relationships/slide" Target="/ppt/slides/slide18.xml" Id="R2accd07381584e03" /><Relationship Type="http://schemas.openxmlformats.org/officeDocument/2006/relationships/slide" Target="/ppt/slides/slide19.xml" Id="R307e4a1837374d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209abf7ee4407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7c0036a1bb4727" /><Relationship Type="http://schemas.openxmlformats.org/officeDocument/2006/relationships/notesMaster" Target="/ppt/notesMasters/notesMaster1.xml" Id="R61af62dd7b1343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81f0dde3c44a23" /><Relationship Type="http://schemas.openxmlformats.org/officeDocument/2006/relationships/notesMaster" Target="/ppt/notesMasters/notesMaster1.xml" Id="R21aacb637cf94a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5f52df4c04419c" /><Relationship Type="http://schemas.openxmlformats.org/officeDocument/2006/relationships/notesMaster" Target="/ppt/notesMasters/notesMaster1.xml" Id="R5dd40011f82f44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79ce4249b6742b6" /><Relationship Type="http://schemas.openxmlformats.org/officeDocument/2006/relationships/notesMaster" Target="/ppt/notesMasters/notesMaster1.xml" Id="R7d913de0d64c41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da307d8ae04a04" /><Relationship Type="http://schemas.openxmlformats.org/officeDocument/2006/relationships/notesMaster" Target="/ppt/notesMasters/notesMaster1.xml" Id="R1074d94c69bb4d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305dd6b06b4442" /><Relationship Type="http://schemas.openxmlformats.org/officeDocument/2006/relationships/notesMaster" Target="/ppt/notesMasters/notesMaster1.xml" Id="R0fa4866bded24fa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9a50a024b74647" /><Relationship Type="http://schemas.openxmlformats.org/officeDocument/2006/relationships/notesMaster" Target="/ppt/notesMasters/notesMaster1.xml" Id="Rc18520e4d98b42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3a469406464899" /><Relationship Type="http://schemas.openxmlformats.org/officeDocument/2006/relationships/notesMaster" Target="/ppt/notesMasters/notesMaster1.xml" Id="Rbbfb02fd665845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0deb9b871a4882" /><Relationship Type="http://schemas.openxmlformats.org/officeDocument/2006/relationships/notesMaster" Target="/ppt/notesMasters/notesMaster1.xml" Id="R1e1d6def135c46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86218b5f044bb9" /><Relationship Type="http://schemas.openxmlformats.org/officeDocument/2006/relationships/notesMaster" Target="/ppt/notesMasters/notesMaster1.xml" Id="R88350754daf940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009033da684c74" /><Relationship Type="http://schemas.openxmlformats.org/officeDocument/2006/relationships/notesMaster" Target="/ppt/notesMasters/notesMaster1.xml" Id="R02892f9e968e46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ab279ba97e4bf2" /><Relationship Type="http://schemas.openxmlformats.org/officeDocument/2006/relationships/notesMaster" Target="/ppt/notesMasters/notesMaster1.xml" Id="R3ef2c923115548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71ceb2bbd84f7b" /><Relationship Type="http://schemas.openxmlformats.org/officeDocument/2006/relationships/notesMaster" Target="/ppt/notesMasters/notesMaster1.xml" Id="R52f57692c10242f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9ddd2473e5a4109" /><Relationship Type="http://schemas.openxmlformats.org/officeDocument/2006/relationships/notesMaster" Target="/ppt/notesMasters/notesMaster1.xml" Id="R489e441a72f44ef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bfbdffe6dd40d5" /><Relationship Type="http://schemas.openxmlformats.org/officeDocument/2006/relationships/notesMaster" Target="/ppt/notesMasters/notesMaster1.xml" Id="R0985b867c5cf4f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7d9254c191c45dc" /><Relationship Type="http://schemas.openxmlformats.org/officeDocument/2006/relationships/notesMaster" Target="/ppt/notesMasters/notesMaster1.xml" Id="R3666adb2f43d405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87a88cbde3a43cf" /><Relationship Type="http://schemas.openxmlformats.org/officeDocument/2006/relationships/notesMaster" Target="/ppt/notesMasters/notesMaster1.xml" Id="R0157b8d7f9fe4d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65690691ad44e6b" /><Relationship Type="http://schemas.openxmlformats.org/officeDocument/2006/relationships/notesMaster" Target="/ppt/notesMasters/notesMaster1.xml" Id="Re5407fcc49dc40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91dc00c46b4226" /><Relationship Type="http://schemas.openxmlformats.org/officeDocument/2006/relationships/notesMaster" Target="/ppt/notesMasters/notesMaster1.xml" Id="Rdd21a5de7cb549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1 minute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State the finish line: “Today we will make one number remember its last value, update it in draw(), and see the picture change.”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Students recognize this as a continuation of setup()/draw(), not a new environment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Ask every question before discussing. Have students answer in complete sentences and identify the role of w and h in ellipse().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setup() runs once; draw() repeats; background() paints the canvas and is commonly used to clear a frame; w and h control ellipse width and height.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MISCONCEPTION</a:t>
            </a:r>
            <a:endParaRPr/>
          </a:p>
          <a:p xmlns:a="http://schemas.openxmlformats.org/drawingml/2006/main">
            <a:pPr marL="0" lvl="0" indent="0" algn="l">
              <a:spcBef>
                <a:spcPts val="0"/>
              </a:spcBef>
              <a:spcAft>
                <a:spcPts val="0"/>
              </a:spcAft>
              <a:buNone/>
            </a:pPr>
            <a:r>
              <a:t>draw() repeating does not create change when every value used by the picture remains the same.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https://processing.org/reference/setup_</a:t>
            </a:r>
            <a:endParaRPr/>
          </a:p>
          <a:p xmlns:a="http://schemas.openxmlformats.org/drawingml/2006/main">
            <a:pPr marL="0" lvl="0" indent="0" algn="l">
              <a:spcBef>
                <a:spcPts val="0"/>
              </a:spcBef>
              <a:spcAft>
                <a:spcPts val="0"/>
              </a:spcAft>
              <a:buNone/>
            </a:pPr>
            <a:r>
              <a:t>- https://processing.org/reference/draw_</a:t>
            </a:r>
            <a:endParaRPr/>
          </a:p>
          <a:p xmlns:a="http://schemas.openxmlformats.org/drawingml/2006/main">
            <a:pPr marL="0" lvl="0" indent="0" algn="l">
              <a:spcBef>
                <a:spcPts val="0"/>
              </a:spcBef>
              <a:spcAft>
                <a:spcPts val="0"/>
              </a:spcAft>
              <a:buNone/>
            </a:pPr>
            <a:r>
              <a:t>- https://processing.org/reference/background_</a:t>
            </a:r>
            <a:endParaRPr/>
          </a:p>
          <a:p xmlns:a="http://schemas.openxmlformats.org/drawingml/2006/main">
            <a:pPr marL="0" lvl="0" indent="0" algn="l">
              <a:spcBef>
                <a:spcPts val="0"/>
              </a:spcBef>
              <a:spcAft>
                <a:spcPts val="0"/>
              </a:spcAft>
              <a:buNone/>
            </a:pPr>
            <a:r>
              <a:t>- https://processing.org/reference/ellipse_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Read the success criteria. Emphasize that students must predict values and explain declaration placement, not only produce a growing picture.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Students know that the final program uses one class-level numeric value as both ellipse dimensions.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Model the clicks and pause until every student has a BlueJ tile named FrameChangeSketch.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Project: B1_3_1_Frame_Change. Class: FrameChangeSketch.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TROUBLESHOOTING</a:t>
            </a:r>
            <a:endParaRPr/>
          </a:p>
          <a:p xmlns:a="http://schemas.openxmlformats.org/drawingml/2006/main">
            <a:pPr marL="0" lvl="0" indent="0" algn="l">
              <a:spcBef>
                <a:spcPts val="0"/>
              </a:spcBef>
              <a:spcAft>
                <a:spcPts val="0"/>
              </a:spcAft>
              <a:buNone/>
            </a:pPr>
            <a:r>
              <a:t>Spelling matters because the Java file, public class, and PApplet.main() string must match.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Paste both code panels in order. Compile and run the shell before adding variables.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A blank, dark 400 × 400 window opens. frameRate(10) is included only to make later changes easier to observe.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TROUBLESHOOTING</a:t>
            </a:r>
            <a:endParaRPr/>
          </a:p>
          <a:p xmlns:a="http://schemas.openxmlformats.org/drawingml/2006/main">
            <a:pPr marL="0" lvl="0" indent="0" algn="l">
              <a:spcBef>
                <a:spcPts val="0"/>
              </a:spcBef>
              <a:spcAft>
                <a:spcPts val="0"/>
              </a:spcAft>
              <a:buNone/>
            </a:pPr>
            <a:r>
              <a:t>If PApplet is unresolved, confirm core-4.5.6.jar is Loaded and restart BlueJ.</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https://processing.github.io/processing4-javadocs/processing/core/PApplet.html</a:t>
            </a:r>
            <a:endParaRPr/>
          </a:p>
          <a:p xmlns:a="http://schemas.openxmlformats.org/drawingml/2006/main">
            <a:pPr marL="0" lvl="0" indent="0" algn="l">
              <a:spcBef>
                <a:spcPts val="0"/>
              </a:spcBef>
              <a:spcAft>
                <a:spcPts val="0"/>
              </a:spcAft>
              <a:buNone/>
            </a:pPr>
            <a:r>
              <a:t>- https://processing.org/reference/size_</a:t>
            </a:r>
            <a:endParaRPr/>
          </a:p>
          <a:p xmlns:a="http://schemas.openxmlformats.org/drawingml/2006/main">
            <a:pPr marL="0" lvl="0" indent="0" algn="l">
              <a:spcBef>
                <a:spcPts val="0"/>
              </a:spcBef>
              <a:spcAft>
                <a:spcPts val="0"/>
              </a:spcAft>
              <a:buNone/>
            </a:pPr>
            <a:r>
              <a:t>- https://processing.org/reference/background_</a:t>
            </a:r>
            <a:endParaRPr/>
          </a:p>
          <a:p xmlns:a="http://schemas.openxmlformats.org/drawingml/2006/main">
            <a:pPr marL="0" lvl="0" indent="0" algn="l">
              <a:spcBef>
                <a:spcPts val="0"/>
              </a:spcBef>
              <a:spcAft>
                <a:spcPts val="0"/>
              </a:spcAft>
              <a:buNone/>
            </a:pPr>
            <a:r>
              <a:t>- https://processing.org/reference/frameRate_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Read d = d + 1 from right to left. Physically point to the old value, the addition, and the storage location.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Starting at 20, three executions store 21, then 22, then 23.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MISCONCEPTION</a:t>
            </a:r>
            <a:endParaRPr/>
          </a:p>
          <a:p xmlns:a="http://schemas.openxmlformats.org/drawingml/2006/main">
            <a:pPr marL="0" lvl="0" indent="0" algn="l">
              <a:spcBef>
                <a:spcPts val="0"/>
              </a:spcBef>
              <a:spcAft>
                <a:spcPts val="0"/>
              </a:spcAft>
              <a:buNone/>
            </a:pPr>
            <a:r>
              <a:t>The single equals sign is assignment. Do not apply the algebra move of subtracting d from both sides.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Trace the code from the first line of draw() for each call. Cover the trace panel, ask for calls 1–4, then reveal.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Every call creates a local d at 20, updates it to 21, and draws a 21-pixel circle. The previous local variable does not supply the next call.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https://processing.org/reference/draw_</a:t>
            </a:r>
            <a:endParaRPr/>
          </a:p>
          <a:p xmlns:a="http://schemas.openxmlformats.org/drawingml/2006/main">
            <a:pPr marL="0" lvl="0" indent="0" algn="l">
              <a:spcBef>
                <a:spcPts val="0"/>
              </a:spcBef>
              <a:spcAft>
                <a:spcPts val="0"/>
              </a:spcAft>
              <a:buNone/>
            </a:pPr>
            <a:r>
              <a:t>- https://docs.oracle.com/en/java/javase/26/docs/specs/jls/jls-6.html</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Point to the declaration outside every method. Trace the single d through calls 1–4.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d becomes 21, 22, 23, then 24. The ellipse receives the newest value for width and height.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LANGUAGE</a:t>
            </a:r>
            <a:endParaRPr/>
          </a:p>
          <a:p xmlns:a="http://schemas.openxmlformats.org/drawingml/2006/main">
            <a:pPr marL="0" lvl="0" indent="0" algn="l">
              <a:spcBef>
                <a:spcPts val="0"/>
              </a:spcBef>
              <a:spcAft>
                <a:spcPts val="0"/>
              </a:spcAft>
              <a:buNone/>
            </a:pPr>
            <a:r>
              <a:t>Call this a “sketch variable” for students. If useful, add that Java calls it an instance field.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https://processing.org/reference/draw_</a:t>
            </a:r>
            <a:endParaRPr/>
          </a:p>
          <a:p xmlns:a="http://schemas.openxmlformats.org/drawingml/2006/main">
            <a:pPr marL="0" lvl="0" indent="0" algn="l">
              <a:spcBef>
                <a:spcPts val="0"/>
              </a:spcBef>
              <a:spcAft>
                <a:spcPts val="0"/>
              </a:spcAft>
              <a:buNone/>
            </a:pPr>
            <a:r>
              <a:t>- https://processing.org/reference/ellipse_</a:t>
            </a:r>
            <a:endParaRPr/>
          </a:p>
          <a:p xmlns:a="http://schemas.openxmlformats.org/drawingml/2006/main">
            <a:pPr marL="0" lvl="0" indent="0" algn="l">
              <a:spcBef>
                <a:spcPts val="0"/>
              </a:spcBef>
              <a:spcAft>
                <a:spcPts val="0"/>
              </a:spcAft>
              <a:buNone/>
            </a:pPr>
            <a:r>
              <a:t>- https://processing.github.io/processing4-javadocs/processing/core/PApplet.html</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Read each row left to right. Ask students to state the value before comparing circle sizes.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Local row: 21 every frame. Persistent row: 21, 22, 23, 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NOTE</a:t>
            </a:r>
            <a:endParaRPr/>
          </a:p>
          <a:p xmlns:a="http://schemas.openxmlformats.org/drawingml/2006/main">
            <a:pPr marL="0" lvl="0" indent="0" algn="l">
              <a:spcBef>
                <a:spcPts val="0"/>
              </a:spcBef>
              <a:spcAft>
                <a:spcPts val="0"/>
              </a:spcAft>
              <a:buNone/>
            </a:pPr>
            <a:r>
              <a:t>The source diagram exaggerates the size difference deliberately; the labels carry the exact values.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3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Students write both fifth-call values before anyone runs code. Require the phrase “declared inside draw()” or “declared in the class.”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A is 21 after the fifth call. B is 25 after the fifth call.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https://processing.org/reference/draw_</a:t>
            </a:r>
            <a:endParaRPr/>
          </a:p>
          <a:p xmlns:a="http://schemas.openxmlformats.org/drawingml/2006/main">
            <a:pPr marL="0" lvl="0" indent="0" algn="l">
              <a:spcBef>
                <a:spcPts val="0"/>
              </a:spcBef>
              <a:spcAft>
                <a:spcPts val="0"/>
              </a:spcAft>
              <a:buNone/>
            </a:pPr>
            <a:r>
              <a:t>- https://docs.oracle.com/en/java/javase/26/docs/specs/jls/jls-6.html</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4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Use the verified projects. Run LocalReset first, then Persistent. Ask students to identify the one meaningful code-placement difference.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LocalReset remains 82 pixels. Persistent grows 84, 88, 92, and so 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TROUBLESHOOTING</a:t>
            </a:r>
            <a:endParaRPr/>
          </a:p>
          <a:p xmlns:a="http://schemas.openxmlformats.org/drawingml/2006/main">
            <a:pPr marL="0" lvl="0" indent="0" algn="l">
              <a:spcBef>
                <a:spcPts val="0"/>
              </a:spcBef>
              <a:spcAft>
                <a:spcPts val="0"/>
              </a:spcAft>
              <a:buNone/>
            </a:pPr>
            <a:r>
              <a:t>If both grow, check whether the LocalReset declaration was accidentally moved outside draw().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https://processing.org/reference/draw_</a:t>
            </a:r>
            <a:endParaRPr/>
          </a:p>
          <a:p xmlns:a="http://schemas.openxmlformats.org/drawingml/2006/main">
            <a:pPr marL="0" lvl="0" indent="0" algn="l">
              <a:spcBef>
                <a:spcPts val="0"/>
              </a:spcBef>
              <a:spcAft>
                <a:spcPts val="0"/>
              </a:spcAft>
              <a:buNone/>
            </a:pPr>
            <a:r>
              <a:t>- https://processing.org/reference/background_</a:t>
            </a:r>
            <a:endParaRPr/>
          </a:p>
          <a:p xmlns:a="http://schemas.openxmlformats.org/drawingml/2006/main">
            <a:pPr marL="0" lvl="0" indent="0" algn="l">
              <a:spcBef>
                <a:spcPts val="0"/>
              </a:spcBef>
              <a:spcAft>
                <a:spcPts val="0"/>
              </a:spcAft>
              <a:buNone/>
            </a:pPr>
            <a:r>
              <a:t>- https://processing.org/reference/frameRate_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6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Release students to construct from the starter. Ask for a prediction before each run. Keep appendix slide 18 hidden unless recovery is needed.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The circle stays centered and grows. Changing +2 to +5 increases the amount of diameter change per draw() call.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TROUBLESHOOTING</a:t>
            </a:r>
            <a:endParaRPr/>
          </a:p>
          <a:p xmlns:a="http://schemas.openxmlformats.org/drawingml/2006/main">
            <a:pPr marL="0" lvl="0" indent="0" algn="l">
              <a:spcBef>
                <a:spcPts val="0"/>
              </a:spcBef>
              <a:spcAft>
                <a:spcPts val="0"/>
              </a:spcAft>
              <a:buNone/>
            </a:pPr>
            <a:r>
              <a:t>If it stays one size, inspect the declaration. If it does not appear, inspect ellipse() arguments. If it flashes away, check whether background() was moved into draw() after ellipse().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https://processing.org/reference/draw_</a:t>
            </a:r>
            <a:endParaRPr/>
          </a:p>
          <a:p xmlns:a="http://schemas.openxmlformats.org/drawingml/2006/main">
            <a:pPr marL="0" lvl="0" indent="0" algn="l">
              <a:spcBef>
                <a:spcPts val="0"/>
              </a:spcBef>
              <a:spcAft>
                <a:spcPts val="0"/>
              </a:spcAft>
              <a:buNone/>
            </a:pPr>
            <a:r>
              <a:t>- https://processing.org/reference/background_</a:t>
            </a:r>
            <a:endParaRPr/>
          </a:p>
          <a:p xmlns:a="http://schemas.openxmlformats.org/drawingml/2006/main">
            <a:pPr marL="0" lvl="0" indent="0" algn="l">
              <a:spcBef>
                <a:spcPts val="0"/>
              </a:spcBef>
              <a:spcAft>
                <a:spcPts val="0"/>
              </a:spcAft>
              <a:buNone/>
            </a:pPr>
            <a:r>
              <a:t>- https://processing.org/reference/ellipse_</a:t>
            </a:r>
            <a:endParaRPr/>
          </a:p>
          <a:p xmlns:a="http://schemas.openxmlformats.org/drawingml/2006/main">
            <a:pPr marL="0" lvl="0" indent="0" algn="l">
              <a:spcBef>
                <a:spcPts val="0"/>
              </a:spcBef>
              <a:spcAft>
                <a:spcPts val="0"/>
              </a:spcAft>
              <a:buNone/>
            </a:pPr>
            <a:r>
              <a:t>- https://processing.org/reference/frameRate_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Pair students. One points to code; the other completes the explanation frame. Swap roles.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“d is declared in the class. Therefore it persists between draw() calls. Each call adds 2. ellipse() uses the new d as width and height, so the circle grows.”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1 minute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Model the three-location debug scan: declaration, update, use. Fix only the declaration in the supplied symptom.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Move float d = 20; above settings(). Keep d = d + 2; inside draw().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2 minutes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Students answer independently. Collect the value and the reason.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Fourth call uses d = 22: 10 → 13 → 16 → 19 → 22. The declaration must be in the class, outside draw(), so the value survives between calls.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LOOK FOR</a:t>
            </a:r>
            <a:endParaRPr/>
          </a:p>
          <a:p xmlns:a="http://schemas.openxmlformats.org/drawingml/2006/main">
            <a:pPr marL="0" lvl="0" indent="0" algn="l">
              <a:spcBef>
                <a:spcPts val="0"/>
              </a:spcBef>
              <a:spcAft>
                <a:spcPts val="0"/>
              </a:spcAft>
              <a:buNone/>
            </a:pPr>
            <a:r>
              <a:t>An answer of 13 indicates the student is mentally recreating the variable each call.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https://processing.org/reference/draw_</a:t>
            </a:r>
            <a:endParaRPr/>
          </a:p>
          <a:p xmlns:a="http://schemas.openxmlformats.org/drawingml/2006/main">
            <a:pPr marL="0" lvl="0" indent="0" algn="l">
              <a:spcBef>
                <a:spcPts val="0"/>
              </a:spcBef>
              <a:spcAft>
                <a:spcPts val="0"/>
              </a:spcAft>
              <a:buNone/>
            </a:pPr>
            <a:r>
              <a:t>- https://docs.oracle.com/en/java/javase/26/docs/specs/jls/jls-6.html</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Use as needed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Use for comparison or recovery after students have attempted the local-variable checkpoint.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The circle stays 82 pixels because every draw() call creates 80 and then adds 2.</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https://processing.org/reference/draw_</a:t>
            </a:r>
            <a:endParaRPr/>
          </a:p>
          <a:p xmlns:a="http://schemas.openxmlformats.org/drawingml/2006/main">
            <a:pPr marL="0" lvl="0" indent="0" algn="l">
              <a:spcBef>
                <a:spcPts val="0"/>
              </a:spcBef>
              <a:spcAft>
                <a:spcPts val="0"/>
              </a:spcAft>
              <a:buNone/>
            </a:pPr>
            <a:r>
              <a:t>- https://processing.org/reference/background_</a:t>
            </a:r>
            <a:endParaRPr/>
          </a:p>
          <a:p xmlns:a="http://schemas.openxmlformats.org/drawingml/2006/main">
            <a:pPr marL="0" lvl="0" indent="0" algn="l">
              <a:spcBef>
                <a:spcPts val="0"/>
              </a:spcBef>
              <a:spcAft>
                <a:spcPts val="0"/>
              </a:spcAft>
              <a:buNone/>
            </a:pPr>
            <a:r>
              <a:t>- https://processing.org/reference/frameRate_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Use as needed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Use for comparison or recovery. Ask students to circle the one declaration outside the methods.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The circle grows by 4 pixels per frame and the old frame is cleared first.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https://processing.org/reference/draw_</a:t>
            </a:r>
            <a:endParaRPr/>
          </a:p>
          <a:p xmlns:a="http://schemas.openxmlformats.org/drawingml/2006/main">
            <a:pPr marL="0" lvl="0" indent="0" algn="l">
              <a:spcBef>
                <a:spcPts val="0"/>
              </a:spcBef>
              <a:spcAft>
                <a:spcPts val="0"/>
              </a:spcAft>
              <a:buNone/>
            </a:pPr>
            <a:r>
              <a:t>- https://processing.org/reference/background_</a:t>
            </a:r>
            <a:endParaRPr/>
          </a:p>
          <a:p xmlns:a="http://schemas.openxmlformats.org/drawingml/2006/main">
            <a:pPr marL="0" lvl="0" indent="0" algn="l">
              <a:spcBef>
                <a:spcPts val="0"/>
              </a:spcBef>
              <a:spcAft>
                <a:spcPts val="0"/>
              </a:spcAft>
              <a:buNone/>
            </a:pPr>
            <a:r>
              <a:t>- https://processing.org/reference/frameRate_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Use as needed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Reveal only after an attempt. Compare the complete solution with the construction steps rather than copying silently.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The circle grows by 2 pixels per frame. Because it remains centered, opaque, and larger each time, it covers its earlier versions without background() inside draw().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https://processing.org/reference/draw_</a:t>
            </a:r>
            <a:endParaRPr/>
          </a:p>
          <a:p xmlns:a="http://schemas.openxmlformats.org/drawingml/2006/main">
            <a:pPr marL="0" lvl="0" indent="0" algn="l">
              <a:spcBef>
                <a:spcPts val="0"/>
              </a:spcBef>
              <a:spcAft>
                <a:spcPts val="0"/>
              </a:spcAft>
              <a:buNone/>
            </a:pPr>
            <a:r>
              <a:t>- https://processing.org/reference/background_</a:t>
            </a:r>
            <a:endParaRPr/>
          </a:p>
          <a:p xmlns:a="http://schemas.openxmlformats.org/drawingml/2006/main">
            <a:pPr marL="0" lvl="0" indent="0" algn="l">
              <a:spcBef>
                <a:spcPts val="0"/>
              </a:spcBef>
              <a:spcAft>
                <a:spcPts val="0"/>
              </a:spcAft>
              <a:buNone/>
            </a:pPr>
            <a:r>
              <a:t>- https://processing.org/reference/ellipse_</a:t>
            </a:r>
            <a:endParaRPr/>
          </a:p>
          <a:p xmlns:a="http://schemas.openxmlformats.org/drawingml/2006/main">
            <a:pPr marL="0" lvl="0" indent="0" algn="l">
              <a:spcBef>
                <a:spcPts val="0"/>
              </a:spcBef>
              <a:spcAft>
                <a:spcPts val="0"/>
              </a:spcAft>
              <a:buNone/>
            </a:pPr>
            <a:r>
              <a:t>- https://processing.org/reference/frameRate_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TIME: Use as needed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TEACHER MOVE</a:t>
            </a:r>
            <a:endParaRPr/>
          </a:p>
          <a:p xmlns:a="http://schemas.openxmlformats.org/drawingml/2006/main">
            <a:pPr marL="0" lvl="0" indent="0" algn="l">
              <a:spcBef>
                <a:spcPts val="0"/>
              </a:spcBef>
              <a:spcAft>
                <a:spcPts val="0"/>
              </a:spcAft>
              <a:buNone/>
            </a:pPr>
            <a:r>
              <a:t>Diagnose one category at a time: Java/BlueJ setup, declaration, update, drawing arguments, then frame clearing.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EXPECTED</a:t>
            </a:r>
            <a:endParaRPr/>
          </a:p>
          <a:p xmlns:a="http://schemas.openxmlformats.org/drawingml/2006/main">
            <a:pPr marL="0" lvl="0" indent="0" algn="l">
              <a:spcBef>
                <a:spcPts val="0"/>
              </a:spcBef>
              <a:spcAft>
                <a:spcPts val="0"/>
              </a:spcAft>
              <a:buNone/>
            </a:pPr>
            <a:r>
              <a:t>Students identify a specific line and explain the smallest correction before editing.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https://processing.github.io/processing4-javadocs/processing/core/PApplet.html</a:t>
            </a:r>
            <a:endParaRPr/>
          </a:p>
          <a:p xmlns:a="http://schemas.openxmlformats.org/drawingml/2006/main">
            <a:pPr marL="0" lvl="0" indent="0" algn="l">
              <a:spcBef>
                <a:spcPts val="0"/>
              </a:spcBef>
              <a:spcAft>
                <a:spcPts val="0"/>
              </a:spcAft>
              <a:buNone/>
            </a:pPr>
            <a:r>
              <a:t>- https://processing.org/reference/draw_</a:t>
            </a:r>
            <a:endParaRPr/>
          </a:p>
          <a:p xmlns:a="http://schemas.openxmlformats.org/drawingml/2006/main">
            <a:pPr marL="0" lvl="0" indent="0" algn="l">
              <a:spcBef>
                <a:spcPts val="0"/>
              </a:spcBef>
              <a:spcAft>
                <a:spcPts val="0"/>
              </a:spcAft>
              <a:buNone/>
            </a:pPr>
            <a:r>
              <a:t>- https://processing.org/reference/background_</a:t>
            </a:r>
            <a:endParaRPr/>
          </a:p>
          <a:p xmlns:a="http://schemas.openxmlformats.org/drawingml/2006/main">
            <a:pPr marL="0" lvl="0" indent="0" algn="l">
              <a:spcBef>
                <a:spcPts val="0"/>
              </a:spcBef>
              <a:spcAft>
                <a:spcPts val="0"/>
              </a:spcAft>
              <a:buNone/>
            </a:pPr>
            <a:r>
              <a:t>- https://processing.org/reference/frameRate_</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1307ab7a264e55"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d36319a632462a" /><Relationship Type="http://schemas.openxmlformats.org/officeDocument/2006/relationships/slideLayout" Target="/ppt/slideLayouts/slideLayout1.xml" Id="Rbe9a04c67e164a54"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e9a04c67e164a54"/>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ca359754964853" /><Relationship Type="http://schemas.openxmlformats.org/officeDocument/2006/relationships/notesSlide" Target="/ppt/notesSlides/notesSlide1.xml" Id="Rc848e1b8369b4e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3245a2e7da4c90" /><Relationship Type="http://schemas.openxmlformats.org/officeDocument/2006/relationships/notesSlide" Target="/ppt/notesSlides/notesSlide2.xml" Id="R4eba7d1f188e49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c8e72467d8b4a12" /><Relationship Type="http://schemas.openxmlformats.org/officeDocument/2006/relationships/notesSlide" Target="/ppt/notesSlides/notesSlide3.xml" Id="R050b98c7797e46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fa61bc44ba4d20" /><Relationship Type="http://schemas.openxmlformats.org/officeDocument/2006/relationships/notesSlide" Target="/ppt/notesSlides/notesSlide4.xml" Id="R2d6d8ea1727c40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3fa222f9ea403a" /><Relationship Type="http://schemas.openxmlformats.org/officeDocument/2006/relationships/notesSlide" Target="/ppt/notesSlides/notesSlide5.xml" Id="R0fb65d914af547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ccd401529042d3" /><Relationship Type="http://schemas.openxmlformats.org/officeDocument/2006/relationships/notesSlide" Target="/ppt/notesSlides/notesSlide6.xml" Id="Rc3fab67c91ec41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00de88d32342a8" /><Relationship Type="http://schemas.openxmlformats.org/officeDocument/2006/relationships/notesSlide" Target="/ppt/notesSlides/notesSlide7.xml" Id="Ra59a79bf13fc4c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e1af8579914ee1" /><Relationship Type="http://schemas.openxmlformats.org/officeDocument/2006/relationships/notesSlide" Target="/ppt/notesSlides/notesSlide8.xml" Id="Rf21cf705764144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50e33ece844b5c" /><Relationship Type="http://schemas.openxmlformats.org/officeDocument/2006/relationships/notesSlide" Target="/ppt/notesSlides/notesSlide9.xml" Id="R4cae447ac90d45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f9fb8b3544406c" /><Relationship Type="http://schemas.openxmlformats.org/officeDocument/2006/relationships/notesSlide" Target="/ppt/notesSlides/notesSlide10.xml" Id="Rebfb44b87f9248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52110460234e6f" /><Relationship Type="http://schemas.openxmlformats.org/officeDocument/2006/relationships/notesSlide" Target="/ppt/notesSlides/notesSlide11.xml" Id="Rf510d398be894f7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00da9c5c514709" /><Relationship Type="http://schemas.openxmlformats.org/officeDocument/2006/relationships/notesSlide" Target="/ppt/notesSlides/notesSlide12.xml" Id="R8c484815642e4c9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8709f903e604981" /><Relationship Type="http://schemas.openxmlformats.org/officeDocument/2006/relationships/notesSlide" Target="/ppt/notesSlides/notesSlide13.xml" Id="Rc421d54503b0464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25fbf34d05a4990" /><Relationship Type="http://schemas.openxmlformats.org/officeDocument/2006/relationships/notesSlide" Target="/ppt/notesSlides/notesSlide14.xml" Id="R18791cbb914948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378e24ef5bc4efc" /><Relationship Type="http://schemas.openxmlformats.org/officeDocument/2006/relationships/notesSlide" Target="/ppt/notesSlides/notesSlide15.xml" Id="Rca3b734e8092400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019b1d154b44168" /><Relationship Type="http://schemas.openxmlformats.org/officeDocument/2006/relationships/notesSlide" Target="/ppt/notesSlides/notesSlide16.xml" Id="Ra5623133b11b41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b9deca458ec42fd" /><Relationship Type="http://schemas.openxmlformats.org/officeDocument/2006/relationships/notesSlide" Target="/ppt/notesSlides/notesSlide17.xml" Id="R05566e6de0bf47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eac0335d9b04246" /><Relationship Type="http://schemas.openxmlformats.org/officeDocument/2006/relationships/notesSlide" Target="/ppt/notesSlides/notesSlide18.xml" Id="Rfd4a3d14f8e9496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1155d4b05394b82" /><Relationship Type="http://schemas.openxmlformats.org/officeDocument/2006/relationships/notesSlide" Target="/ppt/notesSlides/notesSlide19.xml" Id="Rb0b4d9e07f964852"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2B951A60-EE47-4314-8944-CD93B70B683A}"/>
              </a:ext>
            </a:extLst>
          </p:cNvPr>
          <p:cNvSpPr>
            <a:spLocks xmlns:a="http://schemas.openxmlformats.org/drawingml/2006/main" noGrp="1"/>
          </p:cNvSpPr>
          <p:nvPr/>
        </p:nvSpPr>
        <p:spPr>
          <a:xfrm xmlns:a="http://schemas.openxmlformats.org/drawingml/2006/main">
            <a:off x="822960" y="2331720"/>
            <a:ext cx="105156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pPr>
            <a:r>
              <a:rPr sz="1400" b="1" i="0" u="none" cap="none">
                <a:solidFill>
                  <a:srgbClr val="E8A33D"/>
                </a:solidFill>
                <a:latin typeface="Calibri"/>
                <a:ea typeface="Calibri"/>
                <a:cs typeface="Calibri"/>
              </a:rPr>
              <a:t>PDP COMPUTER SCIENCE · B1 THE DRAW LOOP &amp; CREATIVE ENVIRONMENT</a:t>
            </a:r>
            <a:endParaRPr sz="14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B5A2D77C-763B-449C-AFEE-32FCBCBAEB79}"/>
              </a:ext>
            </a:extLst>
          </p:cNvPr>
          <p:cNvSpPr>
            <a:spLocks xmlns:a="http://schemas.openxmlformats.org/drawingml/2006/main" noGrp="1"/>
          </p:cNvSpPr>
          <p:nvPr/>
        </p:nvSpPr>
        <p:spPr>
          <a:xfrm xmlns:a="http://schemas.openxmlformats.org/drawingml/2006/main">
            <a:off x="822960" y="2743200"/>
            <a:ext cx="10515600" cy="13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4000"/>
              <a:buFont typeface="Cambria"/>
              <a:buNone/>
              <a:defRPr sz="4000" b="1">
                <a:solidFill>
                  <a:srgbClr val="FFFFFF"/>
                </a:solidFill>
                <a:latin typeface="Cambria"/>
                <a:ea typeface="Cambria"/>
                <a:cs typeface="Cambria"/>
              </a:defRPr>
            </a:pPr>
            <a:r>
              <a:rPr sz="4000" b="1" i="0" u="none" cap="none">
                <a:solidFill>
                  <a:srgbClr val="FFFFFF"/>
                </a:solidFill>
                <a:latin typeface="Cambria"/>
                <a:ea typeface="Cambria"/>
                <a:cs typeface="Cambria"/>
              </a:rPr>
              <a:t>B1.3.1 — Frame-by-Frame Change</a:t>
            </a:r>
            <a:endParaRPr sz="40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B81E8AA6-5E0E-4181-9AFE-17161000A397}"/>
              </a:ext>
            </a:extLst>
          </p:cNvPr>
          <p:cNvSpPr>
            <a:spLocks xmlns:a="http://schemas.openxmlformats.org/drawingml/2006/main" noGrp="1"/>
          </p:cNvSpPr>
          <p:nvPr/>
        </p:nvSpPr>
        <p:spPr>
          <a:xfrm xmlns:a="http://schemas.openxmlformats.org/drawingml/2006/main">
            <a:off x="822960" y="3977640"/>
            <a:ext cx="987552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CADCFC"/>
              </a:buClr>
              <a:buSzPts val="1800"/>
              <a:buFont typeface="Calibri"/>
              <a:buNone/>
              <a:defRPr sz="1800" i="1">
                <a:solidFill>
                  <a:srgbClr val="CADCFC"/>
                </a:solidFill>
                <a:latin typeface="Calibri"/>
                <a:ea typeface="Calibri"/>
                <a:cs typeface="Calibri"/>
              </a:defRPr>
            </a:pPr>
            <a:r>
              <a:rPr sz="1800" b="0" i="1" u="none" cap="none">
                <a:solidFill>
                  <a:srgbClr val="CADCFC"/>
                </a:solidFill>
                <a:latin typeface="Calibri"/>
                <a:ea typeface="Calibri"/>
                <a:cs typeface="Calibri"/>
              </a:rPr>
              <a:t>Make one value remember, update, and change the picture</a:t>
            </a:r>
            <a:endParaRPr sz="1800" b="0" i="0" u="none" cap="none">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03F7233C-503D-4102-9C39-BB640ACC94C6}"/>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D64418D8-643E-4ACA-B06E-74AA1ACB8978}"/>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4701738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ADAA7762-6774-451B-BC5A-E3E598EA9856}"/>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Retrieve the Draw Loop</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C29083E2-AED8-47FD-B97F-BE48FA3ABD1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Connect today’s idea to the tools you already use</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CC869C59-6EF4-403C-B3CB-8B3FCFCDF2F0}"/>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C64E5D12-EAC6-4A4B-8DD2-1C8095317463}"/>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FF7580B4-C33C-4E9F-81BF-B96F07D51FD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E8308B40-5102-45FC-9740-66AFECB582B6}"/>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1  Which method runs once when the sketch starts?</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2  Which method repeats while the sketch is running?</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3  What does background() do when it is called?</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4  In ellipse(x, y, w, h), what do w and h control?</a:t>
            </a:r>
          </a:p>
        </p:txBody>
      </p:sp>
      <p:sp>
        <p:nvSpPr>
          <p:cNvPr id="32" name="Google Shape;32;p4">
            <a:extLst xmlns:a="http://schemas.openxmlformats.org/drawingml/2006/main">
              <a:ext uri="{FF2B5EF4-FFF2-40B4-BE49-F238E27FC236}">
                <a16:creationId xmlns:a16="http://schemas.microsoft.com/office/drawing/2014/main" id="{37783F0B-7941-49F1-822F-69B88D2EEAB2}"/>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D6BD8021-3BC9-4433-90A1-7C77DF97F8E1}"/>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Turn and tell</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D7282F3B-6DB8-4E29-9E38-DA23EB3CA10E}"/>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Answer in complete sentences, then predict:</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If draw() repeats but every number in it stays the same, will the picture change?</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What must be different on the next call for visible change to happen?</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490830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ADAA7762-6774-451B-BC5A-E3E598EA9856}"/>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Today’s Mission: Make a Value Accumulate</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C29083E2-AED8-47FD-B97F-BE48FA3ABD1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Read, predict, run, and explain one frame-by-frame change</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CC869C59-6EF4-403C-B3CB-8B3FCFCDF2F0}"/>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C64E5D12-EAC6-4A4B-8DD2-1C8095317463}"/>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FF7580B4-C33C-4E9F-81BF-B96F07D51FD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E8308B40-5102-45FC-9740-66AFECB582B6}"/>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By the end, you can:</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read d = d + 1 as an update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distinguish a local variable from a sketch variable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predict d across several draw() calls</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build a circle that grows frame by frame</a:t>
            </a:r>
          </a:p>
        </p:txBody>
      </p:sp>
      <p:sp>
        <p:nvSpPr>
          <p:cNvPr id="32" name="Google Shape;32;p4">
            <a:extLst xmlns:a="http://schemas.openxmlformats.org/drawingml/2006/main">
              <a:ext uri="{FF2B5EF4-FFF2-40B4-BE49-F238E27FC236}">
                <a16:creationId xmlns:a16="http://schemas.microsoft.com/office/drawing/2014/main" id="{37783F0B-7941-49F1-822F-69B88D2EEAB2}"/>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D6BD8021-3BC9-4433-90A1-7C77DF97F8E1}"/>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What counts as success</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D7282F3B-6DB8-4E29-9E38-DA23EB3CA10E}"/>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Your BlueJ class compiles and opens a 400 × 400 sketch.</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The circle grows because one class-level value is updated inside draw().</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You can explain why moving the declaration inside draw() stops the accumulation.</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490830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ADAA7762-6774-451B-BC5A-E3E598EA9856}"/>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Start the Lesson Project in BlueJ</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C29083E2-AED8-47FD-B97F-BE48FA3ABD1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Use one class for every checkpoint today</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CC869C59-6EF4-403C-B3CB-8B3FCFCDF2F0}"/>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C64E5D12-EAC6-4A4B-8DD2-1C8095317463}"/>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FF7580B4-C33C-4E9F-81BF-B96F07D51FD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E8308B40-5102-45FC-9740-66AFECB582B6}"/>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1  Project → New Project</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2  Name: B1_3_1_Frame_Change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3  Save it in your course workspace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4  Click OK</a:t>
            </a:r>
          </a:p>
        </p:txBody>
      </p:sp>
      <p:sp>
        <p:nvSpPr>
          <p:cNvPr id="32" name="Google Shape;32;p4">
            <a:extLst xmlns:a="http://schemas.openxmlformats.org/drawingml/2006/main">
              <a:ext uri="{FF2B5EF4-FFF2-40B4-BE49-F238E27FC236}">
                <a16:creationId xmlns:a16="http://schemas.microsoft.com/office/drawing/2014/main" id="{37783F0B-7941-49F1-822F-69B88D2EEAB2}"/>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D6BD8021-3BC9-4433-90A1-7C77DF97F8E1}"/>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Create the class</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D7282F3B-6DB8-4E29-9E38-DA23EB3CA10E}"/>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1  Click New Class…</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2  Name: FrameChangeSketch</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3  Leave Class selected; click OK</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4  Open the editor and replace the generated template with the shell on the next slide</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490830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Google Shape;40;p5">
            <a:extLst xmlns:a="http://schemas.openxmlformats.org/drawingml/2006/main">
              <a:ext uri="{FF2B5EF4-FFF2-40B4-BE49-F238E27FC236}">
                <a16:creationId xmlns:a16="http://schemas.microsoft.com/office/drawing/2014/main" id="{3D81C2DE-939A-45C3-9647-9C04038BF632}"/>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Paste, Compile, and Run the Shell</a:t>
            </a:r>
            <a:endParaRPr sz="2900" b="0" i="0" u="none" cap="none">
              <a:solidFill>
                <a:schemeClr val="dk1"/>
              </a:solidFill>
              <a:latin typeface="Calibri"/>
              <a:ea typeface="Calibri"/>
              <a:cs typeface="Calibri"/>
            </a:endParaRPr>
          </a:p>
        </p:txBody>
      </p:sp>
      <p:sp>
        <p:nvSpPr>
          <p:cNvPr id="41" name="Google Shape;41;p5">
            <a:extLst xmlns:a="http://schemas.openxmlformats.org/drawingml/2006/main">
              <a:ext uri="{FF2B5EF4-FFF2-40B4-BE49-F238E27FC236}">
                <a16:creationId xmlns:a16="http://schemas.microsoft.com/office/drawing/2014/main" id="{0DD53D38-C19B-42F1-A614-943CB05AE5C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Prove the BlueJ/Processing wrapper works before changing it</a:t>
            </a:r>
            <a:endParaRPr sz="1500" b="0" i="0" u="none" cap="none">
              <a:solidFill>
                <a:schemeClr val="dk1"/>
              </a:solidFill>
              <a:latin typeface="Calibri"/>
              <a:ea typeface="Calibri"/>
              <a:cs typeface="Calibri"/>
            </a:endParaRPr>
          </a:p>
        </p:txBody>
      </p:sp>
      <p:sp>
        <p:nvSpPr>
          <p:cNvPr id="42" name="Google Shape;42;p5">
            <a:extLst xmlns:a="http://schemas.openxmlformats.org/drawingml/2006/main">
              <a:ext uri="{FF2B5EF4-FFF2-40B4-BE49-F238E27FC236}">
                <a16:creationId xmlns:a16="http://schemas.microsoft.com/office/drawing/2014/main" id="{5DA1CE9F-A7F6-445A-A8C8-BAA9F4524172}"/>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43" name="Google Shape;43;p5">
            <a:extLst xmlns:a="http://schemas.openxmlformats.org/drawingml/2006/main">
              <a:ext uri="{FF2B5EF4-FFF2-40B4-BE49-F238E27FC236}">
                <a16:creationId xmlns:a16="http://schemas.microsoft.com/office/drawing/2014/main" id="{7AB0FE86-B39C-4139-A465-538314F74DFC}"/>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44" name="Google Shape;44;p5">
            <a:extLst xmlns:a="http://schemas.openxmlformats.org/drawingml/2006/main">
              <a:ext uri="{FF2B5EF4-FFF2-40B4-BE49-F238E27FC236}">
                <a16:creationId xmlns:a16="http://schemas.microsoft.com/office/drawing/2014/main" id="{3C025E5A-0E2C-4A19-9530-097B937D6B71}"/>
              </a:ext>
            </a:extLst>
          </p:cNvPr>
          <p:cNvSpPr>
            <a:spLocks xmlns:a="http://schemas.openxmlformats.org/drawingml/2006/main" noGrp="1"/>
          </p:cNvSpPr>
          <p:nvPr/>
        </p:nvSpPr>
        <p:spPr>
          <a:xfrm xmlns:a="http://schemas.openxmlformats.org/drawingml/2006/main">
            <a:off x="548640" y="132588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 name="Google Shape;45;p5">
            <a:extLst xmlns:a="http://schemas.openxmlformats.org/drawingml/2006/main">
              <a:ext uri="{FF2B5EF4-FFF2-40B4-BE49-F238E27FC236}">
                <a16:creationId xmlns:a16="http://schemas.microsoft.com/office/drawing/2014/main" id="{676207D1-ED39-4FCF-B272-7569BCA4BA54}"/>
              </a:ext>
            </a:extLst>
          </p:cNvPr>
          <p:cNvSpPr>
            <a:spLocks xmlns:a="http://schemas.openxmlformats.org/drawingml/2006/main" noGrp="1"/>
          </p:cNvSpPr>
          <p:nvPr/>
        </p:nvSpPr>
        <p:spPr>
          <a:xfrm xmlns:a="http://schemas.openxmlformats.org/drawingml/2006/main">
            <a:off x="822960" y="152704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import processing.core.PApplet;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public class FrameChangeSketch extends PApplet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void settings() { size(400, 400);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void setup()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background(30);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noStroke();</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fill(240, 170, 50);</a:t>
            </a:r>
            <a:endParaRPr sz="1300" b="0" i="0" u="none" cap="none">
              <a:solidFill>
                <a:schemeClr val="dk1"/>
              </a:solidFill>
              <a:latin typeface="Calibri"/>
              <a:ea typeface="Calibri"/>
              <a:cs typeface="Calibri"/>
            </a:endParaRPr>
          </a:p>
        </p:txBody>
      </p:sp>
      <p:sp>
        <p:nvSpPr>
          <p:cNvPr id="46" name="Google Shape;46;p5">
            <a:extLst xmlns:a="http://schemas.openxmlformats.org/drawingml/2006/main">
              <a:ext uri="{FF2B5EF4-FFF2-40B4-BE49-F238E27FC236}">
                <a16:creationId xmlns:a16="http://schemas.microsoft.com/office/drawing/2014/main" id="{A19241C2-B628-4C2C-B834-F41B57629CF8}"/>
              </a:ext>
            </a:extLst>
          </p:cNvPr>
          <p:cNvSpPr>
            <a:spLocks xmlns:a="http://schemas.openxmlformats.org/drawingml/2006/main" noGrp="1"/>
          </p:cNvSpPr>
          <p:nvPr/>
        </p:nvSpPr>
        <p:spPr>
          <a:xfrm xmlns:a="http://schemas.openxmlformats.org/drawingml/2006/main">
            <a:off x="548640" y="397764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 name="Google Shape;47;p5">
            <a:extLst xmlns:a="http://schemas.openxmlformats.org/drawingml/2006/main">
              <a:ext uri="{FF2B5EF4-FFF2-40B4-BE49-F238E27FC236}">
                <a16:creationId xmlns:a16="http://schemas.microsoft.com/office/drawing/2014/main" id="{B186E1CC-9559-4F38-8F9D-6E8E0CE42D73}"/>
              </a:ext>
            </a:extLst>
          </p:cNvPr>
          <p:cNvSpPr>
            <a:spLocks xmlns:a="http://schemas.openxmlformats.org/drawingml/2006/main" noGrp="1"/>
          </p:cNvSpPr>
          <p:nvPr/>
        </p:nvSpPr>
        <p:spPr>
          <a:xfrm xmlns:a="http://schemas.openxmlformats.org/drawingml/2006/main">
            <a:off x="822960" y="417880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frameRate(10);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00"/>
              <a:buFont typeface="Calibri"/>
              <a:buNone/>
              <a:defRPr sz="1300" i="0">
                <a:solidFill>
                  <a:srgbClr val="CADCFC"/>
                </a:solidFill>
                <a:latin typeface="Courier New"/>
                <a:ea typeface="Courier New"/>
                <a:cs typeface="Courier New"/>
              </a:defRPr>
            </a:pPr>
            <a:r>
              <a:rPr sz="1300" i="0">
                <a:solidFill>
                  <a:srgbClr val="CADCFC"/>
                </a:solidFill>
                <a:latin typeface="Courier New"/>
                <a:ea typeface="Courier New"/>
                <a:cs typeface="Courier New"/>
              </a:rPr>
              <a:t> public void draw() {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static void main(String[] args)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PApplet.main("FrameChangeSketch");</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
        <p:nvSpPr>
          <p:cNvPr id="48" name="Google Shape;48;p5">
            <a:extLst xmlns:a="http://schemas.openxmlformats.org/drawingml/2006/main">
              <a:ext uri="{FF2B5EF4-FFF2-40B4-BE49-F238E27FC236}">
                <a16:creationId xmlns:a16="http://schemas.microsoft.com/office/drawing/2014/main" id="{E928D55B-DA2D-406D-9CDF-0112D355FA53}"/>
              </a:ext>
            </a:extLst>
          </p:cNvPr>
          <p:cNvSpPr>
            <a:spLocks xmlns:a="http://schemas.openxmlformats.org/drawingml/2006/main" noGrp="1"/>
          </p:cNvSpPr>
          <p:nvPr/>
        </p:nvSpPr>
        <p:spPr>
          <a:xfrm xmlns:a="http://schemas.openxmlformats.org/drawingml/2006/main">
            <a:off x="6309360" y="1325880"/>
            <a:ext cx="5349240" cy="5029200"/>
          </a:xfrm>
          <a:prstGeom xmlns:a="http://schemas.openxmlformats.org/drawingml/2006/main" prst="roundRect">
            <a:avLst>
              <a:gd name="adj" fmla="val 1818"/>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 name="Google Shape;49;p5">
            <a:extLst xmlns:a="http://schemas.openxmlformats.org/drawingml/2006/main">
              <a:ext uri="{FF2B5EF4-FFF2-40B4-BE49-F238E27FC236}">
                <a16:creationId xmlns:a16="http://schemas.microsoft.com/office/drawing/2014/main" id="{01725026-575B-45FD-A203-ADF7FAF698A6}"/>
              </a:ext>
            </a:extLst>
          </p:cNvPr>
          <p:cNvSpPr>
            <a:spLocks xmlns:a="http://schemas.openxmlformats.org/drawingml/2006/main" noGrp="1"/>
          </p:cNvSpPr>
          <p:nvPr/>
        </p:nvSpPr>
        <p:spPr>
          <a:xfrm xmlns:a="http://schemas.openxmlformats.org/drawingml/2006/main">
            <a:off x="6565392" y="152704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Compile → close editor → run main</a:t>
            </a:r>
            <a:endParaRPr sz="1400" b="0" i="0" u="none" cap="none">
              <a:solidFill>
                <a:schemeClr val="dk1"/>
              </a:solidFill>
              <a:latin typeface="Calibri"/>
              <a:ea typeface="Calibri"/>
              <a:cs typeface="Calibri"/>
            </a:endParaRPr>
          </a:p>
        </p:txBody>
      </p:sp>
      <p:sp>
        <p:nvSpPr>
          <p:cNvPr id="50" name="Google Shape;50;p5">
            <a:extLst xmlns:a="http://schemas.openxmlformats.org/drawingml/2006/main">
              <a:ext uri="{FF2B5EF4-FFF2-40B4-BE49-F238E27FC236}">
                <a16:creationId xmlns:a16="http://schemas.microsoft.com/office/drawing/2014/main" id="{BC09004A-6025-492B-BF1E-ACF497BC645E}"/>
              </a:ext>
            </a:extLst>
          </p:cNvPr>
          <p:cNvSpPr>
            <a:spLocks xmlns:a="http://schemas.openxmlformats.org/drawingml/2006/main" noGrp="1"/>
          </p:cNvSpPr>
          <p:nvPr/>
        </p:nvSpPr>
        <p:spPr>
          <a:xfrm xmlns:a="http://schemas.openxmlformats.org/drawingml/2006/main">
            <a:off x="6565392" y="1892808"/>
            <a:ext cx="4837176" cy="429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Expected: a blank, dark 400 × 400 window.</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Right-click FrameChangeSketch and run void main(String[] args).</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If PApplet is unresolved, confirm core-4.5.6.jar is marked (Loaded), then restart BlueJ.</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336316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 name="Google Shape;92;p7">
            <a:extLst xmlns:a="http://schemas.openxmlformats.org/drawingml/2006/main">
              <a:ext uri="{FF2B5EF4-FFF2-40B4-BE49-F238E27FC236}">
                <a16:creationId xmlns:a16="http://schemas.microsoft.com/office/drawing/2014/main" id="{2F9B7E43-14FD-4EF4-9742-EC20E6117A17}"/>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An Update Uses the Old Value</a:t>
            </a:r>
            <a:endParaRPr sz="2900" b="0" i="0" u="none" cap="none">
              <a:solidFill>
                <a:schemeClr val="dk1"/>
              </a:solidFill>
              <a:latin typeface="Calibri"/>
              <a:ea typeface="Calibri"/>
              <a:cs typeface="Calibri"/>
            </a:endParaRPr>
          </a:p>
        </p:txBody>
      </p:sp>
      <p:sp>
        <p:nvSpPr>
          <p:cNvPr id="93" name="Google Shape;93;p7">
            <a:extLst xmlns:a="http://schemas.openxmlformats.org/drawingml/2006/main">
              <a:ext uri="{FF2B5EF4-FFF2-40B4-BE49-F238E27FC236}">
                <a16:creationId xmlns:a16="http://schemas.microsoft.com/office/drawing/2014/main" id="{2D703545-8211-4586-9C5D-DBF6A54019E4}"/>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Read the right side first, then store the result</a:t>
            </a:r>
            <a:endParaRPr sz="1500" b="0" i="0" u="none" cap="none">
              <a:solidFill>
                <a:schemeClr val="dk1"/>
              </a:solidFill>
              <a:latin typeface="Calibri"/>
              <a:ea typeface="Calibri"/>
              <a:cs typeface="Calibri"/>
            </a:endParaRPr>
          </a:p>
        </p:txBody>
      </p:sp>
      <p:sp>
        <p:nvSpPr>
          <p:cNvPr id="94" name="Google Shape;94;p7">
            <a:extLst xmlns:a="http://schemas.openxmlformats.org/drawingml/2006/main">
              <a:ext uri="{FF2B5EF4-FFF2-40B4-BE49-F238E27FC236}">
                <a16:creationId xmlns:a16="http://schemas.microsoft.com/office/drawing/2014/main" id="{8595CEFD-3A62-4531-B18F-0A368BA7BC52}"/>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95" name="Google Shape;95;p7">
            <a:extLst xmlns:a="http://schemas.openxmlformats.org/drawingml/2006/main">
              <a:ext uri="{FF2B5EF4-FFF2-40B4-BE49-F238E27FC236}">
                <a16:creationId xmlns:a16="http://schemas.microsoft.com/office/drawing/2014/main" id="{DD25B30D-7A90-4FED-81F2-2C11D677D112}"/>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96" name="Google Shape;96;p7">
            <a:extLst xmlns:a="http://schemas.openxmlformats.org/drawingml/2006/main">
              <a:ext uri="{FF2B5EF4-FFF2-40B4-BE49-F238E27FC236}">
                <a16:creationId xmlns:a16="http://schemas.microsoft.com/office/drawing/2014/main" id="{67789ACA-6CB4-4769-BC5F-15F4521B6B4C}"/>
              </a:ext>
            </a:extLst>
          </p:cNvPr>
          <p:cNvSpPr>
            <a:spLocks xmlns:a="http://schemas.openxmlformats.org/drawingml/2006/main" noGrp="1"/>
          </p:cNvSpPr>
          <p:nvPr/>
        </p:nvSpPr>
        <p:spPr>
          <a:xfrm xmlns:a="http://schemas.openxmlformats.org/drawingml/2006/main">
            <a:off x="548640" y="1325880"/>
            <a:ext cx="5394960" cy="2194560"/>
          </a:xfrm>
          <a:prstGeom xmlns:a="http://schemas.openxmlformats.org/drawingml/2006/main" prst="roundRect">
            <a:avLst>
              <a:gd name="adj" fmla="val 3333"/>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7" name="Google Shape;97;p7">
            <a:extLst xmlns:a="http://schemas.openxmlformats.org/drawingml/2006/main">
              <a:ext uri="{FF2B5EF4-FFF2-40B4-BE49-F238E27FC236}">
                <a16:creationId xmlns:a16="http://schemas.microsoft.com/office/drawing/2014/main" id="{6573FFC0-E8D2-4B8A-B53B-09470EB1B3F8}"/>
              </a:ext>
            </a:extLst>
          </p:cNvPr>
          <p:cNvSpPr>
            <a:spLocks xmlns:a="http://schemas.openxmlformats.org/drawingml/2006/main" noGrp="1"/>
          </p:cNvSpPr>
          <p:nvPr/>
        </p:nvSpPr>
        <p:spPr>
          <a:xfrm xmlns:a="http://schemas.openxmlformats.org/drawingml/2006/main">
            <a:off x="822960" y="1527048"/>
            <a:ext cx="4846320" cy="1792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before the statement</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float d = 20;</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pPr>
            <a:r>
              <a:rPr sz="1350" b="0" i="0" u="none" cap="none">
                <a:solidFill>
                  <a:srgbClr val="8FD0FF"/>
                </a:solidFill>
                <a:latin typeface="Courier New"/>
                <a:ea typeface="Courier New"/>
                <a:cs typeface="Courier New"/>
              </a:rPr>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current value</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d is 20</a:t>
            </a:r>
            <a:endParaRPr sz="1350" b="0" i="0" u="none" cap="none">
              <a:solidFill>
                <a:schemeClr val="dk1"/>
              </a:solidFill>
              <a:latin typeface="Calibri"/>
              <a:ea typeface="Calibri"/>
              <a:cs typeface="Calibri"/>
            </a:endParaRPr>
          </a:p>
        </p:txBody>
      </p:sp>
      <p:sp>
        <p:nvSpPr>
          <p:cNvPr id="98" name="Google Shape;98;p7">
            <a:extLst xmlns:a="http://schemas.openxmlformats.org/drawingml/2006/main">
              <a:ext uri="{FF2B5EF4-FFF2-40B4-BE49-F238E27FC236}">
                <a16:creationId xmlns:a16="http://schemas.microsoft.com/office/drawing/2014/main" id="{E30C258C-3D4B-44E1-B636-674C2E8814F4}"/>
              </a:ext>
            </a:extLst>
          </p:cNvPr>
          <p:cNvSpPr>
            <a:spLocks xmlns:a="http://schemas.openxmlformats.org/drawingml/2006/main" noGrp="1"/>
          </p:cNvSpPr>
          <p:nvPr/>
        </p:nvSpPr>
        <p:spPr>
          <a:xfrm xmlns:a="http://schemas.openxmlformats.org/drawingml/2006/main">
            <a:off x="6172200" y="1325880"/>
            <a:ext cx="5394960" cy="2194560"/>
          </a:xfrm>
          <a:prstGeom xmlns:a="http://schemas.openxmlformats.org/drawingml/2006/main" prst="roundRect">
            <a:avLst>
              <a:gd name="adj" fmla="val 3333"/>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 name="Google Shape;99;p7">
            <a:extLst xmlns:a="http://schemas.openxmlformats.org/drawingml/2006/main">
              <a:ext uri="{FF2B5EF4-FFF2-40B4-BE49-F238E27FC236}">
                <a16:creationId xmlns:a16="http://schemas.microsoft.com/office/drawing/2014/main" id="{2B28E166-946C-4783-9BB1-9216D352E953}"/>
              </a:ext>
            </a:extLst>
          </p:cNvPr>
          <p:cNvSpPr>
            <a:spLocks xmlns:a="http://schemas.openxmlformats.org/drawingml/2006/main" noGrp="1"/>
          </p:cNvSpPr>
          <p:nvPr/>
        </p:nvSpPr>
        <p:spPr>
          <a:xfrm xmlns:a="http://schemas.openxmlformats.org/drawingml/2006/main">
            <a:off x="6446520" y="1527048"/>
            <a:ext cx="4846320" cy="1792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update statement</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d = d + 1;</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pPr>
            <a:r>
              <a:rPr sz="1350" b="0" i="0" u="none" cap="none">
                <a:solidFill>
                  <a:srgbClr val="8FD0FF"/>
                </a:solidFill>
                <a:latin typeface="Courier New"/>
                <a:ea typeface="Courier New"/>
                <a:cs typeface="Courier New"/>
              </a:rPr>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after the statement</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d is 21</a:t>
            </a:r>
            <a:endParaRPr sz="1350" b="0" i="0" u="none" cap="none">
              <a:solidFill>
                <a:schemeClr val="dk1"/>
              </a:solidFill>
              <a:latin typeface="Calibri"/>
              <a:ea typeface="Calibri"/>
              <a:cs typeface="Calibri"/>
            </a:endParaRPr>
          </a:p>
        </p:txBody>
      </p:sp>
      <p:sp>
        <p:nvSpPr>
          <p:cNvPr id="100" name="Google Shape;100;p7">
            <a:extLst xmlns:a="http://schemas.openxmlformats.org/drawingml/2006/main">
              <a:ext uri="{FF2B5EF4-FFF2-40B4-BE49-F238E27FC236}">
                <a16:creationId xmlns:a16="http://schemas.microsoft.com/office/drawing/2014/main" id="{D917D391-B7CC-4A47-8033-027C67E27F6D}"/>
              </a:ext>
            </a:extLst>
          </p:cNvPr>
          <p:cNvSpPr>
            <a:spLocks xmlns:a="http://schemas.openxmlformats.org/drawingml/2006/main" noGrp="1"/>
          </p:cNvSpPr>
          <p:nvPr/>
        </p:nvSpPr>
        <p:spPr>
          <a:xfrm xmlns:a="http://schemas.openxmlformats.org/drawingml/2006/main">
            <a:off x="548640" y="3749040"/>
            <a:ext cx="11018520" cy="2377440"/>
          </a:xfrm>
          <a:prstGeom xmlns:a="http://schemas.openxmlformats.org/drawingml/2006/main" prst="roundRect">
            <a:avLst>
              <a:gd name="adj" fmla="val 3846"/>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1" name="Google Shape;101;p7">
            <a:extLst xmlns:a="http://schemas.openxmlformats.org/drawingml/2006/main">
              <a:ext uri="{FF2B5EF4-FFF2-40B4-BE49-F238E27FC236}">
                <a16:creationId xmlns:a16="http://schemas.microsoft.com/office/drawing/2014/main" id="{979E8A64-7588-41B4-9F34-FE0739688599}"/>
              </a:ext>
            </a:extLst>
          </p:cNvPr>
          <p:cNvSpPr>
            <a:spLocks xmlns:a="http://schemas.openxmlformats.org/drawingml/2006/main" noGrp="1"/>
          </p:cNvSpPr>
          <p:nvPr/>
        </p:nvSpPr>
        <p:spPr>
          <a:xfrm xmlns:a="http://schemas.openxmlformats.org/drawingml/2006/main">
            <a:off x="804672" y="3950208"/>
            <a:ext cx="1050645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Say the statement aloud</a:t>
            </a:r>
            <a:endParaRPr sz="1400" b="0" i="0" u="none" cap="none">
              <a:solidFill>
                <a:schemeClr val="dk1"/>
              </a:solidFill>
              <a:latin typeface="Calibri"/>
              <a:ea typeface="Calibri"/>
              <a:cs typeface="Calibri"/>
            </a:endParaRPr>
          </a:p>
        </p:txBody>
      </p:sp>
      <p:sp>
        <p:nvSpPr>
          <p:cNvPr id="102" name="Google Shape;102;p7">
            <a:extLst xmlns:a="http://schemas.openxmlformats.org/drawingml/2006/main">
              <a:ext uri="{FF2B5EF4-FFF2-40B4-BE49-F238E27FC236}">
                <a16:creationId xmlns:a16="http://schemas.microsoft.com/office/drawing/2014/main" id="{68432BCF-8D30-4468-970F-56E4E3FA1FB4}"/>
              </a:ext>
            </a:extLst>
          </p:cNvPr>
          <p:cNvSpPr>
            <a:spLocks xmlns:a="http://schemas.openxmlformats.org/drawingml/2006/main" noGrp="1"/>
          </p:cNvSpPr>
          <p:nvPr/>
        </p:nvSpPr>
        <p:spPr>
          <a:xfrm xmlns:a="http://schemas.openxmlformats.org/drawingml/2006/main">
            <a:off x="804672" y="4315968"/>
            <a:ext cx="10506456" cy="1645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“Take the current value of d, add 1, and store the answer back in d.”</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It is assignment, not an algebra equation. The single = means “store the value on the right in the variable on the left.”</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Predict: if d starts at 20 and this statement runs three times, what values are stored?</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3020898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Google Shape;40;p5">
            <a:extLst xmlns:a="http://schemas.openxmlformats.org/drawingml/2006/main">
              <a:ext uri="{FF2B5EF4-FFF2-40B4-BE49-F238E27FC236}">
                <a16:creationId xmlns:a16="http://schemas.microsoft.com/office/drawing/2014/main" id="{3D81C2DE-939A-45C3-9647-9C04038BF632}"/>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A Local Variable Starts Over Every Call</a:t>
            </a:r>
            <a:endParaRPr sz="2900" b="0" i="0" u="none" cap="none">
              <a:solidFill>
                <a:schemeClr val="dk1"/>
              </a:solidFill>
              <a:latin typeface="Calibri"/>
              <a:ea typeface="Calibri"/>
              <a:cs typeface="Calibri"/>
            </a:endParaRPr>
          </a:p>
        </p:txBody>
      </p:sp>
      <p:sp>
        <p:nvSpPr>
          <p:cNvPr id="41" name="Google Shape;41;p5">
            <a:extLst xmlns:a="http://schemas.openxmlformats.org/drawingml/2006/main">
              <a:ext uri="{FF2B5EF4-FFF2-40B4-BE49-F238E27FC236}">
                <a16:creationId xmlns:a16="http://schemas.microsoft.com/office/drawing/2014/main" id="{0DD53D38-C19B-42F1-A614-943CB05AE5C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Declaring and initializing d inside draw() recreates 20 each time</a:t>
            </a:r>
            <a:endParaRPr sz="1500" b="0" i="0" u="none" cap="none">
              <a:solidFill>
                <a:schemeClr val="dk1"/>
              </a:solidFill>
              <a:latin typeface="Calibri"/>
              <a:ea typeface="Calibri"/>
              <a:cs typeface="Calibri"/>
            </a:endParaRPr>
          </a:p>
        </p:txBody>
      </p:sp>
      <p:sp>
        <p:nvSpPr>
          <p:cNvPr id="42" name="Google Shape;42;p5">
            <a:extLst xmlns:a="http://schemas.openxmlformats.org/drawingml/2006/main">
              <a:ext uri="{FF2B5EF4-FFF2-40B4-BE49-F238E27FC236}">
                <a16:creationId xmlns:a16="http://schemas.microsoft.com/office/drawing/2014/main" id="{5DA1CE9F-A7F6-445A-A8C8-BAA9F4524172}"/>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43" name="Google Shape;43;p5">
            <a:extLst xmlns:a="http://schemas.openxmlformats.org/drawingml/2006/main">
              <a:ext uri="{FF2B5EF4-FFF2-40B4-BE49-F238E27FC236}">
                <a16:creationId xmlns:a16="http://schemas.microsoft.com/office/drawing/2014/main" id="{7AB0FE86-B39C-4139-A465-538314F74DFC}"/>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44" name="Google Shape;44;p5">
            <a:extLst xmlns:a="http://schemas.openxmlformats.org/drawingml/2006/main">
              <a:ext uri="{FF2B5EF4-FFF2-40B4-BE49-F238E27FC236}">
                <a16:creationId xmlns:a16="http://schemas.microsoft.com/office/drawing/2014/main" id="{3C025E5A-0E2C-4A19-9530-097B937D6B71}"/>
              </a:ext>
            </a:extLst>
          </p:cNvPr>
          <p:cNvSpPr>
            <a:spLocks xmlns:a="http://schemas.openxmlformats.org/drawingml/2006/main" noGrp="1"/>
          </p:cNvSpPr>
          <p:nvPr/>
        </p:nvSpPr>
        <p:spPr>
          <a:xfrm xmlns:a="http://schemas.openxmlformats.org/drawingml/2006/main">
            <a:off x="548640" y="132588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 name="Google Shape;45;p5">
            <a:extLst xmlns:a="http://schemas.openxmlformats.org/drawingml/2006/main">
              <a:ext uri="{FF2B5EF4-FFF2-40B4-BE49-F238E27FC236}">
                <a16:creationId xmlns:a16="http://schemas.microsoft.com/office/drawing/2014/main" id="{676207D1-ED39-4FCF-B272-7569BCA4BA54}"/>
              </a:ext>
            </a:extLst>
          </p:cNvPr>
          <p:cNvSpPr>
            <a:spLocks xmlns:a="http://schemas.openxmlformats.org/drawingml/2006/main" noGrp="1"/>
          </p:cNvSpPr>
          <p:nvPr/>
        </p:nvSpPr>
        <p:spPr>
          <a:xfrm xmlns:a="http://schemas.openxmlformats.org/drawingml/2006/main">
            <a:off x="822960" y="152704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public void draw()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background(30);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float d = 20;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d = d + 1;</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ellipse(200, 200, d, d);</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
        <p:nvSpPr>
          <p:cNvPr id="46" name="Google Shape;46;p5">
            <a:extLst xmlns:a="http://schemas.openxmlformats.org/drawingml/2006/main">
              <a:ext uri="{FF2B5EF4-FFF2-40B4-BE49-F238E27FC236}">
                <a16:creationId xmlns:a16="http://schemas.microsoft.com/office/drawing/2014/main" id="{A19241C2-B628-4C2C-B834-F41B57629CF8}"/>
              </a:ext>
            </a:extLst>
          </p:cNvPr>
          <p:cNvSpPr>
            <a:spLocks xmlns:a="http://schemas.openxmlformats.org/drawingml/2006/main" noGrp="1"/>
          </p:cNvSpPr>
          <p:nvPr/>
        </p:nvSpPr>
        <p:spPr>
          <a:xfrm xmlns:a="http://schemas.openxmlformats.org/drawingml/2006/main">
            <a:off x="548640" y="397764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 name="Google Shape;47;p5">
            <a:extLst xmlns:a="http://schemas.openxmlformats.org/drawingml/2006/main">
              <a:ext uri="{FF2B5EF4-FFF2-40B4-BE49-F238E27FC236}">
                <a16:creationId xmlns:a16="http://schemas.microsoft.com/office/drawing/2014/main" id="{B186E1CC-9559-4F38-8F9D-6E8E0CE42D73}"/>
              </a:ext>
            </a:extLst>
          </p:cNvPr>
          <p:cNvSpPr>
            <a:spLocks xmlns:a="http://schemas.openxmlformats.org/drawingml/2006/main" noGrp="1"/>
          </p:cNvSpPr>
          <p:nvPr/>
        </p:nvSpPr>
        <p:spPr>
          <a:xfrm xmlns:a="http://schemas.openxmlformats.org/drawingml/2006/main">
            <a:off x="822960" y="417880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call 1: 20 → 21</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call 2: 20 → 21</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00"/>
              <a:buFont typeface="Calibri"/>
              <a:buNone/>
              <a:defRPr sz="1300" i="0">
                <a:solidFill>
                  <a:srgbClr val="CADCFC"/>
                </a:solidFill>
                <a:latin typeface="Courier New"/>
                <a:ea typeface="Courier New"/>
                <a:cs typeface="Courier New"/>
              </a:defRPr>
            </a:pPr>
            <a:r>
              <a:rPr sz="1300" i="0">
                <a:solidFill>
                  <a:srgbClr val="CADCFC"/>
                </a:solidFill>
                <a:latin typeface="Courier New"/>
                <a:ea typeface="Courier New"/>
                <a:cs typeface="Courier New"/>
              </a:rPr>
              <a:t>call 3: 20 → 21</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call 4: 20 → 21</a:t>
            </a:r>
            <a:endParaRPr sz="1300" b="0" i="0" u="none" cap="none">
              <a:solidFill>
                <a:schemeClr val="dk1"/>
              </a:solidFill>
              <a:latin typeface="Calibri"/>
              <a:ea typeface="Calibri"/>
              <a:cs typeface="Calibri"/>
            </a:endParaRPr>
          </a:p>
        </p:txBody>
      </p:sp>
      <p:sp>
        <p:nvSpPr>
          <p:cNvPr id="48" name="Google Shape;48;p5">
            <a:extLst xmlns:a="http://schemas.openxmlformats.org/drawingml/2006/main">
              <a:ext uri="{FF2B5EF4-FFF2-40B4-BE49-F238E27FC236}">
                <a16:creationId xmlns:a16="http://schemas.microsoft.com/office/drawing/2014/main" id="{E928D55B-DA2D-406D-9CDF-0112D355FA53}"/>
              </a:ext>
            </a:extLst>
          </p:cNvPr>
          <p:cNvSpPr>
            <a:spLocks xmlns:a="http://schemas.openxmlformats.org/drawingml/2006/main" noGrp="1"/>
          </p:cNvSpPr>
          <p:nvPr/>
        </p:nvSpPr>
        <p:spPr>
          <a:xfrm xmlns:a="http://schemas.openxmlformats.org/drawingml/2006/main">
            <a:off x="6309360" y="1325880"/>
            <a:ext cx="5349240" cy="5029200"/>
          </a:xfrm>
          <a:prstGeom xmlns:a="http://schemas.openxmlformats.org/drawingml/2006/main" prst="roundRect">
            <a:avLst>
              <a:gd name="adj" fmla="val 1818"/>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 name="Google Shape;49;p5">
            <a:extLst xmlns:a="http://schemas.openxmlformats.org/drawingml/2006/main">
              <a:ext uri="{FF2B5EF4-FFF2-40B4-BE49-F238E27FC236}">
                <a16:creationId xmlns:a16="http://schemas.microsoft.com/office/drawing/2014/main" id="{01725026-575B-45FD-A203-ADF7FAF698A6}"/>
              </a:ext>
            </a:extLst>
          </p:cNvPr>
          <p:cNvSpPr>
            <a:spLocks xmlns:a="http://schemas.openxmlformats.org/drawingml/2006/main" noGrp="1"/>
          </p:cNvSpPr>
          <p:nvPr/>
        </p:nvSpPr>
        <p:spPr>
          <a:xfrm xmlns:a="http://schemas.openxmlformats.org/drawingml/2006/main">
            <a:off x="6565392" y="152704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Why the circle stays the same size</a:t>
            </a:r>
            <a:endParaRPr sz="1400" b="0" i="0" u="none" cap="none">
              <a:solidFill>
                <a:schemeClr val="dk1"/>
              </a:solidFill>
              <a:latin typeface="Calibri"/>
              <a:ea typeface="Calibri"/>
              <a:cs typeface="Calibri"/>
            </a:endParaRPr>
          </a:p>
        </p:txBody>
      </p:sp>
      <p:sp>
        <p:nvSpPr>
          <p:cNvPr id="50" name="Google Shape;50;p5">
            <a:extLst xmlns:a="http://schemas.openxmlformats.org/drawingml/2006/main">
              <a:ext uri="{FF2B5EF4-FFF2-40B4-BE49-F238E27FC236}">
                <a16:creationId xmlns:a16="http://schemas.microsoft.com/office/drawing/2014/main" id="{BC09004A-6025-492B-BF1E-ACF497BC645E}"/>
              </a:ext>
            </a:extLst>
          </p:cNvPr>
          <p:cNvSpPr>
            <a:spLocks xmlns:a="http://schemas.openxmlformats.org/drawingml/2006/main" noGrp="1"/>
          </p:cNvSpPr>
          <p:nvPr/>
        </p:nvSpPr>
        <p:spPr>
          <a:xfrm xmlns:a="http://schemas.openxmlformats.org/drawingml/2006/main">
            <a:off x="6565392" y="1892808"/>
            <a:ext cx="4837176" cy="429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Each call creates a new local d and initializes it to 20. The update reaches 21, the ellipse is drawn, and that local variable’s work is finished.</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The next call does not receive the previous 21; it creates another d at 20.</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3363165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Google Shape;40;p5">
            <a:extLst xmlns:a="http://schemas.openxmlformats.org/drawingml/2006/main">
              <a:ext uri="{FF2B5EF4-FFF2-40B4-BE49-F238E27FC236}">
                <a16:creationId xmlns:a16="http://schemas.microsoft.com/office/drawing/2014/main" id="{3D81C2DE-939A-45C3-9647-9C04038BF632}"/>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A Sketch Variable Remembers</a:t>
            </a:r>
            <a:endParaRPr sz="2900" b="0" i="0" u="none" cap="none">
              <a:solidFill>
                <a:schemeClr val="dk1"/>
              </a:solidFill>
              <a:latin typeface="Calibri"/>
              <a:ea typeface="Calibri"/>
              <a:cs typeface="Calibri"/>
            </a:endParaRPr>
          </a:p>
        </p:txBody>
      </p:sp>
      <p:sp>
        <p:nvSpPr>
          <p:cNvPr id="41" name="Google Shape;41;p5">
            <a:extLst xmlns:a="http://schemas.openxmlformats.org/drawingml/2006/main">
              <a:ext uri="{FF2B5EF4-FFF2-40B4-BE49-F238E27FC236}">
                <a16:creationId xmlns:a16="http://schemas.microsoft.com/office/drawing/2014/main" id="{0DD53D38-C19B-42F1-A614-943CB05AE5C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Declare d once in the class; update the same value inside draw()</a:t>
            </a:r>
            <a:endParaRPr sz="1500" b="0" i="0" u="none" cap="none">
              <a:solidFill>
                <a:schemeClr val="dk1"/>
              </a:solidFill>
              <a:latin typeface="Calibri"/>
              <a:ea typeface="Calibri"/>
              <a:cs typeface="Calibri"/>
            </a:endParaRPr>
          </a:p>
        </p:txBody>
      </p:sp>
      <p:sp>
        <p:nvSpPr>
          <p:cNvPr id="42" name="Google Shape;42;p5">
            <a:extLst xmlns:a="http://schemas.openxmlformats.org/drawingml/2006/main">
              <a:ext uri="{FF2B5EF4-FFF2-40B4-BE49-F238E27FC236}">
                <a16:creationId xmlns:a16="http://schemas.microsoft.com/office/drawing/2014/main" id="{5DA1CE9F-A7F6-445A-A8C8-BAA9F4524172}"/>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43" name="Google Shape;43;p5">
            <a:extLst xmlns:a="http://schemas.openxmlformats.org/drawingml/2006/main">
              <a:ext uri="{FF2B5EF4-FFF2-40B4-BE49-F238E27FC236}">
                <a16:creationId xmlns:a16="http://schemas.microsoft.com/office/drawing/2014/main" id="{7AB0FE86-B39C-4139-A465-538314F74DFC}"/>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44" name="Google Shape;44;p5">
            <a:extLst xmlns:a="http://schemas.openxmlformats.org/drawingml/2006/main">
              <a:ext uri="{FF2B5EF4-FFF2-40B4-BE49-F238E27FC236}">
                <a16:creationId xmlns:a16="http://schemas.microsoft.com/office/drawing/2014/main" id="{3C025E5A-0E2C-4A19-9530-097B937D6B71}"/>
              </a:ext>
            </a:extLst>
          </p:cNvPr>
          <p:cNvSpPr>
            <a:spLocks xmlns:a="http://schemas.openxmlformats.org/drawingml/2006/main" noGrp="1"/>
          </p:cNvSpPr>
          <p:nvPr/>
        </p:nvSpPr>
        <p:spPr>
          <a:xfrm xmlns:a="http://schemas.openxmlformats.org/drawingml/2006/main">
            <a:off x="548640" y="132588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 name="Google Shape;45;p5">
            <a:extLst xmlns:a="http://schemas.openxmlformats.org/drawingml/2006/main">
              <a:ext uri="{FF2B5EF4-FFF2-40B4-BE49-F238E27FC236}">
                <a16:creationId xmlns:a16="http://schemas.microsoft.com/office/drawing/2014/main" id="{676207D1-ED39-4FCF-B272-7569BCA4BA54}"/>
              </a:ext>
            </a:extLst>
          </p:cNvPr>
          <p:cNvSpPr>
            <a:spLocks xmlns:a="http://schemas.openxmlformats.org/drawingml/2006/main" noGrp="1"/>
          </p:cNvSpPr>
          <p:nvPr/>
        </p:nvSpPr>
        <p:spPr>
          <a:xfrm xmlns:a="http://schemas.openxmlformats.org/drawingml/2006/main">
            <a:off x="822960" y="152704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float d = 20;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pPr>
            <a:r>
              <a:rPr sz="1300" b="0" i="0" u="none" cap="none">
                <a:solidFill>
                  <a:srgbClr val="8FD0FF"/>
                </a:solidFill>
                <a:latin typeface="Courier New"/>
                <a:ea typeface="Courier New"/>
                <a:cs typeface="Courier New"/>
              </a:rPr>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public void draw()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background(30);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d = d + 1;</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ellipse(200, 200, d, d);</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
        <p:nvSpPr>
          <p:cNvPr id="46" name="Google Shape;46;p5">
            <a:extLst xmlns:a="http://schemas.openxmlformats.org/drawingml/2006/main">
              <a:ext uri="{FF2B5EF4-FFF2-40B4-BE49-F238E27FC236}">
                <a16:creationId xmlns:a16="http://schemas.microsoft.com/office/drawing/2014/main" id="{A19241C2-B628-4C2C-B834-F41B57629CF8}"/>
              </a:ext>
            </a:extLst>
          </p:cNvPr>
          <p:cNvSpPr>
            <a:spLocks xmlns:a="http://schemas.openxmlformats.org/drawingml/2006/main" noGrp="1"/>
          </p:cNvSpPr>
          <p:nvPr/>
        </p:nvSpPr>
        <p:spPr>
          <a:xfrm xmlns:a="http://schemas.openxmlformats.org/drawingml/2006/main">
            <a:off x="548640" y="397764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 name="Google Shape;47;p5">
            <a:extLst xmlns:a="http://schemas.openxmlformats.org/drawingml/2006/main">
              <a:ext uri="{FF2B5EF4-FFF2-40B4-BE49-F238E27FC236}">
                <a16:creationId xmlns:a16="http://schemas.microsoft.com/office/drawing/2014/main" id="{B186E1CC-9559-4F38-8F9D-6E8E0CE42D73}"/>
              </a:ext>
            </a:extLst>
          </p:cNvPr>
          <p:cNvSpPr>
            <a:spLocks xmlns:a="http://schemas.openxmlformats.org/drawingml/2006/main" noGrp="1"/>
          </p:cNvSpPr>
          <p:nvPr/>
        </p:nvSpPr>
        <p:spPr>
          <a:xfrm xmlns:a="http://schemas.openxmlformats.org/drawingml/2006/main">
            <a:off x="822960" y="417880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start:  20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call 1: 21</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00"/>
              <a:buFont typeface="Calibri"/>
              <a:buNone/>
              <a:defRPr sz="1300" i="0">
                <a:solidFill>
                  <a:srgbClr val="CADCFC"/>
                </a:solidFill>
                <a:latin typeface="Courier New"/>
                <a:ea typeface="Courier New"/>
                <a:cs typeface="Courier New"/>
              </a:defRPr>
            </a:pPr>
            <a:r>
              <a:rPr sz="1300" i="0">
                <a:solidFill>
                  <a:srgbClr val="CADCFC"/>
                </a:solidFill>
                <a:latin typeface="Courier New"/>
                <a:ea typeface="Courier New"/>
                <a:cs typeface="Courier New"/>
              </a:rPr>
              <a:t>call 2: 22</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call 3: 23</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call 4: 24</a:t>
            </a:r>
            <a:endParaRPr sz="1300" b="0" i="0" u="none" cap="none">
              <a:solidFill>
                <a:schemeClr val="dk1"/>
              </a:solidFill>
              <a:latin typeface="Calibri"/>
              <a:ea typeface="Calibri"/>
              <a:cs typeface="Calibri"/>
            </a:endParaRPr>
          </a:p>
        </p:txBody>
      </p:sp>
      <p:sp>
        <p:nvSpPr>
          <p:cNvPr id="48" name="Google Shape;48;p5">
            <a:extLst xmlns:a="http://schemas.openxmlformats.org/drawingml/2006/main">
              <a:ext uri="{FF2B5EF4-FFF2-40B4-BE49-F238E27FC236}">
                <a16:creationId xmlns:a16="http://schemas.microsoft.com/office/drawing/2014/main" id="{E928D55B-DA2D-406D-9CDF-0112D355FA53}"/>
              </a:ext>
            </a:extLst>
          </p:cNvPr>
          <p:cNvSpPr>
            <a:spLocks xmlns:a="http://schemas.openxmlformats.org/drawingml/2006/main" noGrp="1"/>
          </p:cNvSpPr>
          <p:nvPr/>
        </p:nvSpPr>
        <p:spPr>
          <a:xfrm xmlns:a="http://schemas.openxmlformats.org/drawingml/2006/main">
            <a:off x="6309360" y="1325880"/>
            <a:ext cx="5349240" cy="5029200"/>
          </a:xfrm>
          <a:prstGeom xmlns:a="http://schemas.openxmlformats.org/drawingml/2006/main" prst="roundRect">
            <a:avLst>
              <a:gd name="adj" fmla="val 1818"/>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 name="Google Shape;49;p5">
            <a:extLst xmlns:a="http://schemas.openxmlformats.org/drawingml/2006/main">
              <a:ext uri="{FF2B5EF4-FFF2-40B4-BE49-F238E27FC236}">
                <a16:creationId xmlns:a16="http://schemas.microsoft.com/office/drawing/2014/main" id="{01725026-575B-45FD-A203-ADF7FAF698A6}"/>
              </a:ext>
            </a:extLst>
          </p:cNvPr>
          <p:cNvSpPr>
            <a:spLocks xmlns:a="http://schemas.openxmlformats.org/drawingml/2006/main" noGrp="1"/>
          </p:cNvSpPr>
          <p:nvPr/>
        </p:nvSpPr>
        <p:spPr>
          <a:xfrm xmlns:a="http://schemas.openxmlformats.org/drawingml/2006/main">
            <a:off x="6565392" y="152704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Where the declaration belongs</a:t>
            </a:r>
            <a:endParaRPr sz="1400" b="0" i="0" u="none" cap="none">
              <a:solidFill>
                <a:schemeClr val="dk1"/>
              </a:solidFill>
              <a:latin typeface="Calibri"/>
              <a:ea typeface="Calibri"/>
              <a:cs typeface="Calibri"/>
            </a:endParaRPr>
          </a:p>
        </p:txBody>
      </p:sp>
      <p:sp>
        <p:nvSpPr>
          <p:cNvPr id="50" name="Google Shape;50;p5">
            <a:extLst xmlns:a="http://schemas.openxmlformats.org/drawingml/2006/main">
              <a:ext uri="{FF2B5EF4-FFF2-40B4-BE49-F238E27FC236}">
                <a16:creationId xmlns:a16="http://schemas.microsoft.com/office/drawing/2014/main" id="{BC09004A-6025-492B-BF1E-ACF497BC645E}"/>
              </a:ext>
            </a:extLst>
          </p:cNvPr>
          <p:cNvSpPr>
            <a:spLocks xmlns:a="http://schemas.openxmlformats.org/drawingml/2006/main" noGrp="1"/>
          </p:cNvSpPr>
          <p:nvPr/>
        </p:nvSpPr>
        <p:spPr>
          <a:xfrm xmlns:a="http://schemas.openxmlformats.org/drawingml/2006/main">
            <a:off x="6565392" y="1892808"/>
            <a:ext cx="4837176" cy="429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Place float d = 20; inside the class but outside settings(), setup(), and draw().</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Now repeated calls update the same field. The newest value remains available when draw() is called again, so the circle grows.</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336316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6" name="Google Shape;56;p6">
            <a:extLst xmlns:a="http://schemas.openxmlformats.org/drawingml/2006/main">
              <a:ext uri="{FF2B5EF4-FFF2-40B4-BE49-F238E27FC236}">
                <a16:creationId xmlns:a16="http://schemas.microsoft.com/office/drawing/2014/main" id="{A7D03059-2724-4043-96E8-6402E241E3E3}"/>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pPr>
            <a:r>
              <a:rPr sz="2900" b="1" i="0" u="none" cap="none">
                <a:solidFill>
                  <a:srgbClr val="1E2761"/>
                </a:solidFill>
                <a:latin typeface="Cambria"/>
                <a:ea typeface="Cambria"/>
                <a:cs typeface="Cambria"/>
              </a:rPr>
              <a:t>Watching It Happen</a:t>
            </a:r>
            <a:endParaRPr sz="2900" b="0" i="0" u="none" cap="none">
              <a:solidFill>
                <a:schemeClr val="dk1"/>
              </a:solidFill>
              <a:latin typeface="Calibri"/>
              <a:ea typeface="Calibri"/>
              <a:cs typeface="Calibri"/>
            </a:endParaRPr>
          </a:p>
        </p:txBody>
      </p:sp>
      <p:sp>
        <p:nvSpPr>
          <p:cNvPr id="57" name="Google Shape;57;p6">
            <a:extLst xmlns:a="http://schemas.openxmlformats.org/drawingml/2006/main">
              <a:ext uri="{FF2B5EF4-FFF2-40B4-BE49-F238E27FC236}">
                <a16:creationId xmlns:a16="http://schemas.microsoft.com/office/drawing/2014/main" id="{61B3CB0B-16E8-4B22-8D6E-23A03F20EF78}"/>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Frame by frame, side by side</a:t>
            </a:r>
            <a:endParaRPr sz="1500" b="0" i="0" u="none" cap="none">
              <a:solidFill>
                <a:schemeClr val="dk1"/>
              </a:solidFill>
              <a:latin typeface="Calibri"/>
              <a:ea typeface="Calibri"/>
              <a:cs typeface="Calibri"/>
            </a:endParaRPr>
          </a:p>
        </p:txBody>
      </p:sp>
      <p:sp>
        <p:nvSpPr>
          <p:cNvPr id="58" name="Google Shape;58;p6">
            <a:extLst xmlns:a="http://schemas.openxmlformats.org/drawingml/2006/main">
              <a:ext uri="{FF2B5EF4-FFF2-40B4-BE49-F238E27FC236}">
                <a16:creationId xmlns:a16="http://schemas.microsoft.com/office/drawing/2014/main" id="{70EC4D6F-7CF6-4F68-9362-6EC2BF050211}"/>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59" name="Google Shape;59;p6">
            <a:extLst xmlns:a="http://schemas.openxmlformats.org/drawingml/2006/main">
              <a:ext uri="{FF2B5EF4-FFF2-40B4-BE49-F238E27FC236}">
                <a16:creationId xmlns:a16="http://schemas.microsoft.com/office/drawing/2014/main" id="{36EB41F4-A8CF-4B9D-8F37-A6D3BCD1D1E7}"/>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pPr>
            <a:r>
              <a:rPr sz="1100" b="0" i="0" u="none" cap="none">
                <a:solidFill>
                  <a:srgbClr val="8892B0"/>
                </a:solidFill>
                <a:latin typeface="Calibri"/>
                <a:ea typeface="Calibri"/>
                <a:cs typeface="Calibri"/>
              </a:rPr>
              <a:t>B1.3 (Part 1 of 3) · Frame-by-Frame Change</a:t>
            </a:r>
            <a:endParaRPr sz="1100" b="0" i="0" u="none" cap="none">
              <a:solidFill>
                <a:schemeClr val="dk1"/>
              </a:solidFill>
              <a:latin typeface="Calibri"/>
              <a:ea typeface="Calibri"/>
              <a:cs typeface="Calibri"/>
            </a:endParaRPr>
          </a:p>
        </p:txBody>
      </p:sp>
      <p:sp>
        <p:nvSpPr>
          <p:cNvPr id="60" name="Google Shape;60;p6">
            <a:extLst xmlns:a="http://schemas.openxmlformats.org/drawingml/2006/main">
              <a:ext uri="{FF2B5EF4-FFF2-40B4-BE49-F238E27FC236}">
                <a16:creationId xmlns:a16="http://schemas.microsoft.com/office/drawing/2014/main" id="{5F43D06F-8088-4861-B0AD-EE5FBD37C81C}"/>
              </a:ext>
            </a:extLst>
          </p:cNvPr>
          <p:cNvSpPr>
            <a:spLocks xmlns:a="http://schemas.openxmlformats.org/drawingml/2006/main" noGrp="1"/>
          </p:cNvSpPr>
          <p:nvPr/>
        </p:nvSpPr>
        <p:spPr>
          <a:xfrm xmlns:a="http://schemas.openxmlformats.org/drawingml/2006/main">
            <a:off x="548640" y="1143000"/>
            <a:ext cx="110642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1350"/>
              <a:buFont typeface="Calibri"/>
              <a:buNone/>
            </a:pPr>
            <a:r>
              <a:rPr sz="1350" b="1" i="0" u="none" cap="none">
                <a:solidFill>
                  <a:srgbClr val="1E2761"/>
                </a:solidFill>
                <a:latin typeface="Calibri"/>
                <a:ea typeface="Calibri"/>
                <a:cs typeface="Calibri"/>
              </a:rPr>
              <a:t>A — local: d resets to 20, then +1, every frame</a:t>
            </a:r>
            <a:endParaRPr sz="1350" b="0" i="0" u="none" cap="none">
              <a:solidFill>
                <a:schemeClr val="dk1"/>
              </a:solidFill>
              <a:latin typeface="Calibri"/>
              <a:ea typeface="Calibri"/>
              <a:cs typeface="Calibri"/>
            </a:endParaRPr>
          </a:p>
        </p:txBody>
      </p:sp>
      <p:sp>
        <p:nvSpPr>
          <p:cNvPr id="61" name="Google Shape;61;p6">
            <a:extLst xmlns:a="http://schemas.openxmlformats.org/drawingml/2006/main">
              <a:ext uri="{FF2B5EF4-FFF2-40B4-BE49-F238E27FC236}">
                <a16:creationId xmlns:a16="http://schemas.microsoft.com/office/drawing/2014/main" id="{92A2B927-A3FE-4D8C-B2D9-8404D4008CFF}"/>
              </a:ext>
            </a:extLst>
          </p:cNvPr>
          <p:cNvSpPr>
            <a:spLocks xmlns:a="http://schemas.openxmlformats.org/drawingml/2006/main" noGrp="1"/>
          </p:cNvSpPr>
          <p:nvPr/>
        </p:nvSpPr>
        <p:spPr>
          <a:xfrm xmlns:a="http://schemas.openxmlformats.org/drawingml/2006/main">
            <a:off x="548640" y="1508760"/>
            <a:ext cx="2606040" cy="1828800"/>
          </a:xfrm>
          <a:prstGeom xmlns:a="http://schemas.openxmlformats.org/drawingml/2006/main" prst="roundRect">
            <a:avLst>
              <a:gd name="adj" fmla="val 2500"/>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 name="Google Shape;62;p6">
            <a:extLst xmlns:a="http://schemas.openxmlformats.org/drawingml/2006/main">
              <a:ext uri="{FF2B5EF4-FFF2-40B4-BE49-F238E27FC236}">
                <a16:creationId xmlns:a16="http://schemas.microsoft.com/office/drawing/2014/main" id="{74CA443E-CFA4-4092-A490-7A9162E5B92D}"/>
              </a:ext>
            </a:extLst>
          </p:cNvPr>
          <p:cNvSpPr>
            <a:spLocks xmlns:a="http://schemas.openxmlformats.org/drawingml/2006/main" noGrp="1"/>
          </p:cNvSpPr>
          <p:nvPr/>
        </p:nvSpPr>
        <p:spPr>
          <a:xfrm xmlns:a="http://schemas.openxmlformats.org/drawingml/2006/main">
            <a:off x="1531620" y="2103120"/>
            <a:ext cx="640080" cy="640080"/>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 name="Google Shape;63;p6">
            <a:extLst xmlns:a="http://schemas.openxmlformats.org/drawingml/2006/main">
              <a:ext uri="{FF2B5EF4-FFF2-40B4-BE49-F238E27FC236}">
                <a16:creationId xmlns:a16="http://schemas.microsoft.com/office/drawing/2014/main" id="{83BD9630-6A0C-4779-9D9B-61D66B1ADAF3}"/>
              </a:ext>
            </a:extLst>
          </p:cNvPr>
          <p:cNvSpPr>
            <a:spLocks xmlns:a="http://schemas.openxmlformats.org/drawingml/2006/main" noGrp="1"/>
          </p:cNvSpPr>
          <p:nvPr/>
        </p:nvSpPr>
        <p:spPr>
          <a:xfrm xmlns:a="http://schemas.openxmlformats.org/drawingml/2006/main">
            <a:off x="548640" y="3383280"/>
            <a:ext cx="2606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ourier New"/>
              <a:buNone/>
            </a:pPr>
            <a:r>
              <a:rPr sz="1100" b="0" i="0" u="none" cap="none">
                <a:solidFill>
                  <a:srgbClr val="3B4A78"/>
                </a:solidFill>
                <a:latin typeface="Courier New"/>
                <a:ea typeface="Courier New"/>
                <a:cs typeface="Courier New"/>
              </a:rPr>
              <a:t>Frame 1: d = 21</a:t>
            </a:r>
            <a:endParaRPr sz="1100" b="0" i="0" u="none" cap="none">
              <a:solidFill>
                <a:schemeClr val="dk1"/>
              </a:solidFill>
              <a:latin typeface="Calibri"/>
              <a:ea typeface="Calibri"/>
              <a:cs typeface="Calibri"/>
            </a:endParaRPr>
          </a:p>
        </p:txBody>
      </p:sp>
      <p:sp>
        <p:nvSpPr>
          <p:cNvPr id="64" name="Google Shape;64;p6">
            <a:extLst xmlns:a="http://schemas.openxmlformats.org/drawingml/2006/main">
              <a:ext uri="{FF2B5EF4-FFF2-40B4-BE49-F238E27FC236}">
                <a16:creationId xmlns:a16="http://schemas.microsoft.com/office/drawing/2014/main" id="{BDCB81F9-5CC1-4BE7-A952-4F40B0930C4F}"/>
              </a:ext>
            </a:extLst>
          </p:cNvPr>
          <p:cNvSpPr>
            <a:spLocks xmlns:a="http://schemas.openxmlformats.org/drawingml/2006/main" noGrp="1"/>
          </p:cNvSpPr>
          <p:nvPr/>
        </p:nvSpPr>
        <p:spPr>
          <a:xfrm xmlns:a="http://schemas.openxmlformats.org/drawingml/2006/main">
            <a:off x="3429000" y="1508760"/>
            <a:ext cx="2606040" cy="1828800"/>
          </a:xfrm>
          <a:prstGeom xmlns:a="http://schemas.openxmlformats.org/drawingml/2006/main" prst="roundRect">
            <a:avLst>
              <a:gd name="adj" fmla="val 2500"/>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 name="Google Shape;65;p6">
            <a:extLst xmlns:a="http://schemas.openxmlformats.org/drawingml/2006/main">
              <a:ext uri="{FF2B5EF4-FFF2-40B4-BE49-F238E27FC236}">
                <a16:creationId xmlns:a16="http://schemas.microsoft.com/office/drawing/2014/main" id="{A0AA0E92-D700-411B-99F2-3CAAF3AB9F81}"/>
              </a:ext>
            </a:extLst>
          </p:cNvPr>
          <p:cNvSpPr>
            <a:spLocks xmlns:a="http://schemas.openxmlformats.org/drawingml/2006/main" noGrp="1"/>
          </p:cNvSpPr>
          <p:nvPr/>
        </p:nvSpPr>
        <p:spPr>
          <a:xfrm xmlns:a="http://schemas.openxmlformats.org/drawingml/2006/main">
            <a:off x="4411980" y="2103120"/>
            <a:ext cx="640080" cy="640080"/>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6">
            <a:extLst xmlns:a="http://schemas.openxmlformats.org/drawingml/2006/main">
              <a:ext uri="{FF2B5EF4-FFF2-40B4-BE49-F238E27FC236}">
                <a16:creationId xmlns:a16="http://schemas.microsoft.com/office/drawing/2014/main" id="{EE94E0DE-83D6-45DD-9A6F-AC02965E1E6F}"/>
              </a:ext>
            </a:extLst>
          </p:cNvPr>
          <p:cNvSpPr>
            <a:spLocks xmlns:a="http://schemas.openxmlformats.org/drawingml/2006/main" noGrp="1"/>
          </p:cNvSpPr>
          <p:nvPr/>
        </p:nvSpPr>
        <p:spPr>
          <a:xfrm xmlns:a="http://schemas.openxmlformats.org/drawingml/2006/main">
            <a:off x="3429000" y="3383280"/>
            <a:ext cx="2606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ourier New"/>
              <a:buNone/>
            </a:pPr>
            <a:r>
              <a:rPr sz="1100" b="0" i="0" u="none" cap="none">
                <a:solidFill>
                  <a:srgbClr val="3B4A78"/>
                </a:solidFill>
                <a:latin typeface="Courier New"/>
                <a:ea typeface="Courier New"/>
                <a:cs typeface="Courier New"/>
              </a:rPr>
              <a:t>Frame 2: d = 21</a:t>
            </a:r>
            <a:endParaRPr sz="1100" b="0" i="0" u="none" cap="none">
              <a:solidFill>
                <a:schemeClr val="dk1"/>
              </a:solidFill>
              <a:latin typeface="Calibri"/>
              <a:ea typeface="Calibri"/>
              <a:cs typeface="Calibri"/>
            </a:endParaRPr>
          </a:p>
        </p:txBody>
      </p:sp>
      <p:sp>
        <p:nvSpPr>
          <p:cNvPr id="67" name="Google Shape;67;p6">
            <a:extLst xmlns:a="http://schemas.openxmlformats.org/drawingml/2006/main">
              <a:ext uri="{FF2B5EF4-FFF2-40B4-BE49-F238E27FC236}">
                <a16:creationId xmlns:a16="http://schemas.microsoft.com/office/drawing/2014/main" id="{C3877B35-ADA2-4019-8A5B-0DEFCA5368CD}"/>
              </a:ext>
            </a:extLst>
          </p:cNvPr>
          <p:cNvSpPr>
            <a:spLocks xmlns:a="http://schemas.openxmlformats.org/drawingml/2006/main" noGrp="1"/>
          </p:cNvSpPr>
          <p:nvPr/>
        </p:nvSpPr>
        <p:spPr>
          <a:xfrm xmlns:a="http://schemas.openxmlformats.org/drawingml/2006/main">
            <a:off x="6309360" y="1508760"/>
            <a:ext cx="2606040" cy="1828800"/>
          </a:xfrm>
          <a:prstGeom xmlns:a="http://schemas.openxmlformats.org/drawingml/2006/main" prst="roundRect">
            <a:avLst>
              <a:gd name="adj" fmla="val 2500"/>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6">
            <a:extLst xmlns:a="http://schemas.openxmlformats.org/drawingml/2006/main">
              <a:ext uri="{FF2B5EF4-FFF2-40B4-BE49-F238E27FC236}">
                <a16:creationId xmlns:a16="http://schemas.microsoft.com/office/drawing/2014/main" id="{89D393CF-EC67-4981-B387-712B8F04108C}"/>
              </a:ext>
            </a:extLst>
          </p:cNvPr>
          <p:cNvSpPr>
            <a:spLocks xmlns:a="http://schemas.openxmlformats.org/drawingml/2006/main" noGrp="1"/>
          </p:cNvSpPr>
          <p:nvPr/>
        </p:nvSpPr>
        <p:spPr>
          <a:xfrm xmlns:a="http://schemas.openxmlformats.org/drawingml/2006/main">
            <a:off x="7292340" y="2103120"/>
            <a:ext cx="640080" cy="640080"/>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9" name="Google Shape;69;p6">
            <a:extLst xmlns:a="http://schemas.openxmlformats.org/drawingml/2006/main">
              <a:ext uri="{FF2B5EF4-FFF2-40B4-BE49-F238E27FC236}">
                <a16:creationId xmlns:a16="http://schemas.microsoft.com/office/drawing/2014/main" id="{1A3C2E6B-B1F2-4890-AD99-9345919EB6F4}"/>
              </a:ext>
            </a:extLst>
          </p:cNvPr>
          <p:cNvSpPr>
            <a:spLocks xmlns:a="http://schemas.openxmlformats.org/drawingml/2006/main" noGrp="1"/>
          </p:cNvSpPr>
          <p:nvPr/>
        </p:nvSpPr>
        <p:spPr>
          <a:xfrm xmlns:a="http://schemas.openxmlformats.org/drawingml/2006/main">
            <a:off x="6309360" y="3383280"/>
            <a:ext cx="2606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ourier New"/>
              <a:buNone/>
            </a:pPr>
            <a:r>
              <a:rPr sz="1100" b="0" i="0" u="none" cap="none">
                <a:solidFill>
                  <a:srgbClr val="3B4A78"/>
                </a:solidFill>
                <a:latin typeface="Courier New"/>
                <a:ea typeface="Courier New"/>
                <a:cs typeface="Courier New"/>
              </a:rPr>
              <a:t>Frame 3: d = 21</a:t>
            </a:r>
            <a:endParaRPr sz="1100" b="0" i="0" u="none" cap="none">
              <a:solidFill>
                <a:schemeClr val="dk1"/>
              </a:solidFill>
              <a:latin typeface="Calibri"/>
              <a:ea typeface="Calibri"/>
              <a:cs typeface="Calibri"/>
            </a:endParaRPr>
          </a:p>
        </p:txBody>
      </p:sp>
      <p:sp>
        <p:nvSpPr>
          <p:cNvPr id="70" name="Google Shape;70;p6">
            <a:extLst xmlns:a="http://schemas.openxmlformats.org/drawingml/2006/main">
              <a:ext uri="{FF2B5EF4-FFF2-40B4-BE49-F238E27FC236}">
                <a16:creationId xmlns:a16="http://schemas.microsoft.com/office/drawing/2014/main" id="{D37B045E-A5F1-47EE-8847-48317BD61EDF}"/>
              </a:ext>
            </a:extLst>
          </p:cNvPr>
          <p:cNvSpPr>
            <a:spLocks xmlns:a="http://schemas.openxmlformats.org/drawingml/2006/main" noGrp="1"/>
          </p:cNvSpPr>
          <p:nvPr/>
        </p:nvSpPr>
        <p:spPr>
          <a:xfrm xmlns:a="http://schemas.openxmlformats.org/drawingml/2006/main">
            <a:off x="9189720" y="1508760"/>
            <a:ext cx="2606040" cy="1828800"/>
          </a:xfrm>
          <a:prstGeom xmlns:a="http://schemas.openxmlformats.org/drawingml/2006/main" prst="roundRect">
            <a:avLst>
              <a:gd name="adj" fmla="val 2500"/>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1" name="Google Shape;71;p6">
            <a:extLst xmlns:a="http://schemas.openxmlformats.org/drawingml/2006/main">
              <a:ext uri="{FF2B5EF4-FFF2-40B4-BE49-F238E27FC236}">
                <a16:creationId xmlns:a16="http://schemas.microsoft.com/office/drawing/2014/main" id="{6FC2D9AE-699C-46E0-BB0E-DF0F0223F875}"/>
              </a:ext>
            </a:extLst>
          </p:cNvPr>
          <p:cNvSpPr>
            <a:spLocks xmlns:a="http://schemas.openxmlformats.org/drawingml/2006/main" noGrp="1"/>
          </p:cNvSpPr>
          <p:nvPr/>
        </p:nvSpPr>
        <p:spPr>
          <a:xfrm xmlns:a="http://schemas.openxmlformats.org/drawingml/2006/main">
            <a:off x="10172700" y="2103120"/>
            <a:ext cx="640080" cy="640080"/>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2" name="Google Shape;72;p6">
            <a:extLst xmlns:a="http://schemas.openxmlformats.org/drawingml/2006/main">
              <a:ext uri="{FF2B5EF4-FFF2-40B4-BE49-F238E27FC236}">
                <a16:creationId xmlns:a16="http://schemas.microsoft.com/office/drawing/2014/main" id="{7F530048-767A-4187-B812-8747B999C198}"/>
              </a:ext>
            </a:extLst>
          </p:cNvPr>
          <p:cNvSpPr>
            <a:spLocks xmlns:a="http://schemas.openxmlformats.org/drawingml/2006/main" noGrp="1"/>
          </p:cNvSpPr>
          <p:nvPr/>
        </p:nvSpPr>
        <p:spPr>
          <a:xfrm xmlns:a="http://schemas.openxmlformats.org/drawingml/2006/main">
            <a:off x="9189720" y="3383280"/>
            <a:ext cx="2606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ourier New"/>
              <a:buNone/>
            </a:pPr>
            <a:r>
              <a:rPr sz="1100" b="0" i="0" u="none" cap="none">
                <a:solidFill>
                  <a:srgbClr val="3B4A78"/>
                </a:solidFill>
                <a:latin typeface="Courier New"/>
                <a:ea typeface="Courier New"/>
                <a:cs typeface="Courier New"/>
              </a:rPr>
              <a:t>Frame 4: d = 21</a:t>
            </a:r>
            <a:endParaRPr sz="1100" b="0" i="0" u="none" cap="none">
              <a:solidFill>
                <a:schemeClr val="dk1"/>
              </a:solidFill>
              <a:latin typeface="Calibri"/>
              <a:ea typeface="Calibri"/>
              <a:cs typeface="Calibri"/>
            </a:endParaRPr>
          </a:p>
        </p:txBody>
      </p:sp>
      <p:sp>
        <p:nvSpPr>
          <p:cNvPr id="73" name="Google Shape;73;p6">
            <a:extLst xmlns:a="http://schemas.openxmlformats.org/drawingml/2006/main">
              <a:ext uri="{FF2B5EF4-FFF2-40B4-BE49-F238E27FC236}">
                <a16:creationId xmlns:a16="http://schemas.microsoft.com/office/drawing/2014/main" id="{102CEA91-EF39-4B23-92A1-64321683F237}"/>
              </a:ext>
            </a:extLst>
          </p:cNvPr>
          <p:cNvSpPr>
            <a:spLocks xmlns:a="http://schemas.openxmlformats.org/drawingml/2006/main" noGrp="1"/>
          </p:cNvSpPr>
          <p:nvPr/>
        </p:nvSpPr>
        <p:spPr>
          <a:xfrm xmlns:a="http://schemas.openxmlformats.org/drawingml/2006/main">
            <a:off x="548640" y="3611880"/>
            <a:ext cx="110642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1350"/>
              <a:buFont typeface="Calibri"/>
              <a:buNone/>
            </a:pPr>
            <a:r>
              <a:rPr sz="1350" b="1" i="0" u="none" cap="none">
                <a:solidFill>
                  <a:srgbClr val="1E2761"/>
                </a:solidFill>
                <a:latin typeface="Calibri"/>
                <a:ea typeface="Calibri"/>
                <a:cs typeface="Calibri"/>
              </a:rPr>
              <a:t>B — persistent: d keeps accumulating</a:t>
            </a:r>
            <a:endParaRPr sz="1350" b="0" i="0" u="none" cap="none">
              <a:solidFill>
                <a:schemeClr val="dk1"/>
              </a:solidFill>
              <a:latin typeface="Calibri"/>
              <a:ea typeface="Calibri"/>
              <a:cs typeface="Calibri"/>
            </a:endParaRPr>
          </a:p>
        </p:txBody>
      </p:sp>
      <p:sp>
        <p:nvSpPr>
          <p:cNvPr id="74" name="Google Shape;74;p6">
            <a:extLst xmlns:a="http://schemas.openxmlformats.org/drawingml/2006/main">
              <a:ext uri="{FF2B5EF4-FFF2-40B4-BE49-F238E27FC236}">
                <a16:creationId xmlns:a16="http://schemas.microsoft.com/office/drawing/2014/main" id="{0E6DCBA5-B0D1-4E15-ADF0-0F5C9F2E3CC6}"/>
              </a:ext>
            </a:extLst>
          </p:cNvPr>
          <p:cNvSpPr>
            <a:spLocks xmlns:a="http://schemas.openxmlformats.org/drawingml/2006/main" noGrp="1"/>
          </p:cNvSpPr>
          <p:nvPr/>
        </p:nvSpPr>
        <p:spPr>
          <a:xfrm xmlns:a="http://schemas.openxmlformats.org/drawingml/2006/main">
            <a:off x="548640" y="3977640"/>
            <a:ext cx="2606040" cy="1828800"/>
          </a:xfrm>
          <a:prstGeom xmlns:a="http://schemas.openxmlformats.org/drawingml/2006/main" prst="roundRect">
            <a:avLst>
              <a:gd name="adj" fmla="val 2500"/>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5" name="Google Shape;75;p6">
            <a:extLst xmlns:a="http://schemas.openxmlformats.org/drawingml/2006/main">
              <a:ext uri="{FF2B5EF4-FFF2-40B4-BE49-F238E27FC236}">
                <a16:creationId xmlns:a16="http://schemas.microsoft.com/office/drawing/2014/main" id="{59F9E063-F47E-48BE-837E-2B1D7A6DAC18}"/>
              </a:ext>
            </a:extLst>
          </p:cNvPr>
          <p:cNvSpPr>
            <a:spLocks xmlns:a="http://schemas.openxmlformats.org/drawingml/2006/main" noGrp="1"/>
          </p:cNvSpPr>
          <p:nvPr/>
        </p:nvSpPr>
        <p:spPr>
          <a:xfrm xmlns:a="http://schemas.openxmlformats.org/drawingml/2006/main">
            <a:off x="1531620" y="4572000"/>
            <a:ext cx="640080" cy="640080"/>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6" name="Google Shape;76;p6">
            <a:extLst xmlns:a="http://schemas.openxmlformats.org/drawingml/2006/main">
              <a:ext uri="{FF2B5EF4-FFF2-40B4-BE49-F238E27FC236}">
                <a16:creationId xmlns:a16="http://schemas.microsoft.com/office/drawing/2014/main" id="{AAD1272F-D5C6-417E-B558-5C29A438E82B}"/>
              </a:ext>
            </a:extLst>
          </p:cNvPr>
          <p:cNvSpPr>
            <a:spLocks xmlns:a="http://schemas.openxmlformats.org/drawingml/2006/main" noGrp="1"/>
          </p:cNvSpPr>
          <p:nvPr/>
        </p:nvSpPr>
        <p:spPr>
          <a:xfrm xmlns:a="http://schemas.openxmlformats.org/drawingml/2006/main">
            <a:off x="548640" y="5852160"/>
            <a:ext cx="2606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ourier New"/>
              <a:buNone/>
            </a:pPr>
            <a:r>
              <a:rPr sz="1100" b="0" i="0" u="none" cap="none">
                <a:solidFill>
                  <a:srgbClr val="3B4A78"/>
                </a:solidFill>
                <a:latin typeface="Courier New"/>
                <a:ea typeface="Courier New"/>
                <a:cs typeface="Courier New"/>
              </a:rPr>
              <a:t>Frame 1: d = 21</a:t>
            </a:r>
            <a:endParaRPr sz="1100" b="0" i="0" u="none" cap="none">
              <a:solidFill>
                <a:schemeClr val="dk1"/>
              </a:solidFill>
              <a:latin typeface="Calibri"/>
              <a:ea typeface="Calibri"/>
              <a:cs typeface="Calibri"/>
            </a:endParaRPr>
          </a:p>
        </p:txBody>
      </p:sp>
      <p:sp>
        <p:nvSpPr>
          <p:cNvPr id="77" name="Google Shape;77;p6">
            <a:extLst xmlns:a="http://schemas.openxmlformats.org/drawingml/2006/main">
              <a:ext uri="{FF2B5EF4-FFF2-40B4-BE49-F238E27FC236}">
                <a16:creationId xmlns:a16="http://schemas.microsoft.com/office/drawing/2014/main" id="{039E1363-584D-4A8D-AF68-8366CD378189}"/>
              </a:ext>
            </a:extLst>
          </p:cNvPr>
          <p:cNvSpPr>
            <a:spLocks xmlns:a="http://schemas.openxmlformats.org/drawingml/2006/main" noGrp="1"/>
          </p:cNvSpPr>
          <p:nvPr/>
        </p:nvSpPr>
        <p:spPr>
          <a:xfrm xmlns:a="http://schemas.openxmlformats.org/drawingml/2006/main">
            <a:off x="3429000" y="3977640"/>
            <a:ext cx="2606040" cy="1828800"/>
          </a:xfrm>
          <a:prstGeom xmlns:a="http://schemas.openxmlformats.org/drawingml/2006/main" prst="roundRect">
            <a:avLst>
              <a:gd name="adj" fmla="val 2500"/>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8" name="Google Shape;78;p6">
            <a:extLst xmlns:a="http://schemas.openxmlformats.org/drawingml/2006/main">
              <a:ext uri="{FF2B5EF4-FFF2-40B4-BE49-F238E27FC236}">
                <a16:creationId xmlns:a16="http://schemas.microsoft.com/office/drawing/2014/main" id="{3F696C84-488E-4465-A971-6BB463122D24}"/>
              </a:ext>
            </a:extLst>
          </p:cNvPr>
          <p:cNvSpPr>
            <a:spLocks xmlns:a="http://schemas.openxmlformats.org/drawingml/2006/main" noGrp="1"/>
          </p:cNvSpPr>
          <p:nvPr/>
        </p:nvSpPr>
        <p:spPr>
          <a:xfrm xmlns:a="http://schemas.openxmlformats.org/drawingml/2006/main">
            <a:off x="4283964" y="4443984"/>
            <a:ext cx="896112" cy="896112"/>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9" name="Google Shape;79;p6">
            <a:extLst xmlns:a="http://schemas.openxmlformats.org/drawingml/2006/main">
              <a:ext uri="{FF2B5EF4-FFF2-40B4-BE49-F238E27FC236}">
                <a16:creationId xmlns:a16="http://schemas.microsoft.com/office/drawing/2014/main" id="{F42AF6DA-D667-4353-93AC-592188783ADD}"/>
              </a:ext>
            </a:extLst>
          </p:cNvPr>
          <p:cNvSpPr>
            <a:spLocks xmlns:a="http://schemas.openxmlformats.org/drawingml/2006/main" noGrp="1"/>
          </p:cNvSpPr>
          <p:nvPr/>
        </p:nvSpPr>
        <p:spPr>
          <a:xfrm xmlns:a="http://schemas.openxmlformats.org/drawingml/2006/main">
            <a:off x="3429000" y="5852160"/>
            <a:ext cx="2606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ourier New"/>
              <a:buNone/>
            </a:pPr>
            <a:r>
              <a:rPr sz="1100" b="0" i="0" u="none" cap="none">
                <a:solidFill>
                  <a:srgbClr val="3B4A78"/>
                </a:solidFill>
                <a:latin typeface="Courier New"/>
                <a:ea typeface="Courier New"/>
                <a:cs typeface="Courier New"/>
              </a:rPr>
              <a:t>Frame 2: d = 22</a:t>
            </a:r>
            <a:endParaRPr sz="1100" b="0" i="0" u="none" cap="none">
              <a:solidFill>
                <a:schemeClr val="dk1"/>
              </a:solidFill>
              <a:latin typeface="Calibri"/>
              <a:ea typeface="Calibri"/>
              <a:cs typeface="Calibri"/>
            </a:endParaRPr>
          </a:p>
        </p:txBody>
      </p:sp>
      <p:sp>
        <p:nvSpPr>
          <p:cNvPr id="80" name="Google Shape;80;p6">
            <a:extLst xmlns:a="http://schemas.openxmlformats.org/drawingml/2006/main">
              <a:ext uri="{FF2B5EF4-FFF2-40B4-BE49-F238E27FC236}">
                <a16:creationId xmlns:a16="http://schemas.microsoft.com/office/drawing/2014/main" id="{B0B2E43D-4A06-4DF3-8358-79F6310D8CEF}"/>
              </a:ext>
            </a:extLst>
          </p:cNvPr>
          <p:cNvSpPr>
            <a:spLocks xmlns:a="http://schemas.openxmlformats.org/drawingml/2006/main" noGrp="1"/>
          </p:cNvSpPr>
          <p:nvPr/>
        </p:nvSpPr>
        <p:spPr>
          <a:xfrm xmlns:a="http://schemas.openxmlformats.org/drawingml/2006/main">
            <a:off x="6309360" y="3977640"/>
            <a:ext cx="2606040" cy="1828800"/>
          </a:xfrm>
          <a:prstGeom xmlns:a="http://schemas.openxmlformats.org/drawingml/2006/main" prst="roundRect">
            <a:avLst>
              <a:gd name="adj" fmla="val 2500"/>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1" name="Google Shape;81;p6">
            <a:extLst xmlns:a="http://schemas.openxmlformats.org/drawingml/2006/main">
              <a:ext uri="{FF2B5EF4-FFF2-40B4-BE49-F238E27FC236}">
                <a16:creationId xmlns:a16="http://schemas.microsoft.com/office/drawing/2014/main" id="{E078DF68-DE96-4B86-A992-AC983736BA06}"/>
              </a:ext>
            </a:extLst>
          </p:cNvPr>
          <p:cNvSpPr>
            <a:spLocks xmlns:a="http://schemas.openxmlformats.org/drawingml/2006/main" noGrp="1"/>
          </p:cNvSpPr>
          <p:nvPr/>
        </p:nvSpPr>
        <p:spPr>
          <a:xfrm xmlns:a="http://schemas.openxmlformats.org/drawingml/2006/main">
            <a:off x="7036308" y="4315968"/>
            <a:ext cx="1152144" cy="1152144"/>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2" name="Google Shape;82;p6">
            <a:extLst xmlns:a="http://schemas.openxmlformats.org/drawingml/2006/main">
              <a:ext uri="{FF2B5EF4-FFF2-40B4-BE49-F238E27FC236}">
                <a16:creationId xmlns:a16="http://schemas.microsoft.com/office/drawing/2014/main" id="{5A358650-AA3B-4595-8AEF-0F2190D8AD3A}"/>
              </a:ext>
            </a:extLst>
          </p:cNvPr>
          <p:cNvSpPr>
            <a:spLocks xmlns:a="http://schemas.openxmlformats.org/drawingml/2006/main" noGrp="1"/>
          </p:cNvSpPr>
          <p:nvPr/>
        </p:nvSpPr>
        <p:spPr>
          <a:xfrm xmlns:a="http://schemas.openxmlformats.org/drawingml/2006/main">
            <a:off x="6309360" y="5852160"/>
            <a:ext cx="2606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ourier New"/>
              <a:buNone/>
            </a:pPr>
            <a:r>
              <a:rPr sz="1100" b="0" i="0" u="none" cap="none">
                <a:solidFill>
                  <a:srgbClr val="3B4A78"/>
                </a:solidFill>
                <a:latin typeface="Courier New"/>
                <a:ea typeface="Courier New"/>
                <a:cs typeface="Courier New"/>
              </a:rPr>
              <a:t>Frame 3: d = 23</a:t>
            </a:r>
            <a:endParaRPr sz="1100" b="0" i="0" u="none" cap="none">
              <a:solidFill>
                <a:schemeClr val="dk1"/>
              </a:solidFill>
              <a:latin typeface="Calibri"/>
              <a:ea typeface="Calibri"/>
              <a:cs typeface="Calibri"/>
            </a:endParaRPr>
          </a:p>
        </p:txBody>
      </p:sp>
      <p:sp>
        <p:nvSpPr>
          <p:cNvPr id="83" name="Google Shape;83;p6">
            <a:extLst xmlns:a="http://schemas.openxmlformats.org/drawingml/2006/main">
              <a:ext uri="{FF2B5EF4-FFF2-40B4-BE49-F238E27FC236}">
                <a16:creationId xmlns:a16="http://schemas.microsoft.com/office/drawing/2014/main" id="{7AD7A083-0F7C-4AEB-8A1A-F2944D9888EC}"/>
              </a:ext>
            </a:extLst>
          </p:cNvPr>
          <p:cNvSpPr>
            <a:spLocks xmlns:a="http://schemas.openxmlformats.org/drawingml/2006/main" noGrp="1"/>
          </p:cNvSpPr>
          <p:nvPr/>
        </p:nvSpPr>
        <p:spPr>
          <a:xfrm xmlns:a="http://schemas.openxmlformats.org/drawingml/2006/main">
            <a:off x="9189720" y="3977640"/>
            <a:ext cx="2606040" cy="1828800"/>
          </a:xfrm>
          <a:prstGeom xmlns:a="http://schemas.openxmlformats.org/drawingml/2006/main" prst="roundRect">
            <a:avLst>
              <a:gd name="adj" fmla="val 2500"/>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4" name="Google Shape;84;p6">
            <a:extLst xmlns:a="http://schemas.openxmlformats.org/drawingml/2006/main">
              <a:ext uri="{FF2B5EF4-FFF2-40B4-BE49-F238E27FC236}">
                <a16:creationId xmlns:a16="http://schemas.microsoft.com/office/drawing/2014/main" id="{922915DB-2038-4C81-A40E-84AC065B9FFB}"/>
              </a:ext>
            </a:extLst>
          </p:cNvPr>
          <p:cNvSpPr>
            <a:spLocks xmlns:a="http://schemas.openxmlformats.org/drawingml/2006/main" noGrp="1"/>
          </p:cNvSpPr>
          <p:nvPr/>
        </p:nvSpPr>
        <p:spPr>
          <a:xfrm xmlns:a="http://schemas.openxmlformats.org/drawingml/2006/main">
            <a:off x="9788652" y="4187952"/>
            <a:ext cx="1408176" cy="1408176"/>
          </a:xfrm>
          <a:prstGeom xmlns:a="http://schemas.openxmlformats.org/drawingml/2006/main" prst="ellipse">
            <a:avLst/>
          </a:prstGeom>
          <a:solidFill xmlns:a="http://schemas.openxmlformats.org/drawingml/2006/main">
            <a:srgbClr val="E8A33D"/>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5" name="Google Shape;85;p6">
            <a:extLst xmlns:a="http://schemas.openxmlformats.org/drawingml/2006/main">
              <a:ext uri="{FF2B5EF4-FFF2-40B4-BE49-F238E27FC236}">
                <a16:creationId xmlns:a16="http://schemas.microsoft.com/office/drawing/2014/main" id="{64009D1B-49E3-48C6-94AD-C71032A82D64}"/>
              </a:ext>
            </a:extLst>
          </p:cNvPr>
          <p:cNvSpPr>
            <a:spLocks xmlns:a="http://schemas.openxmlformats.org/drawingml/2006/main" noGrp="1"/>
          </p:cNvSpPr>
          <p:nvPr/>
        </p:nvSpPr>
        <p:spPr>
          <a:xfrm xmlns:a="http://schemas.openxmlformats.org/drawingml/2006/main">
            <a:off x="9189720" y="5852160"/>
            <a:ext cx="26060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ourier New"/>
              <a:buNone/>
            </a:pPr>
            <a:r>
              <a:rPr sz="1100" b="0" i="0" u="none" cap="none">
                <a:solidFill>
                  <a:srgbClr val="3B4A78"/>
                </a:solidFill>
                <a:latin typeface="Courier New"/>
                <a:ea typeface="Courier New"/>
                <a:cs typeface="Courier New"/>
              </a:rPr>
              <a:t>Frame 4: d = 24</a:t>
            </a:r>
            <a:endParaRPr sz="1100" b="0" i="0" u="none" cap="none">
              <a:solidFill>
                <a:schemeClr val="dk1"/>
              </a:solidFill>
              <a:latin typeface="Calibri"/>
              <a:ea typeface="Calibri"/>
              <a:cs typeface="Calibri"/>
            </a:endParaRPr>
          </a:p>
        </p:txBody>
      </p:sp>
      <p:sp>
        <p:nvSpPr>
          <p:cNvPr id="86" name="Google Shape;86;p6">
            <a:extLst xmlns:a="http://schemas.openxmlformats.org/drawingml/2006/main">
              <a:ext uri="{FF2B5EF4-FFF2-40B4-BE49-F238E27FC236}">
                <a16:creationId xmlns:a16="http://schemas.microsoft.com/office/drawing/2014/main" id="{3D9DC241-1D61-4010-81F6-9AF15FF63A91}"/>
              </a:ext>
            </a:extLst>
          </p:cNvPr>
          <p:cNvSpPr>
            <a:spLocks xmlns:a="http://schemas.openxmlformats.org/drawingml/2006/main" noGrp="1"/>
          </p:cNvSpPr>
          <p:nvPr/>
        </p:nvSpPr>
        <p:spPr>
          <a:xfrm xmlns:a="http://schemas.openxmlformats.org/drawingml/2006/main">
            <a:off x="548640" y="6126480"/>
            <a:ext cx="11064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(circle sizes shown exaggerated, not to scale, so the frame-by-frame difference is easy to see)</a:t>
            </a:r>
            <a:endParaRPr sz="11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92969263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 name="Google Shape;92;p7">
            <a:extLst xmlns:a="http://schemas.openxmlformats.org/drawingml/2006/main">
              <a:ext uri="{FF2B5EF4-FFF2-40B4-BE49-F238E27FC236}">
                <a16:creationId xmlns:a16="http://schemas.microsoft.com/office/drawing/2014/main" id="{2F9B7E43-14FD-4EF4-9742-EC20E6117A17}"/>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Which One Remembers?</a:t>
            </a:r>
            <a:endParaRPr sz="2900" b="0" i="0" u="none" cap="none">
              <a:solidFill>
                <a:schemeClr val="dk1"/>
              </a:solidFill>
              <a:latin typeface="Calibri"/>
              <a:ea typeface="Calibri"/>
              <a:cs typeface="Calibri"/>
            </a:endParaRPr>
          </a:p>
        </p:txBody>
      </p:sp>
      <p:sp>
        <p:nvSpPr>
          <p:cNvPr id="93" name="Google Shape;93;p7">
            <a:extLst xmlns:a="http://schemas.openxmlformats.org/drawingml/2006/main">
              <a:ext uri="{FF2B5EF4-FFF2-40B4-BE49-F238E27FC236}">
                <a16:creationId xmlns:a16="http://schemas.microsoft.com/office/drawing/2014/main" id="{2D703545-8211-4586-9C5D-DBF6A54019E4}"/>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Formative check — look, trace, and commit before running</a:t>
            </a:r>
            <a:endParaRPr sz="1500" b="0" i="0" u="none" cap="none">
              <a:solidFill>
                <a:schemeClr val="dk1"/>
              </a:solidFill>
              <a:latin typeface="Calibri"/>
              <a:ea typeface="Calibri"/>
              <a:cs typeface="Calibri"/>
            </a:endParaRPr>
          </a:p>
        </p:txBody>
      </p:sp>
      <p:sp>
        <p:nvSpPr>
          <p:cNvPr id="94" name="Google Shape;94;p7">
            <a:extLst xmlns:a="http://schemas.openxmlformats.org/drawingml/2006/main">
              <a:ext uri="{FF2B5EF4-FFF2-40B4-BE49-F238E27FC236}">
                <a16:creationId xmlns:a16="http://schemas.microsoft.com/office/drawing/2014/main" id="{8595CEFD-3A62-4531-B18F-0A368BA7BC52}"/>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95" name="Google Shape;95;p7">
            <a:extLst xmlns:a="http://schemas.openxmlformats.org/drawingml/2006/main">
              <a:ext uri="{FF2B5EF4-FFF2-40B4-BE49-F238E27FC236}">
                <a16:creationId xmlns:a16="http://schemas.microsoft.com/office/drawing/2014/main" id="{DD25B30D-7A90-4FED-81F2-2C11D677D112}"/>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96" name="Google Shape;96;p7">
            <a:extLst xmlns:a="http://schemas.openxmlformats.org/drawingml/2006/main">
              <a:ext uri="{FF2B5EF4-FFF2-40B4-BE49-F238E27FC236}">
                <a16:creationId xmlns:a16="http://schemas.microsoft.com/office/drawing/2014/main" id="{67789ACA-6CB4-4769-BC5F-15F4521B6B4C}"/>
              </a:ext>
            </a:extLst>
          </p:cNvPr>
          <p:cNvSpPr>
            <a:spLocks xmlns:a="http://schemas.openxmlformats.org/drawingml/2006/main" noGrp="1"/>
          </p:cNvSpPr>
          <p:nvPr/>
        </p:nvSpPr>
        <p:spPr>
          <a:xfrm xmlns:a="http://schemas.openxmlformats.org/drawingml/2006/main">
            <a:off x="548640" y="1325880"/>
            <a:ext cx="5394960" cy="2194560"/>
          </a:xfrm>
          <a:prstGeom xmlns:a="http://schemas.openxmlformats.org/drawingml/2006/main" prst="roundRect">
            <a:avLst>
              <a:gd name="adj" fmla="val 3333"/>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7" name="Google Shape;97;p7">
            <a:extLst xmlns:a="http://schemas.openxmlformats.org/drawingml/2006/main">
              <a:ext uri="{FF2B5EF4-FFF2-40B4-BE49-F238E27FC236}">
                <a16:creationId xmlns:a16="http://schemas.microsoft.com/office/drawing/2014/main" id="{6573FFC0-E8D2-4B8A-B53B-09470EB1B3F8}"/>
              </a:ext>
            </a:extLst>
          </p:cNvPr>
          <p:cNvSpPr>
            <a:spLocks xmlns:a="http://schemas.openxmlformats.org/drawingml/2006/main" noGrp="1"/>
          </p:cNvSpPr>
          <p:nvPr/>
        </p:nvSpPr>
        <p:spPr>
          <a:xfrm xmlns:a="http://schemas.openxmlformats.org/drawingml/2006/main">
            <a:off x="822960" y="1527048"/>
            <a:ext cx="4846320" cy="1792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A</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public void draw()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float d = 20;</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d = d + 1;</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a:t>
            </a:r>
            <a:endParaRPr sz="1350" b="0" i="0" u="none" cap="none">
              <a:solidFill>
                <a:schemeClr val="dk1"/>
              </a:solidFill>
              <a:latin typeface="Calibri"/>
              <a:ea typeface="Calibri"/>
              <a:cs typeface="Calibri"/>
            </a:endParaRPr>
          </a:p>
        </p:txBody>
      </p:sp>
      <p:sp>
        <p:nvSpPr>
          <p:cNvPr id="98" name="Google Shape;98;p7">
            <a:extLst xmlns:a="http://schemas.openxmlformats.org/drawingml/2006/main">
              <a:ext uri="{FF2B5EF4-FFF2-40B4-BE49-F238E27FC236}">
                <a16:creationId xmlns:a16="http://schemas.microsoft.com/office/drawing/2014/main" id="{E30C258C-3D4B-44E1-B636-674C2E8814F4}"/>
              </a:ext>
            </a:extLst>
          </p:cNvPr>
          <p:cNvSpPr>
            <a:spLocks xmlns:a="http://schemas.openxmlformats.org/drawingml/2006/main" noGrp="1"/>
          </p:cNvSpPr>
          <p:nvPr/>
        </p:nvSpPr>
        <p:spPr>
          <a:xfrm xmlns:a="http://schemas.openxmlformats.org/drawingml/2006/main">
            <a:off x="6172200" y="1325880"/>
            <a:ext cx="5394960" cy="2194560"/>
          </a:xfrm>
          <a:prstGeom xmlns:a="http://schemas.openxmlformats.org/drawingml/2006/main" prst="roundRect">
            <a:avLst>
              <a:gd name="adj" fmla="val 3333"/>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 name="Google Shape;99;p7">
            <a:extLst xmlns:a="http://schemas.openxmlformats.org/drawingml/2006/main">
              <a:ext uri="{FF2B5EF4-FFF2-40B4-BE49-F238E27FC236}">
                <a16:creationId xmlns:a16="http://schemas.microsoft.com/office/drawing/2014/main" id="{2B28E166-946C-4783-9BB1-9216D352E953}"/>
              </a:ext>
            </a:extLst>
          </p:cNvPr>
          <p:cNvSpPr>
            <a:spLocks xmlns:a="http://schemas.openxmlformats.org/drawingml/2006/main" noGrp="1"/>
          </p:cNvSpPr>
          <p:nvPr/>
        </p:nvSpPr>
        <p:spPr>
          <a:xfrm xmlns:a="http://schemas.openxmlformats.org/drawingml/2006/main">
            <a:off x="6446520" y="1527048"/>
            <a:ext cx="4846320" cy="1792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B</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float d = 20;</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public void draw()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d = d + 1;</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a:t>
            </a:r>
            <a:endParaRPr sz="1350" b="0" i="0" u="none" cap="none">
              <a:solidFill>
                <a:schemeClr val="dk1"/>
              </a:solidFill>
              <a:latin typeface="Calibri"/>
              <a:ea typeface="Calibri"/>
              <a:cs typeface="Calibri"/>
            </a:endParaRPr>
          </a:p>
        </p:txBody>
      </p:sp>
      <p:sp>
        <p:nvSpPr>
          <p:cNvPr id="100" name="Google Shape;100;p7">
            <a:extLst xmlns:a="http://schemas.openxmlformats.org/drawingml/2006/main">
              <a:ext uri="{FF2B5EF4-FFF2-40B4-BE49-F238E27FC236}">
                <a16:creationId xmlns:a16="http://schemas.microsoft.com/office/drawing/2014/main" id="{D917D391-B7CC-4A47-8033-027C67E27F6D}"/>
              </a:ext>
            </a:extLst>
          </p:cNvPr>
          <p:cNvSpPr>
            <a:spLocks xmlns:a="http://schemas.openxmlformats.org/drawingml/2006/main" noGrp="1"/>
          </p:cNvSpPr>
          <p:nvPr/>
        </p:nvSpPr>
        <p:spPr>
          <a:xfrm xmlns:a="http://schemas.openxmlformats.org/drawingml/2006/main">
            <a:off x="548640" y="3749040"/>
            <a:ext cx="11018520" cy="2377440"/>
          </a:xfrm>
          <a:prstGeom xmlns:a="http://schemas.openxmlformats.org/drawingml/2006/main" prst="roundRect">
            <a:avLst>
              <a:gd name="adj" fmla="val 3846"/>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1" name="Google Shape;101;p7">
            <a:extLst xmlns:a="http://schemas.openxmlformats.org/drawingml/2006/main">
              <a:ext uri="{FF2B5EF4-FFF2-40B4-BE49-F238E27FC236}">
                <a16:creationId xmlns:a16="http://schemas.microsoft.com/office/drawing/2014/main" id="{979E8A64-7588-41B4-9F34-FE0739688599}"/>
              </a:ext>
            </a:extLst>
          </p:cNvPr>
          <p:cNvSpPr>
            <a:spLocks xmlns:a="http://schemas.openxmlformats.org/drawingml/2006/main" noGrp="1"/>
          </p:cNvSpPr>
          <p:nvPr/>
        </p:nvSpPr>
        <p:spPr>
          <a:xfrm xmlns:a="http://schemas.openxmlformats.org/drawingml/2006/main">
            <a:off x="804672" y="3950208"/>
            <a:ext cx="1050645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Answer before running either one</a:t>
            </a:r>
            <a:endParaRPr sz="1400" b="0" i="0" u="none" cap="none">
              <a:solidFill>
                <a:schemeClr val="dk1"/>
              </a:solidFill>
              <a:latin typeface="Calibri"/>
              <a:ea typeface="Calibri"/>
              <a:cs typeface="Calibri"/>
            </a:endParaRPr>
          </a:p>
        </p:txBody>
      </p:sp>
      <p:sp>
        <p:nvSpPr>
          <p:cNvPr id="102" name="Google Shape;102;p7">
            <a:extLst xmlns:a="http://schemas.openxmlformats.org/drawingml/2006/main">
              <a:ext uri="{FF2B5EF4-FFF2-40B4-BE49-F238E27FC236}">
                <a16:creationId xmlns:a16="http://schemas.microsoft.com/office/drawing/2014/main" id="{68432BCF-8D30-4468-970F-56E4E3FA1FB4}"/>
              </a:ext>
            </a:extLst>
          </p:cNvPr>
          <p:cNvSpPr>
            <a:spLocks xmlns:a="http://schemas.openxmlformats.org/drawingml/2006/main" noGrp="1"/>
          </p:cNvSpPr>
          <p:nvPr/>
        </p:nvSpPr>
        <p:spPr>
          <a:xfrm xmlns:a="http://schemas.openxmlformats.org/drawingml/2006/main">
            <a:off x="804672" y="4315968"/>
            <a:ext cx="10506456" cy="1645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Which d remembers its previous value from one draw() call to the next?</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What is d immediately after the fifth call in A? What is it in B?</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Explain the difference using where each d is declared—not which version merely “looks right.”</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3020898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 name="Google Shape;92;p7">
            <a:extLst xmlns:a="http://schemas.openxmlformats.org/drawingml/2006/main">
              <a:ext uri="{FF2B5EF4-FFF2-40B4-BE49-F238E27FC236}">
                <a16:creationId xmlns:a16="http://schemas.microsoft.com/office/drawing/2014/main" id="{2F9B7E43-14FD-4EF4-9742-EC20E6117A17}"/>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Run Both Versions and Compare</a:t>
            </a:r>
            <a:endParaRPr sz="2900" b="0" i="0" u="none" cap="none">
              <a:solidFill>
                <a:schemeClr val="dk1"/>
              </a:solidFill>
              <a:latin typeface="Calibri"/>
              <a:ea typeface="Calibri"/>
              <a:cs typeface="Calibri"/>
            </a:endParaRPr>
          </a:p>
        </p:txBody>
      </p:sp>
      <p:sp>
        <p:nvSpPr>
          <p:cNvPr id="93" name="Google Shape;93;p7">
            <a:extLst xmlns:a="http://schemas.openxmlformats.org/drawingml/2006/main">
              <a:ext uri="{FF2B5EF4-FFF2-40B4-BE49-F238E27FC236}">
                <a16:creationId xmlns:a16="http://schemas.microsoft.com/office/drawing/2014/main" id="{2D703545-8211-4586-9C5D-DBF6A54019E4}"/>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Use the supplied BlueJ projects as evidence</a:t>
            </a:r>
            <a:endParaRPr sz="1500" b="0" i="0" u="none" cap="none">
              <a:solidFill>
                <a:schemeClr val="dk1"/>
              </a:solidFill>
              <a:latin typeface="Calibri"/>
              <a:ea typeface="Calibri"/>
              <a:cs typeface="Calibri"/>
            </a:endParaRPr>
          </a:p>
        </p:txBody>
      </p:sp>
      <p:sp>
        <p:nvSpPr>
          <p:cNvPr id="94" name="Google Shape;94;p7">
            <a:extLst xmlns:a="http://schemas.openxmlformats.org/drawingml/2006/main">
              <a:ext uri="{FF2B5EF4-FFF2-40B4-BE49-F238E27FC236}">
                <a16:creationId xmlns:a16="http://schemas.microsoft.com/office/drawing/2014/main" id="{8595CEFD-3A62-4531-B18F-0A368BA7BC52}"/>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95" name="Google Shape;95;p7">
            <a:extLst xmlns:a="http://schemas.openxmlformats.org/drawingml/2006/main">
              <a:ext uri="{FF2B5EF4-FFF2-40B4-BE49-F238E27FC236}">
                <a16:creationId xmlns:a16="http://schemas.microsoft.com/office/drawing/2014/main" id="{DD25B30D-7A90-4FED-81F2-2C11D677D112}"/>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96" name="Google Shape;96;p7">
            <a:extLst xmlns:a="http://schemas.openxmlformats.org/drawingml/2006/main">
              <a:ext uri="{FF2B5EF4-FFF2-40B4-BE49-F238E27FC236}">
                <a16:creationId xmlns:a16="http://schemas.microsoft.com/office/drawing/2014/main" id="{67789ACA-6CB4-4769-BC5F-15F4521B6B4C}"/>
              </a:ext>
            </a:extLst>
          </p:cNvPr>
          <p:cNvSpPr>
            <a:spLocks xmlns:a="http://schemas.openxmlformats.org/drawingml/2006/main" noGrp="1"/>
          </p:cNvSpPr>
          <p:nvPr/>
        </p:nvSpPr>
        <p:spPr>
          <a:xfrm xmlns:a="http://schemas.openxmlformats.org/drawingml/2006/main">
            <a:off x="548640" y="1325880"/>
            <a:ext cx="5394960" cy="2194560"/>
          </a:xfrm>
          <a:prstGeom xmlns:a="http://schemas.openxmlformats.org/drawingml/2006/main" prst="roundRect">
            <a:avLst>
              <a:gd name="adj" fmla="val 3333"/>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7" name="Google Shape;97;p7">
            <a:extLst xmlns:a="http://schemas.openxmlformats.org/drawingml/2006/main">
              <a:ext uri="{FF2B5EF4-FFF2-40B4-BE49-F238E27FC236}">
                <a16:creationId xmlns:a16="http://schemas.microsoft.com/office/drawing/2014/main" id="{6573FFC0-E8D2-4B8A-B53B-09470EB1B3F8}"/>
              </a:ext>
            </a:extLst>
          </p:cNvPr>
          <p:cNvSpPr>
            <a:spLocks xmlns:a="http://schemas.openxmlformats.org/drawingml/2006/main" noGrp="1"/>
          </p:cNvSpPr>
          <p:nvPr/>
        </p:nvSpPr>
        <p:spPr>
          <a:xfrm xmlns:a="http://schemas.openxmlformats.org/drawingml/2006/main">
            <a:off x="822960" y="1527048"/>
            <a:ext cx="4846320" cy="1792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FrameChangeSketch_LocalReset</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pPr>
            <a:r>
              <a:rPr sz="1350" b="0" i="0" u="none" cap="none">
                <a:solidFill>
                  <a:srgbClr val="8FD0FF"/>
                </a:solidFill>
                <a:latin typeface="Courier New"/>
                <a:ea typeface="Courier New"/>
                <a:cs typeface="Courier New"/>
              </a:rPr>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float d = 80; is inside draw()</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Visible result:</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circle remains one size</a:t>
            </a:r>
            <a:endParaRPr sz="1350" b="0" i="0" u="none" cap="none">
              <a:solidFill>
                <a:schemeClr val="dk1"/>
              </a:solidFill>
              <a:latin typeface="Calibri"/>
              <a:ea typeface="Calibri"/>
              <a:cs typeface="Calibri"/>
            </a:endParaRPr>
          </a:p>
        </p:txBody>
      </p:sp>
      <p:sp>
        <p:nvSpPr>
          <p:cNvPr id="98" name="Google Shape;98;p7">
            <a:extLst xmlns:a="http://schemas.openxmlformats.org/drawingml/2006/main">
              <a:ext uri="{FF2B5EF4-FFF2-40B4-BE49-F238E27FC236}">
                <a16:creationId xmlns:a16="http://schemas.microsoft.com/office/drawing/2014/main" id="{E30C258C-3D4B-44E1-B636-674C2E8814F4}"/>
              </a:ext>
            </a:extLst>
          </p:cNvPr>
          <p:cNvSpPr>
            <a:spLocks xmlns:a="http://schemas.openxmlformats.org/drawingml/2006/main" noGrp="1"/>
          </p:cNvSpPr>
          <p:nvPr/>
        </p:nvSpPr>
        <p:spPr>
          <a:xfrm xmlns:a="http://schemas.openxmlformats.org/drawingml/2006/main">
            <a:off x="6172200" y="1325880"/>
            <a:ext cx="5394960" cy="2194560"/>
          </a:xfrm>
          <a:prstGeom xmlns:a="http://schemas.openxmlformats.org/drawingml/2006/main" prst="roundRect">
            <a:avLst>
              <a:gd name="adj" fmla="val 3333"/>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9" name="Google Shape;99;p7">
            <a:extLst xmlns:a="http://schemas.openxmlformats.org/drawingml/2006/main">
              <a:ext uri="{FF2B5EF4-FFF2-40B4-BE49-F238E27FC236}">
                <a16:creationId xmlns:a16="http://schemas.microsoft.com/office/drawing/2014/main" id="{2B28E166-946C-4783-9BB1-9216D352E953}"/>
              </a:ext>
            </a:extLst>
          </p:cNvPr>
          <p:cNvSpPr>
            <a:spLocks xmlns:a="http://schemas.openxmlformats.org/drawingml/2006/main" noGrp="1"/>
          </p:cNvSpPr>
          <p:nvPr/>
        </p:nvSpPr>
        <p:spPr>
          <a:xfrm xmlns:a="http://schemas.openxmlformats.org/drawingml/2006/main">
            <a:off x="6446520" y="1527048"/>
            <a:ext cx="4846320" cy="1792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FrameChangeSketch_Persistent</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pPr>
            <a:r>
              <a:rPr sz="1350" b="0" i="0" u="none" cap="none">
                <a:solidFill>
                  <a:srgbClr val="8FD0FF"/>
                </a:solidFill>
                <a:latin typeface="Courier New"/>
                <a:ea typeface="Courier New"/>
                <a:cs typeface="Courier New"/>
              </a:rPr>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float d = 80; is in the class</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pPr>
            <a:r>
              <a:rPr sz="1350" b="0" i="0" u="none" cap="none">
                <a:solidFill>
                  <a:srgbClr val="CADCFC"/>
                </a:solidFill>
                <a:latin typeface="Courier New"/>
                <a:ea typeface="Courier New"/>
                <a:cs typeface="Courier New"/>
              </a:rPr>
              <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Visible result:</a:t>
            </a:r>
            <a:endParaRPr sz="135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5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circle grows each frame</a:t>
            </a:r>
            <a:endParaRPr sz="1350" b="0" i="0" u="none" cap="none">
              <a:solidFill>
                <a:schemeClr val="dk1"/>
              </a:solidFill>
              <a:latin typeface="Calibri"/>
              <a:ea typeface="Calibri"/>
              <a:cs typeface="Calibri"/>
            </a:endParaRPr>
          </a:p>
        </p:txBody>
      </p:sp>
      <p:sp>
        <p:nvSpPr>
          <p:cNvPr id="100" name="Google Shape;100;p7">
            <a:extLst xmlns:a="http://schemas.openxmlformats.org/drawingml/2006/main">
              <a:ext uri="{FF2B5EF4-FFF2-40B4-BE49-F238E27FC236}">
                <a16:creationId xmlns:a16="http://schemas.microsoft.com/office/drawing/2014/main" id="{D917D391-B7CC-4A47-8033-027C67E27F6D}"/>
              </a:ext>
            </a:extLst>
          </p:cNvPr>
          <p:cNvSpPr>
            <a:spLocks xmlns:a="http://schemas.openxmlformats.org/drawingml/2006/main" noGrp="1"/>
          </p:cNvSpPr>
          <p:nvPr/>
        </p:nvSpPr>
        <p:spPr>
          <a:xfrm xmlns:a="http://schemas.openxmlformats.org/drawingml/2006/main">
            <a:off x="548640" y="3749040"/>
            <a:ext cx="11018520" cy="2377440"/>
          </a:xfrm>
          <a:prstGeom xmlns:a="http://schemas.openxmlformats.org/drawingml/2006/main" prst="roundRect">
            <a:avLst>
              <a:gd name="adj" fmla="val 3846"/>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1" name="Google Shape;101;p7">
            <a:extLst xmlns:a="http://schemas.openxmlformats.org/drawingml/2006/main">
              <a:ext uri="{FF2B5EF4-FFF2-40B4-BE49-F238E27FC236}">
                <a16:creationId xmlns:a16="http://schemas.microsoft.com/office/drawing/2014/main" id="{979E8A64-7588-41B4-9F34-FE0739688599}"/>
              </a:ext>
            </a:extLst>
          </p:cNvPr>
          <p:cNvSpPr>
            <a:spLocks xmlns:a="http://schemas.openxmlformats.org/drawingml/2006/main" noGrp="1"/>
          </p:cNvSpPr>
          <p:nvPr/>
        </p:nvSpPr>
        <p:spPr>
          <a:xfrm xmlns:a="http://schemas.openxmlformats.org/drawingml/2006/main">
            <a:off x="804672" y="3950208"/>
            <a:ext cx="1050645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Observe with a purpose</a:t>
            </a:r>
            <a:endParaRPr sz="1400" b="0" i="0" u="none" cap="none">
              <a:solidFill>
                <a:schemeClr val="dk1"/>
              </a:solidFill>
              <a:latin typeface="Calibri"/>
              <a:ea typeface="Calibri"/>
              <a:cs typeface="Calibri"/>
            </a:endParaRPr>
          </a:p>
        </p:txBody>
      </p:sp>
      <p:sp>
        <p:nvSpPr>
          <p:cNvPr id="102" name="Google Shape;102;p7">
            <a:extLst xmlns:a="http://schemas.openxmlformats.org/drawingml/2006/main">
              <a:ext uri="{FF2B5EF4-FFF2-40B4-BE49-F238E27FC236}">
                <a16:creationId xmlns:a16="http://schemas.microsoft.com/office/drawing/2014/main" id="{68432BCF-8D30-4468-970F-56E4E3FA1FB4}"/>
              </a:ext>
            </a:extLst>
          </p:cNvPr>
          <p:cNvSpPr>
            <a:spLocks xmlns:a="http://schemas.openxmlformats.org/drawingml/2006/main" noGrp="1"/>
          </p:cNvSpPr>
          <p:nvPr/>
        </p:nvSpPr>
        <p:spPr>
          <a:xfrm xmlns:a="http://schemas.openxmlformats.org/drawingml/2006/main">
            <a:off x="804672" y="4315968"/>
            <a:ext cx="10506456" cy="1645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1  Open, compile, and run LocalReset.</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2  Open, compile, and run Persistent.</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3  Point to the only placement difference that changes the result.</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pPr>
            <a:r>
              <a:rPr sz="1400" b="0" i="0" u="none" cap="none">
                <a:solidFill>
                  <a:srgbClr val="FFFFFF"/>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4  State the sequence of d values in each version.</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30208986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 name="Google Shape;108;p8">
            <a:extLst xmlns:a="http://schemas.openxmlformats.org/drawingml/2006/main">
              <a:ext uri="{FF2B5EF4-FFF2-40B4-BE49-F238E27FC236}">
                <a16:creationId xmlns:a16="http://schemas.microsoft.com/office/drawing/2014/main" id="{C6F9F236-B5D5-4133-A2BC-A2DCD6DB2FE5}"/>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Your Turn: Build a Growing Circle</a:t>
            </a:r>
            <a:endParaRPr sz="2900" b="0" i="0" u="none" cap="none">
              <a:solidFill>
                <a:schemeClr val="dk1"/>
              </a:solidFill>
              <a:latin typeface="Calibri"/>
              <a:ea typeface="Calibri"/>
              <a:cs typeface="Calibri"/>
            </a:endParaRPr>
          </a:p>
        </p:txBody>
      </p:sp>
      <p:sp>
        <p:nvSpPr>
          <p:cNvPr id="109" name="Google Shape;109;p8">
            <a:extLst xmlns:a="http://schemas.openxmlformats.org/drawingml/2006/main">
              <a:ext uri="{FF2B5EF4-FFF2-40B4-BE49-F238E27FC236}">
                <a16:creationId xmlns:a16="http://schemas.microsoft.com/office/drawing/2014/main" id="{9D449E62-6B49-4805-81F3-8D898A4DE715}"/>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Construct the program from the working shell</a:t>
            </a:r>
            <a:endParaRPr sz="1500" b="0" i="0" u="none" cap="none">
              <a:solidFill>
                <a:schemeClr val="dk1"/>
              </a:solidFill>
              <a:latin typeface="Calibri"/>
              <a:ea typeface="Calibri"/>
              <a:cs typeface="Calibri"/>
            </a:endParaRPr>
          </a:p>
        </p:txBody>
      </p:sp>
      <p:sp>
        <p:nvSpPr>
          <p:cNvPr id="110" name="Google Shape;110;p8">
            <a:extLst xmlns:a="http://schemas.openxmlformats.org/drawingml/2006/main">
              <a:ext uri="{FF2B5EF4-FFF2-40B4-BE49-F238E27FC236}">
                <a16:creationId xmlns:a16="http://schemas.microsoft.com/office/drawing/2014/main" id="{65BDE09D-B565-46B6-B596-F96A2D28DB78}"/>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111" name="Google Shape;111;p8">
            <a:extLst xmlns:a="http://schemas.openxmlformats.org/drawingml/2006/main">
              <a:ext uri="{FF2B5EF4-FFF2-40B4-BE49-F238E27FC236}">
                <a16:creationId xmlns:a16="http://schemas.microsoft.com/office/drawing/2014/main" id="{F33EE9A3-F93D-4A46-9EAB-83157411AF90}"/>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112" name="Google Shape;112;p8">
            <a:extLst xmlns:a="http://schemas.openxmlformats.org/drawingml/2006/main">
              <a:ext uri="{FF2B5EF4-FFF2-40B4-BE49-F238E27FC236}">
                <a16:creationId xmlns:a16="http://schemas.microsoft.com/office/drawing/2014/main" id="{2D632369-6F6A-4C1E-937E-2FCFECAFA14C}"/>
              </a:ext>
            </a:extLst>
          </p:cNvPr>
          <p:cNvSpPr>
            <a:spLocks xmlns:a="http://schemas.openxmlformats.org/drawingml/2006/main" noGrp="1"/>
          </p:cNvSpPr>
          <p:nvPr/>
        </p:nvSpPr>
        <p:spPr>
          <a:xfrm xmlns:a="http://schemas.openxmlformats.org/drawingml/2006/main">
            <a:off x="548640" y="1371600"/>
            <a:ext cx="365760" cy="365760"/>
          </a:xfrm>
          <a:prstGeom xmlns:a="http://schemas.openxmlformats.org/drawingml/2006/main" prst="ellipse">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3" name="Google Shape;113;p8">
            <a:extLst xmlns:a="http://schemas.openxmlformats.org/drawingml/2006/main">
              <a:ext uri="{FF2B5EF4-FFF2-40B4-BE49-F238E27FC236}">
                <a16:creationId xmlns:a16="http://schemas.microsoft.com/office/drawing/2014/main" id="{BD01ACB7-7BAE-4BA1-B77A-3B7FFF78FB72}"/>
              </a:ext>
            </a:extLst>
          </p:cNvPr>
          <p:cNvSpPr>
            <a:spLocks xmlns:a="http://schemas.openxmlformats.org/drawingml/2006/main" noGrp="1"/>
          </p:cNvSpPr>
          <p:nvPr/>
        </p:nvSpPr>
        <p:spPr>
          <a:xfrm xmlns:a="http://schemas.openxmlformats.org/drawingml/2006/main">
            <a:off x="548640" y="1371600"/>
            <a:ext cx="3657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1</a:t>
            </a:r>
            <a:endParaRPr sz="1500" b="0" i="0" u="none" cap="none">
              <a:solidFill>
                <a:schemeClr val="dk1"/>
              </a:solidFill>
              <a:latin typeface="Calibri"/>
              <a:ea typeface="Calibri"/>
              <a:cs typeface="Calibri"/>
            </a:endParaRPr>
          </a:p>
        </p:txBody>
      </p:sp>
      <p:sp>
        <p:nvSpPr>
          <p:cNvPr id="114" name="Google Shape;114;p8">
            <a:extLst xmlns:a="http://schemas.openxmlformats.org/drawingml/2006/main">
              <a:ext uri="{FF2B5EF4-FFF2-40B4-BE49-F238E27FC236}">
                <a16:creationId xmlns:a16="http://schemas.microsoft.com/office/drawing/2014/main" id="{A2CAC24E-616E-4E36-8B8C-0FF7916F3E68}"/>
              </a:ext>
            </a:extLst>
          </p:cNvPr>
          <p:cNvSpPr>
            <a:spLocks xmlns:a="http://schemas.openxmlformats.org/drawingml/2006/main" noGrp="1"/>
          </p:cNvSpPr>
          <p:nvPr/>
        </p:nvSpPr>
        <p:spPr>
          <a:xfrm xmlns:a="http://schemas.openxmlformats.org/drawingml/2006/main">
            <a:off x="1097280" y="1344168"/>
            <a:ext cx="5120640" cy="868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135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Start from FrameChangeSketch_Starter on a 400 × 400 canvas.</a:t>
            </a:r>
            <a:endParaRPr sz="1350" b="0" i="0" u="none" cap="none">
              <a:solidFill>
                <a:schemeClr val="dk1"/>
              </a:solidFill>
              <a:latin typeface="Calibri"/>
              <a:ea typeface="Calibri"/>
              <a:cs typeface="Calibri"/>
            </a:endParaRPr>
          </a:p>
        </p:txBody>
      </p:sp>
      <p:sp>
        <p:nvSpPr>
          <p:cNvPr id="115" name="Google Shape;115;p8">
            <a:extLst xmlns:a="http://schemas.openxmlformats.org/drawingml/2006/main">
              <a:ext uri="{FF2B5EF4-FFF2-40B4-BE49-F238E27FC236}">
                <a16:creationId xmlns:a16="http://schemas.microsoft.com/office/drawing/2014/main" id="{7E12B6E5-26EC-42A4-BCEB-9FF42CC36F84}"/>
              </a:ext>
            </a:extLst>
          </p:cNvPr>
          <p:cNvSpPr>
            <a:spLocks xmlns:a="http://schemas.openxmlformats.org/drawingml/2006/main" noGrp="1"/>
          </p:cNvSpPr>
          <p:nvPr/>
        </p:nvSpPr>
        <p:spPr>
          <a:xfrm xmlns:a="http://schemas.openxmlformats.org/drawingml/2006/main">
            <a:off x="548640" y="2331720"/>
            <a:ext cx="365760" cy="365760"/>
          </a:xfrm>
          <a:prstGeom xmlns:a="http://schemas.openxmlformats.org/drawingml/2006/main" prst="ellipse">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6" name="Google Shape;116;p8">
            <a:extLst xmlns:a="http://schemas.openxmlformats.org/drawingml/2006/main">
              <a:ext uri="{FF2B5EF4-FFF2-40B4-BE49-F238E27FC236}">
                <a16:creationId xmlns:a16="http://schemas.microsoft.com/office/drawing/2014/main" id="{36E67D42-B0F9-44A5-9BDE-33A184C507B5}"/>
              </a:ext>
            </a:extLst>
          </p:cNvPr>
          <p:cNvSpPr>
            <a:spLocks xmlns:a="http://schemas.openxmlformats.org/drawingml/2006/main" noGrp="1"/>
          </p:cNvSpPr>
          <p:nvPr/>
        </p:nvSpPr>
        <p:spPr>
          <a:xfrm xmlns:a="http://schemas.openxmlformats.org/drawingml/2006/main">
            <a:off x="548640" y="2331720"/>
            <a:ext cx="3657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2</a:t>
            </a:r>
            <a:endParaRPr sz="1500" b="0" i="0" u="none" cap="none">
              <a:solidFill>
                <a:schemeClr val="dk1"/>
              </a:solidFill>
              <a:latin typeface="Calibri"/>
              <a:ea typeface="Calibri"/>
              <a:cs typeface="Calibri"/>
            </a:endParaRPr>
          </a:p>
        </p:txBody>
      </p:sp>
      <p:sp>
        <p:nvSpPr>
          <p:cNvPr id="117" name="Google Shape;117;p8">
            <a:extLst xmlns:a="http://schemas.openxmlformats.org/drawingml/2006/main">
              <a:ext uri="{FF2B5EF4-FFF2-40B4-BE49-F238E27FC236}">
                <a16:creationId xmlns:a16="http://schemas.microsoft.com/office/drawing/2014/main" id="{5F904FDC-7049-4981-8834-9E7FACB2D049}"/>
              </a:ext>
            </a:extLst>
          </p:cNvPr>
          <p:cNvSpPr>
            <a:spLocks xmlns:a="http://schemas.openxmlformats.org/drawingml/2006/main" noGrp="1"/>
          </p:cNvSpPr>
          <p:nvPr/>
        </p:nvSpPr>
        <p:spPr>
          <a:xfrm xmlns:a="http://schemas.openxmlformats.org/drawingml/2006/main">
            <a:off x="1097280" y="2304288"/>
            <a:ext cx="5120640" cy="868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135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Inside the class, above settings(), declare: float d = 20;</a:t>
            </a:r>
            <a:endParaRPr sz="1350" b="0" i="0" u="none" cap="none">
              <a:solidFill>
                <a:schemeClr val="dk1"/>
              </a:solidFill>
              <a:latin typeface="Calibri"/>
              <a:ea typeface="Calibri"/>
              <a:cs typeface="Calibri"/>
            </a:endParaRPr>
          </a:p>
        </p:txBody>
      </p:sp>
      <p:sp>
        <p:nvSpPr>
          <p:cNvPr id="118" name="Google Shape;118;p8">
            <a:extLst xmlns:a="http://schemas.openxmlformats.org/drawingml/2006/main">
              <a:ext uri="{FF2B5EF4-FFF2-40B4-BE49-F238E27FC236}">
                <a16:creationId xmlns:a16="http://schemas.microsoft.com/office/drawing/2014/main" id="{007899EA-6E7F-4BE2-9929-986A3B86D74D}"/>
              </a:ext>
            </a:extLst>
          </p:cNvPr>
          <p:cNvSpPr>
            <a:spLocks xmlns:a="http://schemas.openxmlformats.org/drawingml/2006/main" noGrp="1"/>
          </p:cNvSpPr>
          <p:nvPr/>
        </p:nvSpPr>
        <p:spPr>
          <a:xfrm xmlns:a="http://schemas.openxmlformats.org/drawingml/2006/main">
            <a:off x="548640" y="3291840"/>
            <a:ext cx="365760" cy="365760"/>
          </a:xfrm>
          <a:prstGeom xmlns:a="http://schemas.openxmlformats.org/drawingml/2006/main" prst="ellipse">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19" name="Google Shape;119;p8">
            <a:extLst xmlns:a="http://schemas.openxmlformats.org/drawingml/2006/main">
              <a:ext uri="{FF2B5EF4-FFF2-40B4-BE49-F238E27FC236}">
                <a16:creationId xmlns:a16="http://schemas.microsoft.com/office/drawing/2014/main" id="{CAF0CE93-2780-4CD1-8F91-42422FA5501E}"/>
              </a:ext>
            </a:extLst>
          </p:cNvPr>
          <p:cNvSpPr>
            <a:spLocks xmlns:a="http://schemas.openxmlformats.org/drawingml/2006/main" noGrp="1"/>
          </p:cNvSpPr>
          <p:nvPr/>
        </p:nvSpPr>
        <p:spPr>
          <a:xfrm xmlns:a="http://schemas.openxmlformats.org/drawingml/2006/main">
            <a:off x="548640" y="3291840"/>
            <a:ext cx="3657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3</a:t>
            </a:r>
            <a:endParaRPr sz="1500" b="0" i="0" u="none" cap="none">
              <a:solidFill>
                <a:schemeClr val="dk1"/>
              </a:solidFill>
              <a:latin typeface="Calibri"/>
              <a:ea typeface="Calibri"/>
              <a:cs typeface="Calibri"/>
            </a:endParaRPr>
          </a:p>
        </p:txBody>
      </p:sp>
      <p:sp>
        <p:nvSpPr>
          <p:cNvPr id="120" name="Google Shape;120;p8">
            <a:extLst xmlns:a="http://schemas.openxmlformats.org/drawingml/2006/main">
              <a:ext uri="{FF2B5EF4-FFF2-40B4-BE49-F238E27FC236}">
                <a16:creationId xmlns:a16="http://schemas.microsoft.com/office/drawing/2014/main" id="{BD48059A-08B8-4972-A825-3D4C1788B66F}"/>
              </a:ext>
            </a:extLst>
          </p:cNvPr>
          <p:cNvSpPr>
            <a:spLocks xmlns:a="http://schemas.openxmlformats.org/drawingml/2006/main" noGrp="1"/>
          </p:cNvSpPr>
          <p:nvPr/>
        </p:nvSpPr>
        <p:spPr>
          <a:xfrm xmlns:a="http://schemas.openxmlformats.org/drawingml/2006/main">
            <a:off x="1097280" y="3264408"/>
            <a:ext cx="5120640" cy="868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135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Inside draw(), add d = d + 2; then ellipse(200, 200, d, d);</a:t>
            </a:r>
            <a:endParaRPr sz="1350" b="0" i="0" u="none" cap="none">
              <a:solidFill>
                <a:schemeClr val="dk1"/>
              </a:solidFill>
              <a:latin typeface="Calibri"/>
              <a:ea typeface="Calibri"/>
              <a:cs typeface="Calibri"/>
            </a:endParaRPr>
          </a:p>
        </p:txBody>
      </p:sp>
      <p:sp>
        <p:nvSpPr>
          <p:cNvPr id="121" name="Google Shape;121;p8">
            <a:extLst xmlns:a="http://schemas.openxmlformats.org/drawingml/2006/main">
              <a:ext uri="{FF2B5EF4-FFF2-40B4-BE49-F238E27FC236}">
                <a16:creationId xmlns:a16="http://schemas.microsoft.com/office/drawing/2014/main" id="{BA10FF65-7311-4E50-A63D-3507ED9FD464}"/>
              </a:ext>
            </a:extLst>
          </p:cNvPr>
          <p:cNvSpPr>
            <a:spLocks xmlns:a="http://schemas.openxmlformats.org/drawingml/2006/main" noGrp="1"/>
          </p:cNvSpPr>
          <p:nvPr/>
        </p:nvSpPr>
        <p:spPr>
          <a:xfrm xmlns:a="http://schemas.openxmlformats.org/drawingml/2006/main">
            <a:off x="548640" y="4251960"/>
            <a:ext cx="365760" cy="365760"/>
          </a:xfrm>
          <a:prstGeom xmlns:a="http://schemas.openxmlformats.org/drawingml/2006/main" prst="ellipse">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2" name="Google Shape;122;p8">
            <a:extLst xmlns:a="http://schemas.openxmlformats.org/drawingml/2006/main">
              <a:ext uri="{FF2B5EF4-FFF2-40B4-BE49-F238E27FC236}">
                <a16:creationId xmlns:a16="http://schemas.microsoft.com/office/drawing/2014/main" id="{DE577968-12F7-4B27-808D-FD738B490469}"/>
              </a:ext>
            </a:extLst>
          </p:cNvPr>
          <p:cNvSpPr>
            <a:spLocks xmlns:a="http://schemas.openxmlformats.org/drawingml/2006/main" noGrp="1"/>
          </p:cNvSpPr>
          <p:nvPr/>
        </p:nvSpPr>
        <p:spPr>
          <a:xfrm xmlns:a="http://schemas.openxmlformats.org/drawingml/2006/main">
            <a:off x="548640" y="4251960"/>
            <a:ext cx="3657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4</a:t>
            </a:r>
            <a:endParaRPr sz="1500" b="0" i="0" u="none" cap="none">
              <a:solidFill>
                <a:schemeClr val="dk1"/>
              </a:solidFill>
              <a:latin typeface="Calibri"/>
              <a:ea typeface="Calibri"/>
              <a:cs typeface="Calibri"/>
            </a:endParaRPr>
          </a:p>
        </p:txBody>
      </p:sp>
      <p:sp>
        <p:nvSpPr>
          <p:cNvPr id="123" name="Google Shape;123;p8">
            <a:extLst xmlns:a="http://schemas.openxmlformats.org/drawingml/2006/main">
              <a:ext uri="{FF2B5EF4-FFF2-40B4-BE49-F238E27FC236}">
                <a16:creationId xmlns:a16="http://schemas.microsoft.com/office/drawing/2014/main" id="{32A59B07-0A02-465B-9DAC-539D45994BC3}"/>
              </a:ext>
            </a:extLst>
          </p:cNvPr>
          <p:cNvSpPr>
            <a:spLocks xmlns:a="http://schemas.openxmlformats.org/drawingml/2006/main" noGrp="1"/>
          </p:cNvSpPr>
          <p:nvPr/>
        </p:nvSpPr>
        <p:spPr>
          <a:xfrm xmlns:a="http://schemas.openxmlformats.org/drawingml/2006/main">
            <a:off x="1097280" y="4224528"/>
            <a:ext cx="5120640" cy="868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E2761"/>
              </a:buClr>
              <a:buSzPts val="135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Compile and run. Then change + 2 to + 5 and compare the growth rate.</a:t>
            </a:r>
            <a:endParaRPr sz="1350" b="0" i="0" u="none" cap="none">
              <a:solidFill>
                <a:schemeClr val="dk1"/>
              </a:solidFill>
              <a:latin typeface="Calibri"/>
              <a:ea typeface="Calibri"/>
              <a:cs typeface="Calibri"/>
            </a:endParaRPr>
          </a:p>
        </p:txBody>
      </p:sp>
      <p:sp>
        <p:nvSpPr>
          <p:cNvPr id="124" name="Google Shape;124;p8">
            <a:extLst xmlns:a="http://schemas.openxmlformats.org/drawingml/2006/main">
              <a:ext uri="{FF2B5EF4-FFF2-40B4-BE49-F238E27FC236}">
                <a16:creationId xmlns:a16="http://schemas.microsoft.com/office/drawing/2014/main" id="{6F7B0FAE-B3E3-496C-9BCA-180302244748}"/>
              </a:ext>
            </a:extLst>
          </p:cNvPr>
          <p:cNvSpPr>
            <a:spLocks xmlns:a="http://schemas.openxmlformats.org/drawingml/2006/main" noGrp="1"/>
          </p:cNvSpPr>
          <p:nvPr/>
        </p:nvSpPr>
        <p:spPr>
          <a:xfrm xmlns:a="http://schemas.openxmlformats.org/drawingml/2006/main">
            <a:off x="548640" y="5349240"/>
            <a:ext cx="5577840" cy="1005840"/>
          </a:xfrm>
          <a:prstGeom xmlns:a="http://schemas.openxmlformats.org/drawingml/2006/main" prst="roundRect">
            <a:avLst>
              <a:gd name="adj" fmla="val 9091"/>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5" name="Google Shape;125;p8">
            <a:extLst xmlns:a="http://schemas.openxmlformats.org/drawingml/2006/main">
              <a:ext uri="{FF2B5EF4-FFF2-40B4-BE49-F238E27FC236}">
                <a16:creationId xmlns:a16="http://schemas.microsoft.com/office/drawing/2014/main" id="{7C934E71-9545-49A7-B104-DBD9599C74C6}"/>
              </a:ext>
            </a:extLst>
          </p:cNvPr>
          <p:cNvSpPr>
            <a:spLocks xmlns:a="http://schemas.openxmlformats.org/drawingml/2006/main" noGrp="1"/>
          </p:cNvSpPr>
          <p:nvPr/>
        </p:nvSpPr>
        <p:spPr>
          <a:xfrm xmlns:a="http://schemas.openxmlformats.org/drawingml/2006/main">
            <a:off x="804672" y="5550408"/>
            <a:ext cx="5065776"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Success: the circle begins small, stays centered, and grows steadily while the sketch runs.</a:t>
            </a:r>
            <a:endParaRPr sz="1400" b="0" i="0" u="none" cap="none">
              <a:solidFill>
                <a:schemeClr val="dk1"/>
              </a:solidFill>
              <a:latin typeface="Calibri"/>
              <a:ea typeface="Calibri"/>
              <a:cs typeface="Calibri"/>
            </a:endParaRPr>
          </a:p>
        </p:txBody>
      </p:sp>
      <p:sp>
        <p:nvSpPr>
          <p:cNvPr id="126" name="Google Shape;126;p8">
            <a:extLst xmlns:a="http://schemas.openxmlformats.org/drawingml/2006/main">
              <a:ext uri="{FF2B5EF4-FFF2-40B4-BE49-F238E27FC236}">
                <a16:creationId xmlns:a16="http://schemas.microsoft.com/office/drawing/2014/main" id="{F7C0602E-5944-43EE-A398-C48616C4799E}"/>
              </a:ext>
            </a:extLst>
          </p:cNvPr>
          <p:cNvSpPr>
            <a:spLocks xmlns:a="http://schemas.openxmlformats.org/drawingml/2006/main" noGrp="1"/>
          </p:cNvSpPr>
          <p:nvPr/>
        </p:nvSpPr>
        <p:spPr>
          <a:xfrm xmlns:a="http://schemas.openxmlformats.org/drawingml/2006/main">
            <a:off x="6400800" y="1325880"/>
            <a:ext cx="5257800" cy="5029200"/>
          </a:xfrm>
          <a:prstGeom xmlns:a="http://schemas.openxmlformats.org/drawingml/2006/main" prst="roundRect">
            <a:avLst>
              <a:gd name="adj" fmla="val 1818"/>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7" name="Google Shape;127;p8">
            <a:extLst xmlns:a="http://schemas.openxmlformats.org/drawingml/2006/main">
              <a:ext uri="{FF2B5EF4-FFF2-40B4-BE49-F238E27FC236}">
                <a16:creationId xmlns:a16="http://schemas.microsoft.com/office/drawing/2014/main" id="{D59B973A-1AA8-438D-807C-3985D3E136F1}"/>
              </a:ext>
            </a:extLst>
          </p:cNvPr>
          <p:cNvSpPr>
            <a:spLocks xmlns:a="http://schemas.openxmlformats.org/drawingml/2006/main" noGrp="1"/>
          </p:cNvSpPr>
          <p:nvPr/>
        </p:nvSpPr>
        <p:spPr>
          <a:xfrm xmlns:a="http://schemas.openxmlformats.org/drawingml/2006/main">
            <a:off x="6656832" y="1527048"/>
            <a:ext cx="474573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Why is background() not inside draw() here?</a:t>
            </a:r>
            <a:endParaRPr sz="1400" b="0" i="0" u="none" cap="none">
              <a:solidFill>
                <a:schemeClr val="dk1"/>
              </a:solidFill>
              <a:latin typeface="Calibri"/>
              <a:ea typeface="Calibri"/>
              <a:cs typeface="Calibri"/>
            </a:endParaRPr>
          </a:p>
        </p:txBody>
      </p:sp>
      <p:sp>
        <p:nvSpPr>
          <p:cNvPr id="128" name="Google Shape;128;p8">
            <a:extLst xmlns:a="http://schemas.openxmlformats.org/drawingml/2006/main">
              <a:ext uri="{FF2B5EF4-FFF2-40B4-BE49-F238E27FC236}">
                <a16:creationId xmlns:a16="http://schemas.microsoft.com/office/drawing/2014/main" id="{47D835AE-9498-471E-ADDA-4999E7641DD6}"/>
              </a:ext>
            </a:extLst>
          </p:cNvPr>
          <p:cNvSpPr>
            <a:spLocks xmlns:a="http://schemas.openxmlformats.org/drawingml/2006/main" noGrp="1"/>
          </p:cNvSpPr>
          <p:nvPr/>
        </p:nvSpPr>
        <p:spPr>
          <a:xfrm xmlns:a="http://schemas.openxmlformats.org/drawingml/2006/main">
            <a:off x="6656832" y="1892808"/>
            <a:ext cx="4745736" cy="429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The shell calls background(30) once in setup(). Processing does not automatically clear later frames.</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That is safe for this specific picture because every new circle is opaque, stays at the same center, and is larger than the circle before it. The new circle covers the old one.</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Later, when position changes, old positions will remain unless the frame is cleared.</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21330934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ADAA7762-6774-451B-BC5A-E3E598EA9856}"/>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Partner Check: Prove Why It Grows</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C29083E2-AED8-47FD-B97F-BE48FA3ABD1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A working picture is not enough—connect code to frames</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CC869C59-6EF4-403C-B3CB-8B3FCFCDF2F0}"/>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C64E5D12-EAC6-4A4B-8DD2-1C8095317463}"/>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FF7580B4-C33C-4E9F-81BF-B96F07D51FD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E8308B40-5102-45FC-9740-66AFECB582B6}"/>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1  Point to where d is declared.</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2  Point to where d is updated.</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3  Say d for the first four draw() calls.</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4  Point to where the newest d controls the picture.</a:t>
            </a:r>
          </a:p>
        </p:txBody>
      </p:sp>
      <p:sp>
        <p:nvSpPr>
          <p:cNvPr id="32" name="Google Shape;32;p4">
            <a:extLst xmlns:a="http://schemas.openxmlformats.org/drawingml/2006/main">
              <a:ext uri="{FF2B5EF4-FFF2-40B4-BE49-F238E27FC236}">
                <a16:creationId xmlns:a16="http://schemas.microsoft.com/office/drawing/2014/main" id="{37783F0B-7941-49F1-822F-69B88D2EEAB2}"/>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D6BD8021-3BC9-4433-90A1-7C77DF97F8E1}"/>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Use this explanation frame</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D7282F3B-6DB8-4E29-9E38-DA23EB3CA10E}"/>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“d is declared __________. Therefore it __________ between draw() calls. Each call changes d from __________ to __________. ellipse() uses the new d as its __________, so the circle __________.”</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Swap roles after one complete explanation.</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490830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ADAA7762-6774-451B-BC5A-E3E598EA9856}"/>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Debug the Change in Three Places</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C29083E2-AED8-47FD-B97F-BE48FA3ABD1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Declaration → update → drawing call</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CC869C59-6EF4-403C-B3CB-8B3FCFCDF2F0}"/>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C64E5D12-EAC6-4A4B-8DD2-1C8095317463}"/>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FF7580B4-C33C-4E9F-81BF-B96F07D51FD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E8308B40-5102-45FC-9740-66AFECB582B6}"/>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Declaration: Is d outside every method?</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Update: Does draw() change d each call?</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Use: Does ellipse() actually use d for width and height?</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Order: Does the update happen before ellipse()?</a:t>
            </a:r>
          </a:p>
        </p:txBody>
      </p:sp>
      <p:sp>
        <p:nvSpPr>
          <p:cNvPr id="32" name="Google Shape;32;p4">
            <a:extLst xmlns:a="http://schemas.openxmlformats.org/drawingml/2006/main">
              <a:ext uri="{FF2B5EF4-FFF2-40B4-BE49-F238E27FC236}">
                <a16:creationId xmlns:a16="http://schemas.microsoft.com/office/drawing/2014/main" id="{37783F0B-7941-49F1-822F-69B88D2EEAB2}"/>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D6BD8021-3BC9-4433-90A1-7C77DF97F8E1}"/>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Fast diagnosis</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D7282F3B-6DB8-4E29-9E38-DA23EB3CA10E}"/>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Symptom: the circle stays at one size.</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Evidence: float d = 20; is inside draw().</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Cause: every call recreates 20 before adding 2.</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Smallest fix: move only the declaration above settings(), leaving the update inside draw().</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490830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4" name="Google Shape;134;p9">
            <a:extLst xmlns:a="http://schemas.openxmlformats.org/drawingml/2006/main">
              <a:ext uri="{FF2B5EF4-FFF2-40B4-BE49-F238E27FC236}">
                <a16:creationId xmlns:a16="http://schemas.microsoft.com/office/drawing/2014/main" id="{BA138F14-B092-4DFD-B366-9063E8A51CAE}"/>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Recap: Frame-by-Frame Change</a:t>
            </a:r>
            <a:endParaRPr sz="2900" b="0" i="0" u="none" cap="none">
              <a:solidFill>
                <a:schemeClr val="dk1"/>
              </a:solidFill>
              <a:latin typeface="Calibri"/>
              <a:ea typeface="Calibri"/>
              <a:cs typeface="Calibri"/>
            </a:endParaRPr>
          </a:p>
        </p:txBody>
      </p:sp>
      <p:sp>
        <p:nvSpPr>
          <p:cNvPr id="135" name="Google Shape;135;p9">
            <a:extLst xmlns:a="http://schemas.openxmlformats.org/drawingml/2006/main">
              <a:ext uri="{FF2B5EF4-FFF2-40B4-BE49-F238E27FC236}">
                <a16:creationId xmlns:a16="http://schemas.microsoft.com/office/drawing/2014/main" id="{F2A2E468-0A70-4E8B-B9CB-849875386312}"/>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Finish with a prediction and a reason</a:t>
            </a:r>
            <a:endParaRPr sz="1500" b="0" i="0" u="none" cap="none">
              <a:solidFill>
                <a:schemeClr val="dk1"/>
              </a:solidFill>
              <a:latin typeface="Calibri"/>
              <a:ea typeface="Calibri"/>
              <a:cs typeface="Calibri"/>
            </a:endParaRPr>
          </a:p>
        </p:txBody>
      </p:sp>
      <p:sp>
        <p:nvSpPr>
          <p:cNvPr id="136" name="Google Shape;136;p9">
            <a:extLst xmlns:a="http://schemas.openxmlformats.org/drawingml/2006/main">
              <a:ext uri="{FF2B5EF4-FFF2-40B4-BE49-F238E27FC236}">
                <a16:creationId xmlns:a16="http://schemas.microsoft.com/office/drawing/2014/main" id="{2967E2A4-8F3D-48E0-BA6E-9067A7A64882}"/>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137" name="Google Shape;137;p9">
            <a:extLst xmlns:a="http://schemas.openxmlformats.org/drawingml/2006/main">
              <a:ext uri="{FF2B5EF4-FFF2-40B4-BE49-F238E27FC236}">
                <a16:creationId xmlns:a16="http://schemas.microsoft.com/office/drawing/2014/main" id="{35F0BDEB-0260-4BE5-82D1-AFD315517087}"/>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138" name="Google Shape;138;p9">
            <a:extLst xmlns:a="http://schemas.openxmlformats.org/drawingml/2006/main">
              <a:ext uri="{FF2B5EF4-FFF2-40B4-BE49-F238E27FC236}">
                <a16:creationId xmlns:a16="http://schemas.microsoft.com/office/drawing/2014/main" id="{F698D410-96B5-4E70-A990-AD6970CEC1CF}"/>
              </a:ext>
            </a:extLst>
          </p:cNvPr>
          <p:cNvSpPr>
            <a:spLocks xmlns:a="http://schemas.openxmlformats.org/drawingml/2006/main" noGrp="1"/>
          </p:cNvSpPr>
          <p:nvPr/>
        </p:nvSpPr>
        <p:spPr>
          <a:xfrm xmlns:a="http://schemas.openxmlformats.org/drawingml/2006/main">
            <a:off x="548640" y="1325880"/>
            <a:ext cx="5486400" cy="3017520"/>
          </a:xfrm>
          <a:prstGeom xmlns:a="http://schemas.openxmlformats.org/drawingml/2006/main" prst="roundRect">
            <a:avLst>
              <a:gd name="adj" fmla="val 2424"/>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39" name="Google Shape;139;p9">
            <a:extLst xmlns:a="http://schemas.openxmlformats.org/drawingml/2006/main">
              <a:ext uri="{FF2B5EF4-FFF2-40B4-BE49-F238E27FC236}">
                <a16:creationId xmlns:a16="http://schemas.microsoft.com/office/drawing/2014/main" id="{4BB31084-C689-46B4-9909-B6AE13BD5D64}"/>
              </a:ext>
            </a:extLst>
          </p:cNvPr>
          <p:cNvSpPr>
            <a:spLocks xmlns:a="http://schemas.openxmlformats.org/drawingml/2006/main" noGrp="1"/>
          </p:cNvSpPr>
          <p:nvPr/>
        </p:nvSpPr>
        <p:spPr>
          <a:xfrm xmlns:a="http://schemas.openxmlformats.org/drawingml/2006/main">
            <a:off x="777240" y="1490472"/>
            <a:ext cx="5029200" cy="26883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draw() repeats automatically</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d = d + 1 updates d from its current value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 local variable is recreated for each call</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 class-level sketch variable keeps its value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the drawing call must use the updated value</a:t>
            </a:r>
          </a:p>
        </p:txBody>
      </p:sp>
      <p:sp>
        <p:nvSpPr>
          <p:cNvPr id="140" name="Google Shape;140;p9">
            <a:extLst xmlns:a="http://schemas.openxmlformats.org/drawingml/2006/main">
              <a:ext uri="{FF2B5EF4-FFF2-40B4-BE49-F238E27FC236}">
                <a16:creationId xmlns:a16="http://schemas.microsoft.com/office/drawing/2014/main" id="{CFA73C35-DAB4-47F8-83DC-E1B72834B697}"/>
              </a:ext>
            </a:extLst>
          </p:cNvPr>
          <p:cNvSpPr>
            <a:spLocks xmlns:a="http://schemas.openxmlformats.org/drawingml/2006/main" noGrp="1"/>
          </p:cNvSpPr>
          <p:nvPr/>
        </p:nvSpPr>
        <p:spPr>
          <a:xfrm xmlns:a="http://schemas.openxmlformats.org/drawingml/2006/main">
            <a:off x="548640" y="4572000"/>
            <a:ext cx="5486400" cy="1371600"/>
          </a:xfrm>
          <a:prstGeom xmlns:a="http://schemas.openxmlformats.org/drawingml/2006/main" prst="roundRect">
            <a:avLst>
              <a:gd name="adj" fmla="val 6667"/>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1" name="Google Shape;141;p9">
            <a:extLst xmlns:a="http://schemas.openxmlformats.org/drawingml/2006/main">
              <a:ext uri="{FF2B5EF4-FFF2-40B4-BE49-F238E27FC236}">
                <a16:creationId xmlns:a16="http://schemas.microsoft.com/office/drawing/2014/main" id="{59AC5601-3058-48D1-8D9F-1AE62A2A89CC}"/>
              </a:ext>
            </a:extLst>
          </p:cNvPr>
          <p:cNvSpPr>
            <a:spLocks xmlns:a="http://schemas.openxmlformats.org/drawingml/2006/main" noGrp="1"/>
          </p:cNvSpPr>
          <p:nvPr/>
        </p:nvSpPr>
        <p:spPr>
          <a:xfrm xmlns:a="http://schemas.openxmlformats.org/drawingml/2006/main">
            <a:off x="804672" y="4773168"/>
            <a:ext cx="497433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Key idea</a:t>
            </a:r>
            <a:endParaRPr sz="1400" b="0" i="0" u="none" cap="none">
              <a:solidFill>
                <a:schemeClr val="dk1"/>
              </a:solidFill>
              <a:latin typeface="Calibri"/>
              <a:ea typeface="Calibri"/>
              <a:cs typeface="Calibri"/>
            </a:endParaRPr>
          </a:p>
        </p:txBody>
      </p:sp>
      <p:sp>
        <p:nvSpPr>
          <p:cNvPr id="142" name="Google Shape;142;p9">
            <a:extLst xmlns:a="http://schemas.openxmlformats.org/drawingml/2006/main">
              <a:ext uri="{FF2B5EF4-FFF2-40B4-BE49-F238E27FC236}">
                <a16:creationId xmlns:a16="http://schemas.microsoft.com/office/drawing/2014/main" id="{C349B653-3F07-4334-BB29-10204A6E1DBB}"/>
              </a:ext>
            </a:extLst>
          </p:cNvPr>
          <p:cNvSpPr>
            <a:spLocks xmlns:a="http://schemas.openxmlformats.org/drawingml/2006/main" noGrp="1"/>
          </p:cNvSpPr>
          <p:nvPr/>
        </p:nvSpPr>
        <p:spPr>
          <a:xfrm xmlns:a="http://schemas.openxmlformats.org/drawingml/2006/main">
            <a:off x="804672" y="5138928"/>
            <a:ext cx="4974336"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Repeated draw() calls create accumulating change only when they update a value that survives between calls.</a:t>
            </a:r>
            <a:endParaRPr sz="1400" b="0" i="0" u="none" cap="none">
              <a:solidFill>
                <a:schemeClr val="dk1"/>
              </a:solidFill>
              <a:latin typeface="Calibri"/>
              <a:ea typeface="Calibri"/>
              <a:cs typeface="Calibri"/>
            </a:endParaRPr>
          </a:p>
        </p:txBody>
      </p:sp>
      <p:sp>
        <p:nvSpPr>
          <p:cNvPr id="143" name="Google Shape;143;p9">
            <a:extLst xmlns:a="http://schemas.openxmlformats.org/drawingml/2006/main">
              <a:ext uri="{FF2B5EF4-FFF2-40B4-BE49-F238E27FC236}">
                <a16:creationId xmlns:a16="http://schemas.microsoft.com/office/drawing/2014/main" id="{59C6043C-07A6-4991-9198-33ADE898AB8F}"/>
              </a:ext>
            </a:extLst>
          </p:cNvPr>
          <p:cNvSpPr>
            <a:spLocks xmlns:a="http://schemas.openxmlformats.org/drawingml/2006/main" noGrp="1"/>
          </p:cNvSpPr>
          <p:nvPr/>
        </p:nvSpPr>
        <p:spPr>
          <a:xfrm xmlns:a="http://schemas.openxmlformats.org/drawingml/2006/main">
            <a:off x="6309360" y="1325880"/>
            <a:ext cx="5349240" cy="4663440"/>
          </a:xfrm>
          <a:prstGeom xmlns:a="http://schemas.openxmlformats.org/drawingml/2006/main" prst="roundRect">
            <a:avLst>
              <a:gd name="adj" fmla="val 196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44" name="Google Shape;144;p9">
            <a:extLst xmlns:a="http://schemas.openxmlformats.org/drawingml/2006/main">
              <a:ext uri="{FF2B5EF4-FFF2-40B4-BE49-F238E27FC236}">
                <a16:creationId xmlns:a16="http://schemas.microsoft.com/office/drawing/2014/main" id="{1EDC5140-73EE-422E-B159-70DDB7ED2F41}"/>
              </a:ext>
            </a:extLst>
          </p:cNvPr>
          <p:cNvSpPr>
            <a:spLocks xmlns:a="http://schemas.openxmlformats.org/drawingml/2006/main" noGrp="1"/>
          </p:cNvSpPr>
          <p:nvPr/>
        </p:nvSpPr>
        <p:spPr>
          <a:xfrm xmlns:a="http://schemas.openxmlformats.org/drawingml/2006/main">
            <a:off x="6565392" y="152704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Exit ticket</a:t>
            </a:r>
            <a:endParaRPr sz="1400" b="0" i="0" u="none" cap="none">
              <a:solidFill>
                <a:schemeClr val="dk1"/>
              </a:solidFill>
              <a:latin typeface="Calibri"/>
              <a:ea typeface="Calibri"/>
              <a:cs typeface="Calibri"/>
            </a:endParaRPr>
          </a:p>
        </p:txBody>
      </p:sp>
      <p:sp>
        <p:nvSpPr>
          <p:cNvPr id="145" name="Google Shape;145;p9">
            <a:extLst xmlns:a="http://schemas.openxmlformats.org/drawingml/2006/main">
              <a:ext uri="{FF2B5EF4-FFF2-40B4-BE49-F238E27FC236}">
                <a16:creationId xmlns:a16="http://schemas.microsoft.com/office/drawing/2014/main" id="{2E185CED-6C3D-4541-A2F2-3C07E2EF88C9}"/>
              </a:ext>
            </a:extLst>
          </p:cNvPr>
          <p:cNvSpPr>
            <a:spLocks xmlns:a="http://schemas.openxmlformats.org/drawingml/2006/main" noGrp="1"/>
          </p:cNvSpPr>
          <p:nvPr/>
        </p:nvSpPr>
        <p:spPr>
          <a:xfrm xmlns:a="http://schemas.openxmlformats.org/drawingml/2006/main">
            <a:off x="6565392" y="1892808"/>
            <a:ext cx="4837176" cy="3931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float d = 10;</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public void draw()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  d = d + 3;</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  ellipse(200, 200, d, d);</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What value of d is used on the fourth call? Where must the declaration be placed for that answer to be true? Explain in one sentence.</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43391280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Google Shape;40;p5">
            <a:extLst xmlns:a="http://schemas.openxmlformats.org/drawingml/2006/main">
              <a:ext uri="{FF2B5EF4-FFF2-40B4-BE49-F238E27FC236}">
                <a16:creationId xmlns:a16="http://schemas.microsoft.com/office/drawing/2014/main" id="{3D81C2DE-939A-45C3-9647-9C04038BF632}"/>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Appendix: Complete Local-Reset Example</a:t>
            </a:r>
            <a:endParaRPr sz="2900" b="0" i="0" u="none" cap="none">
              <a:solidFill>
                <a:schemeClr val="dk1"/>
              </a:solidFill>
              <a:latin typeface="Calibri"/>
              <a:ea typeface="Calibri"/>
              <a:cs typeface="Calibri"/>
            </a:endParaRPr>
          </a:p>
        </p:txBody>
      </p:sp>
      <p:sp>
        <p:nvSpPr>
          <p:cNvPr id="41" name="Google Shape;41;p5">
            <a:extLst xmlns:a="http://schemas.openxmlformats.org/drawingml/2006/main">
              <a:ext uri="{FF2B5EF4-FFF2-40B4-BE49-F238E27FC236}">
                <a16:creationId xmlns:a16="http://schemas.microsoft.com/office/drawing/2014/main" id="{0DD53D38-C19B-42F1-A614-943CB05AE5C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The circle remains 82 pixels because d starts over inside draw()</a:t>
            </a:r>
            <a:endParaRPr sz="1500" b="0" i="0" u="none" cap="none">
              <a:solidFill>
                <a:schemeClr val="dk1"/>
              </a:solidFill>
              <a:latin typeface="Calibri"/>
              <a:ea typeface="Calibri"/>
              <a:cs typeface="Calibri"/>
            </a:endParaRPr>
          </a:p>
        </p:txBody>
      </p:sp>
      <p:sp>
        <p:nvSpPr>
          <p:cNvPr id="42" name="Google Shape;42;p5">
            <a:extLst xmlns:a="http://schemas.openxmlformats.org/drawingml/2006/main">
              <a:ext uri="{FF2B5EF4-FFF2-40B4-BE49-F238E27FC236}">
                <a16:creationId xmlns:a16="http://schemas.microsoft.com/office/drawing/2014/main" id="{5DA1CE9F-A7F6-445A-A8C8-BAA9F4524172}"/>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43" name="Google Shape;43;p5">
            <a:extLst xmlns:a="http://schemas.openxmlformats.org/drawingml/2006/main">
              <a:ext uri="{FF2B5EF4-FFF2-40B4-BE49-F238E27FC236}">
                <a16:creationId xmlns:a16="http://schemas.microsoft.com/office/drawing/2014/main" id="{7AB0FE86-B39C-4139-A465-538314F74DFC}"/>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44" name="Google Shape;44;p5">
            <a:extLst xmlns:a="http://schemas.openxmlformats.org/drawingml/2006/main">
              <a:ext uri="{FF2B5EF4-FFF2-40B4-BE49-F238E27FC236}">
                <a16:creationId xmlns:a16="http://schemas.microsoft.com/office/drawing/2014/main" id="{3C025E5A-0E2C-4A19-9530-097B937D6B71}"/>
              </a:ext>
            </a:extLst>
          </p:cNvPr>
          <p:cNvSpPr>
            <a:spLocks xmlns:a="http://schemas.openxmlformats.org/drawingml/2006/main" noGrp="1"/>
          </p:cNvSpPr>
          <p:nvPr/>
        </p:nvSpPr>
        <p:spPr>
          <a:xfrm xmlns:a="http://schemas.openxmlformats.org/drawingml/2006/main">
            <a:off x="548640" y="132588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 name="Google Shape;45;p5">
            <a:extLst xmlns:a="http://schemas.openxmlformats.org/drawingml/2006/main">
              <a:ext uri="{FF2B5EF4-FFF2-40B4-BE49-F238E27FC236}">
                <a16:creationId xmlns:a16="http://schemas.microsoft.com/office/drawing/2014/main" id="{676207D1-ED39-4FCF-B272-7569BCA4BA54}"/>
              </a:ext>
            </a:extLst>
          </p:cNvPr>
          <p:cNvSpPr>
            <a:spLocks xmlns:a="http://schemas.openxmlformats.org/drawingml/2006/main" noGrp="1"/>
          </p:cNvSpPr>
          <p:nvPr/>
        </p:nvSpPr>
        <p:spPr>
          <a:xfrm xmlns:a="http://schemas.openxmlformats.org/drawingml/2006/main">
            <a:off x="822960" y="152704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import processing.core.PApplet;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public class FrameChangeSketch extends PApplet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void settings() { size(400, 400);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void setup()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noStroke(); fill(240, 170, 50);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frameRate(4);</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p:txBody>
      </p:sp>
      <p:sp>
        <p:nvSpPr>
          <p:cNvPr id="46" name="Google Shape;46;p5">
            <a:extLst xmlns:a="http://schemas.openxmlformats.org/drawingml/2006/main">
              <a:ext uri="{FF2B5EF4-FFF2-40B4-BE49-F238E27FC236}">
                <a16:creationId xmlns:a16="http://schemas.microsoft.com/office/drawing/2014/main" id="{A19241C2-B628-4C2C-B834-F41B57629CF8}"/>
              </a:ext>
            </a:extLst>
          </p:cNvPr>
          <p:cNvSpPr>
            <a:spLocks xmlns:a="http://schemas.openxmlformats.org/drawingml/2006/main" noGrp="1"/>
          </p:cNvSpPr>
          <p:nvPr/>
        </p:nvSpPr>
        <p:spPr>
          <a:xfrm xmlns:a="http://schemas.openxmlformats.org/drawingml/2006/main">
            <a:off x="548640" y="397764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 name="Google Shape;47;p5">
            <a:extLst xmlns:a="http://schemas.openxmlformats.org/drawingml/2006/main">
              <a:ext uri="{FF2B5EF4-FFF2-40B4-BE49-F238E27FC236}">
                <a16:creationId xmlns:a16="http://schemas.microsoft.com/office/drawing/2014/main" id="{B186E1CC-9559-4F38-8F9D-6E8E0CE42D73}"/>
              </a:ext>
            </a:extLst>
          </p:cNvPr>
          <p:cNvSpPr>
            <a:spLocks xmlns:a="http://schemas.openxmlformats.org/drawingml/2006/main" noGrp="1"/>
          </p:cNvSpPr>
          <p:nvPr/>
        </p:nvSpPr>
        <p:spPr>
          <a:xfrm xmlns:a="http://schemas.openxmlformats.org/drawingml/2006/main">
            <a:off x="822960" y="417880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void draw()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background(30);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00"/>
              <a:buFont typeface="Calibri"/>
              <a:buNone/>
              <a:defRPr sz="1300" i="0">
                <a:solidFill>
                  <a:srgbClr val="CADCFC"/>
                </a:solidFill>
                <a:latin typeface="Courier New"/>
                <a:ea typeface="Courier New"/>
                <a:cs typeface="Courier New"/>
              </a:defRPr>
            </a:pPr>
            <a:r>
              <a:rPr sz="1300" i="0">
                <a:solidFill>
                  <a:srgbClr val="CADCFC"/>
                </a:solidFill>
                <a:latin typeface="Courier New"/>
                <a:ea typeface="Courier New"/>
                <a:cs typeface="Courier New"/>
              </a:rPr>
              <a:t>  float d = 80;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d = d + 2;</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ellipse(200, 200, d, d);</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static void main(String[] args)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PApplet.main("FrameChangeSketch");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
        <p:nvSpPr>
          <p:cNvPr id="48" name="Google Shape;48;p5">
            <a:extLst xmlns:a="http://schemas.openxmlformats.org/drawingml/2006/main">
              <a:ext uri="{FF2B5EF4-FFF2-40B4-BE49-F238E27FC236}">
                <a16:creationId xmlns:a16="http://schemas.microsoft.com/office/drawing/2014/main" id="{E928D55B-DA2D-406D-9CDF-0112D355FA53}"/>
              </a:ext>
            </a:extLst>
          </p:cNvPr>
          <p:cNvSpPr>
            <a:spLocks xmlns:a="http://schemas.openxmlformats.org/drawingml/2006/main" noGrp="1"/>
          </p:cNvSpPr>
          <p:nvPr/>
        </p:nvSpPr>
        <p:spPr>
          <a:xfrm xmlns:a="http://schemas.openxmlformats.org/drawingml/2006/main">
            <a:off x="6309360" y="1325880"/>
            <a:ext cx="5349240" cy="5029200"/>
          </a:xfrm>
          <a:prstGeom xmlns:a="http://schemas.openxmlformats.org/drawingml/2006/main" prst="roundRect">
            <a:avLst>
              <a:gd name="adj" fmla="val 1818"/>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 name="Google Shape;49;p5">
            <a:extLst xmlns:a="http://schemas.openxmlformats.org/drawingml/2006/main">
              <a:ext uri="{FF2B5EF4-FFF2-40B4-BE49-F238E27FC236}">
                <a16:creationId xmlns:a16="http://schemas.microsoft.com/office/drawing/2014/main" id="{01725026-575B-45FD-A203-ADF7FAF698A6}"/>
              </a:ext>
            </a:extLst>
          </p:cNvPr>
          <p:cNvSpPr>
            <a:spLocks xmlns:a="http://schemas.openxmlformats.org/drawingml/2006/main" noGrp="1"/>
          </p:cNvSpPr>
          <p:nvPr/>
        </p:nvSpPr>
        <p:spPr>
          <a:xfrm xmlns:a="http://schemas.openxmlformats.org/drawingml/2006/main">
            <a:off x="6565392" y="152704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Expected</a:t>
            </a:r>
            <a:endParaRPr sz="1400" b="0" i="0" u="none" cap="none">
              <a:solidFill>
                <a:schemeClr val="dk1"/>
              </a:solidFill>
              <a:latin typeface="Calibri"/>
              <a:ea typeface="Calibri"/>
              <a:cs typeface="Calibri"/>
            </a:endParaRPr>
          </a:p>
        </p:txBody>
      </p:sp>
      <p:sp>
        <p:nvSpPr>
          <p:cNvPr id="50" name="Google Shape;50;p5">
            <a:extLst xmlns:a="http://schemas.openxmlformats.org/drawingml/2006/main">
              <a:ext uri="{FF2B5EF4-FFF2-40B4-BE49-F238E27FC236}">
                <a16:creationId xmlns:a16="http://schemas.microsoft.com/office/drawing/2014/main" id="{BC09004A-6025-492B-BF1E-ACF497BC645E}"/>
              </a:ext>
            </a:extLst>
          </p:cNvPr>
          <p:cNvSpPr>
            <a:spLocks xmlns:a="http://schemas.openxmlformats.org/drawingml/2006/main" noGrp="1"/>
          </p:cNvSpPr>
          <p:nvPr/>
        </p:nvSpPr>
        <p:spPr>
          <a:xfrm xmlns:a="http://schemas.openxmlformats.org/drawingml/2006/main">
            <a:off x="6565392" y="1892808"/>
            <a:ext cx="4837176" cy="429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A centered orange circle remains 82 pixels wide. The animation loop still runs; the local value simply returns to 80 before every +2 update.</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Project: FrameChangeSketch_LocalReset</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3363165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Google Shape;40;p5">
            <a:extLst xmlns:a="http://schemas.openxmlformats.org/drawingml/2006/main">
              <a:ext uri="{FF2B5EF4-FFF2-40B4-BE49-F238E27FC236}">
                <a16:creationId xmlns:a16="http://schemas.microsoft.com/office/drawing/2014/main" id="{3D81C2DE-939A-45C3-9647-9C04038BF632}"/>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Appendix: Complete Persistent Example</a:t>
            </a:r>
            <a:endParaRPr sz="2900" b="0" i="0" u="none" cap="none">
              <a:solidFill>
                <a:schemeClr val="dk1"/>
              </a:solidFill>
              <a:latin typeface="Calibri"/>
              <a:ea typeface="Calibri"/>
              <a:cs typeface="Calibri"/>
            </a:endParaRPr>
          </a:p>
        </p:txBody>
      </p:sp>
      <p:sp>
        <p:nvSpPr>
          <p:cNvPr id="41" name="Google Shape;41;p5">
            <a:extLst xmlns:a="http://schemas.openxmlformats.org/drawingml/2006/main">
              <a:ext uri="{FF2B5EF4-FFF2-40B4-BE49-F238E27FC236}">
                <a16:creationId xmlns:a16="http://schemas.microsoft.com/office/drawing/2014/main" id="{0DD53D38-C19B-42F1-A614-943CB05AE5C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The same class field is updated on every draw() call</a:t>
            </a:r>
            <a:endParaRPr sz="1500" b="0" i="0" u="none" cap="none">
              <a:solidFill>
                <a:schemeClr val="dk1"/>
              </a:solidFill>
              <a:latin typeface="Calibri"/>
              <a:ea typeface="Calibri"/>
              <a:cs typeface="Calibri"/>
            </a:endParaRPr>
          </a:p>
        </p:txBody>
      </p:sp>
      <p:sp>
        <p:nvSpPr>
          <p:cNvPr id="42" name="Google Shape;42;p5">
            <a:extLst xmlns:a="http://schemas.openxmlformats.org/drawingml/2006/main">
              <a:ext uri="{FF2B5EF4-FFF2-40B4-BE49-F238E27FC236}">
                <a16:creationId xmlns:a16="http://schemas.microsoft.com/office/drawing/2014/main" id="{5DA1CE9F-A7F6-445A-A8C8-BAA9F4524172}"/>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43" name="Google Shape;43;p5">
            <a:extLst xmlns:a="http://schemas.openxmlformats.org/drawingml/2006/main">
              <a:ext uri="{FF2B5EF4-FFF2-40B4-BE49-F238E27FC236}">
                <a16:creationId xmlns:a16="http://schemas.microsoft.com/office/drawing/2014/main" id="{7AB0FE86-B39C-4139-A465-538314F74DFC}"/>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44" name="Google Shape;44;p5">
            <a:extLst xmlns:a="http://schemas.openxmlformats.org/drawingml/2006/main">
              <a:ext uri="{FF2B5EF4-FFF2-40B4-BE49-F238E27FC236}">
                <a16:creationId xmlns:a16="http://schemas.microsoft.com/office/drawing/2014/main" id="{3C025E5A-0E2C-4A19-9530-097B937D6B71}"/>
              </a:ext>
            </a:extLst>
          </p:cNvPr>
          <p:cNvSpPr>
            <a:spLocks xmlns:a="http://schemas.openxmlformats.org/drawingml/2006/main" noGrp="1"/>
          </p:cNvSpPr>
          <p:nvPr/>
        </p:nvSpPr>
        <p:spPr>
          <a:xfrm xmlns:a="http://schemas.openxmlformats.org/drawingml/2006/main">
            <a:off x="548640" y="132588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 name="Google Shape;45;p5">
            <a:extLst xmlns:a="http://schemas.openxmlformats.org/drawingml/2006/main">
              <a:ext uri="{FF2B5EF4-FFF2-40B4-BE49-F238E27FC236}">
                <a16:creationId xmlns:a16="http://schemas.microsoft.com/office/drawing/2014/main" id="{676207D1-ED39-4FCF-B272-7569BCA4BA54}"/>
              </a:ext>
            </a:extLst>
          </p:cNvPr>
          <p:cNvSpPr>
            <a:spLocks xmlns:a="http://schemas.openxmlformats.org/drawingml/2006/main" noGrp="1"/>
          </p:cNvSpPr>
          <p:nvPr/>
        </p:nvSpPr>
        <p:spPr>
          <a:xfrm xmlns:a="http://schemas.openxmlformats.org/drawingml/2006/main">
            <a:off x="822960" y="152704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import processing.core.PApplet;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public class FrameChangeSketch extends PApplet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float d = 80;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void settings() { size(400, 400);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void setup()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noStroke(); fill(240, 170, 50);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frameRate(4);</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p:txBody>
      </p:sp>
      <p:sp>
        <p:nvSpPr>
          <p:cNvPr id="46" name="Google Shape;46;p5">
            <a:extLst xmlns:a="http://schemas.openxmlformats.org/drawingml/2006/main">
              <a:ext uri="{FF2B5EF4-FFF2-40B4-BE49-F238E27FC236}">
                <a16:creationId xmlns:a16="http://schemas.microsoft.com/office/drawing/2014/main" id="{A19241C2-B628-4C2C-B834-F41B57629CF8}"/>
              </a:ext>
            </a:extLst>
          </p:cNvPr>
          <p:cNvSpPr>
            <a:spLocks xmlns:a="http://schemas.openxmlformats.org/drawingml/2006/main" noGrp="1"/>
          </p:cNvSpPr>
          <p:nvPr/>
        </p:nvSpPr>
        <p:spPr>
          <a:xfrm xmlns:a="http://schemas.openxmlformats.org/drawingml/2006/main">
            <a:off x="548640" y="397764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 name="Google Shape;47;p5">
            <a:extLst xmlns:a="http://schemas.openxmlformats.org/drawingml/2006/main">
              <a:ext uri="{FF2B5EF4-FFF2-40B4-BE49-F238E27FC236}">
                <a16:creationId xmlns:a16="http://schemas.microsoft.com/office/drawing/2014/main" id="{B186E1CC-9559-4F38-8F9D-6E8E0CE42D73}"/>
              </a:ext>
            </a:extLst>
          </p:cNvPr>
          <p:cNvSpPr>
            <a:spLocks xmlns:a="http://schemas.openxmlformats.org/drawingml/2006/main" noGrp="1"/>
          </p:cNvSpPr>
          <p:nvPr/>
        </p:nvSpPr>
        <p:spPr>
          <a:xfrm xmlns:a="http://schemas.openxmlformats.org/drawingml/2006/main">
            <a:off x="822960" y="417880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void draw()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background(30);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00"/>
              <a:buFont typeface="Calibri"/>
              <a:buNone/>
              <a:defRPr sz="1300" i="0">
                <a:solidFill>
                  <a:srgbClr val="CADCFC"/>
                </a:solidFill>
                <a:latin typeface="Courier New"/>
                <a:ea typeface="Courier New"/>
                <a:cs typeface="Courier New"/>
              </a:defRPr>
            </a:pPr>
            <a:r>
              <a:rPr sz="1300" i="0">
                <a:solidFill>
                  <a:srgbClr val="CADCFC"/>
                </a:solidFill>
                <a:latin typeface="Courier New"/>
                <a:ea typeface="Courier New"/>
                <a:cs typeface="Courier New"/>
              </a:rPr>
              <a:t>  d = d + 4;</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ellipse(200, 200, d, d);</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static void main(String[] args)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PApplet.main("FrameChangeSketch");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
        <p:nvSpPr>
          <p:cNvPr id="48" name="Google Shape;48;p5">
            <a:extLst xmlns:a="http://schemas.openxmlformats.org/drawingml/2006/main">
              <a:ext uri="{FF2B5EF4-FFF2-40B4-BE49-F238E27FC236}">
                <a16:creationId xmlns:a16="http://schemas.microsoft.com/office/drawing/2014/main" id="{E928D55B-DA2D-406D-9CDF-0112D355FA53}"/>
              </a:ext>
            </a:extLst>
          </p:cNvPr>
          <p:cNvSpPr>
            <a:spLocks xmlns:a="http://schemas.openxmlformats.org/drawingml/2006/main" noGrp="1"/>
          </p:cNvSpPr>
          <p:nvPr/>
        </p:nvSpPr>
        <p:spPr>
          <a:xfrm xmlns:a="http://schemas.openxmlformats.org/drawingml/2006/main">
            <a:off x="6309360" y="1325880"/>
            <a:ext cx="5349240" cy="5029200"/>
          </a:xfrm>
          <a:prstGeom xmlns:a="http://schemas.openxmlformats.org/drawingml/2006/main" prst="roundRect">
            <a:avLst>
              <a:gd name="adj" fmla="val 1818"/>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 name="Google Shape;49;p5">
            <a:extLst xmlns:a="http://schemas.openxmlformats.org/drawingml/2006/main">
              <a:ext uri="{FF2B5EF4-FFF2-40B4-BE49-F238E27FC236}">
                <a16:creationId xmlns:a16="http://schemas.microsoft.com/office/drawing/2014/main" id="{01725026-575B-45FD-A203-ADF7FAF698A6}"/>
              </a:ext>
            </a:extLst>
          </p:cNvPr>
          <p:cNvSpPr>
            <a:spLocks xmlns:a="http://schemas.openxmlformats.org/drawingml/2006/main" noGrp="1"/>
          </p:cNvSpPr>
          <p:nvPr/>
        </p:nvSpPr>
        <p:spPr>
          <a:xfrm xmlns:a="http://schemas.openxmlformats.org/drawingml/2006/main">
            <a:off x="6565392" y="152704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Expected</a:t>
            </a:r>
            <a:endParaRPr sz="1400" b="0" i="0" u="none" cap="none">
              <a:solidFill>
                <a:schemeClr val="dk1"/>
              </a:solidFill>
              <a:latin typeface="Calibri"/>
              <a:ea typeface="Calibri"/>
              <a:cs typeface="Calibri"/>
            </a:endParaRPr>
          </a:p>
        </p:txBody>
      </p:sp>
      <p:sp>
        <p:nvSpPr>
          <p:cNvPr id="50" name="Google Shape;50;p5">
            <a:extLst xmlns:a="http://schemas.openxmlformats.org/drawingml/2006/main">
              <a:ext uri="{FF2B5EF4-FFF2-40B4-BE49-F238E27FC236}">
                <a16:creationId xmlns:a16="http://schemas.microsoft.com/office/drawing/2014/main" id="{BC09004A-6025-492B-BF1E-ACF497BC645E}"/>
              </a:ext>
            </a:extLst>
          </p:cNvPr>
          <p:cNvSpPr>
            <a:spLocks xmlns:a="http://schemas.openxmlformats.org/drawingml/2006/main" noGrp="1"/>
          </p:cNvSpPr>
          <p:nvPr/>
        </p:nvSpPr>
        <p:spPr>
          <a:xfrm xmlns:a="http://schemas.openxmlformats.org/drawingml/2006/main">
            <a:off x="6565392" y="1892808"/>
            <a:ext cx="4837176" cy="429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A centered orange circle grows by 4 pixels per frame. background(30) clears the previous frame so only the newest size is visible.</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Project: FrameChangeSketch_Persistent</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3363165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Google Shape;40;p5">
            <a:extLst xmlns:a="http://schemas.openxmlformats.org/drawingml/2006/main">
              <a:ext uri="{FF2B5EF4-FFF2-40B4-BE49-F238E27FC236}">
                <a16:creationId xmlns:a16="http://schemas.microsoft.com/office/drawing/2014/main" id="{3D81C2DE-939A-45C3-9647-9C04038BF632}"/>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Appendix: Growing-Circle Solution</a:t>
            </a:r>
            <a:endParaRPr sz="2900" b="0" i="0" u="none" cap="none">
              <a:solidFill>
                <a:schemeClr val="dk1"/>
              </a:solidFill>
              <a:latin typeface="Calibri"/>
              <a:ea typeface="Calibri"/>
              <a:cs typeface="Calibri"/>
            </a:endParaRPr>
          </a:p>
        </p:txBody>
      </p:sp>
      <p:sp>
        <p:nvSpPr>
          <p:cNvPr id="41" name="Google Shape;41;p5">
            <a:extLst xmlns:a="http://schemas.openxmlformats.org/drawingml/2006/main">
              <a:ext uri="{FF2B5EF4-FFF2-40B4-BE49-F238E27FC236}">
                <a16:creationId xmlns:a16="http://schemas.microsoft.com/office/drawing/2014/main" id="{0DD53D38-C19B-42F1-A614-943CB05AE5C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Matches the construction task on slide 12</a:t>
            </a:r>
            <a:endParaRPr sz="1500" b="0" i="0" u="none" cap="none">
              <a:solidFill>
                <a:schemeClr val="dk1"/>
              </a:solidFill>
              <a:latin typeface="Calibri"/>
              <a:ea typeface="Calibri"/>
              <a:cs typeface="Calibri"/>
            </a:endParaRPr>
          </a:p>
        </p:txBody>
      </p:sp>
      <p:sp>
        <p:nvSpPr>
          <p:cNvPr id="42" name="Google Shape;42;p5">
            <a:extLst xmlns:a="http://schemas.openxmlformats.org/drawingml/2006/main">
              <a:ext uri="{FF2B5EF4-FFF2-40B4-BE49-F238E27FC236}">
                <a16:creationId xmlns:a16="http://schemas.microsoft.com/office/drawing/2014/main" id="{5DA1CE9F-A7F6-445A-A8C8-BAA9F4524172}"/>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43" name="Google Shape;43;p5">
            <a:extLst xmlns:a="http://schemas.openxmlformats.org/drawingml/2006/main">
              <a:ext uri="{FF2B5EF4-FFF2-40B4-BE49-F238E27FC236}">
                <a16:creationId xmlns:a16="http://schemas.microsoft.com/office/drawing/2014/main" id="{7AB0FE86-B39C-4139-A465-538314F74DFC}"/>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44" name="Google Shape;44;p5">
            <a:extLst xmlns:a="http://schemas.openxmlformats.org/drawingml/2006/main">
              <a:ext uri="{FF2B5EF4-FFF2-40B4-BE49-F238E27FC236}">
                <a16:creationId xmlns:a16="http://schemas.microsoft.com/office/drawing/2014/main" id="{3C025E5A-0E2C-4A19-9530-097B937D6B71}"/>
              </a:ext>
            </a:extLst>
          </p:cNvPr>
          <p:cNvSpPr>
            <a:spLocks xmlns:a="http://schemas.openxmlformats.org/drawingml/2006/main" noGrp="1"/>
          </p:cNvSpPr>
          <p:nvPr/>
        </p:nvSpPr>
        <p:spPr>
          <a:xfrm xmlns:a="http://schemas.openxmlformats.org/drawingml/2006/main">
            <a:off x="548640" y="132588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5" name="Google Shape;45;p5">
            <a:extLst xmlns:a="http://schemas.openxmlformats.org/drawingml/2006/main">
              <a:ext uri="{FF2B5EF4-FFF2-40B4-BE49-F238E27FC236}">
                <a16:creationId xmlns:a16="http://schemas.microsoft.com/office/drawing/2014/main" id="{676207D1-ED39-4FCF-B272-7569BCA4BA54}"/>
              </a:ext>
            </a:extLst>
          </p:cNvPr>
          <p:cNvSpPr>
            <a:spLocks xmlns:a="http://schemas.openxmlformats.org/drawingml/2006/main" noGrp="1"/>
          </p:cNvSpPr>
          <p:nvPr/>
        </p:nvSpPr>
        <p:spPr>
          <a:xfrm xmlns:a="http://schemas.openxmlformats.org/drawingml/2006/main">
            <a:off x="822960" y="152704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import processing.core.PApplet;</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public class FrameChangeSketch extends PApplet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float d = 20;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void settings() { size(400, 400);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void setup()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background(30); noStroke();</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fill(240, 170, 50);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frameRate(10);</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p:txBody>
      </p:sp>
      <p:sp>
        <p:nvSpPr>
          <p:cNvPr id="46" name="Google Shape;46;p5">
            <a:extLst xmlns:a="http://schemas.openxmlformats.org/drawingml/2006/main">
              <a:ext uri="{FF2B5EF4-FFF2-40B4-BE49-F238E27FC236}">
                <a16:creationId xmlns:a16="http://schemas.microsoft.com/office/drawing/2014/main" id="{A19241C2-B628-4C2C-B834-F41B57629CF8}"/>
              </a:ext>
            </a:extLst>
          </p:cNvPr>
          <p:cNvSpPr>
            <a:spLocks xmlns:a="http://schemas.openxmlformats.org/drawingml/2006/main" noGrp="1"/>
          </p:cNvSpPr>
          <p:nvPr/>
        </p:nvSpPr>
        <p:spPr>
          <a:xfrm xmlns:a="http://schemas.openxmlformats.org/drawingml/2006/main">
            <a:off x="548640" y="3977640"/>
            <a:ext cx="55778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 name="Google Shape;47;p5">
            <a:extLst xmlns:a="http://schemas.openxmlformats.org/drawingml/2006/main">
              <a:ext uri="{FF2B5EF4-FFF2-40B4-BE49-F238E27FC236}">
                <a16:creationId xmlns:a16="http://schemas.microsoft.com/office/drawing/2014/main" id="{B186E1CC-9559-4F38-8F9D-6E8E0CE42D73}"/>
              </a:ext>
            </a:extLst>
          </p:cNvPr>
          <p:cNvSpPr>
            <a:spLocks xmlns:a="http://schemas.openxmlformats.org/drawingml/2006/main" noGrp="1"/>
          </p:cNvSpPr>
          <p:nvPr/>
        </p:nvSpPr>
        <p:spPr>
          <a:xfrm xmlns:a="http://schemas.openxmlformats.org/drawingml/2006/main">
            <a:off x="822960" y="4178808"/>
            <a:ext cx="5029200" cy="19751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20000"/>
              </a:lnSpc>
              <a:spcBef>
                <a:spcPts val="0"/>
              </a:spcBef>
              <a:spcAft>
                <a:spcPts val="0"/>
              </a:spcAft>
              <a:buClr>
                <a:srgbClr val="8892B0"/>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void draw()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d = d + 2;</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chemeClr val="dk1"/>
              </a:buClr>
              <a:buSzPts val="1300"/>
              <a:buFont typeface="Calibri"/>
              <a:buNone/>
              <a:defRPr sz="1300" i="0">
                <a:solidFill>
                  <a:srgbClr val="CADCFC"/>
                </a:solidFill>
                <a:latin typeface="Courier New"/>
                <a:ea typeface="Courier New"/>
                <a:cs typeface="Courier New"/>
              </a:defRPr>
            </a:pPr>
            <a:r>
              <a:rPr sz="1300" i="0">
                <a:solidFill>
                  <a:srgbClr val="CADCFC"/>
                </a:solidFill>
                <a:latin typeface="Courier New"/>
                <a:ea typeface="Courier New"/>
                <a:cs typeface="Courier New"/>
              </a:rPr>
              <a:t>  ellipse(200, 200, d, d);</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8FD0FF"/>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public static void main(String[] args)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E8A33D"/>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  PApplet.main("FrameChangeSketch"); }</a:t>
            </a:r>
            <a:endParaRPr sz="1300" b="0" i="0" u="none" cap="none">
              <a:solidFill>
                <a:schemeClr val="dk1"/>
              </a:solidFill>
              <a:latin typeface="Calibri"/>
              <a:ea typeface="Calibri"/>
              <a:cs typeface="Calibri"/>
            </a:endParaRPr>
          </a:p>
          <a:p xmlns:a="http://schemas.openxmlformats.org/drawingml/2006/main">
            <a:pPr marL="0" marR="0" lvl="0" indent="0" algn="l">
              <a:lnSpc>
                <a:spcPct val="120000"/>
              </a:lnSpc>
              <a:spcBef>
                <a:spcPts val="0"/>
              </a:spcBef>
              <a:spcAft>
                <a:spcPts val="0"/>
              </a:spcAft>
              <a:buClr>
                <a:srgbClr val="CADCFC"/>
              </a:buClr>
              <a:buSzPts val="1300"/>
              <a:buFont typeface="Courier New"/>
              <a:buNone/>
              <a:defRPr sz="1300" i="0">
                <a:solidFill>
                  <a:srgbClr val="CADCFC"/>
                </a:solidFill>
                <a:latin typeface="Courier New"/>
                <a:ea typeface="Courier New"/>
                <a:cs typeface="Courier New"/>
              </a:defRPr>
            </a:pPr>
            <a:r>
              <a:rPr sz="1300" b="0" i="0" u="none" cap="none">
                <a:solidFill>
                  <a:srgbClr val="CADCFC"/>
                </a:solidFill>
                <a:latin typeface="Courier New"/>
                <a:ea typeface="Courier New"/>
                <a:cs typeface="Courier New"/>
              </a:rPr>
              <a:t>}</a:t>
            </a:r>
            <a:endParaRPr sz="1300" b="0" i="0" u="none" cap="none">
              <a:solidFill>
                <a:schemeClr val="dk1"/>
              </a:solidFill>
              <a:latin typeface="Calibri"/>
              <a:ea typeface="Calibri"/>
              <a:cs typeface="Calibri"/>
            </a:endParaRPr>
          </a:p>
        </p:txBody>
      </p:sp>
      <p:sp>
        <p:nvSpPr>
          <p:cNvPr id="48" name="Google Shape;48;p5">
            <a:extLst xmlns:a="http://schemas.openxmlformats.org/drawingml/2006/main">
              <a:ext uri="{FF2B5EF4-FFF2-40B4-BE49-F238E27FC236}">
                <a16:creationId xmlns:a16="http://schemas.microsoft.com/office/drawing/2014/main" id="{E928D55B-DA2D-406D-9CDF-0112D355FA53}"/>
              </a:ext>
            </a:extLst>
          </p:cNvPr>
          <p:cNvSpPr>
            <a:spLocks xmlns:a="http://schemas.openxmlformats.org/drawingml/2006/main" noGrp="1"/>
          </p:cNvSpPr>
          <p:nvPr/>
        </p:nvSpPr>
        <p:spPr>
          <a:xfrm xmlns:a="http://schemas.openxmlformats.org/drawingml/2006/main">
            <a:off x="6309360" y="1325880"/>
            <a:ext cx="5349240" cy="5029200"/>
          </a:xfrm>
          <a:prstGeom xmlns:a="http://schemas.openxmlformats.org/drawingml/2006/main" prst="roundRect">
            <a:avLst>
              <a:gd name="adj" fmla="val 1818"/>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 name="Google Shape;49;p5">
            <a:extLst xmlns:a="http://schemas.openxmlformats.org/drawingml/2006/main">
              <a:ext uri="{FF2B5EF4-FFF2-40B4-BE49-F238E27FC236}">
                <a16:creationId xmlns:a16="http://schemas.microsoft.com/office/drawing/2014/main" id="{01725026-575B-45FD-A203-ADF7FAF698A6}"/>
              </a:ext>
            </a:extLst>
          </p:cNvPr>
          <p:cNvSpPr>
            <a:spLocks xmlns:a="http://schemas.openxmlformats.org/drawingml/2006/main" noGrp="1"/>
          </p:cNvSpPr>
          <p:nvPr/>
        </p:nvSpPr>
        <p:spPr>
          <a:xfrm xmlns:a="http://schemas.openxmlformats.org/drawingml/2006/main">
            <a:off x="6565392" y="152704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Expected</a:t>
            </a:r>
            <a:endParaRPr sz="1400" b="0" i="0" u="none" cap="none">
              <a:solidFill>
                <a:schemeClr val="dk1"/>
              </a:solidFill>
              <a:latin typeface="Calibri"/>
              <a:ea typeface="Calibri"/>
              <a:cs typeface="Calibri"/>
            </a:endParaRPr>
          </a:p>
        </p:txBody>
      </p:sp>
      <p:sp>
        <p:nvSpPr>
          <p:cNvPr id="50" name="Google Shape;50;p5">
            <a:extLst xmlns:a="http://schemas.openxmlformats.org/drawingml/2006/main">
              <a:ext uri="{FF2B5EF4-FFF2-40B4-BE49-F238E27FC236}">
                <a16:creationId xmlns:a16="http://schemas.microsoft.com/office/drawing/2014/main" id="{BC09004A-6025-492B-BF1E-ACF497BC645E}"/>
              </a:ext>
            </a:extLst>
          </p:cNvPr>
          <p:cNvSpPr>
            <a:spLocks xmlns:a="http://schemas.openxmlformats.org/drawingml/2006/main" noGrp="1"/>
          </p:cNvSpPr>
          <p:nvPr/>
        </p:nvSpPr>
        <p:spPr>
          <a:xfrm xmlns:a="http://schemas.openxmlformats.org/drawingml/2006/main">
            <a:off x="6565392" y="1892808"/>
            <a:ext cx="4837176" cy="42976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The opaque circle stays centered and steadily covers its previous, smaller versions. Restart the sketch to watch the sequence again.</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chemeClr val="dk1"/>
              </a:buClr>
              <a:buSzPts val="1400"/>
              <a:buFont typeface="Calibri"/>
              <a:buNone/>
            </a:pPr>
            <a: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FFFFFF"/>
              </a:buClr>
              <a:buSzPts val="1400"/>
              <a:buFont typeface="Calibri"/>
              <a:buNone/>
              <a:defRPr sz="1400">
                <a:solidFill>
                  <a:srgbClr val="FFFFFF"/>
                </a:solidFill>
                <a:latin typeface="Calibri"/>
                <a:ea typeface="Calibri"/>
                <a:cs typeface="Calibri"/>
              </a:defRPr>
            </a:pPr>
            <a:r>
              <a:rPr sz="1400" b="0" i="0" u="none" cap="none">
                <a:solidFill>
                  <a:srgbClr val="FFFFFF"/>
                </a:solidFill>
                <a:latin typeface="Calibri"/>
                <a:ea typeface="Calibri"/>
                <a:cs typeface="Calibri"/>
              </a:rPr>
              <a:t>Project: FrameChangeSketch_Complete</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3363165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ADAA7762-6774-451B-BC5A-E3E598EA9856}"/>
              </a:ext>
            </a:extLst>
          </p:cNvPr>
          <p:cNvSpPr>
            <a:spLocks xmlns:a="http://schemas.openxmlformats.org/drawingml/2006/main" noGrp="1"/>
          </p:cNvSpPr>
          <p:nvPr/>
        </p:nvSpPr>
        <p:spPr>
          <a:xfrm xmlns:a="http://schemas.openxmlformats.org/drawingml/2006/main">
            <a:off x="548640" y="274320"/>
            <a:ext cx="11064240"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900"/>
              <a:buFont typeface="Cambria"/>
              <a:buNone/>
              <a:defRPr sz="2900" b="1">
                <a:solidFill>
                  <a:srgbClr val="1E2761"/>
                </a:solidFill>
                <a:latin typeface="Cambria"/>
                <a:ea typeface="Cambria"/>
                <a:cs typeface="Cambria"/>
              </a:defRPr>
            </a:pPr>
            <a:r>
              <a:rPr sz="2900" b="1" i="0" u="none" cap="none">
                <a:solidFill>
                  <a:srgbClr val="1E2761"/>
                </a:solidFill>
                <a:latin typeface="Cambria"/>
                <a:ea typeface="Cambria"/>
                <a:cs typeface="Cambria"/>
              </a:rPr>
              <a:t>Appendix: Troubleshooting</a:t>
            </a:r>
            <a:endParaRPr sz="29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C29083E2-AED8-47FD-B97F-BE48FA3ABD1F}"/>
              </a:ext>
            </a:extLst>
          </p:cNvPr>
          <p:cNvSpPr>
            <a:spLocks xmlns:a="http://schemas.openxmlformats.org/drawingml/2006/main" noGrp="1"/>
          </p:cNvSpPr>
          <p:nvPr/>
        </p:nvSpPr>
        <p:spPr>
          <a:xfrm xmlns:a="http://schemas.openxmlformats.org/drawingml/2006/main">
            <a:off x="548640" y="841248"/>
            <a:ext cx="11064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defRPr sz="1500" i="1">
                <a:solidFill>
                  <a:srgbClr val="3B4A78"/>
                </a:solidFill>
                <a:latin typeface="Calibri"/>
                <a:ea typeface="Calibri"/>
                <a:cs typeface="Calibri"/>
              </a:defRPr>
            </a:pPr>
            <a:r>
              <a:rPr sz="1500" b="0" i="1" u="none" cap="none">
                <a:solidFill>
                  <a:srgbClr val="3B4A78"/>
                </a:solidFill>
                <a:latin typeface="Calibri"/>
                <a:ea typeface="Calibri"/>
                <a:cs typeface="Calibri"/>
              </a:rPr>
              <a:t>Fix the smallest cause before rewriting the program</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CC869C59-6EF4-403C-B3CB-8B3FCFCDF2F0}"/>
              </a:ext>
            </a:extLst>
          </p:cNvPr>
          <p:cNvSpPr>
            <a:spLocks xmlns:a="http://schemas.openxmlformats.org/drawingml/2006/main" noGrp="1"/>
          </p:cNvSpPr>
          <p:nvPr/>
        </p:nvSpPr>
        <p:spPr>
          <a:xfrm xmlns:a="http://schemas.openxmlformats.org/drawingml/2006/main">
            <a:off x="548640" y="6446520"/>
            <a:ext cx="73152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100"/>
              <a:buFont typeface="Calibri"/>
              <a:buNone/>
            </a:pPr>
            <a:r>
              <a:rPr sz="1100" b="0" i="1" u="none" cap="none">
                <a:solidFill>
                  <a:srgbClr val="8892B0"/>
                </a:solidFill>
                <a:latin typeface="Calibri"/>
                <a:ea typeface="Calibri"/>
                <a:cs typeface="Calibri"/>
              </a:rPr>
              <a:t>PDP Computer Science · B Creative Programming</a:t>
            </a:r>
            <a:endParaRPr sz="11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C64E5D12-EAC6-4A4B-8DD2-1C8095317463}"/>
              </a:ext>
            </a:extLst>
          </p:cNvPr>
          <p:cNvSpPr>
            <a:spLocks xmlns:a="http://schemas.openxmlformats.org/drawingml/2006/main" noGrp="1"/>
          </p:cNvSpPr>
          <p:nvPr/>
        </p:nvSpPr>
        <p:spPr>
          <a:xfrm xmlns:a="http://schemas.openxmlformats.org/drawingml/2006/main">
            <a:off x="7071055" y="6446520"/>
            <a:ext cx="45720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100"/>
              <a:buFont typeface="Calibri"/>
              <a:buNone/>
              <a:defRPr sz="1100">
                <a:solidFill>
                  <a:srgbClr val="8892B0"/>
                </a:solidFill>
                <a:latin typeface="Calibri"/>
                <a:ea typeface="Calibri"/>
                <a:cs typeface="Calibri"/>
              </a:defRPr>
            </a:pPr>
            <a:r>
              <a:rPr sz="1100" b="0" i="0" u="none" cap="none">
                <a:solidFill>
                  <a:srgbClr val="8892B0"/>
                </a:solidFill>
                <a:latin typeface="Calibri"/>
                <a:ea typeface="Calibri"/>
                <a:cs typeface="Calibri"/>
              </a:rPr>
              <a:t>B1.3.1 · Frame-by-Frame Change</a:t>
            </a:r>
            <a:endParaRPr sz="11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FF7580B4-C33C-4E9F-81BF-B96F07D51FDA}"/>
              </a:ext>
            </a:extLst>
          </p:cNvPr>
          <p:cNvSpPr>
            <a:spLocks xmlns:a="http://schemas.openxmlformats.org/drawingml/2006/main" noGrp="1"/>
          </p:cNvSpPr>
          <p:nvPr/>
        </p:nvSpPr>
        <p:spPr>
          <a:xfrm xmlns:a="http://schemas.openxmlformats.org/drawingml/2006/main">
            <a:off x="548640" y="1371600"/>
            <a:ext cx="5577840" cy="4480560"/>
          </a:xfrm>
          <a:prstGeom xmlns:a="http://schemas.openxmlformats.org/drawingml/2006/main" prst="roundRect">
            <a:avLst>
              <a:gd name="adj" fmla="val 1633"/>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E8308B40-5102-45FC-9740-66AFECB582B6}"/>
              </a:ext>
            </a:extLst>
          </p:cNvPr>
          <p:cNvSpPr>
            <a:spLocks xmlns:a="http://schemas.openxmlformats.org/drawingml/2006/main" noGrp="1"/>
          </p:cNvSpPr>
          <p:nvPr/>
        </p:nvSpPr>
        <p:spPr>
          <a:xfrm xmlns:a="http://schemas.openxmlformats.org/drawingml/2006/main">
            <a:off x="777240" y="1536192"/>
            <a:ext cx="5120640" cy="415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Circle never grows → move the d declaration outside draw().</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Circle invisible → confirm ellipse() uses d for both size values.</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Growth too fast → reduce the + amount or lower frameRate().</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 </a:t>
            </a:r>
          </a:p>
          <a:p xmlns:a="http://schemas.openxmlformats.org/drawingml/2006/main">
            <a:pPr marL="0" indent="0">
              <a:buNone/>
              <a:defRPr sz="1400">
                <a:solidFill>
                  <a:srgbClr val="1E2761"/>
                </a:solidFill>
                <a:latin typeface="Calibri"/>
                <a:ea typeface="Calibri"/>
                <a:cs typeface="Calibri"/>
              </a:defRPr>
            </a:pPr>
            <a:r>
              <a:rPr sz="1400">
                <a:solidFill>
                  <a:srgbClr val="1E2761"/>
                </a:solidFill>
                <a:latin typeface="Calibri"/>
                <a:ea typeface="Calibri"/>
                <a:cs typeface="Calibri"/>
              </a:rPr>
              <a:t>Old pictures unwanted → call background() first inside draw().</a:t>
            </a:r>
          </a:p>
        </p:txBody>
      </p:sp>
      <p:sp>
        <p:nvSpPr>
          <p:cNvPr id="32" name="Google Shape;32;p4">
            <a:extLst xmlns:a="http://schemas.openxmlformats.org/drawingml/2006/main">
              <a:ext uri="{FF2B5EF4-FFF2-40B4-BE49-F238E27FC236}">
                <a16:creationId xmlns:a16="http://schemas.microsoft.com/office/drawing/2014/main" id="{37783F0B-7941-49F1-822F-69B88D2EEAB2}"/>
              </a:ext>
            </a:extLst>
          </p:cNvPr>
          <p:cNvSpPr>
            <a:spLocks xmlns:a="http://schemas.openxmlformats.org/drawingml/2006/main" noGrp="1"/>
          </p:cNvSpPr>
          <p:nvPr/>
        </p:nvSpPr>
        <p:spPr>
          <a:xfrm xmlns:a="http://schemas.openxmlformats.org/drawingml/2006/main">
            <a:off x="6309360" y="1371600"/>
            <a:ext cx="5349240" cy="4480560"/>
          </a:xfrm>
          <a:prstGeom xmlns:a="http://schemas.openxmlformats.org/drawingml/2006/main" prst="roundRect">
            <a:avLst>
              <a:gd name="adj" fmla="val 2041"/>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D6BD8021-3BC9-4433-90A1-7C77DF97F8E1}"/>
              </a:ext>
            </a:extLst>
          </p:cNvPr>
          <p:cNvSpPr>
            <a:spLocks xmlns:a="http://schemas.openxmlformats.org/drawingml/2006/main" noGrp="1"/>
          </p:cNvSpPr>
          <p:nvPr/>
        </p:nvSpPr>
        <p:spPr>
          <a:xfrm xmlns:a="http://schemas.openxmlformats.org/drawingml/2006/main">
            <a:off x="6565392" y="1572768"/>
            <a:ext cx="4837176"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400"/>
              <a:buFont typeface="Calibri"/>
              <a:buNone/>
              <a:defRPr sz="1400" b="1">
                <a:solidFill>
                  <a:srgbClr val="E8A33D"/>
                </a:solidFill>
                <a:latin typeface="Calibri"/>
                <a:ea typeface="Calibri"/>
                <a:cs typeface="Calibri"/>
              </a:defRPr>
            </a:pPr>
            <a:r>
              <a:rPr sz="1400" b="1" i="0" u="none" cap="none">
                <a:solidFill>
                  <a:srgbClr val="E8A33D"/>
                </a:solidFill>
                <a:latin typeface="Calibri"/>
                <a:ea typeface="Calibri"/>
                <a:cs typeface="Calibri"/>
              </a:rPr>
              <a:t>Program will not run?</a:t>
            </a:r>
            <a:endParaRPr sz="14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D7282F3B-6DB8-4E29-9E38-DA23EB3CA10E}"/>
              </a:ext>
            </a:extLst>
          </p:cNvPr>
          <p:cNvSpPr>
            <a:spLocks xmlns:a="http://schemas.openxmlformats.org/drawingml/2006/main" noGrp="1"/>
          </p:cNvSpPr>
          <p:nvPr/>
        </p:nvSpPr>
        <p:spPr>
          <a:xfrm xmlns:a="http://schemas.openxmlformats.org/drawingml/2006/main">
            <a:off x="6565392" y="1938528"/>
            <a:ext cx="4837176" cy="3749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PApplet unresolved → confirm core-4.5.6.jar is (Loaded), then restart BlueJ.</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Class mismatch → the file name, public class name, and PApplet.main("FrameChangeSketch") must agree.</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pPr>
            <a:r>
              <a:rPr sz="1400" b="0" i="0" u="none" cap="none">
                <a:solidFill>
                  <a:srgbClr val="1E2761"/>
                </a:solidFill>
                <a:latin typeface="Calibri"/>
                <a:ea typeface="Calibri"/>
                <a:cs typeface="Calibri"/>
              </a:rPr>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1E2761"/>
              </a:buClr>
              <a:buSzPts val="1400"/>
              <a:buFont typeface="Calibri"/>
              <a:buNone/>
              <a:defRPr sz="1400">
                <a:solidFill>
                  <a:srgbClr val="1E2761"/>
                </a:solidFill>
                <a:latin typeface="Calibri"/>
                <a:ea typeface="Calibri"/>
                <a:cs typeface="Calibri"/>
              </a:defRPr>
            </a:pPr>
            <a:r>
              <a:rPr sz="1400" b="0" i="0" u="none" cap="none">
                <a:solidFill>
                  <a:srgbClr val="1E2761"/>
                </a:solidFill>
                <a:latin typeface="Calibri"/>
                <a:ea typeface="Calibri"/>
                <a:cs typeface="Calibri"/>
              </a:rPr>
              <a:t>Red stripes → compile and read the first error before changing later lines.</a:t>
            </a:r>
            <a:endParaRPr sz="14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49083026"/>
      </p:ext>
    </p:extLst>
  </p:cSld>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2026-08-25T14:11:03.3850000Z</dcterms:created>
  <dcterms:modified xsi:type="dcterms:W3CDTF">2026-08-25T14:11:03.3850000Z</dcterms:modified>
</coreProperties>
</file>