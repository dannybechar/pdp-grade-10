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b99ac879ee4ebf" /><Relationship Type="http://schemas.openxmlformats.org/officeDocument/2006/relationships/extended-properties" Target="/docProps/app.xml" Id="Rb0982fff105040a9" /><Relationship Type="http://schemas.openxmlformats.org/officeDocument/2006/relationships/officeDocument" Target="/ppt/presentation.xml" Id="Rf708c0903a7c42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996f8c88e04e70"/>
  </p:sldMasterIdLst>
  <p:notesMasterIdLst>
    <p:notesMasterId xmlns:r="http://schemas.openxmlformats.org/officeDocument/2006/relationships" r:id="Rdf9a4f1df1af440d"/>
  </p:notesMasterIdLst>
  <p:sldIdLst>
    <p:sldId xmlns:r="http://schemas.openxmlformats.org/officeDocument/2006/relationships" id="256" r:id="Ree8f9656e2e54be7"/>
    <p:sldId xmlns:r="http://schemas.openxmlformats.org/officeDocument/2006/relationships" id="257" r:id="Ree1f5169f2834e86"/>
    <p:sldId xmlns:r="http://schemas.openxmlformats.org/officeDocument/2006/relationships" id="258" r:id="R034d6eddc8d140be"/>
    <p:sldId xmlns:r="http://schemas.openxmlformats.org/officeDocument/2006/relationships" id="259" r:id="R2946ab9251fc4f40"/>
    <p:sldId xmlns:r="http://schemas.openxmlformats.org/officeDocument/2006/relationships" id="260" r:id="Rf46a508afe664821"/>
    <p:sldId xmlns:r="http://schemas.openxmlformats.org/officeDocument/2006/relationships" id="261" r:id="R08298a298e4541bd"/>
    <p:sldId xmlns:r="http://schemas.openxmlformats.org/officeDocument/2006/relationships" id="262" r:id="R36b3152836fc4724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467e74747e4941" /><Relationship Type="http://schemas.openxmlformats.org/officeDocument/2006/relationships/slideMaster" Target="/ppt/slideMasters/slideMaster1.xml" Id="Rb1996f8c88e04e70" /><Relationship Type="http://schemas.openxmlformats.org/officeDocument/2006/relationships/notesMaster" Target="/ppt/notesMasters/notesMaster1.xml" Id="Rdf9a4f1df1af440d" /><Relationship Type="http://schemas.openxmlformats.org/officeDocument/2006/relationships/presProps" Target="/ppt/presProps.xml" Id="R5bc4459f13e44a97" /><Relationship Type="http://schemas.openxmlformats.org/officeDocument/2006/relationships/tableStyles" Target="/ppt/tableStyles.xml" Id="R1e6d1c253e9243d5" /><Relationship Type="http://schemas.openxmlformats.org/officeDocument/2006/relationships/slide" Target="/ppt/slides/slide1.xml" Id="Ree8f9656e2e54be7" /><Relationship Type="http://schemas.openxmlformats.org/officeDocument/2006/relationships/slide" Target="/ppt/slides/slide2.xml" Id="Ree1f5169f2834e86" /><Relationship Type="http://schemas.openxmlformats.org/officeDocument/2006/relationships/slide" Target="/ppt/slides/slide3.xml" Id="R034d6eddc8d140be" /><Relationship Type="http://schemas.openxmlformats.org/officeDocument/2006/relationships/slide" Target="/ppt/slides/slide4.xml" Id="R2946ab9251fc4f40" /><Relationship Type="http://schemas.openxmlformats.org/officeDocument/2006/relationships/slide" Target="/ppt/slides/slide5.xml" Id="Rf46a508afe664821" /><Relationship Type="http://schemas.openxmlformats.org/officeDocument/2006/relationships/slide" Target="/ppt/slides/slide6.xml" Id="R08298a298e4541bd" /><Relationship Type="http://schemas.openxmlformats.org/officeDocument/2006/relationships/slide" Target="/ppt/slides/slide7.xml" Id="R36b3152836fc47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8acb518014a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602ffc0acd44f6" /><Relationship Type="http://schemas.openxmlformats.org/officeDocument/2006/relationships/notesMaster" Target="/ppt/notesMasters/notesMaster1.xml" Id="R5e5839e2088346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c9be4783a8439b" /><Relationship Type="http://schemas.openxmlformats.org/officeDocument/2006/relationships/notesMaster" Target="/ppt/notesMasters/notesMaster1.xml" Id="Rdd6e52c4a6c84f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142c063c5a4b33" /><Relationship Type="http://schemas.openxmlformats.org/officeDocument/2006/relationships/notesMaster" Target="/ppt/notesMasters/notesMaster1.xml" Id="R3af0ae1bd0cf40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f3d3c3a6c04f38" /><Relationship Type="http://schemas.openxmlformats.org/officeDocument/2006/relationships/notesMaster" Target="/ppt/notesMasters/notesMaster1.xml" Id="R56f34f9658784d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c35ef7139e49d9" /><Relationship Type="http://schemas.openxmlformats.org/officeDocument/2006/relationships/notesMaster" Target="/ppt/notesMasters/notesMaster1.xml" Id="R81a9c18f044645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9a7d1b287c43a8" /><Relationship Type="http://schemas.openxmlformats.org/officeDocument/2006/relationships/notesMaster" Target="/ppt/notesMasters/notesMaster1.xml" Id="R893552c2feec4e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624dd9db374967" /><Relationship Type="http://schemas.openxmlformats.org/officeDocument/2006/relationships/notesMaster" Target="/ppt/notesMasters/notesMaster1.xml" Id="R7091475ef4e843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Introduce parallel arrays as a temporary data model: one shared index coordinates several properties of one visual element.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Retrieve declaration, allocation, fill loop, and draw loop from Part 1.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Model COUNT and three arrays. Fill every property for index i before advancing; then pass the coordinated values into drawParticle().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Trace index 4 across xPositions, yPositions, and sizes. One index names one conceptual particle.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Demonstrate an index slip that still compiles. Explain that semantic alignment is a programmer-maintained invariant.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add grayscale as a fourth parallel array, thread it through the helper method, and test all indices with one shared COUNT.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explain why equal lengths alone do not guarantee correct alignment.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c9c54fd14431b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e98f883ffb44cc" /><Relationship Type="http://schemas.openxmlformats.org/officeDocument/2006/relationships/slideLayout" Target="/ppt/slideLayouts/slideLayout1.xml" Id="R4b3437bfedd64fa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3437bfedd64fa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85a12aa1b4742" /><Relationship Type="http://schemas.openxmlformats.org/officeDocument/2006/relationships/notesSlide" Target="/ppt/notesSlides/notesSlide1.xml" Id="Rf607ff21b0c942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d41872a8241fa" /><Relationship Type="http://schemas.openxmlformats.org/officeDocument/2006/relationships/notesSlide" Target="/ppt/notesSlides/notesSlide2.xml" Id="R6aa647c3e67940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5486a63754405" /><Relationship Type="http://schemas.openxmlformats.org/officeDocument/2006/relationships/notesSlide" Target="/ppt/notesSlides/notesSlide3.xml" Id="R4baa67cbbdf9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41dbc1beb4335" /><Relationship Type="http://schemas.openxmlformats.org/officeDocument/2006/relationships/notesSlide" Target="/ppt/notesSlides/notesSlide4.xml" Id="R7ae4d873fb3d4c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bdfaf3a814808" /><Relationship Type="http://schemas.openxmlformats.org/officeDocument/2006/relationships/notesSlide" Target="/ppt/notesSlides/notesSlide5.xml" Id="Rac667de3a4194d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8f74122d74fb6" /><Relationship Type="http://schemas.openxmlformats.org/officeDocument/2006/relationships/notesSlide" Target="/ppt/notesSlides/notesSlide6.xml" Id="R9096ba32dd9849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7a25e2f454166" /><Relationship Type="http://schemas.openxmlformats.org/officeDocument/2006/relationships/notesSlide" Target="/ppt/notesSlides/notesSlide7.xml" Id="Rd419e90d915a42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D204117-7DC6-4669-BF33-1D4594ED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B4 · COLLECTIONS &amp; INTERACTION · B4.1 PART 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B376BA95-3855-46C3-B039-BB21EEFA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Parallel Arrays for Multi-Property Elements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A9FF675E-1013-4219-B812-8F4D5D3D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601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One shared index, several properties, one element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58174F07-3B08-4DAA-B1C1-F5B1A343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307E415-2E52-4F73-A648-8C63A9F0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1389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684AB572-F57E-4934-99FA-E61A54B1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One Array, One Loop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55F55FE9-5499-429C-BF2D-222EB06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 — storing and reading many values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D8D756CF-C33E-4BD2-BF01-946811DE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4CB6BAA-6B07-4143-A054-3825CEFB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D2530F75-6971-4175-B8F1-A18DFDC0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AF9F6699-157E-4FE1-95DC-DA4C5E3E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56186644-4089-4616-B7BD-8829C5D5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An array stores many values of one kind under one name, indexed from 0. A for loop bounded by array.length can fill it, and the same loop shape can read it back to draw every element.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5BA0E6C-CE5E-493E-B47B-2A87C1B8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6E74F1AF-ADBC-490B-AC8B-E2C81A62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DA22922C-36F3-47A7-9F64-FFF0FAF0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 shapes usually need more than one property at once — a position AND a size, not just one number. How do we store several properties for the same twenty elements?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2292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FFBB12C6-D6BD-47AD-BB57-92725580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Three Arrays, One Shared Index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2285D190-1B8E-43CF-9465-8F2586CC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Position and size, stored together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C109E9C1-3A9D-4557-81DF-5C1D52B0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EA5CDC0F-BB60-49CE-BEBA-41B3A32E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74E480F3-ED7A-4564-B5D1-A032BC0C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6675120" cy="507492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98CD9A3-5B20-41FE-ADEC-B01970B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18488"/>
            <a:ext cx="6126480" cy="467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final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COUNT = 20;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xPositions = new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[COUNT];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yPositions = new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[COUNT];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sizes = new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[COUNT];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settings()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size(400, 400);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setup()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COUNT; i++)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xPositions[i] =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random(20, 380);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yPositions[i] =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random(20, 380);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sizes[i] =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random(10, 40);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COUNT; i++)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drawParticle(xPositions[i], yPositions[i], sizes[i]);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drawParticle(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x,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y,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y, s, s);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E4DC8A67-B818-4FD0-A205-6CB918D2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17320"/>
            <a:ext cx="416052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6BA4095-69CB-4D76-9566-55EB3DE3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8191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COUNT, EVERYWHERE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25CD3520-7496-4DF6-9712-B7626470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920240"/>
            <a:ext cx="3703320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All three arrays are sized from one shared COUNT constant — not three separate 20s. That's what guarantees they stay the same length.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8F14EE05-3837-4101-9A29-E1FE9075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977640"/>
            <a:ext cx="4160520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A856270B-2A60-47B9-BB9A-BC551916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4223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REUSING B2.1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AB59CB28-E719-4789-8FE6-1A3E6A47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480560"/>
            <a:ext cx="370332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drawParticle takes x, y, and s as parameters — exactly like any custom function from B2.1. It doesn't know or care that its inputs came from an array.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4916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A2A69D84-2465-46FC-993B-85F337A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One Element, Three Values, One Index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84F8BB93-1FED-4D05-A0F2-0B2D71F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This is the idea the whole lesson depends 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9CF3D4B0-A810-4443-A61B-38B06A6B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37488FA1-093E-48E9-BC4A-AEFC11CA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8CFF6172-6DC4-4408-8CF5-9AC0E84A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023360" cy="402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87C2A713-088D-4FB7-8BDC-A19A8648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29" y="2516429"/>
            <a:ext cx="362102" cy="3621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BA06FDCC-D54D-4104-89BC-2C329B43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91" y="3783787"/>
            <a:ext cx="241402" cy="24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8DCDCE28-5C84-4AD9-9542-884BFC70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692" y="47594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016C348B-527B-42EC-B793-98248E71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703320"/>
            <a:ext cx="402336" cy="40233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FAB83C0E-0A0D-4A17-A462-DBA5066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200"/>
              <a:buFont typeface="Calibri"/>
              <a:buNone/>
            </a:pPr>
            <a:r>
              <a:rPr sz="12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Index 4 (highlighted): one particle, three coordinated values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F8B869FB-431B-49F9-88C7-478E6EFE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691640"/>
            <a:ext cx="58521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D6CEF672-AD81-4278-B688-FB62788A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856232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D32C0BA3-A33E-4C08-BA73-575B333C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194560"/>
            <a:ext cx="53949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xPositions[4], yPositions[4], and sizes[4] are not three unrelated array entries — together they ARE element 4.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parallel array must describe the same number of elements, in the same order. That's why all three are sized from the same COUNT — if one array were a different length, iterating to COUNT could read past its end, or silently skip elements in it.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index i is the thread that ties one shape's position and size together across three separate arrays.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5180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91AEEB4F-04D3-479A-854D-99E228F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Happens If the Index Slips?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D3C3461A-53E4-4839-BFFA-4724F748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concrete look at misaligned parallel arrays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D6958CD2-3C0B-4D03-ACB7-46412248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03C630BE-00E8-4156-B542-9BB2651A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968A57C3-8F4A-4000-8F5A-9B69AC3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1106424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8E7C5182-7A35-48F2-BB5F-BE588337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55648"/>
            <a:ext cx="10515600" cy="1975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500"/>
              <a:buFont typeface="Courier New"/>
              <a:buNone/>
            </a:pPr>
            <a:r>
              <a:rPr sz="150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DON'T: position and size come from different indices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COUNT; i++)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drawParticle(xPositions[i], yPositions[i], sizes[COUNT - 1 - i]);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8D3C8273-2635-4791-BED3-5E492816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1106424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766298EE-22FC-405A-A87B-FD0BAEC9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WHY THIS BREAKS THE MODEL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B98113F4-E1B8-47BA-8002-4B705511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1060704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This still compiles and draws all 20 particles — but position i is always paired with a size from a different element (element 19 − i instead of element i). Element 4's position ends up drawn with element 15's size, every single time. The one-shared-index rule isn't a syntax requirement Java enforces — it's a convention the programmer has to keep consistently, every time.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055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3B1310F5-9235-41B5-A078-6A5F06D1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D06A8D33-EB7B-4058-9896-F295B079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1: Guided · Step 2: Construct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C342A14E-ECBA-40CF-B49C-170EDA4B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F81365F1-3598-4566-95D5-0D7FA5AC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1F53382F-76C4-4477-A6C1-76885E31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29D32C40-E7F9-4824-AC0E-CE74EF20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·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06414549-82C5-4701-BED1-505A1CD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 a third parallel array for grayscale intensity, filled the same way as the others. Thread it through drawParticle as a fourth parameter, and use it in fill().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91D4B5F6-06D2-41D3-A7C6-C6B20CF2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E5803618-07BE-4AB1-995A-0882841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2 · CONSTRUCT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D26B4CA7-5954-4248-BE07-4C170EC0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Design your own parallel-array element with at least two properties of your choice, and a custom function that draws one element from the values it's given.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0417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9">
            <a:extLst xmlns:a="http://schemas.openxmlformats.org/drawingml/2006/main">
              <a:ext uri="{FF2B5EF4-FFF2-40B4-BE49-F238E27FC236}">
                <a16:creationId xmlns:a16="http://schemas.microsoft.com/office/drawing/2014/main" id="{21A1A244-088C-4FC6-8A34-0B15DC89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9">
            <a:extLst xmlns:a="http://schemas.openxmlformats.org/drawingml/2006/main">
              <a:ext uri="{FF2B5EF4-FFF2-40B4-BE49-F238E27FC236}">
                <a16:creationId xmlns:a16="http://schemas.microsoft.com/office/drawing/2014/main" id="{910EA40D-EB7C-46A0-8195-0241F06E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 and what's next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EB240D6F-D9F0-427E-AC73-8247CF30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7E54D17B-2749-4C47-9F63-98B0E961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B4.1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2D1DDA8D-EDEC-4D4E-B977-C65F2A65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C497FB22-145F-4276-9561-719356BD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6E1F2B33-3B10-4A6B-9566-B3DE1095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Parallel arrays let one index describe a multi-property element — the same index across every array always refers to the same shape, as long as every array shares one COUNT.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9CA452D9-0453-48C0-A863-E3E79356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4443B918-B0E4-4DEA-92A5-F313E48B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NEXT: B4.1 PART 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03DF038D-9136-469C-B4A2-95006D1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So far we've only used iteration to draw. Next, we'll iterate to check something about the collection — counting elements that match a condition.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38141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2026-08-29T13:37:54.5560000Z</dcterms:created>
  <dcterms:modified xsi:type="dcterms:W3CDTF">2026-08-29T13:37:54.5560000Z</dcterms:modified>
</coreProperties>
</file>