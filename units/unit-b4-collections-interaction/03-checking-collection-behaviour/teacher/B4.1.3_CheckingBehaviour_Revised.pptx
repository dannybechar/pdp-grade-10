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caecd30417462b" /><Relationship Type="http://schemas.openxmlformats.org/officeDocument/2006/relationships/extended-properties" Target="/docProps/app.xml" Id="Rf7ee7dd52e614d92" /><Relationship Type="http://schemas.openxmlformats.org/officeDocument/2006/relationships/officeDocument" Target="/ppt/presentation.xml" Id="R21e6d8674299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55ae18da5e4b75"/>
  </p:sldMasterIdLst>
  <p:notesMasterIdLst>
    <p:notesMasterId xmlns:r="http://schemas.openxmlformats.org/officeDocument/2006/relationships" r:id="R96a9c25aa6474d0f"/>
  </p:notesMasterIdLst>
  <p:sldIdLst>
    <p:sldId xmlns:r="http://schemas.openxmlformats.org/officeDocument/2006/relationships" id="256" r:id="R287625c5d2e848ca"/>
    <p:sldId xmlns:r="http://schemas.openxmlformats.org/officeDocument/2006/relationships" id="257" r:id="R5475ecae78d34706"/>
    <p:sldId xmlns:r="http://schemas.openxmlformats.org/officeDocument/2006/relationships" id="258" r:id="R1284c914fb814b9c"/>
    <p:sldId xmlns:r="http://schemas.openxmlformats.org/officeDocument/2006/relationships" id="259" r:id="R8668d8b13f504e12"/>
    <p:sldId xmlns:r="http://schemas.openxmlformats.org/officeDocument/2006/relationships" id="260" r:id="R68fb1db06e994203"/>
    <p:sldId xmlns:r="http://schemas.openxmlformats.org/officeDocument/2006/relationships" id="261" r:id="R0cd962fdad4a4306"/>
    <p:sldId xmlns:r="http://schemas.openxmlformats.org/officeDocument/2006/relationships" id="262" r:id="R9e98da06118f4320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15D8DC1E-D007-4CB0-8971-000D852DB8AF}">
  <a:tblStyle styleId="{15D8DC1E-D007-4CB0-8971-000D852DB8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968254539c4674" /><Relationship Type="http://schemas.openxmlformats.org/officeDocument/2006/relationships/slideMaster" Target="/ppt/slideMasters/slideMaster1.xml" Id="R3a55ae18da5e4b75" /><Relationship Type="http://schemas.openxmlformats.org/officeDocument/2006/relationships/notesMaster" Target="/ppt/notesMasters/notesMaster1.xml" Id="R96a9c25aa6474d0f" /><Relationship Type="http://schemas.openxmlformats.org/officeDocument/2006/relationships/presProps" Target="/ppt/presProps.xml" Id="R55e95fb8cde44ff4" /><Relationship Type="http://schemas.openxmlformats.org/officeDocument/2006/relationships/tableStyles" Target="/ppt/tableStyles.xml" Id="Rd6eabaa0ffa34384" /><Relationship Type="http://schemas.openxmlformats.org/officeDocument/2006/relationships/slide" Target="/ppt/slides/slide1.xml" Id="R287625c5d2e848ca" /><Relationship Type="http://schemas.openxmlformats.org/officeDocument/2006/relationships/slide" Target="/ppt/slides/slide2.xml" Id="R5475ecae78d34706" /><Relationship Type="http://schemas.openxmlformats.org/officeDocument/2006/relationships/slide" Target="/ppt/slides/slide3.xml" Id="R1284c914fb814b9c" /><Relationship Type="http://schemas.openxmlformats.org/officeDocument/2006/relationships/slide" Target="/ppt/slides/slide4.xml" Id="R8668d8b13f504e12" /><Relationship Type="http://schemas.openxmlformats.org/officeDocument/2006/relationships/slide" Target="/ppt/slides/slide5.xml" Id="R68fb1db06e994203" /><Relationship Type="http://schemas.openxmlformats.org/officeDocument/2006/relationships/slide" Target="/ppt/slides/slide6.xml" Id="R0cd962fdad4a4306" /><Relationship Type="http://schemas.openxmlformats.org/officeDocument/2006/relationships/slide" Target="/ppt/slides/slide7.xml" Id="R9e98da06118f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adc769dbc9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f85c67fb7440c" /><Relationship Type="http://schemas.openxmlformats.org/officeDocument/2006/relationships/notesMaster" Target="/ppt/notesMasters/notesMaster1.xml" Id="Ra590884921a74a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0a11844dd344cd" /><Relationship Type="http://schemas.openxmlformats.org/officeDocument/2006/relationships/notesMaster" Target="/ppt/notesMasters/notesMaster1.xml" Id="Rbffa6584fcff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8725e40b549d3" /><Relationship Type="http://schemas.openxmlformats.org/officeDocument/2006/relationships/notesMaster" Target="/ppt/notesMasters/notesMaster1.xml" Id="R486ac78f9794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6309d26924c6d" /><Relationship Type="http://schemas.openxmlformats.org/officeDocument/2006/relationships/notesMaster" Target="/ppt/notesMasters/notesMaster1.xml" Id="R092a9eefc168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01759ac364fbf" /><Relationship Type="http://schemas.openxmlformats.org/officeDocument/2006/relationships/notesMaster" Target="/ppt/notesMasters/notesMaster1.xml" Id="R0a5b693f793f41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4092e43e9e4a9a" /><Relationship Type="http://schemas.openxmlformats.org/officeDocument/2006/relationships/notesMaster" Target="/ppt/notesMasters/notesMaster1.xml" Id="R7a8f477b8b0444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a195c2c05f439a" /><Relationship Type="http://schemas.openxmlformats.org/officeDocument/2006/relationships/notesMaster" Target="/ppt/notesMasters/notesMaster1.xml" Id="Re09725871d2946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Shift the loop’s job from only rendering to also computing information about the collection.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the one-shared-index rule and identify which array property a condition will inspect.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largeCount as a local accumulator reset before the loop. Increment only when the current element passes the threshold, then display the result after the loop.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Separate drawing and checking conceptually even though both occur in one pass. Either order works here because the check does not mutate the element.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Complete the trace table by hand. Ask for the count after each iteration, not only the final answer.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change the threshold, then add a second independent count such as elements in the left half. Reset both counts every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why declaring the count as a persistent field would accumulate unless it is explicitly reset.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a06a7f4814962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5e36becf064f9e" /><Relationship Type="http://schemas.openxmlformats.org/officeDocument/2006/relationships/slideLayout" Target="/ppt/slideLayouts/slideLayout1.xml" Id="R1675a2c50c65450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75a2c50c65450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186d577c34ed0" /><Relationship Type="http://schemas.openxmlformats.org/officeDocument/2006/relationships/notesSlide" Target="/ppt/notesSlides/notesSlide1.xml" Id="R1d24acfc4c0646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35c27cc864d40" /><Relationship Type="http://schemas.openxmlformats.org/officeDocument/2006/relationships/notesSlide" Target="/ppt/notesSlides/notesSlide2.xml" Id="R22a2641039c0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0ec13f9fc4337" /><Relationship Type="http://schemas.openxmlformats.org/officeDocument/2006/relationships/notesSlide" Target="/ppt/notesSlides/notesSlide3.xml" Id="Rf8312edabd1a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f9d2e9fdf4e8a" /><Relationship Type="http://schemas.openxmlformats.org/officeDocument/2006/relationships/notesSlide" Target="/ppt/notesSlides/notesSlide4.xml" Id="Rb2ef0080c9484e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70b27e81e421a" /><Relationship Type="http://schemas.openxmlformats.org/officeDocument/2006/relationships/notesSlide" Target="/ppt/notesSlides/notesSlide5.xml" Id="R0053b411cdfa41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d04b634c94599" /><Relationship Type="http://schemas.openxmlformats.org/officeDocument/2006/relationships/notesSlide" Target="/ppt/notesSlides/notesSlide6.xml" Id="R6bd2202dd62a4e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3abc4ed440aa" /><Relationship Type="http://schemas.openxmlformats.org/officeDocument/2006/relationships/notesSlide" Target="/ppt/notesSlides/notesSlide7.xml" Id="Rb35e81b7a5164c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43A4110-7D7C-4247-9F0A-B96B6ADF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B4 · COLLECTIONS &amp; INTERACTION · B4.1 PART 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3DAA236-456E-4513-A02E-11C460E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Iterating to Check Behaviour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3921B61B-98DA-4201-984C-B085217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same loop can draw and inspect at once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D32A2B05-B4DF-4D7F-A216-126E98A1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B85A558-D013-4D7D-BF23-32263BE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387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2FFFADA-08CC-401B-9AE2-8B04303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Parallel Arrays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877283A2-3297-46EE-BFB4-DD0D5D91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2 — one index, one element, several properties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8418C101-53CD-41C9-97E8-A577C04B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073DB48B-9AAC-44DD-9CD8-D867EF2C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DC92D41-4D95-4F2E-ADA2-4E985477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CE5112D4-4392-4882-A61F-A9F563DC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A802214-FBAA-44F7-BC2B-911D1E30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xPositions[i], yPositions[i], and sizes[i] together describe one element. Every parallel array shares one COUNT, and drawParticle() takes an element's properties as parameters.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E087920A-2802-40D1-95F4-8D2C3EAF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B1B18D2D-8691-4592-ADED-75F77D7A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799FA483-A67F-465A-9709-111C441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We've only ever used a loop to draw every element. Can the same loop also tell us something about the collection — like how many elements meet some condition?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335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712DD7BB-4BB6-4B88-806F-EE66DBD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Counting While Drawing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D7A44D1F-8EDE-4046-9515-2BDE781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One pass through the loop, two jobs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418BA0EE-B2AA-4B87-9001-34B9D78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E1638130-A3C8-4E1F-B6D7-89F7727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5E2F390D-7B1D-4B59-BF75-6329506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507492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6CCA377A-ED92-4D66-A57E-5DB97B2D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67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largeCount = 0;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COUNT; i++)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drawParticle(xPositions[i], yPositions[i], sizes[i]);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(sizes[i] &gt; 25)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largeCount = largeCount + 1;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text("Large: " + largeCount, 10,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5196A3F5-56D7-4EA8-91AD-05E47C46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97BA5DF3-21FF-4FC0-B0A1-081CF03E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NEW: text()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2C60C672-0B4C-4FB3-9FF4-090FE48D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text(message, x, y) draws text on the canvas — the first time this course has used it. "Large: " + largeCount joins a String and a number with + to build the message shown.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CBB6DFC0-D1B8-43A7-B191-524AEAC0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77640"/>
            <a:ext cx="416052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5D67C49B-40FC-4D82-AFB3-D7C032F1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4223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RESET EVERY FRAME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7F24EC85-B909-4D5D-984D-4BEFFE3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480560"/>
            <a:ext cx="370332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largeCount is declared and set to 0 inside draw(), before the loop — so every frame computes a fresh count instead of accumulating across frames.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02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3182687D-671D-444F-B07E-747754C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Drawing and Checking, Together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F886FEC5-3EB7-42C0-9194-5883D108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One loop, two things happening on each pass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A6799FD9-B77C-4875-B264-24924FD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2A3643A7-D915-4EF8-8B2E-27DA8B9B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BBBC63F3-E4E5-4093-9376-BD732D8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674A5D3E-5495-40C1-9422-EB65D60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Job 1: drawing (already familiar).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drawParticle(xPositions[i], yPositions[i], sizes[i]) runs for every element, same as Part 2.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part of the loop hasn't changed at all.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A97C1470-ADED-4DA5-818E-B78B0AA6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16BFEECB-3780-4E99-A253-35A6662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Job 2: checking (new this part).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if (sizes[i] &gt; 25) tests each element as the loop visits it, and largeCount tracks how many pass.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No second loop is needed — the check happens inside the same pass as the drawing.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7636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E3873B3E-7E9F-4FE7-887E-A372791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Tracing the Count by Hand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77A7B9FB-F8CD-4080-B01C-31E6A1F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same trace-table skill from Algorithms, applied to a collection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D2633756-8E65-4F74-A12C-2C255D7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3532ADBF-8799-4E15-92BF-AAC8D52F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4" name="Google Shape;75;p7"/>
          <p:cNvGraphicFramePr/>
          <p:nvPr/>
        </p:nvGraphicFramePr>
        <p:xfrm>
          <a:off xmlns:a="http://schemas.openxmlformats.org/drawingml/2006/main" x="548640" y="169164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{15D8DC1E-D007-4CB0-8971-000D852DB8AF}</a:tableStyleId>
              </a:tblPr>
              <a:tblGrid>
                <a:gridCol w="1645925"/>
                <a:gridCol w="2560325"/>
                <a:gridCol w="3200400"/>
                <a:gridCol w="3657600"/>
              </a:tblGrid>
              <a:tr h="487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i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sizes[i]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sizes[i] &gt; 25?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largeCount after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300"/>
                        <a:buFont typeface="Calibri"/>
                        <a:buNone/>
                      </a:pPr>
                      <a:r>
                        <a:rPr sz="13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3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78813939-E1AA-4F3A-9FC6-655B75A3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1106424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131B36F9-5097-413C-92B7-0D4F234A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1091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TRY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6BB60342-BDBD-45B7-B433-AFEF8331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60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For a given array of sizes, trace largeCount's value after each iteration before running the program — same tracing skill as A1.5, now applied to a loop.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27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8ED8A5DA-F1AC-4D38-8191-CE2ECF1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6304301B-0115-4C24-A029-886FF74F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659DB783-3997-4795-9D87-9A1DC57F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450E7296-5716-4233-8659-514558E0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22705890-95AE-45D6-8DC2-A1D42C3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CF711968-7930-4477-A67C-7A56723C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2C38CCEB-D461-45D6-AD94-F5A1A0F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the threshold from 25 to a different value, and predict how largeCount will change before running 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57B14C16-B3FA-4451-844B-89765685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E4843758-3F4C-4913-8846-E05B25F6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B0CBDA7D-07ED-427E-B03A-4AE273F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Add a second check to the same loop — for example, count elements in the left half of the canvas by x position. Use the same single-condition if pattern, no compound conditions.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1218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9">
            <a:extLst xmlns:a="http://schemas.openxmlformats.org/drawingml/2006/main">
              <a:ext uri="{FF2B5EF4-FFF2-40B4-BE49-F238E27FC236}">
                <a16:creationId xmlns:a16="http://schemas.microsoft.com/office/drawing/2014/main" id="{28124B35-BAB6-40D7-9862-195369C3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9">
            <a:extLst xmlns:a="http://schemas.openxmlformats.org/drawingml/2006/main">
              <a:ext uri="{FF2B5EF4-FFF2-40B4-BE49-F238E27FC236}">
                <a16:creationId xmlns:a16="http://schemas.microsoft.com/office/drawing/2014/main" id="{4E083C8D-4F55-482D-AC26-0015DA62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idea, and the end of B4.1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9">
            <a:extLst xmlns:a="http://schemas.openxmlformats.org/drawingml/2006/main">
              <a:ext uri="{FF2B5EF4-FFF2-40B4-BE49-F238E27FC236}">
                <a16:creationId xmlns:a16="http://schemas.microsoft.com/office/drawing/2014/main" id="{EDE7A893-4382-427F-842F-7789F42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9">
            <a:extLst xmlns:a="http://schemas.openxmlformats.org/drawingml/2006/main">
              <a:ext uri="{FF2B5EF4-FFF2-40B4-BE49-F238E27FC236}">
                <a16:creationId xmlns:a16="http://schemas.microsoft.com/office/drawing/2014/main" id="{65F88B93-954C-47D8-8A43-A5E2C665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9">
            <a:extLst xmlns:a="http://schemas.openxmlformats.org/drawingml/2006/main">
              <a:ext uri="{FF2B5EF4-FFF2-40B4-BE49-F238E27FC236}">
                <a16:creationId xmlns:a16="http://schemas.microsoft.com/office/drawing/2014/main" id="{8A57FE7A-D91F-4A94-BCF4-3AA0B685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>
            <a:extLst xmlns:a="http://schemas.openxmlformats.org/drawingml/2006/main">
              <a:ext uri="{FF2B5EF4-FFF2-40B4-BE49-F238E27FC236}">
                <a16:creationId xmlns:a16="http://schemas.microsoft.com/office/drawing/2014/main" id="{879AF660-3EDD-446D-8076-B4AC2029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1F06300C-D888-42A6-9F20-C203078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array lets the same loop — and the same custom function — process many elements without repeating code. Parallel arrays extend this to elements with more than one property, and the same loop can check a condition as easily as it can draw.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184BF614-6A11-4161-AC1A-56114CCE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14C97BBD-7EF7-42D4-9116-036A415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B4.2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94C291D6-350D-45D5-A126-624EA139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These collections have been static so far — filled once in setup() and never changed. B4.2 keeps the arrays fixed in size, but introduces an active-count pattern so the program can treat slots as added or removed while it runs.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15930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2026-08-29T13:37:56.2250000Z</dcterms:created>
  <dcterms:modified xsi:type="dcterms:W3CDTF">2026-08-29T13:37:56.2250000Z</dcterms:modified>
</coreProperties>
</file>