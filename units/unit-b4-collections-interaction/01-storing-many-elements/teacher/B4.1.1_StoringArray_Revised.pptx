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63529a702a4f35" /><Relationship Type="http://schemas.openxmlformats.org/officeDocument/2006/relationships/extended-properties" Target="/docProps/app.xml" Id="R6e3c50c8fad1434a" /><Relationship Type="http://schemas.openxmlformats.org/officeDocument/2006/relationships/officeDocument" Target="/ppt/presentation.xml" Id="Ra154adcdda5f44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d58e79897b4e9f"/>
  </p:sldMasterIdLst>
  <p:notesMasterIdLst>
    <p:notesMasterId xmlns:r="http://schemas.openxmlformats.org/officeDocument/2006/relationships" r:id="Ra10c7eb4fd424f7f"/>
  </p:notesMasterIdLst>
  <p:sldIdLst>
    <p:sldId xmlns:r="http://schemas.openxmlformats.org/officeDocument/2006/relationships" id="256" r:id="Rd900176a05834295"/>
    <p:sldId xmlns:r="http://schemas.openxmlformats.org/officeDocument/2006/relationships" id="257" r:id="R0410eca48ba74df0"/>
    <p:sldId xmlns:r="http://schemas.openxmlformats.org/officeDocument/2006/relationships" id="258" r:id="Rc02478a51d394f3e"/>
    <p:sldId xmlns:r="http://schemas.openxmlformats.org/officeDocument/2006/relationships" id="259" r:id="R23ce19d8bbc64332"/>
    <p:sldId xmlns:r="http://schemas.openxmlformats.org/officeDocument/2006/relationships" id="260" r:id="R2314aa47269b4683"/>
    <p:sldId xmlns:r="http://schemas.openxmlformats.org/officeDocument/2006/relationships" id="261" r:id="Re177deebdf4a45c5"/>
    <p:sldId xmlns:r="http://schemas.openxmlformats.org/officeDocument/2006/relationships" id="262" r:id="Rda511cfeb95348e6"/>
  </p:sldIdLst>
  <p:sldSz cx="1219167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19965690-98EC-4308-8DF8-B161336ECA50}">
  <a:tblStyle styleId="{19965690-98EC-4308-8DF8-B161336ECA5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ade216ef624579" /><Relationship Type="http://schemas.openxmlformats.org/officeDocument/2006/relationships/slideMaster" Target="/ppt/slideMasters/slideMaster1.xml" Id="R49d58e79897b4e9f" /><Relationship Type="http://schemas.openxmlformats.org/officeDocument/2006/relationships/notesMaster" Target="/ppt/notesMasters/notesMaster1.xml" Id="Ra10c7eb4fd424f7f" /><Relationship Type="http://schemas.openxmlformats.org/officeDocument/2006/relationships/presProps" Target="/ppt/presProps.xml" Id="R692a199992014060" /><Relationship Type="http://schemas.openxmlformats.org/officeDocument/2006/relationships/tableStyles" Target="/ppt/tableStyles.xml" Id="Rd202d38e6f8b41fc" /><Relationship Type="http://schemas.openxmlformats.org/officeDocument/2006/relationships/slide" Target="/ppt/slides/slide1.xml" Id="Rd900176a05834295" /><Relationship Type="http://schemas.openxmlformats.org/officeDocument/2006/relationships/slide" Target="/ppt/slides/slide2.xml" Id="R0410eca48ba74df0" /><Relationship Type="http://schemas.openxmlformats.org/officeDocument/2006/relationships/slide" Target="/ppt/slides/slide3.xml" Id="Rc02478a51d394f3e" /><Relationship Type="http://schemas.openxmlformats.org/officeDocument/2006/relationships/slide" Target="/ppt/slides/slide4.xml" Id="R23ce19d8bbc64332" /><Relationship Type="http://schemas.openxmlformats.org/officeDocument/2006/relationships/slide" Target="/ppt/slides/slide5.xml" Id="R2314aa47269b4683" /><Relationship Type="http://schemas.openxmlformats.org/officeDocument/2006/relationships/slide" Target="/ppt/slides/slide6.xml" Id="Re177deebdf4a45c5" /><Relationship Type="http://schemas.openxmlformats.org/officeDocument/2006/relationships/slide" Target="/ppt/slides/slide7.xml" Id="Rda511cfeb95348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27c935dbeb4e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e0caa140b6455a" /><Relationship Type="http://schemas.openxmlformats.org/officeDocument/2006/relationships/notesMaster" Target="/ppt/notesMasters/notesMaster1.xml" Id="R8f06570876ad4b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08bd46fbdd436d" /><Relationship Type="http://schemas.openxmlformats.org/officeDocument/2006/relationships/notesMaster" Target="/ppt/notesMasters/notesMaster1.xml" Id="Rf4a865d23edb4c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ad7ea725df4f7c" /><Relationship Type="http://schemas.openxmlformats.org/officeDocument/2006/relationships/notesMaster" Target="/ppt/notesMasters/notesMaster1.xml" Id="Rb4eb2c57870e43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d2d724434043da" /><Relationship Type="http://schemas.openxmlformats.org/officeDocument/2006/relationships/notesMaster" Target="/ppt/notesMasters/notesMaster1.xml" Id="R75b4659ed13f40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b87e0b188a4554" /><Relationship Type="http://schemas.openxmlformats.org/officeDocument/2006/relationships/notesMaster" Target="/ppt/notesMasters/notesMaster1.xml" Id="Rdae1e09b22ef40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665fb13bc34c80" /><Relationship Type="http://schemas.openxmlformats.org/officeDocument/2006/relationships/notesMaster" Target="/ppt/notesMasters/notesMaster1.xml" Id="R6ddd0dc97b8a4e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73a6e8e2b14a66" /><Relationship Type="http://schemas.openxmlformats.org/officeDocument/2006/relationships/notesMaster" Target="/ppt/notesMasters/notesMaster1.xml" Id="R107e9ed46cec4c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 minutes. Frame the need: one variable stores one value; an array stores a fixed number of same-type values under one name.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Retrieve counted loops and controlled randomness. Ask students to predict why twenty separately named variables would be hard to maintain.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https://docs.oracle.com/javase/tutorial/java/nutsandbolts/arrays.html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10 minutes. Model declaration, allocation, filling in setup(), and reading in draw(). Stress valid indices 0 through length - 1 and that random values remain stable because setup() runs once.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https://docs.oracle.com/javase/tutorial/java/nutsandbolts/arrays.html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 minutes. Contrast array.length with String.length(). Trace the last valid loop iteration and the first invalid index.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https://docs.oracle.com/javase/tutorial/java/nutsandbolts/arrays.html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Trace sizes[i] for the first three passes. Tie each index to both the stored value and the x-position formula.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https://docs.oracle.com/javase/tutorial/java/nutsandbolts/arrays.html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14 minutes. Students change count and spacing, then construct a grayscale array. Require a prediction and compile after each structural change.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https://docs.oracle.com/javase/tutorial/java/nutsandbolts/arrays.html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minutes. Exit check: state the array type, length, first index, last index, and loop bound.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5ef0a667d54579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c57c88c2c14ea3" /><Relationship Type="http://schemas.openxmlformats.org/officeDocument/2006/relationships/slideLayout" Target="/ppt/slideLayouts/slideLayout1.xml" Id="Rb08eede22b804aa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8eede22b804aa5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e50d56e914a9b" /><Relationship Type="http://schemas.openxmlformats.org/officeDocument/2006/relationships/notesSlide" Target="/ppt/notesSlides/notesSlide1.xml" Id="Rbdea94cb4f5942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aece94866450c" /><Relationship Type="http://schemas.openxmlformats.org/officeDocument/2006/relationships/notesSlide" Target="/ppt/notesSlides/notesSlide2.xml" Id="R182e41a82a0148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9473c8e084380" /><Relationship Type="http://schemas.openxmlformats.org/officeDocument/2006/relationships/notesSlide" Target="/ppt/notesSlides/notesSlide3.xml" Id="Ra2df682be9354e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5789ab7fb442d" /><Relationship Type="http://schemas.openxmlformats.org/officeDocument/2006/relationships/notesSlide" Target="/ppt/notesSlides/notesSlide4.xml" Id="Rc98822ad52f542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6c77c304f4b6b" /><Relationship Type="http://schemas.openxmlformats.org/officeDocument/2006/relationships/notesSlide" Target="/ppt/notesSlides/notesSlide5.xml" Id="Rd80d94ca6cb145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a05f82e284593" /><Relationship Type="http://schemas.openxmlformats.org/officeDocument/2006/relationships/notesSlide" Target="/ppt/notesSlides/notesSlide6.xml" Id="R28ce50d9700a4b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2df7ad2e349f4" /><Relationship Type="http://schemas.openxmlformats.org/officeDocument/2006/relationships/notesSlide" Target="/ppt/notesSlides/notesSlide7.xml" Id="R25d5d70eabef4b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46982D02-47AF-4F49-BDE9-441737CF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B4 · COLLECTIONS &amp; INTERACTION · B4.1 PART 1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A68E19EB-13BF-4010-8874-FC761999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14600"/>
            <a:ext cx="1033272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sz="4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Storing Many Elements in an Array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28D70C48-BCCC-4713-9D0E-C561ED8E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94760"/>
            <a:ext cx="960120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sz="1800" b="0" i="0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One array, one loop, many shapes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95CAC99D-C183-4424-A806-0D9ECE09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0DA37687-9C09-4432-B3B3-884B3D0E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B4.1 · 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91689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DEB034CE-A456-4657-BF99-A8F5CD84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Quick Recap: Loops and Randomness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AF4173F7-1E52-406E-BAFC-66BC0652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From B2.2 and B2.3 — the tools this lesson builds on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EECFCDB0-023D-423F-B1CB-EC51FA15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2126B1C7-154A-40DB-B327-CB0EBEE3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B4.1 · 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9B896C9A-0FD2-41A6-9CF4-D3917A8E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9CD18205-2935-4F7C-981A-DA9A47F6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WHAT WE ALREADY KNOW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00EF616F-4565-42F8-8E3A-CE33283D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A for loop repeats a block of code a set number of times, using a loop variable that counts up. (int) random(low, high) gives a random whole number, with an exclusive upper bound.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15BB27F6-1AC9-49D2-BE3C-65429EF7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ACFE92D2-F311-4C05-9A22-253C3443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TODAY'S QUESTION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13F6ACEB-4F72-4658-8988-4B98CFE5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if, instead of one shape, we want twenty — each with its own size, all drawn by the same loop? We need somewhere to store twenty separate values at once. A NEW CONCEPT: the array.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99065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2F25567B-7196-44B0-884D-90F02D45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Declaring, Filling, and Drawing an Array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5B124D7C-64A6-47D2-95A9-C8C8A72B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Twenty sizes, stored once and reused every frame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A8C9BDC3-33C6-49A8-AFC7-0095D7B0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2375BBBD-659C-4A28-9777-AD4A09F5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B4.1 · 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5B1439B0-0810-4EE6-9087-71F38D6B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6675120" cy="5074920"/>
          </a:xfrm>
          <a:prstGeom xmlns:a="http://schemas.openxmlformats.org/drawingml/2006/main" prst="roundRect">
            <a:avLst>
              <a:gd name="adj" fmla="val 1081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A3424E97-558F-4B22-AC1C-6224FBC4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18488"/>
            <a:ext cx="6126480" cy="4672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[] sizes = new </a:t>
            </a: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[20];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settings() {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size(400, 400);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setup() {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for</a:t>
            </a: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i = 0; i &lt; sizes.length; i++) {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sizes[i] = (</a:t>
            </a: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) random(10, 40);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draw() {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fill(0);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for</a:t>
            </a: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i = 0; i &lt; sizes.length; i++) {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ellipse(i * 19 + 20, 200, sizes[i], sizes[i]);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DD538506-F5E5-41B8-9A9E-B00335B8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417320"/>
            <a:ext cx="4160520" cy="246888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86B1C300-9A0E-43CA-8A2E-F8C2FC9D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581912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NEW: THE ARRAY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1A12E9E9-1071-4973-8D5D-64AAF327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920240"/>
            <a:ext cx="3703320" cy="178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int[] sizes = new int[20]; creates a box that holds 20 int values at once, named sizes, indexed from 0 to 19.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D968F75D-53D0-4AD8-8B46-39CB8DA2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023360"/>
            <a:ext cx="4160520" cy="246888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1691B1AE-2E1E-4811-A1D1-7FA7CA5F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187952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ONE LOOP, TWO JOBS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" name="Google Shape;52;p5">
            <a:extLst xmlns:a="http://schemas.openxmlformats.org/drawingml/2006/main">
              <a:ext uri="{FF2B5EF4-FFF2-40B4-BE49-F238E27FC236}">
                <a16:creationId xmlns:a16="http://schemas.microsoft.com/office/drawing/2014/main" id="{4EFE5442-9671-47AB-97DF-88875370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526280"/>
            <a:ext cx="3703320" cy="178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same for-loop shape from B2.2 now fills the array in setup(), then reads it back in draw() — the loop variable i does double duty as an array index.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626025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Google Shape;58;p6">
            <a:extLst xmlns:a="http://schemas.openxmlformats.org/drawingml/2006/main">
              <a:ext uri="{FF2B5EF4-FFF2-40B4-BE49-F238E27FC236}">
                <a16:creationId xmlns:a16="http://schemas.microsoft.com/office/drawing/2014/main" id="{AD97B17A-DE5F-4CA1-8D74-D9C1DC53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.length, Not .length()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" name="Google Shape;59;p6">
            <a:extLst xmlns:a="http://schemas.openxmlformats.org/drawingml/2006/main">
              <a:ext uri="{FF2B5EF4-FFF2-40B4-BE49-F238E27FC236}">
                <a16:creationId xmlns:a16="http://schemas.microsoft.com/office/drawing/2014/main" id="{F9112030-EBEB-4E6A-8F0A-4F93C355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A field, not a method — worth getting right from the start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6">
            <a:extLst xmlns:a="http://schemas.openxmlformats.org/drawingml/2006/main">
              <a:ext uri="{FF2B5EF4-FFF2-40B4-BE49-F238E27FC236}">
                <a16:creationId xmlns:a16="http://schemas.microsoft.com/office/drawing/2014/main" id="{1A2F328F-8D87-4634-BA6B-21355004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" name="Google Shape;61;p6">
            <a:extLst xmlns:a="http://schemas.openxmlformats.org/drawingml/2006/main">
              <a:ext uri="{FF2B5EF4-FFF2-40B4-BE49-F238E27FC236}">
                <a16:creationId xmlns:a16="http://schemas.microsoft.com/office/drawing/2014/main" id="{C242B065-20CF-4159-98A2-E328E08A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B4.1 · 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Google Shape;62;p6">
            <a:extLst xmlns:a="http://schemas.openxmlformats.org/drawingml/2006/main">
              <a:ext uri="{FF2B5EF4-FFF2-40B4-BE49-F238E27FC236}">
                <a16:creationId xmlns:a16="http://schemas.microsoft.com/office/drawing/2014/main" id="{AC6F2336-0437-4DB1-9B80-70C820A9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4206240"/>
          </a:xfrm>
          <a:prstGeom xmlns:a="http://schemas.openxmlformats.org/drawingml/2006/main" prst="roundRect">
            <a:avLst>
              <a:gd name="adj" fmla="val 130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28038FED-2102-4DBC-B300-116ACD76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20240"/>
            <a:ext cx="4846320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sizes.length (correct)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No parentheses — .length is a field built into every array, holding its size.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This is what bounds the loop: i &lt; sizes.length stops exactly at the last valid index.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Google Shape;64;p6">
            <a:extLst xmlns:a="http://schemas.openxmlformats.org/drawingml/2006/main">
              <a:ext uri="{FF2B5EF4-FFF2-40B4-BE49-F238E27FC236}">
                <a16:creationId xmlns:a16="http://schemas.microsoft.com/office/drawing/2014/main" id="{0A738D0E-C383-41B8-9C33-17151937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94960" cy="4206240"/>
          </a:xfrm>
          <a:prstGeom xmlns:a="http://schemas.openxmlformats.org/drawingml/2006/main" prst="roundRect">
            <a:avLst>
              <a:gd name="adj" fmla="val 1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>
            <a:extLst xmlns:a="http://schemas.openxmlformats.org/drawingml/2006/main">
              <a:ext uri="{FF2B5EF4-FFF2-40B4-BE49-F238E27FC236}">
                <a16:creationId xmlns:a16="http://schemas.microsoft.com/office/drawing/2014/main" id="{CC94EAE5-A2A0-4FC7-8C6A-B6424245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20240"/>
            <a:ext cx="4846320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sizes.length() (wrong)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This is a natural guess if you've seen String's .length() method before — but arrays don't work that way.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Writing parentheses here won't compile. Arrays use a field; Strings use a method.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42932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Google Shape;71;p7">
            <a:extLst xmlns:a="http://schemas.openxmlformats.org/drawingml/2006/main">
              <a:ext uri="{FF2B5EF4-FFF2-40B4-BE49-F238E27FC236}">
                <a16:creationId xmlns:a16="http://schemas.microsoft.com/office/drawing/2014/main" id="{C919A4A8-1675-4FC1-812A-CB3C243D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sizes[i] Means, Step by Step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Google Shape;72;p7">
            <a:extLst xmlns:a="http://schemas.openxmlformats.org/drawingml/2006/main">
              <a:ext uri="{FF2B5EF4-FFF2-40B4-BE49-F238E27FC236}">
                <a16:creationId xmlns:a16="http://schemas.microsoft.com/office/drawing/2014/main" id="{BCD304E6-1D09-42D4-BA82-85DA8C00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The loop variable is also the index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" name="Google Shape;73;p7">
            <a:extLst xmlns:a="http://schemas.openxmlformats.org/drawingml/2006/main">
              <a:ext uri="{FF2B5EF4-FFF2-40B4-BE49-F238E27FC236}">
                <a16:creationId xmlns:a16="http://schemas.microsoft.com/office/drawing/2014/main" id="{0894753D-B049-4309-9C1C-B661D79F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" name="Google Shape;74;p7">
            <a:extLst xmlns:a="http://schemas.openxmlformats.org/drawingml/2006/main">
              <a:ext uri="{FF2B5EF4-FFF2-40B4-BE49-F238E27FC236}">
                <a16:creationId xmlns:a16="http://schemas.microsoft.com/office/drawing/2014/main" id="{6954791F-4BDD-4638-96CE-76438A70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B4.1 · 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84" name="Google Shape;75;p7"/>
          <p:cNvGraphicFramePr/>
          <p:nvPr/>
        </p:nvGraphicFramePr>
        <p:xfrm>
          <a:off xmlns:a="http://schemas.openxmlformats.org/drawingml/2006/main" x="548640" y="169164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{19965690-98EC-4308-8DF8-B161336ECA50}</a:tableStyleId>
              </a:tblPr>
              <a:tblGrid>
                <a:gridCol w="1645925"/>
                <a:gridCol w="1645925"/>
                <a:gridCol w="3657600"/>
                <a:gridCol w="4114800"/>
              </a:tblGrid>
              <a:tr h="59435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200" b="1" u="none" cap="none">
                          <a:solidFill>
                            <a:srgbClr val="FFFFFF"/>
                          </a:solidFill>
                        </a:rPr>
                        <a:t>Step</a:t>
                      </a:r>
                      <a:endParaRPr sz="1200" u="none" cap="none"/>
                    </a:p>
                  </a:txBody>
                  <a:tcPr marL="91450" marR="91450" marT="45725" marB="45725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200" b="1" u="none" cap="none">
                          <a:solidFill>
                            <a:srgbClr val="FFFFFF"/>
                          </a:solidFill>
                        </a:rPr>
                        <a:t>i</a:t>
                      </a:r>
                      <a:endParaRPr sz="1200" u="none" cap="none"/>
                    </a:p>
                  </a:txBody>
                  <a:tcPr marL="91450" marR="91450" marT="45725" marB="45725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200" b="1" u="none" cap="none">
                          <a:solidFill>
                            <a:srgbClr val="FFFFFF"/>
                          </a:solidFill>
                        </a:rPr>
                        <a:t>sizes[i] reads...</a:t>
                      </a:r>
                      <a:endParaRPr sz="1200" u="none" cap="none"/>
                    </a:p>
                  </a:txBody>
                  <a:tcPr marL="91450" marR="91450" marT="45725" marB="45725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200" b="1" u="none" cap="none">
                          <a:solidFill>
                            <a:srgbClr val="FFFFFF"/>
                          </a:solidFill>
                        </a:rPr>
                        <a:t>ellipse drawn at</a:t>
                      </a:r>
                      <a:endParaRPr sz="1200" u="none" cap="none"/>
                    </a:p>
                  </a:txBody>
                  <a:tcPr marL="91450" marR="91450" marT="45725" marB="45725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300"/>
                        <a:buFont typeface="Calibri"/>
                        <a:buNone/>
                      </a:pPr>
                      <a:r>
                        <a:rPr sz="13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3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300"/>
                        <a:buFont typeface="Calibri"/>
                        <a:buNone/>
                      </a:pPr>
                      <a:r>
                        <a:rPr sz="13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3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300"/>
                        <a:buFont typeface="Calibri"/>
                        <a:buNone/>
                      </a:pPr>
                      <a:r>
                        <a:rPr sz="13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sizes[0]</a:t>
                      </a:r>
                      <a:endParaRPr sz="13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300"/>
                        <a:buFont typeface="Calibri"/>
                        <a:buNone/>
                      </a:pPr>
                      <a:r>
                        <a:rPr sz="13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x = 20</a:t>
                      </a:r>
                      <a:endParaRPr sz="13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300"/>
                        <a:buFont typeface="Calibri"/>
                        <a:buNone/>
                      </a:pPr>
                      <a:r>
                        <a:rPr sz="13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sz="13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300"/>
                        <a:buFont typeface="Calibri"/>
                        <a:buNone/>
                      </a:pPr>
                      <a:r>
                        <a:rPr sz="13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3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300"/>
                        <a:buFont typeface="Calibri"/>
                        <a:buNone/>
                      </a:pPr>
                      <a:r>
                        <a:rPr sz="13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sizes[1]</a:t>
                      </a:r>
                      <a:endParaRPr sz="13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300"/>
                        <a:buFont typeface="Calibri"/>
                        <a:buNone/>
                      </a:pPr>
                      <a:r>
                        <a:rPr sz="13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x = 39</a:t>
                      </a:r>
                      <a:endParaRPr sz="13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300"/>
                        <a:buFont typeface="Calibri"/>
                        <a:buNone/>
                      </a:pPr>
                      <a:r>
                        <a:rPr sz="13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sz="13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300"/>
                        <a:buFont typeface="Calibri"/>
                        <a:buNone/>
                      </a:pPr>
                      <a:r>
                        <a:rPr sz="13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sz="13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300"/>
                        <a:buFont typeface="Calibri"/>
                        <a:buNone/>
                      </a:pPr>
                      <a:r>
                        <a:rPr sz="13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sizes[2]</a:t>
                      </a:r>
                      <a:endParaRPr sz="13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300"/>
                        <a:buFont typeface="Calibri"/>
                        <a:buNone/>
                      </a:pPr>
                      <a:r>
                        <a:rPr sz="13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x = 58</a:t>
                      </a:r>
                      <a:endParaRPr sz="13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76" name="Google Shape;76;p7">
            <a:extLst xmlns:a="http://schemas.openxmlformats.org/drawingml/2006/main">
              <a:ext uri="{FF2B5EF4-FFF2-40B4-BE49-F238E27FC236}">
                <a16:creationId xmlns:a16="http://schemas.microsoft.com/office/drawing/2014/main" id="{99907F01-39CC-4D19-89C3-103876AF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43400"/>
            <a:ext cx="11064240" cy="173736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">
            <a:extLst xmlns:a="http://schemas.openxmlformats.org/drawingml/2006/main">
              <a:ext uri="{FF2B5EF4-FFF2-40B4-BE49-F238E27FC236}">
                <a16:creationId xmlns:a16="http://schemas.microsoft.com/office/drawing/2014/main" id="{B3187005-002E-408D-9B0A-507FA1D9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07992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KEY IDEA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Google Shape;78;p7">
            <a:extLst xmlns:a="http://schemas.openxmlformats.org/drawingml/2006/main">
              <a:ext uri="{FF2B5EF4-FFF2-40B4-BE49-F238E27FC236}">
                <a16:creationId xmlns:a16="http://schemas.microsoft.com/office/drawing/2014/main" id="{AD6BEBE0-F8DF-46D6-8440-A56A7FA2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46320"/>
            <a:ext cx="10607040" cy="1051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Every pass through the loop, i changes, and sizes[i] changes with it — the same expression reads a different value from the array each time. This is exactly how one loop body can draw twenty different circles instead of needing twenty separate lines of code.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6992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8">
            <a:extLst xmlns:a="http://schemas.openxmlformats.org/drawingml/2006/main">
              <a:ext uri="{FF2B5EF4-FFF2-40B4-BE49-F238E27FC236}">
                <a16:creationId xmlns:a16="http://schemas.microsoft.com/office/drawing/2014/main" id="{4DB8DC7C-5C93-48E3-AC76-AD2D36F1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Your Turn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" name="Google Shape;85;p8">
            <a:extLst xmlns:a="http://schemas.openxmlformats.org/drawingml/2006/main">
              <a:ext uri="{FF2B5EF4-FFF2-40B4-BE49-F238E27FC236}">
                <a16:creationId xmlns:a16="http://schemas.microsoft.com/office/drawing/2014/main" id="{F5B1F1B8-BF3F-48BC-ACA2-F8ADEF1C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Step 1: Guided · Step 2: Construct Yourself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" name="Google Shape;86;p8">
            <a:extLst xmlns:a="http://schemas.openxmlformats.org/drawingml/2006/main">
              <a:ext uri="{FF2B5EF4-FFF2-40B4-BE49-F238E27FC236}">
                <a16:creationId xmlns:a16="http://schemas.microsoft.com/office/drawing/2014/main" id="{B3CC910A-A144-44CB-AFF9-0E02D3AF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Google Shape;87;p8">
            <a:extLst xmlns:a="http://schemas.openxmlformats.org/drawingml/2006/main">
              <a:ext uri="{FF2B5EF4-FFF2-40B4-BE49-F238E27FC236}">
                <a16:creationId xmlns:a16="http://schemas.microsoft.com/office/drawing/2014/main" id="{83327712-9975-4F7F-8FD9-6D6B2937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B4.1 · 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" name="Google Shape;88;p8">
            <a:extLst xmlns:a="http://schemas.openxmlformats.org/drawingml/2006/main">
              <a:ext uri="{FF2B5EF4-FFF2-40B4-BE49-F238E27FC236}">
                <a16:creationId xmlns:a16="http://schemas.microsoft.com/office/drawing/2014/main" id="{D4100F4E-5EFF-4D4B-B66C-05AD7216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">
            <a:extLst xmlns:a="http://schemas.openxmlformats.org/drawingml/2006/main">
              <a:ext uri="{FF2B5EF4-FFF2-40B4-BE49-F238E27FC236}">
                <a16:creationId xmlns:a16="http://schemas.microsoft.com/office/drawing/2014/main" id="{10E573D7-FFB5-43F6-A33E-4A36CD27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STEP 1 · GUIDED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90;p8">
            <a:extLst xmlns:a="http://schemas.openxmlformats.org/drawingml/2006/main">
              <a:ext uri="{FF2B5EF4-FFF2-40B4-BE49-F238E27FC236}">
                <a16:creationId xmlns:a16="http://schemas.microsoft.com/office/drawing/2014/main" id="{FF72C8F6-D356-4FB5-9DA1-90659993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Change the array's length from 20 to a smaller number, like 10, and change the fill range from (10, 40) to something else. Predict how the row of circles will change before running it — note that changing the count may mean the spacing needs to change too, or the circles will bunch up or leave empty space.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" name="Google Shape;91;p8">
            <a:extLst xmlns:a="http://schemas.openxmlformats.org/drawingml/2006/main">
              <a:ext uri="{FF2B5EF4-FFF2-40B4-BE49-F238E27FC236}">
                <a16:creationId xmlns:a16="http://schemas.microsoft.com/office/drawing/2014/main" id="{B302300B-674D-4650-9E0A-CC745A1D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">
            <a:extLst xmlns:a="http://schemas.openxmlformats.org/drawingml/2006/main">
              <a:ext uri="{FF2B5EF4-FFF2-40B4-BE49-F238E27FC236}">
                <a16:creationId xmlns:a16="http://schemas.microsoft.com/office/drawing/2014/main" id="{F1A4CE64-82F4-4C52-8E25-92843A14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STEP 2 · CONSTRUCT YOURSELF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" name="Google Shape;93;p8">
            <a:extLst xmlns:a="http://schemas.openxmlformats.org/drawingml/2006/main">
              <a:ext uri="{FF2B5EF4-FFF2-40B4-BE49-F238E27FC236}">
                <a16:creationId xmlns:a16="http://schemas.microsoft.com/office/drawing/2014/main" id="{FD8606BF-8EDC-45D7-AD9B-DADDB04E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Build your own single-property array — try a grayscale fill() value per shape instead of size. Fill it with a loop, then draw it with a loop.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0611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Google Shape;99;p9">
            <a:extLst xmlns:a="http://schemas.openxmlformats.org/drawingml/2006/main">
              <a:ext uri="{FF2B5EF4-FFF2-40B4-BE49-F238E27FC236}">
                <a16:creationId xmlns:a16="http://schemas.microsoft.com/office/drawing/2014/main" id="{B4EB85A0-710D-4CE2-88B6-16A4B4BB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Recap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Google Shape;100;p9">
            <a:extLst xmlns:a="http://schemas.openxmlformats.org/drawingml/2006/main">
              <a:ext uri="{FF2B5EF4-FFF2-40B4-BE49-F238E27FC236}">
                <a16:creationId xmlns:a16="http://schemas.microsoft.com/office/drawing/2014/main" id="{CDEF1159-4DDF-41C7-8639-54D3773D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Key idea and what's next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" name="Google Shape;101;p9">
            <a:extLst xmlns:a="http://schemas.openxmlformats.org/drawingml/2006/main">
              <a:ext uri="{FF2B5EF4-FFF2-40B4-BE49-F238E27FC236}">
                <a16:creationId xmlns:a16="http://schemas.microsoft.com/office/drawing/2014/main" id="{8E4B6CB9-102D-41C2-A8C8-D458A3D2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2" name="Google Shape;102;p9">
            <a:extLst xmlns:a="http://schemas.openxmlformats.org/drawingml/2006/main">
              <a:ext uri="{FF2B5EF4-FFF2-40B4-BE49-F238E27FC236}">
                <a16:creationId xmlns:a16="http://schemas.microsoft.com/office/drawing/2014/main" id="{9B5AF9F6-27B2-4ADA-ADAE-AA73B1EA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B4.1 · 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" name="Google Shape;103;p9">
            <a:extLst xmlns:a="http://schemas.openxmlformats.org/drawingml/2006/main">
              <a:ext uri="{FF2B5EF4-FFF2-40B4-BE49-F238E27FC236}">
                <a16:creationId xmlns:a16="http://schemas.microsoft.com/office/drawing/2014/main" id="{843F818D-48ED-4390-BA16-AD2585A2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1060704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9">
            <a:extLst xmlns:a="http://schemas.openxmlformats.org/drawingml/2006/main">
              <a:ext uri="{FF2B5EF4-FFF2-40B4-BE49-F238E27FC236}">
                <a16:creationId xmlns:a16="http://schemas.microsoft.com/office/drawing/2014/main" id="{470B44A7-0522-46D4-A2E9-611F130D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232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KEY IDEA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" name="Google Shape;105;p9">
            <a:extLst xmlns:a="http://schemas.openxmlformats.org/drawingml/2006/main">
              <a:ext uri="{FF2B5EF4-FFF2-40B4-BE49-F238E27FC236}">
                <a16:creationId xmlns:a16="http://schemas.microsoft.com/office/drawing/2014/main" id="{CBE745FA-62C8-4CD8-B0A8-1465D120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1014984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 array stores many values under one name, indexed from 0. A single loop can fill it, and the same loop shape can read it back — one loop body, many elements.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9">
            <a:extLst xmlns:a="http://schemas.openxmlformats.org/drawingml/2006/main">
              <a:ext uri="{FF2B5EF4-FFF2-40B4-BE49-F238E27FC236}">
                <a16:creationId xmlns:a16="http://schemas.microsoft.com/office/drawing/2014/main" id="{3FB819D8-EA72-453E-A2A5-3D7BDDF1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86200"/>
            <a:ext cx="1060704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9">
            <a:extLst xmlns:a="http://schemas.openxmlformats.org/drawingml/2006/main">
              <a:ext uri="{FF2B5EF4-FFF2-40B4-BE49-F238E27FC236}">
                <a16:creationId xmlns:a16="http://schemas.microsoft.com/office/drawing/2014/main" id="{2379BFBB-7A40-463C-B55B-72917FA5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50792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NEXT: B4.1 PART 2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Google Shape;108;p9">
            <a:extLst xmlns:a="http://schemas.openxmlformats.org/drawingml/2006/main">
              <a:ext uri="{FF2B5EF4-FFF2-40B4-BE49-F238E27FC236}">
                <a16:creationId xmlns:a16="http://schemas.microsoft.com/office/drawing/2014/main" id="{8DCD6212-7066-4D47-BB23-BDF4FE76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89120"/>
            <a:ext cx="1014984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So far each shape has only one property. Next, we'll give shapes position and size together, using several arrays that share the same index.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143945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2026-08-29T13:37:52.4550000Z</dcterms:created>
  <dcterms:modified xsi:type="dcterms:W3CDTF">2026-08-29T13:37:52.4550000Z</dcterms:modified>
</coreProperties>
</file>