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4854893b448d3" /><Relationship Type="http://schemas.openxmlformats.org/officeDocument/2006/relationships/extended-properties" Target="/docProps/app.xml" Id="R9914c37c2f464e4d" /><Relationship Type="http://schemas.openxmlformats.org/officeDocument/2006/relationships/officeDocument" Target="/ppt/presentation.xml" Id="Red3a50dfecaf4a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b2c8e1432454d"/>
  </p:sldMasterIdLst>
  <p:notesMasterIdLst>
    <p:notesMasterId xmlns:r="http://schemas.openxmlformats.org/officeDocument/2006/relationships" r:id="R78963137b3154ca5"/>
  </p:notesMasterIdLst>
  <p:sldIdLst>
    <p:sldId xmlns:r="http://schemas.openxmlformats.org/officeDocument/2006/relationships" id="256" r:id="R4e1bbc6f63f84c5a"/>
    <p:sldId xmlns:r="http://schemas.openxmlformats.org/officeDocument/2006/relationships" id="257" r:id="R4a9fd9b86d0c4449"/>
    <p:sldId xmlns:r="http://schemas.openxmlformats.org/officeDocument/2006/relationships" id="258" r:id="R42d6c101520f4da7"/>
    <p:sldId xmlns:r="http://schemas.openxmlformats.org/officeDocument/2006/relationships" id="259" r:id="R36a8e6bd532b4e60"/>
    <p:sldId xmlns:r="http://schemas.openxmlformats.org/officeDocument/2006/relationships" id="260" r:id="R97262c2867254866"/>
    <p:sldId xmlns:r="http://schemas.openxmlformats.org/officeDocument/2006/relationships" id="261" r:id="R913bd1cdd10b4c89"/>
    <p:sldId xmlns:r="http://schemas.openxmlformats.org/officeDocument/2006/relationships" id="262" r:id="R22a40aa28f4540ae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B5C9E102-652D-4471-B7B0-136020F2DA34}">
  <a:tblStyle styleId="{B5C9E102-652D-4471-B7B0-136020F2DA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35f1857604603" /><Relationship Type="http://schemas.openxmlformats.org/officeDocument/2006/relationships/slideMaster" Target="/ppt/slideMasters/slideMaster1.xml" Id="Rd84b2c8e1432454d" /><Relationship Type="http://schemas.openxmlformats.org/officeDocument/2006/relationships/notesMaster" Target="/ppt/notesMasters/notesMaster1.xml" Id="R78963137b3154ca5" /><Relationship Type="http://schemas.openxmlformats.org/officeDocument/2006/relationships/presProps" Target="/ppt/presProps.xml" Id="R50043b9e982f4ed7" /><Relationship Type="http://schemas.openxmlformats.org/officeDocument/2006/relationships/tableStyles" Target="/ppt/tableStyles.xml" Id="R3e56f5a6b0ef4fdc" /><Relationship Type="http://schemas.openxmlformats.org/officeDocument/2006/relationships/slide" Target="/ppt/slides/slide1.xml" Id="R4e1bbc6f63f84c5a" /><Relationship Type="http://schemas.openxmlformats.org/officeDocument/2006/relationships/slide" Target="/ppt/slides/slide2.xml" Id="R4a9fd9b86d0c4449" /><Relationship Type="http://schemas.openxmlformats.org/officeDocument/2006/relationships/slide" Target="/ppt/slides/slide3.xml" Id="R42d6c101520f4da7" /><Relationship Type="http://schemas.openxmlformats.org/officeDocument/2006/relationships/slide" Target="/ppt/slides/slide4.xml" Id="R36a8e6bd532b4e60" /><Relationship Type="http://schemas.openxmlformats.org/officeDocument/2006/relationships/slide" Target="/ppt/slides/slide5.xml" Id="R97262c2867254866" /><Relationship Type="http://schemas.openxmlformats.org/officeDocument/2006/relationships/slide" Target="/ppt/slides/slide6.xml" Id="R913bd1cdd10b4c89" /><Relationship Type="http://schemas.openxmlformats.org/officeDocument/2006/relationships/slide" Target="/ppt/slides/slide7.xml" Id="R22a40aa28f45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0b830dd6a646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ad95e7a25c444e" /><Relationship Type="http://schemas.openxmlformats.org/officeDocument/2006/relationships/notesMaster" Target="/ppt/notesMasters/notesMaster1.xml" Id="R8188b9fe888a4e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4c6c109d764fa7" /><Relationship Type="http://schemas.openxmlformats.org/officeDocument/2006/relationships/notesMaster" Target="/ppt/notesMasters/notesMaster1.xml" Id="Rf3f6d6bba4124c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b6df9c98af44c8" /><Relationship Type="http://schemas.openxmlformats.org/officeDocument/2006/relationships/notesMaster" Target="/ppt/notesMasters/notesMaster1.xml" Id="Rfb9dedcda98343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4eb3ab1eb14e78" /><Relationship Type="http://schemas.openxmlformats.org/officeDocument/2006/relationships/notesMaster" Target="/ppt/notesMasters/notesMaster1.xml" Id="R09881aafaaff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36cbdb77b94844" /><Relationship Type="http://schemas.openxmlformats.org/officeDocument/2006/relationships/notesMaster" Target="/ppt/notesMasters/notesMaster1.xml" Id="R88d58c152ad544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cc56c02222476e" /><Relationship Type="http://schemas.openxmlformats.org/officeDocument/2006/relationships/notesMaster" Target="/ppt/notesMasters/notesMaster1.xml" Id="R63eeb29f349043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c20bdb9b6b4602" /><Relationship Type="http://schemas.openxmlformats.org/officeDocument/2006/relationships/notesMaster" Target="/ppt/notesMasters/notesMaster1.xml" Id="R8c8bed15e0f1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Clarify the model: the arrays do not shrink; activeCount defines the active prefix of each fixed-size array.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movement and identify two reasons an element might become inactive: lifespan expired or position left the canvas.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 minutes. Model backward iteration and swap-and-pop. Copy every property from the last active slot into i, then decrement activeCount exactly once.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Trace forward and backward cases. In backward order, the swapped-in last element was already processed earlier in the same frame, so it need not be revisited.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Combine removal triggers with a boolean flag. Evaluate all triggers first and perform one removal block afterward.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12 minutes. Students shorten lifespan, add the off-canvas trigger, and verify activeCount never becomes negative and no active index reaches activeCount.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the active-prefix invariant and why every parallel property must be copied during removal.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a4700319a4646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0e5df7aa0a4cb4" /><Relationship Type="http://schemas.openxmlformats.org/officeDocument/2006/relationships/slideLayout" Target="/ppt/slideLayouts/slideLayout1.xml" Id="Rf2bdbff4656f477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dbff4656f477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1d7dc6a2b45fa" /><Relationship Type="http://schemas.openxmlformats.org/officeDocument/2006/relationships/notesSlide" Target="/ppt/notesSlides/notesSlide1.xml" Id="R45d16b9b8e86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2a999e1904746" /><Relationship Type="http://schemas.openxmlformats.org/officeDocument/2006/relationships/notesSlide" Target="/ppt/notesSlides/notesSlide2.xml" Id="R2d13e828954346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e69aea01143be" /><Relationship Type="http://schemas.openxmlformats.org/officeDocument/2006/relationships/notesSlide" Target="/ppt/notesSlides/notesSlide3.xml" Id="Rdbfd2aa6ee60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a8e393a9e4731" /><Relationship Type="http://schemas.openxmlformats.org/officeDocument/2006/relationships/notesSlide" Target="/ppt/notesSlides/notesSlide4.xml" Id="Rf1f097da36b345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435d0e4984445" /><Relationship Type="http://schemas.openxmlformats.org/officeDocument/2006/relationships/notesSlide" Target="/ppt/notesSlides/notesSlide5.xml" Id="Rdabc62e5560e44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f83c6c40d4d28" /><Relationship Type="http://schemas.openxmlformats.org/officeDocument/2006/relationships/notesSlide" Target="/ppt/notesSlides/notesSlide6.xml" Id="R78f541e53c79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a42d514847c1" /><Relationship Type="http://schemas.openxmlformats.org/officeDocument/2006/relationships/notesSlide" Target="/ppt/notesSlides/notesSlide7.xml" Id="Rcd12c1d93ebb4a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337C94EB-A27F-4713-89B5-AC1B082C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B4 · COLLECTIONS &amp; INTERACTION · B4.2 PART 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5D5792F8-E6E1-43D1-B724-4C04F5B1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Lifespan and Removal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F67B81BD-68B0-4213-B1ED-1B61D882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Making elements actually disappear from a fixed-size array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3EF2628-8303-48EC-913D-49B6936A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5D4D18D-7797-431A-A429-2814A01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085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DA8273CF-11A6-455F-ACC5-79373363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Movement, No Removal Yet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485D9D7-3169-4002-9435-B245C14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 — a visible gap, left open on purpose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B4FC90F-BCF7-4903-8977-08DDDE5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3D1E4C38-516F-42FD-8E1E-418854F2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F3F24659-07D8-48C0-B91E-1D98386A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FA422E3-91F4-442B-91E6-EB87405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745BC9AD-83B9-4B9F-B6A7-5F7A4E20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Every element's position updates every frame using a velocity parallel array. Particles that fall past the bottom edge just keep going, off-canvas, forever — still using up a slot in the array.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FA2467F6-CCEA-4ADD-AF62-4AF5A54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41F6707D-E62B-42AC-A48B-B96E3869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BF2E8CDC-8F71-43D0-9671-F83DEF1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array itself can never shrink — it's a fixed size. So what does “removing” an element from a fixed-size array actually mean, and how do we do it safely?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404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02999A9B-E248-4D8F-81D6-79F2B6D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Lifespan That Triggers Removal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519F3E5B-6964-4F3D-BD8D-CFF1187C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setup as before, plus a countdown — and a very different draw()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84D464ED-5A18-444B-9774-161A6C1A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92538660-20E1-4078-B431-AB68129A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C9D25677-6399-4878-9BBF-02C58637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SETUP — SAME PATTERN, PLUS LIFESPAN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51047CB3-BBBF-4DBE-91DB-F0DC87E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19072"/>
            <a:ext cx="5394960" cy="475488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DD57F8C4-B220-43D1-A90A-6B3217B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435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final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MAX_COUNT = 20;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xPositions = new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yPositions = new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yVelocities = new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lifespans = new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activeCount = MAX_COUNT;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settings()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size(400, 400);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setup()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MAX_COUNT; i++)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xPositions[i] = (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random(20, 380);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yPositions[i] = (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random(0, 400);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yVelocities[i] = (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random(1, 4);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lifespans[i] = (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random(60, 150);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D032FEF5-137B-4C81-95E3-80C3FAF9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DRAW() — UPDATE, CHECK, REMOVE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4182DD37-1EF5-4E55-A334-2CA19A88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19072"/>
            <a:ext cx="5394960" cy="475488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A6D7DC35-8C41-4D26-A0F7-2D61961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435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000"/>
              <a:buFont typeface="Courier New"/>
              <a:buNone/>
            </a:pP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activeCount - 1; i &gt;= 0; i--)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yPositions[i] = yPositions[i] + yVelocities[i];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lifespans[i] = lifespans[i] - 1;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(lifespans[i] &lt;= 0)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xPositions[i] = xPositions[activeCount - 1];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yPositions[i] = yPositions[activeCount - 1];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yVelocities[i] = yVelocities[activeCount - 1];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lifespans[i] = lifespans[activeCount - 1];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activeCount = activeCount - 1;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 </a:t>
            </a:r>
            <a:r>
              <a:rPr sz="10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fill(0);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ellipse(xPositions[i], yPositions[i], 12, 12);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urier New"/>
              <a:buNone/>
            </a:pPr>
            <a:r>
              <a:rPr sz="10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074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5385BD54-3DBE-4053-A7D7-F4A74BAE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Count Backward?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6E65DE68-9A8C-4D9C-B54B-53517240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Forward iteration silently skips a swapped-in element — traced below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02617F2A-10D4-4E52-816E-1D8CD55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EF882769-12F4-4BBD-BC1B-6E62C4AC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9EBD43D-67AD-4835-A777-3115C30F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FORWARD (BUGGY) — i = 0, 1, 2, 3, ...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5" name="Google Shape;61;p6"/>
          <p:cNvGraphicFramePr/>
          <p:nvPr/>
        </p:nvGraphicFramePr>
        <p:xfrm>
          <a:off xmlns:a="http://schemas.openxmlformats.org/drawingml/2006/main" x="548640" y="171907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{B5C9E102-652D-4471-B7B0-136020F2DA34}</a:tableStyleId>
              </a:tblPr>
              <a:tblGrid>
                <a:gridCol w="914400"/>
                <a:gridCol w="822950"/>
                <a:gridCol w="3657600"/>
              </a:tblGrid>
              <a:tr h="4389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i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A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B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C expires — E copied in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D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A3B15BDA-5C99-4FA7-8D0E-B16BF399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50208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Loop stops here — 4 &lt; activeCount (now 4) is false. E is never updated or checked.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5B6ACEF1-8AFC-4E34-A27E-1EC1F91A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BACKWARD (CORRECT) — i = 4, 3, 2, 1, 0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8" name="Google Shape;64;p6"/>
          <p:cNvGraphicFramePr/>
          <p:nvPr/>
        </p:nvGraphicFramePr>
        <p:xfrm>
          <a:off xmlns:a="http://schemas.openxmlformats.org/drawingml/2006/main" x="6217920" y="171907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{B5C9E102-652D-4471-B7B0-136020F2DA34}</a:tableStyleId>
              </a:tblPr>
              <a:tblGrid>
                <a:gridCol w="914400"/>
                <a:gridCol w="822950"/>
                <a:gridCol w="36576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i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sz="1200" b="1" u="none" cap="none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sz="1200" u="none" cap="none"/>
                    </a:p>
                  </a:txBody>
                  <a:tcPr marL="91450" marR="91450" marT="45725" marB="45725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E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D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C expires — E copied in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B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E"/>
                        </a:buClr>
                        <a:buSzPts val="1200"/>
                        <a:buFont typeface="Calibri"/>
                        <a:buNone/>
                      </a:pPr>
                      <a:r>
                        <a:rPr sz="1200" u="none" cap="none">
                          <a:solidFill>
                            <a:srgbClr val="1B1F2E"/>
                          </a:solidFill>
                          <a:latin typeface="Calibri"/>
                          <a:ea typeface="Calibri"/>
                          <a:cs typeface="Calibri"/>
                        </a:rPr>
                        <a:t>A updated</a:t>
                      </a:r>
                      <a:endParaRPr sz="12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E8ECFB"/>
                      </a:solidFill>
                      <a:prstDash val="solid"/>
                    </a:lnL>
                    <a:lnR w="12700" cmpd="sng">
                      <a:solidFill>
                        <a:srgbClr val="E8ECFB"/>
                      </a:solidFill>
                      <a:prstDash val="solid"/>
                    </a:lnR>
                    <a:lnT w="12700" cmpd="sng">
                      <a:solidFill>
                        <a:srgbClr val="E8ECFB"/>
                      </a:solidFill>
                      <a:prstDash val="solid"/>
                    </a:lnT>
                    <a:lnB w="12700" cmpd="sng">
                      <a:solidFill>
                        <a:srgbClr val="E8ECF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FEC328BF-32B5-47AA-8884-AFAB6A37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110642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FAC0734B-7516-48EC-915B-8EFD9B5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365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BUG, TRACED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A0383898-9861-4F1E-B4C3-71F6ABF4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07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Forward iteration visits i=0,1,2,3 in that order — E (originally at index 4) gets copied into index 2 at step 3, but the loop bound has already shrunk to 4, so it stops right after step 4 and never updates or checks E. Backward iteration visits i=4 first — so whatever later gets copied into a lower index always came from a higher index already checked earlier in the same pass. Skipping it isn't a bug there.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92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0353DE6D-CC21-44DB-87CD-3F4F6F51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Combining Two Removal Triggers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02C5307D-87F4-47A1-AD52-AE6E0FE0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Expired OR left the canvas — without &amp;&amp; or ||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BAEDF4CE-4921-4B34-987C-912BE0E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D29B6D42-F05F-45FD-B1BC-748345BE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901C4E4A-4A2C-4FC4-914D-50276382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675120" cy="36576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2F1DBE33-20B9-4D9C-AAB7-2F9B24E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6126480" cy="325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boolean shouldRemove =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false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(lifespans[i] &lt;= 0)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shouldRemove =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(yPositions[i] &gt; 400)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shouldRemove =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(shouldRemove)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same swap-and-pop as before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167AF5E1-57E8-4789-A9D9-9B461D8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54480"/>
            <a:ext cx="4160520" cy="36576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E730E1EA-A7DA-4C6E-845E-06FE364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71907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NEW: boolean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B95CF52B-484E-4ABE-850D-AB391E13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57400"/>
            <a:ext cx="370332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boolean is a new type — a variable that holds only true or false. Setting shouldRemove twice (if an element satisfies both conditions) is harmless: it's still just true, and the removal block below still runs exactly once.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339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EDFA0160-55A9-43B3-89A5-08B1EED6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8263EF8A-67D5-4733-9C4A-77EDEB9D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F000B060-AE97-4B8A-8089-4D12C7E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1966E741-A890-4F62-B4AC-7FF5F0A8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99F4D6DF-53C6-4A44-9892-CECCF480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08DC0EA4-DD83-4AC8-A334-2C966D3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79414D6A-1B5D-4797-8711-6FD6B270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the lifespan range from (60, 150) to something smaller, and observe how quickly particles start disappearing.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0589E8C0-AEEE-44D4-8D01-AEB6256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E72DE8FA-A86D-4409-85A1-83464AD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D2A3206D-1076-4E17-BE42-3C5DA0D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Add the leaves-canvas check into the main removal loop alongside the lifespan check, using the boolean-flag pattern from this lesson.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9397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9">
            <a:extLst xmlns:a="http://schemas.openxmlformats.org/drawingml/2006/main">
              <a:ext uri="{FF2B5EF4-FFF2-40B4-BE49-F238E27FC236}">
                <a16:creationId xmlns:a16="http://schemas.microsoft.com/office/drawing/2014/main" id="{601E8CEE-8F51-4751-957C-D3CD89F3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9">
            <a:extLst xmlns:a="http://schemas.openxmlformats.org/drawingml/2006/main">
              <a:ext uri="{FF2B5EF4-FFF2-40B4-BE49-F238E27FC236}">
                <a16:creationId xmlns:a16="http://schemas.microsoft.com/office/drawing/2014/main" id="{A3417183-A625-4995-9981-55A5B79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>
            <a:extLst xmlns:a="http://schemas.openxmlformats.org/drawingml/2006/main">
              <a:ext uri="{FF2B5EF4-FFF2-40B4-BE49-F238E27FC236}">
                <a16:creationId xmlns:a16="http://schemas.microsoft.com/office/drawing/2014/main" id="{98F9E7E5-AF9B-4996-A599-18B03D46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72B0323B-7096-40ED-AAF4-71FD433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EBB97E62-D12E-49B6-9F21-8581155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AF27D758-6C01-4707-AB45-20AD49A1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128F6F5F-84CA-4C08-BA69-6EE7C373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fixed-size array can still behave like a changing collection — activeCount tracks what's really “there,” and swap-and-pop keeps every active element packed at the front, as long as removal always iterates backward.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0DFD6775-35CE-4424-85D5-F9D7A3F5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EEFD2079-3141-450A-B913-531A0159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B4.2 PART 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4DF40491-79C5-49BB-8A63-3AAE53F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So far elements can only disappear. Next, we'll add new elements while the program runs — and bring movement, lifespan, and removal together in one program.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8150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2026-08-29T13:37:59.8930000Z</dcterms:created>
  <dcterms:modified xsi:type="dcterms:W3CDTF">2026-08-29T13:37:59.8930000Z</dcterms:modified>
</coreProperties>
</file>