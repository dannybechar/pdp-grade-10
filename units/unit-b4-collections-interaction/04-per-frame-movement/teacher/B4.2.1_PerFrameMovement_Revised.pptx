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10181bee3b4168" /><Relationship Type="http://schemas.openxmlformats.org/officeDocument/2006/relationships/extended-properties" Target="/docProps/app.xml" Id="R7d2f7ee05f4749ed" /><Relationship Type="http://schemas.openxmlformats.org/officeDocument/2006/relationships/officeDocument" Target="/ppt/presentation.xml" Id="R1a5f64af91e9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ee3be9ea84671"/>
  </p:sldMasterIdLst>
  <p:notesMasterIdLst>
    <p:notesMasterId xmlns:r="http://schemas.openxmlformats.org/officeDocument/2006/relationships" r:id="R35d757cfbbde4316"/>
  </p:notesMasterIdLst>
  <p:sldIdLst>
    <p:sldId xmlns:r="http://schemas.openxmlformats.org/officeDocument/2006/relationships" id="256" r:id="R0174949372aa454d"/>
    <p:sldId xmlns:r="http://schemas.openxmlformats.org/officeDocument/2006/relationships" id="257" r:id="Rb26864dd1afd44f9"/>
    <p:sldId xmlns:r="http://schemas.openxmlformats.org/officeDocument/2006/relationships" id="258" r:id="R2ec37231c26849b9"/>
    <p:sldId xmlns:r="http://schemas.openxmlformats.org/officeDocument/2006/relationships" id="259" r:id="R0208ed7dda304cf3"/>
    <p:sldId xmlns:r="http://schemas.openxmlformats.org/officeDocument/2006/relationships" id="260" r:id="R3c3047cdddee4c17"/>
    <p:sldId xmlns:r="http://schemas.openxmlformats.org/officeDocument/2006/relationships" id="261" r:id="R623f67ecc35f4e9e"/>
    <p:sldId xmlns:r="http://schemas.openxmlformats.org/officeDocument/2006/relationships" id="262" r:id="R7061b50b0f8e425e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26580eff2f4bdc" /><Relationship Type="http://schemas.openxmlformats.org/officeDocument/2006/relationships/slideMaster" Target="/ppt/slideMasters/slideMaster1.xml" Id="Rd21ee3be9ea84671" /><Relationship Type="http://schemas.openxmlformats.org/officeDocument/2006/relationships/notesMaster" Target="/ppt/notesMasters/notesMaster1.xml" Id="R35d757cfbbde4316" /><Relationship Type="http://schemas.openxmlformats.org/officeDocument/2006/relationships/presProps" Target="/ppt/presProps.xml" Id="Rde0254899597406a" /><Relationship Type="http://schemas.openxmlformats.org/officeDocument/2006/relationships/tableStyles" Target="/ppt/tableStyles.xml" Id="Rfca92b45390549bc" /><Relationship Type="http://schemas.openxmlformats.org/officeDocument/2006/relationships/slide" Target="/ppt/slides/slide1.xml" Id="R0174949372aa454d" /><Relationship Type="http://schemas.openxmlformats.org/officeDocument/2006/relationships/slide" Target="/ppt/slides/slide2.xml" Id="Rb26864dd1afd44f9" /><Relationship Type="http://schemas.openxmlformats.org/officeDocument/2006/relationships/slide" Target="/ppt/slides/slide3.xml" Id="R2ec37231c26849b9" /><Relationship Type="http://schemas.openxmlformats.org/officeDocument/2006/relationships/slide" Target="/ppt/slides/slide4.xml" Id="R0208ed7dda304cf3" /><Relationship Type="http://schemas.openxmlformats.org/officeDocument/2006/relationships/slide" Target="/ppt/slides/slide5.xml" Id="R3c3047cdddee4c17" /><Relationship Type="http://schemas.openxmlformats.org/officeDocument/2006/relationships/slide" Target="/ppt/slides/slide6.xml" Id="R623f67ecc35f4e9e" /><Relationship Type="http://schemas.openxmlformats.org/officeDocument/2006/relationships/slide" Target="/ppt/slides/slide7.xml" Id="R7061b50b0f8e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918431903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1d58ddb704f38" /><Relationship Type="http://schemas.openxmlformats.org/officeDocument/2006/relationships/notesMaster" Target="/ppt/notesMasters/notesMaster1.xml" Id="Re3f22a0e642846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bdddfe2f094dba" /><Relationship Type="http://schemas.openxmlformats.org/officeDocument/2006/relationships/notesMaster" Target="/ppt/notesMasters/notesMaster1.xml" Id="Rea49171de8394c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83995cfff4de4" /><Relationship Type="http://schemas.openxmlformats.org/officeDocument/2006/relationships/notesMaster" Target="/ppt/notesMasters/notesMaster1.xml" Id="R736c305fec3648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ee32b12944298" /><Relationship Type="http://schemas.openxmlformats.org/officeDocument/2006/relationships/notesMaster" Target="/ppt/notesMasters/notesMaster1.xml" Id="R7189d46c3c7a4b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aef9a6607442bf" /><Relationship Type="http://schemas.openxmlformats.org/officeDocument/2006/relationships/notesMaster" Target="/ppt/notesMasters/notesMaster1.xml" Id="Rf7a1690ef03f4f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873f5ae71c4e2e" /><Relationship Type="http://schemas.openxmlformats.org/officeDocument/2006/relationships/notesMaster" Target="/ppt/notesMasters/notesMaster1.xml" Id="Re65f0083d384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dcab5a38694914" /><Relationship Type="http://schemas.openxmlformats.org/officeDocument/2006/relationships/notesMaster" Target="/ppt/notesMasters/notesMaster1.xml" Id="R472c00490daf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Connect single-object velocity from B1 to a collection: every element now needs its own persistent position and velocity.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parallel arrays and identify the property that must be written again during draw().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the update-render loop. For each i, update yPositions[i] from yVelocities[i], then draw that same element.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Compare B4.1’s write-once arrays with B4.2’s per-frame mutation. The array object remains fixed-size while its stored values change.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Trace what happens beyond the bottom edge. The element remains active and continues consuming update work even when invisible.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add positive horizontal velocity as another aligned array and predict one element’s position over three frames.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https://docs.oracle.com/javase/tutorial/java/nutsandbolts/arrays.html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distinguish collection capacity, stored state, and per-frame update.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2ecc7283a4fe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2649bb0a4464b" /><Relationship Type="http://schemas.openxmlformats.org/officeDocument/2006/relationships/slideLayout" Target="/ppt/slideLayouts/slideLayout1.xml" Id="Ra0917180510d428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917180510d428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9a9765e10494b" /><Relationship Type="http://schemas.openxmlformats.org/officeDocument/2006/relationships/notesSlide" Target="/ppt/notesSlides/notesSlide1.xml" Id="Rfd243bcce4a7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c84706aa44742" /><Relationship Type="http://schemas.openxmlformats.org/officeDocument/2006/relationships/notesSlide" Target="/ppt/notesSlides/notesSlide2.xml" Id="R4c4c0cea95e4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734d3730f4d8b" /><Relationship Type="http://schemas.openxmlformats.org/officeDocument/2006/relationships/notesSlide" Target="/ppt/notesSlides/notesSlide3.xml" Id="R90d88024d2e1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c2260c1db4ff5" /><Relationship Type="http://schemas.openxmlformats.org/officeDocument/2006/relationships/notesSlide" Target="/ppt/notesSlides/notesSlide4.xml" Id="Rc987a471c8aa42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015b7fd3c43d8" /><Relationship Type="http://schemas.openxmlformats.org/officeDocument/2006/relationships/notesSlide" Target="/ppt/notesSlides/notesSlide5.xml" Id="Rf327781af976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afb857b494c00" /><Relationship Type="http://schemas.openxmlformats.org/officeDocument/2006/relationships/notesSlide" Target="/ppt/notesSlides/notesSlide6.xml" Id="R20e547c327fb4c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4ec5fbff4741" /><Relationship Type="http://schemas.openxmlformats.org/officeDocument/2006/relationships/notesSlide" Target="/ppt/notesSlides/notesSlide7.xml" Id="R4932837ec3b4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FD97069D-CA0D-4330-888F-1285B78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B4 · COLLECTIONS &amp; INTERACTION · B4.2 PART 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42EACBF-5338-41AB-9D48-7188C596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Per-Frame Movement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4010D96D-CFED-4251-B971-A0A23869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Making a whole collection move, one frame at a time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11089B1-F2B9-4618-AA2F-C491F3A8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BD74895-20A8-45A8-BE02-C49E507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43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07C5F7F2-5B1B-4A64-8A25-DBE4227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Static Collections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30050EEA-7EC0-409B-8F14-13BD26E2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B4.1 — arrays filled once, never changed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C95F57F7-9B0C-4467-A3F4-DECB155B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4A0B372-9A05-41B8-B0E2-5F6113C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C55AEAE7-C8CB-493D-9E90-E3840DED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1F2F0089-04CC-46DF-9FB4-1BE0E5C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WE ALREADY KNOW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2F45ABD-C4A9-4233-8FC5-1146587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Parallel arrays store many elements' properties, sharing one index. So far, every array was filled once in setup() and never touched again — completely static.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75206EA0-CEFA-4E88-875D-E8E5519E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4E760C41-E559-40BE-A8E3-1FB5F6C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F2C3F20B-84EA-49F4-A1A2-81FF50C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 a collection's values change over time — the same way a single shape's position could change frame by frame? Can the same array-plus-loop pattern update every element, every frame?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926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D1898C99-3DD4-46F9-A2C8-1B30211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Collection That Moves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9E1204D8-7AE1-410B-8206-2909CC67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Velocity, stored as parallel arrays, applied every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FB242ADA-313A-44DA-A10C-659F7C37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114F125C-500C-4195-827C-1E07CF8D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0D24DCD1-22FF-4377-A35D-BC88CA0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A1B17F51-53C2-4B23-87D5-F8FEC160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final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MAX_COUNT = 20;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xPositions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yPositions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[] yVelocities = new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[MAX_COUNT];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setup()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MAX_COUNT; i++)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xPositions[i]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random(20, 380);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yPositions[i]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random(0, 400);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yVelocities[i] =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) random(1, 4);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950"/>
              <a:buFont typeface="Courier New"/>
              <a:buNone/>
            </a:pP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9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MAX_COUNT; i++) {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yPositions[i] = yPositions[i] + yVelocities[i];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fill(0);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ellipse(xPositions[i], yPositions[i], 12, 12);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ourier New"/>
              <a:buNone/>
            </a:pPr>
            <a:r>
              <a:rPr sz="9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E7661272-EB62-4FF4-B514-93D53E3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053BC744-3429-4938-8E80-B3C19EE1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LOOP, NEW JOB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687DC10-5A97-48D1-881B-E946B220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loop that draws every element now also updates yPositions[i] first — same shape as B4.1's iteration, one more line per element.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BCEDC8B3-8294-4F51-9051-998A8F5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77640"/>
            <a:ext cx="4160520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57BE3DFF-37A8-4047-B135-B5BAD950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14223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yVelocities[i]?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EA41A6B3-5869-444B-810D-7254602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480560"/>
            <a:ext cx="370332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particle needs its own fall speed, not one shared value — so velocity is a parallel array too, following the same one-shared-index rule from B4.1.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4311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A9D1E57A-0207-4161-817D-D03D08F6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Values That Change Over Time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088995E6-1D7E-4150-B0BF-47739425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key difference from every B4.1 example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D4EE2A33-E1E1-4AC8-86FE-1F01C670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E62A9C60-FF6E-480D-AB5B-D0CF65A2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C5C655FB-1062-4055-8091-AF502165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C4B16C80-702A-4963-9CB2-79DE2FC7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B4.1: filled once, read many times.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Every array was written in setup() and only ever read afterward — draw() never changed what was stored.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collection was a fixed snapshot.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EF739114-0AC9-4DB2-9F84-B055B7B7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32120BE6-938B-4623-9C18-50BC50A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B4.2: written again, every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yPositions[i] = yPositions[i] + yVelocities[i] reassigns the array inside draw() itself — every element's position genuinely changes over time.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Same array, same indexing — just no longer static.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584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876AADDE-AB95-4DB3-879D-58DCD23F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Happens at the Bottom Edge?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67DC89B4-CF68-4C6A-A667-52E7DEE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deliberate gap — there's no removal yet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177B24A7-6E14-465E-8A73-D39DB9C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83951EE5-3331-4FC5-8C89-6136AF5D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A281DA50-1EF1-4518-A515-7E0B9E0D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320040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D5E0F9FB-BD2C-4DEC-9534-F6FDDA4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29968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centre y &lt; 400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003D768D-36CE-4D89-A5AB-505A5A76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95728"/>
            <a:ext cx="30175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particle centre inside canvas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DDEE682-1A5B-4E4B-B76D-55BE70F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4688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000"/>
              <a:buFont typeface="Calibri"/>
              <a:buNone/>
            </a:pPr>
            <a:r>
              <a:rPr sz="2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6E8C3379-F7E1-4401-A00C-D699DC89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920240"/>
            <a:ext cx="320040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25FFD48D-AE25-4727-A3BA-6FFC144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029968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centre y = 400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ED57EA48-13BD-4716-AE5C-87FCD43B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395728"/>
            <a:ext cx="30175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centre reaches the bottom edge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B2C566A7-FB7C-423E-BBA0-66755598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4688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000"/>
              <a:buFont typeface="Calibri"/>
              <a:buNone/>
            </a:pPr>
            <a:r>
              <a:rPr sz="2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8366D392-6FEB-4D47-A0CC-AD3B334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920240"/>
            <a:ext cx="320040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6B00F883-8FA7-4881-8ECC-2F865AE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029968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centre y &gt; 400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A3E79AD9-0645-4029-8AAA-8D062AE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95728"/>
            <a:ext cx="30175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centre has left the canvas, keeps falling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9C050E6D-C951-4A76-9280-3179426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06070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F18842BC-087E-4A7F-AD06-81902449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NOTICE WHAT'S MISSING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23F3EF00-98BA-4961-9148-E9D7194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149840" cy="169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Nothing stops yPositions[i] once its centre passes 400 — the particle just keeps moving beyond the bottom edge, forever. It's still taking up a slot in the array and still being updated every frame, even though it's no longer anywhere near the visible canvas. This is deliberate: it sets up exactly why the next part is needed, rather than quietly working around it here.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39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90DCDBE7-4946-4300-9C54-274CFF3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D4D2437B-CD8E-415B-A136-6335206D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74D769C-79B4-4FD2-8D6B-7C23684F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B1B7E209-CDFB-4022-A3D0-41CEDE1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E7E1ABD2-9FC6-472A-91CE-A28610B2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E3E7D97A-0D63-4CE0-87A3-E795B92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78BC55F-4522-4BE3-B36B-DD969697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velocity range from (1, 4) to something else, and observe the effect on how quickly particles fall.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3807D726-13C6-4BBD-B78E-CC5A4D7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004EEF1F-927B-4203-A942-E7E7209F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7CC69860-2015-47F9-85BF-5773746F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horizontal movement too, using a second velocity array (xVelocities[]), still positive-only. Keep it aligned with the other arrays by the same index.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4456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56F245D9-BC76-47E3-8AF6-B1B491A4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16238F32-854F-41FB-86E4-9E2E0DB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53AC8250-FF6A-4C1F-A5CB-8F14D4C8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F9F47D99-B11C-4F71-847C-8219C77F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B4.2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A36FE0EC-1D87-4A59-AA57-C604C76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605EA03D-75B9-435F-8C1B-2C5F2F86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10BEDDC8-D61F-4A57-AE86-3C377225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array-plus-loop pattern from B4.1 can update values every frame, not just read them — velocity stored as a parallel array lets every element move at its own speed.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8F298D8C-9194-4987-B7E9-B76217F7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A7916375-0916-4BEB-9C3D-B54A0581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B4.2 PART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48E4B85C-45EE-4746-84FD-4CA6B0C6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Particles that fall forever, off-canvas, are wasting a slot in the array. Next, we'll actually remove elements — the technical core of this lesson.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50047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2026-08-29T13:37:57.9690000Z</dcterms:created>
  <dcterms:modified xsi:type="dcterms:W3CDTF">2026-08-29T13:37:57.9690000Z</dcterms:modified>
</coreProperties>
</file>