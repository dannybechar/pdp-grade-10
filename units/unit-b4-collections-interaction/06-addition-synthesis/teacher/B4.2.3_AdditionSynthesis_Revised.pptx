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8849304455447c" /><Relationship Type="http://schemas.openxmlformats.org/officeDocument/2006/relationships/extended-properties" Target="/docProps/app.xml" Id="R78b641615f1a42e7" /><Relationship Type="http://schemas.openxmlformats.org/officeDocument/2006/relationships/officeDocument" Target="/ppt/presentation.xml" Id="R4349c833104e420f" /></Relationships>
</file>

<file path=ppt/presentation.xml><?xml version="1.0" encoding="utf-8"?>
<p:presentation xmlns:p="http://schemas.openxmlformats.org/presentationml/2006/main">
  <p:sldMasterIdLst>
    <p:sldMasterId xmlns:r="http://schemas.openxmlformats.org/officeDocument/2006/relationships" id="2147483648" r:id="Rcae63edb8a9e44e8"/>
  </p:sldMasterIdLst>
  <p:notesMasterIdLst>
    <p:notesMasterId xmlns:r="http://schemas.openxmlformats.org/officeDocument/2006/relationships" r:id="R2c179168efc840e1"/>
  </p:notesMasterIdLst>
  <p:sldIdLst>
    <p:sldId xmlns:r="http://schemas.openxmlformats.org/officeDocument/2006/relationships" id="256" r:id="Rc0292c9420344ce3"/>
    <p:sldId xmlns:r="http://schemas.openxmlformats.org/officeDocument/2006/relationships" id="257" r:id="Re9d04eecfaad485d"/>
    <p:sldId xmlns:r="http://schemas.openxmlformats.org/officeDocument/2006/relationships" id="258" r:id="Reb46d379371a485d"/>
    <p:sldId xmlns:r="http://schemas.openxmlformats.org/officeDocument/2006/relationships" id="259" r:id="R10bf86114e7f416a"/>
    <p:sldId xmlns:r="http://schemas.openxmlformats.org/officeDocument/2006/relationships" id="260" r:id="R1b5fedc9c969432d"/>
    <p:sldId xmlns:r="http://schemas.openxmlformats.org/officeDocument/2006/relationships" id="261" r:id="R72c31b7a93bf433b"/>
    <p:sldId xmlns:r="http://schemas.openxmlformats.org/officeDocument/2006/relationships" id="262" r:id="R8d0f8b8274364ddc"/>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bd11a6cda646ee" /><Relationship Type="http://schemas.openxmlformats.org/officeDocument/2006/relationships/slideMaster" Target="/ppt/slideMasters/slideMaster1.xml" Id="Rcae63edb8a9e44e8" /><Relationship Type="http://schemas.openxmlformats.org/officeDocument/2006/relationships/notesMaster" Target="/ppt/notesMasters/notesMaster1.xml" Id="R2c179168efc840e1" /><Relationship Type="http://schemas.openxmlformats.org/officeDocument/2006/relationships/presProps" Target="/ppt/presProps.xml" Id="R5f83204dd0294363" /><Relationship Type="http://schemas.openxmlformats.org/officeDocument/2006/relationships/tableStyles" Target="/ppt/tableStyles.xml" Id="Rbc49a82fd1454995" /><Relationship Type="http://schemas.openxmlformats.org/officeDocument/2006/relationships/slide" Target="/ppt/slides/slide1.xml" Id="Rc0292c9420344ce3" /><Relationship Type="http://schemas.openxmlformats.org/officeDocument/2006/relationships/slide" Target="/ppt/slides/slide2.xml" Id="Re9d04eecfaad485d" /><Relationship Type="http://schemas.openxmlformats.org/officeDocument/2006/relationships/slide" Target="/ppt/slides/slide3.xml" Id="Reb46d379371a485d" /><Relationship Type="http://schemas.openxmlformats.org/officeDocument/2006/relationships/slide" Target="/ppt/slides/slide4.xml" Id="R10bf86114e7f416a" /><Relationship Type="http://schemas.openxmlformats.org/officeDocument/2006/relationships/slide" Target="/ppt/slides/slide5.xml" Id="R1b5fedc9c969432d" /><Relationship Type="http://schemas.openxmlformats.org/officeDocument/2006/relationships/slide" Target="/ppt/slides/slide6.xml" Id="R72c31b7a93bf433b" /><Relationship Type="http://schemas.openxmlformats.org/officeDocument/2006/relationships/slide" Target="/ppt/slides/slide7.xml" Id="R8d0f8b827436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408d5bd6b6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74f4dde25d4a34" /><Relationship Type="http://schemas.openxmlformats.org/officeDocument/2006/relationships/notesMaster" Target="/ppt/notesMasters/notesMaster1.xml" Id="R70abdc868cd945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9a4fbb6fe473d" /><Relationship Type="http://schemas.openxmlformats.org/officeDocument/2006/relationships/notesMaster" Target="/ppt/notesMasters/notesMaster1.xml" Id="R67da6684713449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917a2603b74c60" /><Relationship Type="http://schemas.openxmlformats.org/officeDocument/2006/relationships/notesMaster" Target="/ppt/notesMasters/notesMaster1.xml" Id="R99dee4192363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abfc9e026a457f" /><Relationship Type="http://schemas.openxmlformats.org/officeDocument/2006/relationships/notesMaster" Target="/ppt/notesMasters/notesMaster1.xml" Id="R6041be40115742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01ad33afac4129" /><Relationship Type="http://schemas.openxmlformats.org/officeDocument/2006/relationships/notesMaster" Target="/ppt/notesMasters/notesMaster1.xml" Id="Rd92d27b7329d4c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b1634a409244e0" /><Relationship Type="http://schemas.openxmlformats.org/officeDocument/2006/relationships/notesMaster" Target="/ppt/notesMasters/notesMaster1.xml" Id="R318baaf668ba4e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84bc26ee7e46b8" /><Relationship Type="http://schemas.openxmlformats.org/officeDocument/2006/relationships/notesMaster" Target="/ppt/notesMasters/notesMaster1.xml" Id="Rc67fe10a89d343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 minutes. Frame addition as claiming the next unused slot while preserving the active-prefix invariant.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 minutes. Retrieve activeCount, capacity, backward removal, and swap-and-pop.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https://docs.oracle.com/javase/tutorial/java/nutsandbolts/arrays.html</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10 minutes. Model mousePressed(): check capacity, write every property at index activeCount, then increment activeCount. The order prevents exposing a partially initialized element.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https://docs.oracle.com/javase/tutorial/java/nutsandbolts/arrays.html</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Compare removal and addition: removal packs then shrinks; addition initializes then grows.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https://docs.oracle.com/javase/tutorial/java/nutsandbolts/arrays.html</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Trace the complete event/update lifecycle from empty canvas through spawning, movement, ageing, and removal.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https://docs.oracle.com/javase/tutorial/java/nutsandbolts/arrays.html</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 minutes. Students build a variation and stress-test empty and full capacity. Extra clicks at capacity must do nothing safely.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https://docs.oracle.com/javase/tutorial/java/nutsandbolts/arrays.html</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 minutes. Unit exit check: state the invariant 0 &lt;= activeCount &lt;= MAX_COUNT and identify every operation that preserves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f5c4ad2d494dcd"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3aaef0ff7140cb" /><Relationship Type="http://schemas.openxmlformats.org/officeDocument/2006/relationships/slideLayout" Target="/ppt/slideLayouts/slideLayout1.xml" Id="Re3d984dd75fe484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3d984dd75fe484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24076d04f24c11" /><Relationship Type="http://schemas.openxmlformats.org/officeDocument/2006/relationships/notesSlide" Target="/ppt/notesSlides/notesSlide1.xml" Id="Rc3d30229afb343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bde277474249b6" /><Relationship Type="http://schemas.openxmlformats.org/officeDocument/2006/relationships/notesSlide" Target="/ppt/notesSlides/notesSlide2.xml" Id="Rc55d6e7f3d1948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6f89109ed34427" /><Relationship Type="http://schemas.openxmlformats.org/officeDocument/2006/relationships/notesSlide" Target="/ppt/notesSlides/notesSlide3.xml" Id="Re51abf62c62145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521a339ef648a3" /><Relationship Type="http://schemas.openxmlformats.org/officeDocument/2006/relationships/notesSlide" Target="/ppt/notesSlides/notesSlide4.xml" Id="Rc70eb3133cd84f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75ff018b014f40" /><Relationship Type="http://schemas.openxmlformats.org/officeDocument/2006/relationships/notesSlide" Target="/ppt/notesSlides/notesSlide5.xml" Id="Re2aee60d075f4b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2fb59ce2824898" /><Relationship Type="http://schemas.openxmlformats.org/officeDocument/2006/relationships/notesSlide" Target="/ppt/notesSlides/notesSlide6.xml" Id="R4ca87c86535743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9e49575f8c4741" /><Relationship Type="http://schemas.openxmlformats.org/officeDocument/2006/relationships/notesSlide" Target="/ppt/notesSlides/notesSlide7.xml" Id="R57b298974c0a4768"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79F3C092-2F8E-46C5-A78A-B12653AE6365}"/>
              </a:ext>
            </a:extLst>
          </p:cNvPr>
          <p:cNvSpPr>
            <a:spLocks xmlns:a="http://schemas.openxmlformats.org/drawingml/2006/main" noGrp="1"/>
          </p:cNvSpPr>
          <p:nvPr/>
        </p:nvSpPr>
        <p:spPr>
          <a:xfrm xmlns:a="http://schemas.openxmlformats.org/drawingml/2006/main">
            <a:off x="822960" y="2148840"/>
            <a:ext cx="91440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B4 · COLLECTIONS &amp; INTERACTION · B4.2 PART 3</a:t>
            </a:r>
            <a:endParaRPr sz="14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E6AA229A-5A7E-476D-B086-1BF65848CAAB}"/>
              </a:ext>
            </a:extLst>
          </p:cNvPr>
          <p:cNvSpPr>
            <a:spLocks xmlns:a="http://schemas.openxmlformats.org/drawingml/2006/main" noGrp="1"/>
          </p:cNvSpPr>
          <p:nvPr/>
        </p:nvSpPr>
        <p:spPr>
          <a:xfrm xmlns:a="http://schemas.openxmlformats.org/drawingml/2006/main">
            <a:off x="822960" y="2514600"/>
            <a:ext cx="1033272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pPr>
            <a:r>
              <a:rPr sz="4000" b="1" i="0" u="none" cap="none">
                <a:solidFill>
                  <a:srgbClr val="FFFFFF"/>
                </a:solidFill>
                <a:latin typeface="Cambria"/>
                <a:ea typeface="Cambria"/>
                <a:cs typeface="Cambria"/>
              </a:rPr>
              <a:t>Addition and Synthesis</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49816A77-DB3F-421D-B2E7-FEA27F9E8895}"/>
              </a:ext>
            </a:extLst>
          </p:cNvPr>
          <p:cNvSpPr>
            <a:spLocks xmlns:a="http://schemas.openxmlformats.org/drawingml/2006/main" noGrp="1"/>
          </p:cNvSpPr>
          <p:nvPr/>
        </p:nvSpPr>
        <p:spPr>
          <a:xfrm xmlns:a="http://schemas.openxmlformats.org/drawingml/2006/main">
            <a:off x="822960" y="3794760"/>
            <a:ext cx="96012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pPr>
            <a:r>
              <a:rPr sz="1800" b="0" i="0" u="none" cap="none">
                <a:solidFill>
                  <a:srgbClr val="CADCFC"/>
                </a:solidFill>
                <a:latin typeface="Calibri"/>
                <a:ea typeface="Calibri"/>
                <a:cs typeface="Calibri"/>
              </a:rPr>
              <a:t>Growing a collection, and bringing it all together</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E8C733AA-2F54-4D15-83C4-B0562A8FA9B7}"/>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9E85043E-984F-4D2C-80C7-8A31C2A9E3AD}"/>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5651302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8AC02F08-3BCE-4C23-80B1-426D71294CCC}"/>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Quick Recap: Removal</a:t>
            </a:r>
            <a:endParaRPr sz="28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29F3CFAD-B4FD-4B77-BF0E-3EDD2C623B22}"/>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From Part 2 — activeCount, swap-and-pop, backward iteration</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97FF26DE-6490-46B7-BA02-013F78F363D2}"/>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001B4ED7-B428-438C-8227-4F8335E3FAFF}"/>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31D00250-5237-4884-BD3D-F303D41DB3B1}"/>
              </a:ext>
            </a:extLst>
          </p:cNvPr>
          <p:cNvSpPr>
            <a:spLocks xmlns:a="http://schemas.openxmlformats.org/drawingml/2006/main" noGrp="1"/>
          </p:cNvSpPr>
          <p:nvPr/>
        </p:nvSpPr>
        <p:spPr>
          <a:xfrm xmlns:a="http://schemas.openxmlformats.org/drawingml/2006/main">
            <a:off x="548640" y="1691640"/>
            <a:ext cx="5394960" cy="4206240"/>
          </a:xfrm>
          <a:prstGeom xmlns:a="http://schemas.openxmlformats.org/drawingml/2006/main" prst="roundRect">
            <a:avLst>
              <a:gd name="adj" fmla="val 1739"/>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BD3456C5-6EDD-4231-A02B-11700E559703}"/>
              </a:ext>
            </a:extLst>
          </p:cNvPr>
          <p:cNvSpPr>
            <a:spLocks xmlns:a="http://schemas.openxmlformats.org/drawingml/2006/main" noGrp="1"/>
          </p:cNvSpPr>
          <p:nvPr/>
        </p:nvSpPr>
        <p:spPr>
          <a:xfrm xmlns:a="http://schemas.openxmlformats.org/drawingml/2006/main">
            <a:off x="77724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FROM PART 2</a:t>
            </a:r>
            <a:endParaRPr sz="1300" b="0" i="0" u="none" cap="none">
              <a:solidFill>
                <a:schemeClr val="dk1"/>
              </a:solidFill>
              <a:latin typeface="Calibri"/>
              <a:ea typeface="Calibri"/>
              <a:cs typeface="Calibri"/>
            </a:endParaRPr>
          </a:p>
        </p:txBody>
      </p:sp>
      <p:sp>
        <p:nvSpPr>
          <p:cNvPr id="32" name="Google Shape;32;p4">
            <a:extLst xmlns:a="http://schemas.openxmlformats.org/drawingml/2006/main">
              <a:ext uri="{FF2B5EF4-FFF2-40B4-BE49-F238E27FC236}">
                <a16:creationId xmlns:a16="http://schemas.microsoft.com/office/drawing/2014/main" id="{1252025C-20AB-4BA2-998D-5490FDA38BB5}"/>
              </a:ext>
            </a:extLst>
          </p:cNvPr>
          <p:cNvSpPr>
            <a:spLocks xmlns:a="http://schemas.openxmlformats.org/drawingml/2006/main" noGrp="1"/>
          </p:cNvSpPr>
          <p:nvPr/>
        </p:nvSpPr>
        <p:spPr>
          <a:xfrm xmlns:a="http://schemas.openxmlformats.org/drawingml/2006/main">
            <a:off x="77724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activeCount tracks how many elements are currently alive. Removing one copies the last active element into the removed slot and shrinks activeCount — always iterating backward so nothing gets skipped.</a:t>
            </a:r>
            <a:endParaRPr sz="1350" b="0" i="0" u="none" cap="none">
              <a:solidFill>
                <a:schemeClr val="dk1"/>
              </a:solidFill>
              <a:latin typeface="Calibri"/>
              <a:ea typeface="Calibri"/>
              <a:cs typeface="Calibri"/>
            </a:endParaRPr>
          </a:p>
        </p:txBody>
      </p:sp>
      <p:sp>
        <p:nvSpPr>
          <p:cNvPr id="33" name="Google Shape;33;p4">
            <a:extLst xmlns:a="http://schemas.openxmlformats.org/drawingml/2006/main">
              <a:ext uri="{FF2B5EF4-FFF2-40B4-BE49-F238E27FC236}">
                <a16:creationId xmlns:a16="http://schemas.microsoft.com/office/drawing/2014/main" id="{FE7E9D93-32CC-44BF-81A7-7659951DDD8D}"/>
              </a:ext>
            </a:extLst>
          </p:cNvPr>
          <p:cNvSpPr>
            <a:spLocks xmlns:a="http://schemas.openxmlformats.org/drawingml/2006/main" noGrp="1"/>
          </p:cNvSpPr>
          <p:nvPr/>
        </p:nvSpPr>
        <p:spPr>
          <a:xfrm xmlns:a="http://schemas.openxmlformats.org/drawingml/2006/main">
            <a:off x="6217920" y="1691640"/>
            <a:ext cx="5394960" cy="4206240"/>
          </a:xfrm>
          <a:prstGeom xmlns:a="http://schemas.openxmlformats.org/drawingml/2006/main" prst="roundRect">
            <a:avLst>
              <a:gd name="adj" fmla="val 1739"/>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 name="Google Shape;34;p4">
            <a:extLst xmlns:a="http://schemas.openxmlformats.org/drawingml/2006/main">
              <a:ext uri="{FF2B5EF4-FFF2-40B4-BE49-F238E27FC236}">
                <a16:creationId xmlns:a16="http://schemas.microsoft.com/office/drawing/2014/main" id="{9B482D6F-33E2-4155-A375-3B30802D1EDE}"/>
              </a:ext>
            </a:extLst>
          </p:cNvPr>
          <p:cNvSpPr>
            <a:spLocks xmlns:a="http://schemas.openxmlformats.org/drawingml/2006/main" noGrp="1"/>
          </p:cNvSpPr>
          <p:nvPr/>
        </p:nvSpPr>
        <p:spPr>
          <a:xfrm xmlns:a="http://schemas.openxmlformats.org/drawingml/2006/main">
            <a:off x="644652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TODAY'S QUESTION</a:t>
            </a:r>
            <a:endParaRPr sz="1300" b="0" i="0" u="none" cap="none">
              <a:solidFill>
                <a:schemeClr val="dk1"/>
              </a:solidFill>
              <a:latin typeface="Calibri"/>
              <a:ea typeface="Calibri"/>
              <a:cs typeface="Calibri"/>
            </a:endParaRPr>
          </a:p>
        </p:txBody>
      </p:sp>
      <p:sp>
        <p:nvSpPr>
          <p:cNvPr id="35" name="Google Shape;35;p4">
            <a:extLst xmlns:a="http://schemas.openxmlformats.org/drawingml/2006/main">
              <a:ext uri="{FF2B5EF4-FFF2-40B4-BE49-F238E27FC236}">
                <a16:creationId xmlns:a16="http://schemas.microsoft.com/office/drawing/2014/main" id="{A4F42386-574A-4008-AF4B-C0BBB80D17CA}"/>
              </a:ext>
            </a:extLst>
          </p:cNvPr>
          <p:cNvSpPr>
            <a:spLocks xmlns:a="http://schemas.openxmlformats.org/drawingml/2006/main" noGrp="1"/>
          </p:cNvSpPr>
          <p:nvPr/>
        </p:nvSpPr>
        <p:spPr>
          <a:xfrm xmlns:a="http://schemas.openxmlformats.org/drawingml/2006/main">
            <a:off x="644652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Elements can only ever disappear so far. How do we add a brand new element while the program is running, without writing past the end of a fixed-size array?</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4310912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Google Shape;41;p5">
            <a:extLst xmlns:a="http://schemas.openxmlformats.org/drawingml/2006/main">
              <a:ext uri="{FF2B5EF4-FFF2-40B4-BE49-F238E27FC236}">
                <a16:creationId xmlns:a16="http://schemas.microsoft.com/office/drawing/2014/main" id="{8FB5E71D-F0B9-4E38-94C5-5489E55909F0}"/>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Adding an Element on Click</a:t>
            </a:r>
            <a:endParaRPr sz="28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A0B81CC2-A5BF-4043-A362-D87FFB993060}"/>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Guarded by capacity — the mirror image of removal</a:t>
            </a:r>
            <a:endParaRPr sz="15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03717513-3FE6-4994-9BA6-BA0E29FBF477}"/>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D8420645-508D-45A8-B306-FD37021675D4}"/>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45" name="Google Shape;45;p5">
            <a:extLst xmlns:a="http://schemas.openxmlformats.org/drawingml/2006/main">
              <a:ext uri="{FF2B5EF4-FFF2-40B4-BE49-F238E27FC236}">
                <a16:creationId xmlns:a16="http://schemas.microsoft.com/office/drawing/2014/main" id="{83BEB2FD-9EF2-4E78-ABC2-A88892C7939E}"/>
              </a:ext>
            </a:extLst>
          </p:cNvPr>
          <p:cNvSpPr>
            <a:spLocks xmlns:a="http://schemas.openxmlformats.org/drawingml/2006/main" noGrp="1"/>
          </p:cNvSpPr>
          <p:nvPr/>
        </p:nvSpPr>
        <p:spPr>
          <a:xfrm xmlns:a="http://schemas.openxmlformats.org/drawingml/2006/main">
            <a:off x="548640" y="1554480"/>
            <a:ext cx="6675120" cy="3931920"/>
          </a:xfrm>
          <a:prstGeom xmlns:a="http://schemas.openxmlformats.org/drawingml/2006/main" prst="roundRect">
            <a:avLst>
              <a:gd name="adj" fmla="val 1395"/>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 name="Google Shape;46;p5">
            <a:extLst xmlns:a="http://schemas.openxmlformats.org/drawingml/2006/main">
              <a:ext uri="{FF2B5EF4-FFF2-40B4-BE49-F238E27FC236}">
                <a16:creationId xmlns:a16="http://schemas.microsoft.com/office/drawing/2014/main" id="{8E03CA44-994C-47DD-BFC9-9193699D1B72}"/>
              </a:ext>
            </a:extLst>
          </p:cNvPr>
          <p:cNvSpPr>
            <a:spLocks xmlns:a="http://schemas.openxmlformats.org/drawingml/2006/main" noGrp="1"/>
          </p:cNvSpPr>
          <p:nvPr/>
        </p:nvSpPr>
        <p:spPr>
          <a:xfrm xmlns:a="http://schemas.openxmlformats.org/drawingml/2006/main">
            <a:off x="822960" y="1755648"/>
            <a:ext cx="6126480" cy="35295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5000"/>
              </a:lnSpc>
              <a:spcBef>
                <a:spcPts val="0"/>
              </a:spcBef>
              <a:spcAft>
                <a:spcPts val="0"/>
              </a:spcAft>
              <a:buClr>
                <a:srgbClr val="8FD0FF"/>
              </a:buClr>
              <a:buSzPts val="1400"/>
              <a:buFont typeface="Courier New"/>
              <a:buNone/>
            </a:pPr>
            <a:r>
              <a:rPr sz="1400" b="1" i="0" u="none" cap="none">
                <a:solidFill>
                  <a:srgbClr val="8FD0FF"/>
                </a:solidFill>
                <a:latin typeface="Courier New"/>
                <a:ea typeface="Courier New"/>
                <a:cs typeface="Courier New"/>
              </a:rPr>
              <a:t>public</a:t>
            </a:r>
            <a:r>
              <a:rPr sz="1400" b="0" i="0" u="none" cap="none">
                <a:solidFill>
                  <a:srgbClr val="CADCFC"/>
                </a:solidFill>
                <a:latin typeface="Courier New"/>
                <a:ea typeface="Courier New"/>
                <a:cs typeface="Courier New"/>
              </a:rPr>
              <a:t> </a:t>
            </a:r>
            <a:r>
              <a:rPr sz="1400" b="1" i="0" u="none" cap="none">
                <a:solidFill>
                  <a:srgbClr val="8FD0FF"/>
                </a:solidFill>
                <a:latin typeface="Courier New"/>
                <a:ea typeface="Courier New"/>
                <a:cs typeface="Courier New"/>
              </a:rPr>
              <a:t>void</a:t>
            </a:r>
            <a:r>
              <a:rPr sz="1400" b="0" i="0" u="none" cap="none">
                <a:solidFill>
                  <a:srgbClr val="CADCFC"/>
                </a:solidFill>
                <a:latin typeface="Courier New"/>
                <a:ea typeface="Courier New"/>
                <a:cs typeface="Courier New"/>
              </a:rPr>
              <a:t> mousePressed() {</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a:t>
            </a:r>
            <a:r>
              <a:rPr sz="1400" b="1" i="0" u="none" cap="none">
                <a:solidFill>
                  <a:srgbClr val="8FD0FF"/>
                </a:solidFill>
                <a:latin typeface="Courier New"/>
                <a:ea typeface="Courier New"/>
                <a:cs typeface="Courier New"/>
              </a:rPr>
              <a:t>if</a:t>
            </a:r>
            <a:r>
              <a:rPr sz="1400" b="0" i="0" u="none" cap="none">
                <a:solidFill>
                  <a:srgbClr val="CADCFC"/>
                </a:solidFill>
                <a:latin typeface="Courier New"/>
                <a:ea typeface="Courier New"/>
                <a:cs typeface="Courier New"/>
              </a:rPr>
              <a:t> (activeCount &lt; MAX_COUNT) {</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xPositions[activeCount] = mouseX;</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yPositions[activeCount] = mouseY;</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yVelocities[activeCount] = (</a:t>
            </a:r>
            <a:r>
              <a:rPr sz="1400" b="1" i="0" u="none" cap="none">
                <a:solidFill>
                  <a:srgbClr val="8FD0FF"/>
                </a:solidFill>
                <a:latin typeface="Courier New"/>
                <a:ea typeface="Courier New"/>
                <a:cs typeface="Courier New"/>
              </a:rPr>
              <a:t>int</a:t>
            </a:r>
            <a:r>
              <a:rPr sz="1400" b="0" i="0" u="none" cap="none">
                <a:solidFill>
                  <a:srgbClr val="CADCFC"/>
                </a:solidFill>
                <a:latin typeface="Courier New"/>
                <a:ea typeface="Courier New"/>
                <a:cs typeface="Courier New"/>
              </a:rPr>
              <a:t>) random(1, 4);</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lifespans[activeCount] = (</a:t>
            </a:r>
            <a:r>
              <a:rPr sz="1400" b="1" i="0" u="none" cap="none">
                <a:solidFill>
                  <a:srgbClr val="8FD0FF"/>
                </a:solidFill>
                <a:latin typeface="Courier New"/>
                <a:ea typeface="Courier New"/>
                <a:cs typeface="Courier New"/>
              </a:rPr>
              <a:t>int</a:t>
            </a:r>
            <a:r>
              <a:rPr sz="1400" b="0" i="0" u="none" cap="none">
                <a:solidFill>
                  <a:srgbClr val="CADCFC"/>
                </a:solidFill>
                <a:latin typeface="Courier New"/>
                <a:ea typeface="Courier New"/>
                <a:cs typeface="Courier New"/>
              </a:rPr>
              <a:t>) random(60, 150);</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activeCount = activeCount + 1;</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a:t>
            </a:r>
            <a:endParaRPr sz="1400" b="0" i="0" u="none" cap="none">
              <a:solidFill>
                <a:schemeClr val="dk1"/>
              </a:solidFill>
              <a:latin typeface="Calibri"/>
              <a:ea typeface="Calibri"/>
              <a:cs typeface="Calibri"/>
            </a:endParaRPr>
          </a:p>
          <a:p xmlns:a="http://schemas.openxmlformats.org/drawingml/2006/main">
            <a:pPr marL="0" marR="0" lvl="0" indent="0" algn="l">
              <a:lnSpc>
                <a:spcPct val="12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a:t>
            </a:r>
            <a:endParaRPr sz="1400" b="0" i="0" u="none" cap="none">
              <a:solidFill>
                <a:schemeClr val="dk1"/>
              </a:solidFill>
              <a:latin typeface="Calibri"/>
              <a:ea typeface="Calibri"/>
              <a:cs typeface="Calibri"/>
            </a:endParaRPr>
          </a:p>
        </p:txBody>
      </p:sp>
      <p:sp>
        <p:nvSpPr>
          <p:cNvPr id="47" name="Google Shape;47;p5">
            <a:extLst xmlns:a="http://schemas.openxmlformats.org/drawingml/2006/main">
              <a:ext uri="{FF2B5EF4-FFF2-40B4-BE49-F238E27FC236}">
                <a16:creationId xmlns:a16="http://schemas.microsoft.com/office/drawing/2014/main" id="{71FCD531-73E9-4F7B-A087-93EFF8E253B9}"/>
              </a:ext>
            </a:extLst>
          </p:cNvPr>
          <p:cNvSpPr>
            <a:spLocks xmlns:a="http://schemas.openxmlformats.org/drawingml/2006/main" noGrp="1"/>
          </p:cNvSpPr>
          <p:nvPr/>
        </p:nvSpPr>
        <p:spPr>
          <a:xfrm xmlns:a="http://schemas.openxmlformats.org/drawingml/2006/main">
            <a:off x="7452360" y="1554480"/>
            <a:ext cx="4160520" cy="3931920"/>
          </a:xfrm>
          <a:prstGeom xmlns:a="http://schemas.openxmlformats.org/drawingml/2006/main" prst="roundRect">
            <a:avLst>
              <a:gd name="adj" fmla="val 1860"/>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 name="Google Shape;48;p5">
            <a:extLst xmlns:a="http://schemas.openxmlformats.org/drawingml/2006/main">
              <a:ext uri="{FF2B5EF4-FFF2-40B4-BE49-F238E27FC236}">
                <a16:creationId xmlns:a16="http://schemas.microsoft.com/office/drawing/2014/main" id="{902F5D88-75C3-4861-BBCA-1CD0FE21F9FC}"/>
              </a:ext>
            </a:extLst>
          </p:cNvPr>
          <p:cNvSpPr>
            <a:spLocks xmlns:a="http://schemas.openxmlformats.org/drawingml/2006/main" noGrp="1"/>
          </p:cNvSpPr>
          <p:nvPr/>
        </p:nvSpPr>
        <p:spPr>
          <a:xfrm xmlns:a="http://schemas.openxmlformats.org/drawingml/2006/main">
            <a:off x="7680960" y="1719072"/>
            <a:ext cx="37033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WHY THE GUARD MATTERS</a:t>
            </a:r>
            <a:endParaRPr sz="1300" b="0" i="0" u="none" cap="none">
              <a:solidFill>
                <a:schemeClr val="dk1"/>
              </a:solidFill>
              <a:latin typeface="Calibri"/>
              <a:ea typeface="Calibri"/>
              <a:cs typeface="Calibri"/>
            </a:endParaRPr>
          </a:p>
        </p:txBody>
      </p:sp>
      <p:sp>
        <p:nvSpPr>
          <p:cNvPr id="49" name="Google Shape;49;p5">
            <a:extLst xmlns:a="http://schemas.openxmlformats.org/drawingml/2006/main">
              <a:ext uri="{FF2B5EF4-FFF2-40B4-BE49-F238E27FC236}">
                <a16:creationId xmlns:a16="http://schemas.microsoft.com/office/drawing/2014/main" id="{32D967C3-5EA0-4B6E-B0D8-3FE3B90F317D}"/>
              </a:ext>
            </a:extLst>
          </p:cNvPr>
          <p:cNvSpPr>
            <a:spLocks xmlns:a="http://schemas.openxmlformats.org/drawingml/2006/main" noGrp="1"/>
          </p:cNvSpPr>
          <p:nvPr/>
        </p:nvSpPr>
        <p:spPr>
          <a:xfrm xmlns:a="http://schemas.openxmlformats.org/drawingml/2006/main">
            <a:off x="7680960" y="2057400"/>
            <a:ext cx="3703320" cy="3246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activeCount &lt; MAX_COUNT stops this from ever writing past the last allocated slot. Without it, clicking after the array is full would write to an index that doesn't exist.</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The new element is written at index activeCount — the very next free slot — before activeCount increases.</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0214780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Google Shape;55;p6">
            <a:extLst xmlns:a="http://schemas.openxmlformats.org/drawingml/2006/main">
              <a:ext uri="{FF2B5EF4-FFF2-40B4-BE49-F238E27FC236}">
                <a16:creationId xmlns:a16="http://schemas.microsoft.com/office/drawing/2014/main" id="{2DF032E3-6B31-4193-BD24-8D86FA29D724}"/>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Addition: The Mirror Image of Removal</a:t>
            </a:r>
            <a:endParaRPr sz="2800" b="0" i="0" u="none" cap="none">
              <a:solidFill>
                <a:schemeClr val="dk1"/>
              </a:solidFill>
              <a:latin typeface="Calibri"/>
              <a:ea typeface="Calibri"/>
              <a:cs typeface="Calibri"/>
            </a:endParaRPr>
          </a:p>
        </p:txBody>
      </p:sp>
      <p:sp>
        <p:nvSpPr>
          <p:cNvPr id="56" name="Google Shape;56;p6">
            <a:extLst xmlns:a="http://schemas.openxmlformats.org/drawingml/2006/main">
              <a:ext uri="{FF2B5EF4-FFF2-40B4-BE49-F238E27FC236}">
                <a16:creationId xmlns:a16="http://schemas.microsoft.com/office/drawing/2014/main" id="{7BC62A62-7821-4A79-BCCA-7F89E9DFF487}"/>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Growing activeCount instead of shrinking it</a:t>
            </a:r>
            <a:endParaRPr sz="1500" b="0" i="0" u="none" cap="none">
              <a:solidFill>
                <a:schemeClr val="dk1"/>
              </a:solidFill>
              <a:latin typeface="Calibri"/>
              <a:ea typeface="Calibri"/>
              <a:cs typeface="Calibri"/>
            </a:endParaRPr>
          </a:p>
        </p:txBody>
      </p:sp>
      <p:sp>
        <p:nvSpPr>
          <p:cNvPr id="57" name="Google Shape;57;p6">
            <a:extLst xmlns:a="http://schemas.openxmlformats.org/drawingml/2006/main">
              <a:ext uri="{FF2B5EF4-FFF2-40B4-BE49-F238E27FC236}">
                <a16:creationId xmlns:a16="http://schemas.microsoft.com/office/drawing/2014/main" id="{D207543E-A54A-4AD7-BA69-6CA634189849}"/>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58" name="Google Shape;58;p6">
            <a:extLst xmlns:a="http://schemas.openxmlformats.org/drawingml/2006/main">
              <a:ext uri="{FF2B5EF4-FFF2-40B4-BE49-F238E27FC236}">
                <a16:creationId xmlns:a16="http://schemas.microsoft.com/office/drawing/2014/main" id="{DF6FF58C-D8F7-49F7-8C6E-D5962A93ACFD}"/>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59" name="Google Shape;59;p6">
            <a:extLst xmlns:a="http://schemas.openxmlformats.org/drawingml/2006/main">
              <a:ext uri="{FF2B5EF4-FFF2-40B4-BE49-F238E27FC236}">
                <a16:creationId xmlns:a16="http://schemas.microsoft.com/office/drawing/2014/main" id="{D842A73D-BF6D-46A8-AFD7-36DCAF40D06B}"/>
              </a:ext>
            </a:extLst>
          </p:cNvPr>
          <p:cNvSpPr>
            <a:spLocks xmlns:a="http://schemas.openxmlformats.org/drawingml/2006/main" noGrp="1"/>
          </p:cNvSpPr>
          <p:nvPr/>
        </p:nvSpPr>
        <p:spPr>
          <a:xfrm xmlns:a="http://schemas.openxmlformats.org/drawingml/2006/main">
            <a:off x="548640" y="1691640"/>
            <a:ext cx="5394960" cy="4206240"/>
          </a:xfrm>
          <a:prstGeom xmlns:a="http://schemas.openxmlformats.org/drawingml/2006/main" prst="roundRect">
            <a:avLst>
              <a:gd name="adj" fmla="val 1304"/>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6">
            <a:extLst xmlns:a="http://schemas.openxmlformats.org/drawingml/2006/main">
              <a:ext uri="{FF2B5EF4-FFF2-40B4-BE49-F238E27FC236}">
                <a16:creationId xmlns:a16="http://schemas.microsoft.com/office/drawing/2014/main" id="{5D18B06C-1E0D-4516-8B58-D589C6F2D008}"/>
              </a:ext>
            </a:extLst>
          </p:cNvPr>
          <p:cNvSpPr>
            <a:spLocks xmlns:a="http://schemas.openxmlformats.org/drawingml/2006/main" noGrp="1"/>
          </p:cNvSpPr>
          <p:nvPr/>
        </p:nvSpPr>
        <p:spPr>
          <a:xfrm xmlns:a="http://schemas.openxmlformats.org/drawingml/2006/main">
            <a:off x="822960" y="1920240"/>
            <a:ext cx="4846320"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342900" marR="0" lvl="0" indent="-3429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Removal (Part 2): shrink and pack.</a:t>
            </a:r>
            <a:endParaRPr sz="1300" b="0" i="0" u="none" cap="none">
              <a:solidFill>
                <a:schemeClr val="dk1"/>
              </a:solidFill>
              <a:latin typeface="Calibri"/>
              <a:ea typeface="Calibri"/>
              <a:cs typeface="Calibri"/>
            </a:endParaRPr>
          </a:p>
          <a:p xmlns:a="http://schemas.openxmlformats.org/drawingml/2006/main">
            <a:pPr marL="342900" marR="0" lvl="0" indent="-3429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Copy the last active element into the removed slot, then decrease activeCount by one. No shifting, no searching.</a:t>
            </a:r>
            <a:endParaRPr sz="1300" b="0" i="0" u="none" cap="none">
              <a:solidFill>
                <a:schemeClr val="dk1"/>
              </a:solidFill>
              <a:latin typeface="Calibri"/>
              <a:ea typeface="Calibri"/>
              <a:cs typeface="Calibri"/>
            </a:endParaRPr>
          </a:p>
          <a:p xmlns:a="http://schemas.openxmlformats.org/drawingml/2006/main">
            <a:pPr marL="342900" marR="0" lvl="0" indent="-3429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Uses backward iteration, since it happens inside the main update loop.</a:t>
            </a:r>
            <a:endParaRPr sz="1300" b="0" i="0" u="none" cap="none">
              <a:solidFill>
                <a:schemeClr val="dk1"/>
              </a:solidFill>
              <a:latin typeface="Calibri"/>
              <a:ea typeface="Calibri"/>
              <a:cs typeface="Calibri"/>
            </a:endParaRPr>
          </a:p>
        </p:txBody>
      </p:sp>
      <p:sp>
        <p:nvSpPr>
          <p:cNvPr id="61" name="Google Shape;61;p6">
            <a:extLst xmlns:a="http://schemas.openxmlformats.org/drawingml/2006/main">
              <a:ext uri="{FF2B5EF4-FFF2-40B4-BE49-F238E27FC236}">
                <a16:creationId xmlns:a16="http://schemas.microsoft.com/office/drawing/2014/main" id="{0C85155E-F4E8-4C58-9EAD-B669F0171637}"/>
              </a:ext>
            </a:extLst>
          </p:cNvPr>
          <p:cNvSpPr>
            <a:spLocks xmlns:a="http://schemas.openxmlformats.org/drawingml/2006/main" noGrp="1"/>
          </p:cNvSpPr>
          <p:nvPr/>
        </p:nvSpPr>
        <p:spPr>
          <a:xfrm xmlns:a="http://schemas.openxmlformats.org/drawingml/2006/main">
            <a:off x="6217920" y="1691640"/>
            <a:ext cx="5394960" cy="4206240"/>
          </a:xfrm>
          <a:prstGeom xmlns:a="http://schemas.openxmlformats.org/drawingml/2006/main" prst="roundRect">
            <a:avLst>
              <a:gd name="adj" fmla="val 1304"/>
            </a:avLst>
          </a:prstGeom>
          <a:solidFill xmlns:a="http://schemas.openxmlformats.org/drawingml/2006/main">
            <a:srgbClr val="FFFFFF"/>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6">
            <a:extLst xmlns:a="http://schemas.openxmlformats.org/drawingml/2006/main">
              <a:ext uri="{FF2B5EF4-FFF2-40B4-BE49-F238E27FC236}">
                <a16:creationId xmlns:a16="http://schemas.microsoft.com/office/drawing/2014/main" id="{55508728-B0C2-4772-8C93-2DD100EB1319}"/>
              </a:ext>
            </a:extLst>
          </p:cNvPr>
          <p:cNvSpPr>
            <a:spLocks xmlns:a="http://schemas.openxmlformats.org/drawingml/2006/main" noGrp="1"/>
          </p:cNvSpPr>
          <p:nvPr/>
        </p:nvSpPr>
        <p:spPr>
          <a:xfrm xmlns:a="http://schemas.openxmlformats.org/drawingml/2006/main">
            <a:off x="6492240" y="1920240"/>
            <a:ext cx="4846320"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342900" marR="0" lvl="0" indent="-3429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Addition (this part): claim and grow.</a:t>
            </a:r>
            <a:endParaRPr sz="1300" b="0" i="0" u="none" cap="none">
              <a:solidFill>
                <a:schemeClr val="dk1"/>
              </a:solidFill>
              <a:latin typeface="Calibri"/>
              <a:ea typeface="Calibri"/>
              <a:cs typeface="Calibri"/>
            </a:endParaRPr>
          </a:p>
          <a:p xmlns:a="http://schemas.openxmlformats.org/drawingml/2006/main">
            <a:pPr marL="342900" marR="0" lvl="0" indent="-3429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Fill the slot at index activeCount with fresh values, then increase activeCount by one. No shifting, no searching here either.</a:t>
            </a:r>
            <a:endParaRPr sz="1300" b="0" i="0" u="none" cap="none">
              <a:solidFill>
                <a:schemeClr val="dk1"/>
              </a:solidFill>
              <a:latin typeface="Calibri"/>
              <a:ea typeface="Calibri"/>
              <a:cs typeface="Calibri"/>
            </a:endParaRPr>
          </a:p>
          <a:p xmlns:a="http://schemas.openxmlformats.org/drawingml/2006/main">
            <a:pPr marL="342900" marR="0" lvl="0" indent="-3429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Happens once per click, in mousePressed() — not inside the update loop at all.</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7867373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Google Shape;68;p7">
            <a:extLst xmlns:a="http://schemas.openxmlformats.org/drawingml/2006/main">
              <a:ext uri="{FF2B5EF4-FFF2-40B4-BE49-F238E27FC236}">
                <a16:creationId xmlns:a16="http://schemas.microsoft.com/office/drawing/2014/main" id="{6C6D4029-32A7-45C2-BAC4-9E8016745387}"/>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Putting It All Together</a:t>
            </a:r>
            <a:endParaRPr sz="2800" b="0" i="0" u="none" cap="none">
              <a:solidFill>
                <a:schemeClr val="dk1"/>
              </a:solidFill>
              <a:latin typeface="Calibri"/>
              <a:ea typeface="Calibri"/>
              <a:cs typeface="Calibri"/>
            </a:endParaRPr>
          </a:p>
        </p:txBody>
      </p:sp>
      <p:sp>
        <p:nvSpPr>
          <p:cNvPr id="69" name="Google Shape;69;p7">
            <a:extLst xmlns:a="http://schemas.openxmlformats.org/drawingml/2006/main">
              <a:ext uri="{FF2B5EF4-FFF2-40B4-BE49-F238E27FC236}">
                <a16:creationId xmlns:a16="http://schemas.microsoft.com/office/drawing/2014/main" id="{CDBDB163-DE0D-484D-97A8-6F3606F598B6}"/>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An empty canvas, filled entirely by clicking</a:t>
            </a:r>
            <a:endParaRPr sz="1500" b="0" i="0" u="none" cap="none">
              <a:solidFill>
                <a:schemeClr val="dk1"/>
              </a:solidFill>
              <a:latin typeface="Calibri"/>
              <a:ea typeface="Calibri"/>
              <a:cs typeface="Calibri"/>
            </a:endParaRPr>
          </a:p>
        </p:txBody>
      </p:sp>
      <p:sp>
        <p:nvSpPr>
          <p:cNvPr id="70" name="Google Shape;70;p7">
            <a:extLst xmlns:a="http://schemas.openxmlformats.org/drawingml/2006/main">
              <a:ext uri="{FF2B5EF4-FFF2-40B4-BE49-F238E27FC236}">
                <a16:creationId xmlns:a16="http://schemas.microsoft.com/office/drawing/2014/main" id="{E6AE1058-B645-4E73-B74F-D58640F22289}"/>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71" name="Google Shape;71;p7">
            <a:extLst xmlns:a="http://schemas.openxmlformats.org/drawingml/2006/main">
              <a:ext uri="{FF2B5EF4-FFF2-40B4-BE49-F238E27FC236}">
                <a16:creationId xmlns:a16="http://schemas.microsoft.com/office/drawing/2014/main" id="{07A293A1-2904-4694-9FFE-4F11B7950274}"/>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72" name="Google Shape;72;p7">
            <a:extLst xmlns:a="http://schemas.openxmlformats.org/drawingml/2006/main">
              <a:ext uri="{FF2B5EF4-FFF2-40B4-BE49-F238E27FC236}">
                <a16:creationId xmlns:a16="http://schemas.microsoft.com/office/drawing/2014/main" id="{A8B20674-1329-4333-A6B1-75F2848D2240}"/>
              </a:ext>
            </a:extLst>
          </p:cNvPr>
          <p:cNvSpPr>
            <a:spLocks xmlns:a="http://schemas.openxmlformats.org/drawingml/2006/main" noGrp="1"/>
          </p:cNvSpPr>
          <p:nvPr/>
        </p:nvSpPr>
        <p:spPr>
          <a:xfrm xmlns:a="http://schemas.openxmlformats.org/drawingml/2006/main">
            <a:off x="548640" y="1691640"/>
            <a:ext cx="3200400" cy="1554480"/>
          </a:xfrm>
          <a:prstGeom xmlns:a="http://schemas.openxmlformats.org/drawingml/2006/main" prst="roundRect">
            <a:avLst>
              <a:gd name="adj" fmla="val 3529"/>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3" name="Google Shape;73;p7">
            <a:extLst xmlns:a="http://schemas.openxmlformats.org/drawingml/2006/main">
              <a:ext uri="{FF2B5EF4-FFF2-40B4-BE49-F238E27FC236}">
                <a16:creationId xmlns:a16="http://schemas.microsoft.com/office/drawing/2014/main" id="{3B71D615-CD37-4174-AF5F-63CDE34EC845}"/>
              </a:ext>
            </a:extLst>
          </p:cNvPr>
          <p:cNvSpPr>
            <a:spLocks xmlns:a="http://schemas.openxmlformats.org/drawingml/2006/main" noGrp="1"/>
          </p:cNvSpPr>
          <p:nvPr/>
        </p:nvSpPr>
        <p:spPr>
          <a:xfrm xmlns:a="http://schemas.openxmlformats.org/drawingml/2006/main">
            <a:off x="640080" y="1801368"/>
            <a:ext cx="30175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E2761"/>
              </a:buClr>
              <a:buSzPts val="1400"/>
              <a:buFont typeface="Calibri"/>
              <a:buNone/>
            </a:pPr>
            <a:r>
              <a:rPr sz="1400" b="1" i="0" u="none" cap="none">
                <a:solidFill>
                  <a:srgbClr val="1E2761"/>
                </a:solidFill>
                <a:latin typeface="Calibri"/>
                <a:ea typeface="Calibri"/>
                <a:cs typeface="Calibri"/>
              </a:rPr>
              <a:t>activeCount = 0</a:t>
            </a:r>
            <a:endParaRPr sz="1400" b="0" i="0" u="none" cap="none">
              <a:solidFill>
                <a:schemeClr val="dk1"/>
              </a:solidFill>
              <a:latin typeface="Calibri"/>
              <a:ea typeface="Calibri"/>
              <a:cs typeface="Calibri"/>
            </a:endParaRPr>
          </a:p>
        </p:txBody>
      </p:sp>
      <p:sp>
        <p:nvSpPr>
          <p:cNvPr id="74" name="Google Shape;74;p7">
            <a:extLst xmlns:a="http://schemas.openxmlformats.org/drawingml/2006/main">
              <a:ext uri="{FF2B5EF4-FFF2-40B4-BE49-F238E27FC236}">
                <a16:creationId xmlns:a16="http://schemas.microsoft.com/office/drawing/2014/main" id="{393415B0-10A6-46EA-9D8E-20E7F32FBAE1}"/>
              </a:ext>
            </a:extLst>
          </p:cNvPr>
          <p:cNvSpPr>
            <a:spLocks xmlns:a="http://schemas.openxmlformats.org/drawingml/2006/main" noGrp="1"/>
          </p:cNvSpPr>
          <p:nvPr/>
        </p:nvSpPr>
        <p:spPr>
          <a:xfrm xmlns:a="http://schemas.openxmlformats.org/drawingml/2006/main">
            <a:off x="640080" y="2167128"/>
            <a:ext cx="301752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alibri"/>
              <a:buNone/>
            </a:pPr>
            <a:r>
              <a:rPr sz="1100" b="0" i="0" u="none" cap="none">
                <a:solidFill>
                  <a:srgbClr val="3B4A78"/>
                </a:solidFill>
                <a:latin typeface="Calibri"/>
                <a:ea typeface="Calibri"/>
                <a:cs typeface="Calibri"/>
              </a:rPr>
              <a:t>empty canvas to start</a:t>
            </a:r>
            <a:endParaRPr sz="1100" b="0" i="0" u="none" cap="none">
              <a:solidFill>
                <a:schemeClr val="dk1"/>
              </a:solidFill>
              <a:latin typeface="Calibri"/>
              <a:ea typeface="Calibri"/>
              <a:cs typeface="Calibri"/>
            </a:endParaRPr>
          </a:p>
        </p:txBody>
      </p:sp>
      <p:sp>
        <p:nvSpPr>
          <p:cNvPr id="75" name="Google Shape;75;p7">
            <a:extLst xmlns:a="http://schemas.openxmlformats.org/drawingml/2006/main">
              <a:ext uri="{FF2B5EF4-FFF2-40B4-BE49-F238E27FC236}">
                <a16:creationId xmlns:a16="http://schemas.microsoft.com/office/drawing/2014/main" id="{707917B0-BCCD-4881-967F-6B23D9FA125A}"/>
              </a:ext>
            </a:extLst>
          </p:cNvPr>
          <p:cNvSpPr>
            <a:spLocks xmlns:a="http://schemas.openxmlformats.org/drawingml/2006/main" noGrp="1"/>
          </p:cNvSpPr>
          <p:nvPr/>
        </p:nvSpPr>
        <p:spPr>
          <a:xfrm xmlns:a="http://schemas.openxmlformats.org/drawingml/2006/main">
            <a:off x="3749040" y="2286000"/>
            <a:ext cx="457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000"/>
              <a:buFont typeface="Calibri"/>
              <a:buNone/>
            </a:pPr>
            <a:r>
              <a:rPr sz="2000" b="0" i="0" u="none" cap="none">
                <a:solidFill>
                  <a:srgbClr val="8892B0"/>
                </a:solidFill>
                <a:latin typeface="Calibri"/>
                <a:ea typeface="Calibri"/>
                <a:cs typeface="Calibri"/>
              </a:rPr>
              <a:t>→</a:t>
            </a:r>
            <a:endParaRPr sz="2000" b="0" i="0" u="none" cap="none">
              <a:solidFill>
                <a:schemeClr val="dk1"/>
              </a:solidFill>
              <a:latin typeface="Calibri"/>
              <a:ea typeface="Calibri"/>
              <a:cs typeface="Calibri"/>
            </a:endParaRPr>
          </a:p>
        </p:txBody>
      </p:sp>
      <p:sp>
        <p:nvSpPr>
          <p:cNvPr id="76" name="Google Shape;76;p7">
            <a:extLst xmlns:a="http://schemas.openxmlformats.org/drawingml/2006/main">
              <a:ext uri="{FF2B5EF4-FFF2-40B4-BE49-F238E27FC236}">
                <a16:creationId xmlns:a16="http://schemas.microsoft.com/office/drawing/2014/main" id="{E8AD3D9F-212C-4BAA-BAA0-E4B69E3F9923}"/>
              </a:ext>
            </a:extLst>
          </p:cNvPr>
          <p:cNvSpPr>
            <a:spLocks xmlns:a="http://schemas.openxmlformats.org/drawingml/2006/main" noGrp="1"/>
          </p:cNvSpPr>
          <p:nvPr/>
        </p:nvSpPr>
        <p:spPr>
          <a:xfrm xmlns:a="http://schemas.openxmlformats.org/drawingml/2006/main">
            <a:off x="4206240" y="1691640"/>
            <a:ext cx="3200400" cy="1554480"/>
          </a:xfrm>
          <a:prstGeom xmlns:a="http://schemas.openxmlformats.org/drawingml/2006/main" prst="roundRect">
            <a:avLst>
              <a:gd name="adj" fmla="val 3529"/>
            </a:avLst>
          </a:prstGeom>
          <a:solidFill xmlns:a="http://schemas.openxmlformats.org/drawingml/2006/main">
            <a:srgbClr val="1E2761"/>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7" name="Google Shape;77;p7">
            <a:extLst xmlns:a="http://schemas.openxmlformats.org/drawingml/2006/main">
              <a:ext uri="{FF2B5EF4-FFF2-40B4-BE49-F238E27FC236}">
                <a16:creationId xmlns:a16="http://schemas.microsoft.com/office/drawing/2014/main" id="{11E377A5-6BDB-4A3C-A827-E7EFBFA87E7F}"/>
              </a:ext>
            </a:extLst>
          </p:cNvPr>
          <p:cNvSpPr>
            <a:spLocks xmlns:a="http://schemas.openxmlformats.org/drawingml/2006/main" noGrp="1"/>
          </p:cNvSpPr>
          <p:nvPr/>
        </p:nvSpPr>
        <p:spPr>
          <a:xfrm xmlns:a="http://schemas.openxmlformats.org/drawingml/2006/main">
            <a:off x="4297680" y="1801368"/>
            <a:ext cx="30175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Click to spawn</a:t>
            </a:r>
            <a:endParaRPr sz="1400" b="0" i="0" u="none" cap="none">
              <a:solidFill>
                <a:schemeClr val="dk1"/>
              </a:solidFill>
              <a:latin typeface="Calibri"/>
              <a:ea typeface="Calibri"/>
              <a:cs typeface="Calibri"/>
            </a:endParaRPr>
          </a:p>
        </p:txBody>
      </p:sp>
      <p:sp>
        <p:nvSpPr>
          <p:cNvPr id="78" name="Google Shape;78;p7">
            <a:extLst xmlns:a="http://schemas.openxmlformats.org/drawingml/2006/main">
              <a:ext uri="{FF2B5EF4-FFF2-40B4-BE49-F238E27FC236}">
                <a16:creationId xmlns:a16="http://schemas.microsoft.com/office/drawing/2014/main" id="{BB250A11-E08A-47C2-9F5F-932DC85C0C68}"/>
              </a:ext>
            </a:extLst>
          </p:cNvPr>
          <p:cNvSpPr>
            <a:spLocks xmlns:a="http://schemas.openxmlformats.org/drawingml/2006/main" noGrp="1"/>
          </p:cNvSpPr>
          <p:nvPr/>
        </p:nvSpPr>
        <p:spPr>
          <a:xfrm xmlns:a="http://schemas.openxmlformats.org/drawingml/2006/main">
            <a:off x="4297680" y="2167128"/>
            <a:ext cx="301752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CADCFC"/>
              </a:buClr>
              <a:buSzPts val="1100"/>
              <a:buFont typeface="Calibri"/>
              <a:buNone/>
            </a:pPr>
            <a:r>
              <a:rPr sz="1100" b="0" i="0" u="none" cap="none">
                <a:solidFill>
                  <a:srgbClr val="CADCFC"/>
                </a:solidFill>
                <a:latin typeface="Calibri"/>
                <a:ea typeface="Calibri"/>
                <a:cs typeface="Calibri"/>
              </a:rPr>
              <a:t>each click adds one particle</a:t>
            </a:r>
            <a:endParaRPr sz="1100" b="0" i="0" u="none" cap="none">
              <a:solidFill>
                <a:schemeClr val="dk1"/>
              </a:solidFill>
              <a:latin typeface="Calibri"/>
              <a:ea typeface="Calibri"/>
              <a:cs typeface="Calibri"/>
            </a:endParaRPr>
          </a:p>
        </p:txBody>
      </p:sp>
      <p:sp>
        <p:nvSpPr>
          <p:cNvPr id="79" name="Google Shape;79;p7">
            <a:extLst xmlns:a="http://schemas.openxmlformats.org/drawingml/2006/main">
              <a:ext uri="{FF2B5EF4-FFF2-40B4-BE49-F238E27FC236}">
                <a16:creationId xmlns:a16="http://schemas.microsoft.com/office/drawing/2014/main" id="{3FA6EE0E-4E40-4608-9A0B-C3720611C5B2}"/>
              </a:ext>
            </a:extLst>
          </p:cNvPr>
          <p:cNvSpPr>
            <a:spLocks xmlns:a="http://schemas.openxmlformats.org/drawingml/2006/main" noGrp="1"/>
          </p:cNvSpPr>
          <p:nvPr/>
        </p:nvSpPr>
        <p:spPr>
          <a:xfrm xmlns:a="http://schemas.openxmlformats.org/drawingml/2006/main">
            <a:off x="7406640" y="2286000"/>
            <a:ext cx="4572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000"/>
              <a:buFont typeface="Calibri"/>
              <a:buNone/>
            </a:pPr>
            <a:r>
              <a:rPr sz="2000" b="0" i="0" u="none" cap="none">
                <a:solidFill>
                  <a:srgbClr val="8892B0"/>
                </a:solidFill>
                <a:latin typeface="Calibri"/>
                <a:ea typeface="Calibri"/>
                <a:cs typeface="Calibri"/>
              </a:rPr>
              <a:t>→</a:t>
            </a:r>
            <a:endParaRPr sz="2000" b="0" i="0" u="none" cap="none">
              <a:solidFill>
                <a:schemeClr val="dk1"/>
              </a:solidFill>
              <a:latin typeface="Calibri"/>
              <a:ea typeface="Calibri"/>
              <a:cs typeface="Calibri"/>
            </a:endParaRPr>
          </a:p>
        </p:txBody>
      </p:sp>
      <p:sp>
        <p:nvSpPr>
          <p:cNvPr id="80" name="Google Shape;80;p7">
            <a:extLst xmlns:a="http://schemas.openxmlformats.org/drawingml/2006/main">
              <a:ext uri="{FF2B5EF4-FFF2-40B4-BE49-F238E27FC236}">
                <a16:creationId xmlns:a16="http://schemas.microsoft.com/office/drawing/2014/main" id="{4724E391-E6F5-4972-B439-68031FB99F4D}"/>
              </a:ext>
            </a:extLst>
          </p:cNvPr>
          <p:cNvSpPr>
            <a:spLocks xmlns:a="http://schemas.openxmlformats.org/drawingml/2006/main" noGrp="1"/>
          </p:cNvSpPr>
          <p:nvPr/>
        </p:nvSpPr>
        <p:spPr>
          <a:xfrm xmlns:a="http://schemas.openxmlformats.org/drawingml/2006/main">
            <a:off x="7863840" y="1691640"/>
            <a:ext cx="3200400" cy="1554480"/>
          </a:xfrm>
          <a:prstGeom xmlns:a="http://schemas.openxmlformats.org/drawingml/2006/main" prst="roundRect">
            <a:avLst>
              <a:gd name="adj" fmla="val 3529"/>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 name="Google Shape;81;p7">
            <a:extLst xmlns:a="http://schemas.openxmlformats.org/drawingml/2006/main">
              <a:ext uri="{FF2B5EF4-FFF2-40B4-BE49-F238E27FC236}">
                <a16:creationId xmlns:a16="http://schemas.microsoft.com/office/drawing/2014/main" id="{538DB5C9-04EA-4C43-BF9B-2B78B8484DFC}"/>
              </a:ext>
            </a:extLst>
          </p:cNvPr>
          <p:cNvSpPr>
            <a:spLocks xmlns:a="http://schemas.openxmlformats.org/drawingml/2006/main" noGrp="1"/>
          </p:cNvSpPr>
          <p:nvPr/>
        </p:nvSpPr>
        <p:spPr>
          <a:xfrm xmlns:a="http://schemas.openxmlformats.org/drawingml/2006/main">
            <a:off x="7955280" y="1801368"/>
            <a:ext cx="30175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E2761"/>
              </a:buClr>
              <a:buSzPts val="1400"/>
              <a:buFont typeface="Calibri"/>
              <a:buNone/>
            </a:pPr>
            <a:r>
              <a:rPr sz="1400" b="1" i="0" u="none" cap="none">
                <a:solidFill>
                  <a:srgbClr val="1E2761"/>
                </a:solidFill>
                <a:latin typeface="Calibri"/>
                <a:ea typeface="Calibri"/>
                <a:cs typeface="Calibri"/>
              </a:rPr>
              <a:t>Fall, age, vanish</a:t>
            </a:r>
            <a:endParaRPr sz="1400" b="0" i="0" u="none" cap="none">
              <a:solidFill>
                <a:schemeClr val="dk1"/>
              </a:solidFill>
              <a:latin typeface="Calibri"/>
              <a:ea typeface="Calibri"/>
              <a:cs typeface="Calibri"/>
            </a:endParaRPr>
          </a:p>
        </p:txBody>
      </p:sp>
      <p:sp>
        <p:nvSpPr>
          <p:cNvPr id="82" name="Google Shape;82;p7">
            <a:extLst xmlns:a="http://schemas.openxmlformats.org/drawingml/2006/main">
              <a:ext uri="{FF2B5EF4-FFF2-40B4-BE49-F238E27FC236}">
                <a16:creationId xmlns:a16="http://schemas.microsoft.com/office/drawing/2014/main" id="{D057A0D6-1A38-41C7-AEB3-5049789EDCEA}"/>
              </a:ext>
            </a:extLst>
          </p:cNvPr>
          <p:cNvSpPr>
            <a:spLocks xmlns:a="http://schemas.openxmlformats.org/drawingml/2006/main" noGrp="1"/>
          </p:cNvSpPr>
          <p:nvPr/>
        </p:nvSpPr>
        <p:spPr>
          <a:xfrm xmlns:a="http://schemas.openxmlformats.org/drawingml/2006/main">
            <a:off x="7955280" y="2167128"/>
            <a:ext cx="3017520" cy="960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alibri"/>
              <a:buNone/>
            </a:pPr>
            <a:r>
              <a:rPr sz="1100" b="0" i="0" u="none" cap="none">
                <a:solidFill>
                  <a:srgbClr val="3B4A78"/>
                </a:solidFill>
                <a:latin typeface="Calibri"/>
                <a:ea typeface="Calibri"/>
                <a:cs typeface="Calibri"/>
              </a:rPr>
              <a:t>movement + lifespan + removal, all at once</a:t>
            </a:r>
            <a:endParaRPr sz="1100" b="0" i="0" u="none" cap="none">
              <a:solidFill>
                <a:schemeClr val="dk1"/>
              </a:solidFill>
              <a:latin typeface="Calibri"/>
              <a:ea typeface="Calibri"/>
              <a:cs typeface="Calibri"/>
            </a:endParaRPr>
          </a:p>
        </p:txBody>
      </p:sp>
      <p:sp>
        <p:nvSpPr>
          <p:cNvPr id="83" name="Google Shape;83;p7">
            <a:extLst xmlns:a="http://schemas.openxmlformats.org/drawingml/2006/main">
              <a:ext uri="{FF2B5EF4-FFF2-40B4-BE49-F238E27FC236}">
                <a16:creationId xmlns:a16="http://schemas.microsoft.com/office/drawing/2014/main" id="{248C00FD-ACEB-4404-90F1-9D0923F4CADF}"/>
              </a:ext>
            </a:extLst>
          </p:cNvPr>
          <p:cNvSpPr>
            <a:spLocks xmlns:a="http://schemas.openxmlformats.org/drawingml/2006/main" noGrp="1"/>
          </p:cNvSpPr>
          <p:nvPr/>
        </p:nvSpPr>
        <p:spPr>
          <a:xfrm xmlns:a="http://schemas.openxmlformats.org/drawingml/2006/main">
            <a:off x="548640" y="3520440"/>
            <a:ext cx="10607040" cy="2743200"/>
          </a:xfrm>
          <a:prstGeom xmlns:a="http://schemas.openxmlformats.org/drawingml/2006/main" prst="roundRect">
            <a:avLst>
              <a:gd name="adj" fmla="val 2667"/>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4" name="Google Shape;84;p7">
            <a:extLst xmlns:a="http://schemas.openxmlformats.org/drawingml/2006/main">
              <a:ext uri="{FF2B5EF4-FFF2-40B4-BE49-F238E27FC236}">
                <a16:creationId xmlns:a16="http://schemas.microsoft.com/office/drawing/2014/main" id="{07F5D183-35DE-4A46-A5A3-66AA221F687C}"/>
              </a:ext>
            </a:extLst>
          </p:cNvPr>
          <p:cNvSpPr>
            <a:spLocks xmlns:a="http://schemas.openxmlformats.org/drawingml/2006/main" noGrp="1"/>
          </p:cNvSpPr>
          <p:nvPr/>
        </p:nvSpPr>
        <p:spPr>
          <a:xfrm xmlns:a="http://schemas.openxmlformats.org/drawingml/2006/main">
            <a:off x="777240" y="3685032"/>
            <a:ext cx="10149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ONE COLLECTION, EVERY MECHANISM FROM THIS LESSON</a:t>
            </a:r>
            <a:endParaRPr sz="1300" b="0" i="0" u="none" cap="none">
              <a:solidFill>
                <a:schemeClr val="dk1"/>
              </a:solidFill>
              <a:latin typeface="Calibri"/>
              <a:ea typeface="Calibri"/>
              <a:cs typeface="Calibri"/>
            </a:endParaRPr>
          </a:p>
        </p:txBody>
      </p:sp>
      <p:sp>
        <p:nvSpPr>
          <p:cNvPr id="85" name="Google Shape;85;p7">
            <a:extLst xmlns:a="http://schemas.openxmlformats.org/drawingml/2006/main">
              <a:ext uri="{FF2B5EF4-FFF2-40B4-BE49-F238E27FC236}">
                <a16:creationId xmlns:a16="http://schemas.microsoft.com/office/drawing/2014/main" id="{E98C4C87-A0C2-457F-BE2B-98EF54680549}"/>
              </a:ext>
            </a:extLst>
          </p:cNvPr>
          <p:cNvSpPr>
            <a:spLocks xmlns:a="http://schemas.openxmlformats.org/drawingml/2006/main" noGrp="1"/>
          </p:cNvSpPr>
          <p:nvPr/>
        </p:nvSpPr>
        <p:spPr>
          <a:xfrm xmlns:a="http://schemas.openxmlformats.org/drawingml/2006/main">
            <a:off x="777240" y="4023360"/>
            <a:ext cx="10149840"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Start with activeCount = 0 instead of MAX_COUNT — the canvas begins empty. Every click calls mousePressed() to spawn one new particle at the mouse position, exactly like the addition example earlier in this lesson. Every frame, draw()'s backward loop from Part 2 updates position, ages the lifespan, and removes anything that's expired or left the canvas — using the same boolean-flag pattern to combine both triggers. Nothing here is new syntax; it's every mechanism from B4.2, running together in one small program.</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0789799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 name="Google Shape;91;p8">
            <a:extLst xmlns:a="http://schemas.openxmlformats.org/drawingml/2006/main">
              <a:ext uri="{FF2B5EF4-FFF2-40B4-BE49-F238E27FC236}">
                <a16:creationId xmlns:a16="http://schemas.microsoft.com/office/drawing/2014/main" id="{B05B3D1D-634E-45A4-9E15-C228F9FD08AE}"/>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Your Turn</a:t>
            </a:r>
            <a:endParaRPr sz="2800" b="0" i="0" u="none" cap="none">
              <a:solidFill>
                <a:schemeClr val="dk1"/>
              </a:solidFill>
              <a:latin typeface="Calibri"/>
              <a:ea typeface="Calibri"/>
              <a:cs typeface="Calibri"/>
            </a:endParaRPr>
          </a:p>
        </p:txBody>
      </p:sp>
      <p:sp>
        <p:nvSpPr>
          <p:cNvPr id="92" name="Google Shape;92;p8">
            <a:extLst xmlns:a="http://schemas.openxmlformats.org/drawingml/2006/main">
              <a:ext uri="{FF2B5EF4-FFF2-40B4-BE49-F238E27FC236}">
                <a16:creationId xmlns:a16="http://schemas.microsoft.com/office/drawing/2014/main" id="{2837BEB9-4720-4B63-8D66-D2CD397FF995}"/>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Step 1: Guided · Step 2: Construct Yourself</a:t>
            </a:r>
            <a:endParaRPr sz="1500" b="0" i="0" u="none" cap="none">
              <a:solidFill>
                <a:schemeClr val="dk1"/>
              </a:solidFill>
              <a:latin typeface="Calibri"/>
              <a:ea typeface="Calibri"/>
              <a:cs typeface="Calibri"/>
            </a:endParaRPr>
          </a:p>
        </p:txBody>
      </p:sp>
      <p:sp>
        <p:nvSpPr>
          <p:cNvPr id="93" name="Google Shape;93;p8">
            <a:extLst xmlns:a="http://schemas.openxmlformats.org/drawingml/2006/main">
              <a:ext uri="{FF2B5EF4-FFF2-40B4-BE49-F238E27FC236}">
                <a16:creationId xmlns:a16="http://schemas.microsoft.com/office/drawing/2014/main" id="{9911EA1E-E616-4B9F-BE13-B157DFEB1503}"/>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94" name="Google Shape;94;p8">
            <a:extLst xmlns:a="http://schemas.openxmlformats.org/drawingml/2006/main">
              <a:ext uri="{FF2B5EF4-FFF2-40B4-BE49-F238E27FC236}">
                <a16:creationId xmlns:a16="http://schemas.microsoft.com/office/drawing/2014/main" id="{2BCB4CB3-021D-4113-9B34-A9853D6F5A5C}"/>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95" name="Google Shape;95;p8">
            <a:extLst xmlns:a="http://schemas.openxmlformats.org/drawingml/2006/main">
              <a:ext uri="{FF2B5EF4-FFF2-40B4-BE49-F238E27FC236}">
                <a16:creationId xmlns:a16="http://schemas.microsoft.com/office/drawing/2014/main" id="{CE779076-544B-472A-A7A9-418D6050585A}"/>
              </a:ext>
            </a:extLst>
          </p:cNvPr>
          <p:cNvSpPr>
            <a:spLocks xmlns:a="http://schemas.openxmlformats.org/drawingml/2006/main" noGrp="1"/>
          </p:cNvSpPr>
          <p:nvPr/>
        </p:nvSpPr>
        <p:spPr>
          <a:xfrm xmlns:a="http://schemas.openxmlformats.org/drawingml/2006/main">
            <a:off x="548640" y="1691640"/>
            <a:ext cx="5394960" cy="4206240"/>
          </a:xfrm>
          <a:prstGeom xmlns:a="http://schemas.openxmlformats.org/drawingml/2006/main" prst="roundRect">
            <a:avLst>
              <a:gd name="adj" fmla="val 1739"/>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 name="Google Shape;96;p8">
            <a:extLst xmlns:a="http://schemas.openxmlformats.org/drawingml/2006/main">
              <a:ext uri="{FF2B5EF4-FFF2-40B4-BE49-F238E27FC236}">
                <a16:creationId xmlns:a16="http://schemas.microsoft.com/office/drawing/2014/main" id="{482EF46C-1060-4077-B428-4119D49077C9}"/>
              </a:ext>
            </a:extLst>
          </p:cNvPr>
          <p:cNvSpPr>
            <a:spLocks xmlns:a="http://schemas.openxmlformats.org/drawingml/2006/main" noGrp="1"/>
          </p:cNvSpPr>
          <p:nvPr/>
        </p:nvSpPr>
        <p:spPr>
          <a:xfrm xmlns:a="http://schemas.openxmlformats.org/drawingml/2006/main">
            <a:off x="77724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STEP 1 · GUIDED</a:t>
            </a:r>
            <a:endParaRPr sz="1300" b="0" i="0" u="none" cap="none">
              <a:solidFill>
                <a:schemeClr val="dk1"/>
              </a:solidFill>
              <a:latin typeface="Calibri"/>
              <a:ea typeface="Calibri"/>
              <a:cs typeface="Calibri"/>
            </a:endParaRPr>
          </a:p>
        </p:txBody>
      </p:sp>
      <p:sp>
        <p:nvSpPr>
          <p:cNvPr id="97" name="Google Shape;97;p8">
            <a:extLst xmlns:a="http://schemas.openxmlformats.org/drawingml/2006/main">
              <a:ext uri="{FF2B5EF4-FFF2-40B4-BE49-F238E27FC236}">
                <a16:creationId xmlns:a16="http://schemas.microsoft.com/office/drawing/2014/main" id="{9F0E45DD-C642-4C34-B8A2-24CE0F9E7F06}"/>
              </a:ext>
            </a:extLst>
          </p:cNvPr>
          <p:cNvSpPr>
            <a:spLocks xmlns:a="http://schemas.openxmlformats.org/drawingml/2006/main" noGrp="1"/>
          </p:cNvSpPr>
          <p:nvPr/>
        </p:nvSpPr>
        <p:spPr>
          <a:xfrm xmlns:a="http://schemas.openxmlformats.org/drawingml/2006/main">
            <a:off x="77724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Change the spawn position from the click point to a fixed point — for example, always spawn at the top-center of the canvas — and observe the different effect.</a:t>
            </a:r>
            <a:endParaRPr sz="1350" b="0" i="0" u="none" cap="none">
              <a:solidFill>
                <a:schemeClr val="dk1"/>
              </a:solidFill>
              <a:latin typeface="Calibri"/>
              <a:ea typeface="Calibri"/>
              <a:cs typeface="Calibri"/>
            </a:endParaRPr>
          </a:p>
        </p:txBody>
      </p:sp>
      <p:sp>
        <p:nvSpPr>
          <p:cNvPr id="98" name="Google Shape;98;p8">
            <a:extLst xmlns:a="http://schemas.openxmlformats.org/drawingml/2006/main">
              <a:ext uri="{FF2B5EF4-FFF2-40B4-BE49-F238E27FC236}">
                <a16:creationId xmlns:a16="http://schemas.microsoft.com/office/drawing/2014/main" id="{B872AA9E-79E1-4F87-AEE6-F6017B6C7675}"/>
              </a:ext>
            </a:extLst>
          </p:cNvPr>
          <p:cNvSpPr>
            <a:spLocks xmlns:a="http://schemas.openxmlformats.org/drawingml/2006/main" noGrp="1"/>
          </p:cNvSpPr>
          <p:nvPr/>
        </p:nvSpPr>
        <p:spPr>
          <a:xfrm xmlns:a="http://schemas.openxmlformats.org/drawingml/2006/main">
            <a:off x="6217920" y="1691640"/>
            <a:ext cx="5394960" cy="4206240"/>
          </a:xfrm>
          <a:prstGeom xmlns:a="http://schemas.openxmlformats.org/drawingml/2006/main" prst="roundRect">
            <a:avLst>
              <a:gd name="adj" fmla="val 1739"/>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8">
            <a:extLst xmlns:a="http://schemas.openxmlformats.org/drawingml/2006/main">
              <a:ext uri="{FF2B5EF4-FFF2-40B4-BE49-F238E27FC236}">
                <a16:creationId xmlns:a16="http://schemas.microsoft.com/office/drawing/2014/main" id="{FD30CF45-DD32-4A49-A413-70606AC4C5B4}"/>
              </a:ext>
            </a:extLst>
          </p:cNvPr>
          <p:cNvSpPr>
            <a:spLocks xmlns:a="http://schemas.openxmlformats.org/drawingml/2006/main" noGrp="1"/>
          </p:cNvSpPr>
          <p:nvPr/>
        </p:nvSpPr>
        <p:spPr>
          <a:xfrm xmlns:a="http://schemas.openxmlformats.org/drawingml/2006/main">
            <a:off x="6446520" y="185623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STEP 2 · CONSTRUCT YOURSELF</a:t>
            </a:r>
            <a:endParaRPr sz="1300" b="0" i="0" u="none" cap="none">
              <a:solidFill>
                <a:schemeClr val="dk1"/>
              </a:solidFill>
              <a:latin typeface="Calibri"/>
              <a:ea typeface="Calibri"/>
              <a:cs typeface="Calibri"/>
            </a:endParaRPr>
          </a:p>
        </p:txBody>
      </p:sp>
      <p:sp>
        <p:nvSpPr>
          <p:cNvPr id="100" name="Google Shape;100;p8">
            <a:extLst xmlns:a="http://schemas.openxmlformats.org/drawingml/2006/main">
              <a:ext uri="{FF2B5EF4-FFF2-40B4-BE49-F238E27FC236}">
                <a16:creationId xmlns:a16="http://schemas.microsoft.com/office/drawing/2014/main" id="{41495FA2-053D-4185-95D4-179F7B37FF2B}"/>
              </a:ext>
            </a:extLst>
          </p:cNvPr>
          <p:cNvSpPr>
            <a:spLocks xmlns:a="http://schemas.openxmlformats.org/drawingml/2006/main" noGrp="1"/>
          </p:cNvSpPr>
          <p:nvPr/>
        </p:nvSpPr>
        <p:spPr>
          <a:xfrm xmlns:a="http://schemas.openxmlformats.org/drawingml/2006/main">
            <a:off x="6446520" y="2194560"/>
            <a:ext cx="4937760" cy="3520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Build your own variation of the synthesis example, changing one parameter of your choice — particle diameter, lifespan range, or velocity range.</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717809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 name="Google Shape;106;p9">
            <a:extLst xmlns:a="http://schemas.openxmlformats.org/drawingml/2006/main">
              <a:ext uri="{FF2B5EF4-FFF2-40B4-BE49-F238E27FC236}">
                <a16:creationId xmlns:a16="http://schemas.microsoft.com/office/drawing/2014/main" id="{BC114CCB-58F4-409F-B997-71B7C4093FA5}"/>
              </a:ext>
            </a:extLst>
          </p:cNvPr>
          <p:cNvSpPr>
            <a:spLocks xmlns:a="http://schemas.openxmlformats.org/drawingml/2006/main" noGrp="1"/>
          </p:cNvSpPr>
          <p:nvPr/>
        </p:nvSpPr>
        <p:spPr>
          <a:xfrm xmlns:a="http://schemas.openxmlformats.org/drawingml/2006/main">
            <a:off x="548640" y="365760"/>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2800"/>
              <a:buFont typeface="Cambria"/>
              <a:buNone/>
            </a:pPr>
            <a:r>
              <a:rPr sz="2800" b="1" i="0" u="none" cap="none">
                <a:solidFill>
                  <a:srgbClr val="1E2761"/>
                </a:solidFill>
                <a:latin typeface="Cambria"/>
                <a:ea typeface="Cambria"/>
                <a:cs typeface="Cambria"/>
              </a:rPr>
              <a:t>Recap</a:t>
            </a:r>
            <a:endParaRPr sz="2800" b="0" i="0" u="none" cap="none">
              <a:solidFill>
                <a:schemeClr val="dk1"/>
              </a:solidFill>
              <a:latin typeface="Calibri"/>
              <a:ea typeface="Calibri"/>
              <a:cs typeface="Calibri"/>
            </a:endParaRPr>
          </a:p>
        </p:txBody>
      </p:sp>
      <p:sp>
        <p:nvSpPr>
          <p:cNvPr id="107" name="Google Shape;107;p9">
            <a:extLst xmlns:a="http://schemas.openxmlformats.org/drawingml/2006/main">
              <a:ext uri="{FF2B5EF4-FFF2-40B4-BE49-F238E27FC236}">
                <a16:creationId xmlns:a16="http://schemas.microsoft.com/office/drawing/2014/main" id="{4DDE5312-C6F4-4FD5-B772-87927134BC33}"/>
              </a:ext>
            </a:extLst>
          </p:cNvPr>
          <p:cNvSpPr>
            <a:spLocks xmlns:a="http://schemas.openxmlformats.org/drawingml/2006/main" noGrp="1"/>
          </p:cNvSpPr>
          <p:nvPr/>
        </p:nvSpPr>
        <p:spPr>
          <a:xfrm xmlns:a="http://schemas.openxmlformats.org/drawingml/2006/main">
            <a:off x="548640" y="960120"/>
            <a:ext cx="110642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0" u="none" cap="none">
                <a:solidFill>
                  <a:srgbClr val="3B4A78"/>
                </a:solidFill>
                <a:latin typeface="Calibri"/>
                <a:ea typeface="Calibri"/>
                <a:cs typeface="Calibri"/>
              </a:rPr>
              <a:t>Key idea, and the end of B4.2</a:t>
            </a:r>
            <a:endParaRPr sz="1500" b="0" i="0" u="none" cap="none">
              <a:solidFill>
                <a:schemeClr val="dk1"/>
              </a:solidFill>
              <a:latin typeface="Calibri"/>
              <a:ea typeface="Calibri"/>
              <a:cs typeface="Calibri"/>
            </a:endParaRPr>
          </a:p>
        </p:txBody>
      </p:sp>
      <p:sp>
        <p:nvSpPr>
          <p:cNvPr id="108" name="Google Shape;108;p9">
            <a:extLst xmlns:a="http://schemas.openxmlformats.org/drawingml/2006/main">
              <a:ext uri="{FF2B5EF4-FFF2-40B4-BE49-F238E27FC236}">
                <a16:creationId xmlns:a16="http://schemas.microsoft.com/office/drawing/2014/main" id="{944A3FEA-B341-441A-BF8B-87836C775F0A}"/>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PDP Computer Science · </a:t>
            </a:r>
            <a:r>
              <a:rPr sz="1000" b="0" i="0" u="none" cap="none">
                <a:solidFill>
                  <a:srgbClr val="8892B0"/>
                </a:solidFill>
                <a:latin typeface="Calibri"/>
                <a:ea typeface="Calibri"/>
                <a:cs typeface="Calibri"/>
              </a:rPr>
              <a:t>Unit B</a:t>
            </a:r>
            <a:r>
              <a:rPr sz="1000" b="0" i="0" u="none" cap="none">
                <a:solidFill>
                  <a:srgbClr val="8892B0"/>
                </a:solidFill>
                <a:latin typeface="Calibri"/>
                <a:ea typeface="Calibri"/>
                <a:cs typeface="Calibri"/>
              </a:rPr>
              <a:t>: Creative Programming</a:t>
            </a:r>
            <a:endParaRPr sz="1000" b="0" i="0" u="none" cap="none">
              <a:solidFill>
                <a:schemeClr val="dk1"/>
              </a:solidFill>
              <a:latin typeface="Calibri"/>
              <a:ea typeface="Calibri"/>
              <a:cs typeface="Calibri"/>
            </a:endParaRPr>
          </a:p>
        </p:txBody>
      </p:sp>
      <p:sp>
        <p:nvSpPr>
          <p:cNvPr id="109" name="Google Shape;109;p9">
            <a:extLst xmlns:a="http://schemas.openxmlformats.org/drawingml/2006/main">
              <a:ext uri="{FF2B5EF4-FFF2-40B4-BE49-F238E27FC236}">
                <a16:creationId xmlns:a16="http://schemas.microsoft.com/office/drawing/2014/main" id="{25C4A994-55A3-4B09-B6F1-16441C208DE0}"/>
              </a:ext>
            </a:extLst>
          </p:cNvPr>
          <p:cNvSpPr>
            <a:spLocks xmlns:a="http://schemas.openxmlformats.org/drawingml/2006/main" noGrp="1"/>
          </p:cNvSpPr>
          <p:nvPr/>
        </p:nvSpPr>
        <p:spPr>
          <a:xfrm xmlns:a="http://schemas.openxmlformats.org/drawingml/2006/main">
            <a:off x="6248095" y="6446520"/>
            <a:ext cx="54864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B4.2 · Part 3 of 3</a:t>
            </a:r>
            <a:endParaRPr sz="1000" b="0" i="0" u="none" cap="none">
              <a:solidFill>
                <a:schemeClr val="dk1"/>
              </a:solidFill>
              <a:latin typeface="Calibri"/>
              <a:ea typeface="Calibri"/>
              <a:cs typeface="Calibri"/>
            </a:endParaRPr>
          </a:p>
        </p:txBody>
      </p:sp>
      <p:sp>
        <p:nvSpPr>
          <p:cNvPr id="110" name="Google Shape;110;p9">
            <a:extLst xmlns:a="http://schemas.openxmlformats.org/drawingml/2006/main">
              <a:ext uri="{FF2B5EF4-FFF2-40B4-BE49-F238E27FC236}">
                <a16:creationId xmlns:a16="http://schemas.microsoft.com/office/drawing/2014/main" id="{D4D45679-5B37-445B-9728-0671C09352F6}"/>
              </a:ext>
            </a:extLst>
          </p:cNvPr>
          <p:cNvSpPr>
            <a:spLocks xmlns:a="http://schemas.openxmlformats.org/drawingml/2006/main" noGrp="1"/>
          </p:cNvSpPr>
          <p:nvPr/>
        </p:nvSpPr>
        <p:spPr>
          <a:xfrm xmlns:a="http://schemas.openxmlformats.org/drawingml/2006/main">
            <a:off x="548640" y="1691640"/>
            <a:ext cx="10607040" cy="2011680"/>
          </a:xfrm>
          <a:prstGeom xmlns:a="http://schemas.openxmlformats.org/drawingml/2006/main" prst="roundRect">
            <a:avLst>
              <a:gd name="adj" fmla="val 363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 name="Google Shape;111;p9">
            <a:extLst xmlns:a="http://schemas.openxmlformats.org/drawingml/2006/main">
              <a:ext uri="{FF2B5EF4-FFF2-40B4-BE49-F238E27FC236}">
                <a16:creationId xmlns:a16="http://schemas.microsoft.com/office/drawing/2014/main" id="{D1770173-039C-4F81-A272-BB831E04FDDE}"/>
              </a:ext>
            </a:extLst>
          </p:cNvPr>
          <p:cNvSpPr>
            <a:spLocks xmlns:a="http://schemas.openxmlformats.org/drawingml/2006/main" noGrp="1"/>
          </p:cNvSpPr>
          <p:nvPr/>
        </p:nvSpPr>
        <p:spPr>
          <a:xfrm xmlns:a="http://schemas.openxmlformats.org/drawingml/2006/main">
            <a:off x="777240" y="1856232"/>
            <a:ext cx="10149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KEY IDEA</a:t>
            </a:r>
            <a:endParaRPr sz="1300" b="0" i="0" u="none" cap="none">
              <a:solidFill>
                <a:schemeClr val="dk1"/>
              </a:solidFill>
              <a:latin typeface="Calibri"/>
              <a:ea typeface="Calibri"/>
              <a:cs typeface="Calibri"/>
            </a:endParaRPr>
          </a:p>
        </p:txBody>
      </p:sp>
      <p:sp>
        <p:nvSpPr>
          <p:cNvPr id="112" name="Google Shape;112;p9">
            <a:extLst xmlns:a="http://schemas.openxmlformats.org/drawingml/2006/main">
              <a:ext uri="{FF2B5EF4-FFF2-40B4-BE49-F238E27FC236}">
                <a16:creationId xmlns:a16="http://schemas.microsoft.com/office/drawing/2014/main" id="{97D9790F-7E5F-408F-9C86-9DF71DB6F32A}"/>
              </a:ext>
            </a:extLst>
          </p:cNvPr>
          <p:cNvSpPr>
            <a:spLocks xmlns:a="http://schemas.openxmlformats.org/drawingml/2006/main" noGrp="1"/>
          </p:cNvSpPr>
          <p:nvPr/>
        </p:nvSpPr>
        <p:spPr>
          <a:xfrm xmlns:a="http://schemas.openxmlformats.org/drawingml/2006/main">
            <a:off x="777240" y="2194560"/>
            <a:ext cx="101498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A fixed-size array can behave like a genuinely changing collection — growing and shrinking over time — even though the arrays themselves never resize. activeCount is the changing boundary that separates active slots from unused capacity.</a:t>
            </a:r>
            <a:endParaRPr sz="1350" b="0" i="0" u="none" cap="none">
              <a:solidFill>
                <a:schemeClr val="dk1"/>
              </a:solidFill>
              <a:latin typeface="Calibri"/>
              <a:ea typeface="Calibri"/>
              <a:cs typeface="Calibri"/>
            </a:endParaRPr>
          </a:p>
        </p:txBody>
      </p:sp>
      <p:sp>
        <p:nvSpPr>
          <p:cNvPr id="113" name="Google Shape;113;p9">
            <a:extLst xmlns:a="http://schemas.openxmlformats.org/drawingml/2006/main">
              <a:ext uri="{FF2B5EF4-FFF2-40B4-BE49-F238E27FC236}">
                <a16:creationId xmlns:a16="http://schemas.microsoft.com/office/drawing/2014/main" id="{320E2567-F8A8-4767-91F2-6F8704E831D8}"/>
              </a:ext>
            </a:extLst>
          </p:cNvPr>
          <p:cNvSpPr>
            <a:spLocks xmlns:a="http://schemas.openxmlformats.org/drawingml/2006/main" noGrp="1"/>
          </p:cNvSpPr>
          <p:nvPr/>
        </p:nvSpPr>
        <p:spPr>
          <a:xfrm xmlns:a="http://schemas.openxmlformats.org/drawingml/2006/main">
            <a:off x="548640" y="3886200"/>
            <a:ext cx="10607040" cy="2011680"/>
          </a:xfrm>
          <a:prstGeom xmlns:a="http://schemas.openxmlformats.org/drawingml/2006/main" prst="roundRect">
            <a:avLst>
              <a:gd name="adj" fmla="val 3636"/>
            </a:avLst>
          </a:prstGeom>
          <a:solidFill xmlns:a="http://schemas.openxmlformats.org/drawingml/2006/main">
            <a:srgbClr val="FBF2E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4" name="Google Shape;114;p9">
            <a:extLst xmlns:a="http://schemas.openxmlformats.org/drawingml/2006/main">
              <a:ext uri="{FF2B5EF4-FFF2-40B4-BE49-F238E27FC236}">
                <a16:creationId xmlns:a16="http://schemas.microsoft.com/office/drawing/2014/main" id="{5DBC1500-5F9F-4947-BE8E-D8683D3D1A11}"/>
              </a:ext>
            </a:extLst>
          </p:cNvPr>
          <p:cNvSpPr>
            <a:spLocks xmlns:a="http://schemas.openxmlformats.org/drawingml/2006/main" noGrp="1"/>
          </p:cNvSpPr>
          <p:nvPr/>
        </p:nvSpPr>
        <p:spPr>
          <a:xfrm xmlns:a="http://schemas.openxmlformats.org/drawingml/2006/main">
            <a:off x="777240" y="4050792"/>
            <a:ext cx="101498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3B4A78"/>
              </a:buClr>
              <a:buSzPts val="1300"/>
              <a:buFont typeface="Calibri"/>
              <a:buNone/>
            </a:pPr>
            <a:r>
              <a:rPr sz="1300" b="1" i="0" u="none" cap="none">
                <a:solidFill>
                  <a:srgbClr val="3B4A78"/>
                </a:solidFill>
                <a:latin typeface="Calibri"/>
                <a:ea typeface="Calibri"/>
                <a:cs typeface="Calibri"/>
              </a:rPr>
              <a:t>NEXT: B4.3</a:t>
            </a:r>
            <a:endParaRPr sz="1300" b="0" i="0" u="none" cap="none">
              <a:solidFill>
                <a:schemeClr val="dk1"/>
              </a:solidFill>
              <a:latin typeface="Calibri"/>
              <a:ea typeface="Calibri"/>
              <a:cs typeface="Calibri"/>
            </a:endParaRPr>
          </a:p>
        </p:txBody>
      </p:sp>
      <p:sp>
        <p:nvSpPr>
          <p:cNvPr id="115" name="Google Shape;115;p9">
            <a:extLst xmlns:a="http://schemas.openxmlformats.org/drawingml/2006/main">
              <a:ext uri="{FF2B5EF4-FFF2-40B4-BE49-F238E27FC236}">
                <a16:creationId xmlns:a16="http://schemas.microsoft.com/office/drawing/2014/main" id="{898C0C9B-7315-407A-859C-EC4837A3F9C9}"/>
              </a:ext>
            </a:extLst>
          </p:cNvPr>
          <p:cNvSpPr>
            <a:spLocks xmlns:a="http://schemas.openxmlformats.org/drawingml/2006/main" noGrp="1"/>
          </p:cNvSpPr>
          <p:nvPr/>
        </p:nvSpPr>
        <p:spPr>
          <a:xfrm xmlns:a="http://schemas.openxmlformats.org/drawingml/2006/main">
            <a:off x="777240" y="4389120"/>
            <a:ext cx="1014984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This collection has only ever looked at one element at a time. B4.3 checks relationships between elements — distance and overlap — using the same collection built here.</a:t>
            </a:r>
            <a:endParaRPr sz="135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47952559"/>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2026-08-29T13:38:01.5010000Z</dcterms:created>
  <dcterms:modified xsi:type="dcterms:W3CDTF">2026-08-29T13:38:01.5010000Z</dcterms:modified>
</coreProperties>
</file>